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879b5cb2784f97" /><Relationship Type="http://schemas.openxmlformats.org/officeDocument/2006/relationships/extended-properties" Target="/docProps/app.xml" Id="Rd2d8d8236ca34e4f" /><Relationship Type="http://schemas.openxmlformats.org/officeDocument/2006/relationships/officeDocument" Target="/ppt/presentation.xml" Id="R91dbddde29d94e3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1a97a41599640ad"/>
  </p:sldMasterIdLst>
  <p:notesMasterIdLst>
    <p:notesMasterId xmlns:r="http://schemas.openxmlformats.org/officeDocument/2006/relationships" r:id="R855b7786965849f6"/>
  </p:notesMasterIdLst>
  <p:sldIdLst>
    <p:sldId xmlns:r="http://schemas.openxmlformats.org/officeDocument/2006/relationships" id="256" r:id="R4f0a827f284540e2"/>
    <p:sldId xmlns:r="http://schemas.openxmlformats.org/officeDocument/2006/relationships" id="257" r:id="Rf48da81380ad4be4"/>
    <p:sldId xmlns:r="http://schemas.openxmlformats.org/officeDocument/2006/relationships" id="258" r:id="R34e4fe75e98a473d"/>
    <p:sldId xmlns:r="http://schemas.openxmlformats.org/officeDocument/2006/relationships" id="259" r:id="Raf58793e07244b81"/>
    <p:sldId xmlns:r="http://schemas.openxmlformats.org/officeDocument/2006/relationships" id="260" r:id="Rf7b0fd7387634bfe"/>
    <p:sldId xmlns:r="http://schemas.openxmlformats.org/officeDocument/2006/relationships" id="261" r:id="R5bea76d19c6c4bbf"/>
    <p:sldId xmlns:r="http://schemas.openxmlformats.org/officeDocument/2006/relationships" id="262" r:id="Rc4ac376cc8a94a48"/>
    <p:sldId xmlns:r="http://schemas.openxmlformats.org/officeDocument/2006/relationships" id="263" r:id="R13f38fe961e64b54"/>
    <p:sldId xmlns:r="http://schemas.openxmlformats.org/officeDocument/2006/relationships" id="264" r:id="R77fc3606c2f1436d"/>
    <p:sldId xmlns:r="http://schemas.openxmlformats.org/officeDocument/2006/relationships" id="265" r:id="Rde73f52d0ede4faa"/>
    <p:sldId xmlns:r="http://schemas.openxmlformats.org/officeDocument/2006/relationships" id="266" r:id="Rcb560b40b8cd45dc"/>
    <p:sldId xmlns:r="http://schemas.openxmlformats.org/officeDocument/2006/relationships" id="267" r:id="R02609d0939c54545"/>
    <p:sldId xmlns:r="http://schemas.openxmlformats.org/officeDocument/2006/relationships" id="268" r:id="R4a70f1e4f53d42ad"/>
    <p:sldId xmlns:r="http://schemas.openxmlformats.org/officeDocument/2006/relationships" id="269" r:id="R6f19dbcda7454515"/>
    <p:sldId xmlns:r="http://schemas.openxmlformats.org/officeDocument/2006/relationships" id="270" r:id="Rdaa521142be34855"/>
    <p:sldId xmlns:r="http://schemas.openxmlformats.org/officeDocument/2006/relationships" id="271" r:id="Re089df9e4bfa43df"/>
    <p:sldId xmlns:r="http://schemas.openxmlformats.org/officeDocument/2006/relationships" id="272" r:id="Rbfcc6836e7214e22"/>
    <p:sldId xmlns:r="http://schemas.openxmlformats.org/officeDocument/2006/relationships" id="273" r:id="Rf7e7be43428f4428"/>
    <p:sldId xmlns:r="http://schemas.openxmlformats.org/officeDocument/2006/relationships" id="274" r:id="R7972ac459ae942b2"/>
    <p:sldId xmlns:r="http://schemas.openxmlformats.org/officeDocument/2006/relationships" id="275" r:id="Rdf15918bfd8f4703"/>
    <p:sldId xmlns:r="http://schemas.openxmlformats.org/officeDocument/2006/relationships" id="276" r:id="Re61f5b01989444cc"/>
    <p:sldId xmlns:r="http://schemas.openxmlformats.org/officeDocument/2006/relationships" id="277" r:id="R640f085408fe41aa"/>
    <p:sldId xmlns:r="http://schemas.openxmlformats.org/officeDocument/2006/relationships" id="278" r:id="R28ae23f6c8754616"/>
    <p:sldId xmlns:r="http://schemas.openxmlformats.org/officeDocument/2006/relationships" id="279" r:id="R0bc17d4e17c1443d"/>
    <p:sldId xmlns:r="http://schemas.openxmlformats.org/officeDocument/2006/relationships" id="280" r:id="R7162d2b3dcab4574"/>
    <p:sldId xmlns:r="http://schemas.openxmlformats.org/officeDocument/2006/relationships" id="281" r:id="Rbd77491d23804882"/>
    <p:sldId xmlns:r="http://schemas.openxmlformats.org/officeDocument/2006/relationships" id="282" r:id="R86fbcbfc3e234dc7"/>
    <p:sldId xmlns:r="http://schemas.openxmlformats.org/officeDocument/2006/relationships" id="283" r:id="R2652b766bb344acd"/>
    <p:sldId xmlns:r="http://schemas.openxmlformats.org/officeDocument/2006/relationships" id="284" r:id="R3dc82e6e22084e5d"/>
    <p:sldId xmlns:r="http://schemas.openxmlformats.org/officeDocument/2006/relationships" id="285" r:id="R7d7fb46dd5684ef2"/>
    <p:sldId xmlns:r="http://schemas.openxmlformats.org/officeDocument/2006/relationships" id="286" r:id="R478ff410c5e945be"/>
    <p:sldId xmlns:r="http://schemas.openxmlformats.org/officeDocument/2006/relationships" id="287" r:id="R6a904b9207d4400e"/>
    <p:sldId xmlns:r="http://schemas.openxmlformats.org/officeDocument/2006/relationships" id="288" r:id="R5ddff3d0f1054b11"/>
    <p:sldId xmlns:r="http://schemas.openxmlformats.org/officeDocument/2006/relationships" id="289" r:id="R1f68b54083594e5a"/>
    <p:sldId xmlns:r="http://schemas.openxmlformats.org/officeDocument/2006/relationships" id="290" r:id="R5722a5bdcaf24341"/>
    <p:sldId xmlns:r="http://schemas.openxmlformats.org/officeDocument/2006/relationships" id="291" r:id="Rf9d9f3dce1784b23"/>
    <p:sldId xmlns:r="http://schemas.openxmlformats.org/officeDocument/2006/relationships" id="292" r:id="Rd4e380d3c07a4117"/>
    <p:sldId xmlns:r="http://schemas.openxmlformats.org/officeDocument/2006/relationships" id="293" r:id="Rfe74d494696f4294"/>
    <p:sldId xmlns:r="http://schemas.openxmlformats.org/officeDocument/2006/relationships" id="294" r:id="Ra326bd82a73b4376"/>
    <p:sldId xmlns:r="http://schemas.openxmlformats.org/officeDocument/2006/relationships" id="295" r:id="Rdbd5a682888c4bc4"/>
    <p:sldId xmlns:r="http://schemas.openxmlformats.org/officeDocument/2006/relationships" id="296" r:id="R4903a13084e44245"/>
    <p:sldId xmlns:r="http://schemas.openxmlformats.org/officeDocument/2006/relationships" id="297" r:id="R400beba2a59f4d2e"/>
    <p:sldId xmlns:r="http://schemas.openxmlformats.org/officeDocument/2006/relationships" id="298" r:id="R13b73b53fe72430e"/>
    <p:sldId xmlns:r="http://schemas.openxmlformats.org/officeDocument/2006/relationships" id="299" r:id="Rb33d18e5adab4d0d"/>
    <p:sldId xmlns:r="http://schemas.openxmlformats.org/officeDocument/2006/relationships" id="300" r:id="R6b667e1ef48648d1"/>
    <p:sldId xmlns:r="http://schemas.openxmlformats.org/officeDocument/2006/relationships" id="301" r:id="Rf79748ae51854344"/>
    <p:sldId xmlns:r="http://schemas.openxmlformats.org/officeDocument/2006/relationships" id="302" r:id="R737f4b01195845dd"/>
    <p:sldId xmlns:r="http://schemas.openxmlformats.org/officeDocument/2006/relationships" id="303" r:id="R788a0cae9b364781"/>
  </p:sldIdLst>
  <p:sldSz cx="12192000" cy="6858000"/>
  <p:notesSz cx="6858000" cy="9144000"/>
  <p:embeddedFontLst>
    <p:embeddedFont>
      <p:font typeface="Roboto"/>
      <p:regular xmlns:r="http://schemas.openxmlformats.org/officeDocument/2006/relationships" r:id="R7499327f1193490b"/>
    </p:embeddedFont>
    <p:embeddedFont>
      <p:font typeface="Google Sans Medium"/>
      <p:regular xmlns:r="http://schemas.openxmlformats.org/officeDocument/2006/relationships" r:id="R27f23bc4429f44ac"/>
    </p:embeddedFont>
    <p:embeddedFont>
      <p:font typeface="Google Sans"/>
      <p:regular xmlns:r="http://schemas.openxmlformats.org/officeDocument/2006/relationships" r:id="R97237308ab1a4c7e"/>
    </p:embeddedFont>
    <p:embeddedFont>
      <p:font typeface="Calibri"/>
      <p:regular xmlns:r="http://schemas.openxmlformats.org/officeDocument/2006/relationships" r:id="R0994089ecd1c4b88"/>
    </p:embeddedFont>
    <p:embeddedFont>
      <p:font typeface="Roboto Light"/>
      <p:regular xmlns:r="http://schemas.openxmlformats.org/officeDocument/2006/relationships" r:id="R391e6681bd7b46c9"/>
    </p:embeddedFont>
    <p:embeddedFont>
      <p:font typeface="Helvetica Neue Light"/>
      <p:regular xmlns:r="http://schemas.openxmlformats.org/officeDocument/2006/relationships" r:id="Rf7a50a0255a94b72"/>
    </p:embeddedFont>
    <p:embeddedFont>
      <p:font typeface="Google Sans Text"/>
      <p:regular xmlns:r="http://schemas.openxmlformats.org/officeDocument/2006/relationships" r:id="R34e310181ddc4f22"/>
    </p:embeddedFont>
    <p:embeddedFont>
      <p:font typeface="Roboto Mono"/>
      <p:regular xmlns:r="http://schemas.openxmlformats.org/officeDocument/2006/relationships" r:id="Rca1fff3a2d7d4169"/>
      <p:bold xmlns:r="http://schemas.openxmlformats.org/officeDocument/2006/relationships" r:id="R497fd72733ae4141"/>
      <p:italic xmlns:r="http://schemas.openxmlformats.org/officeDocument/2006/relationships" r:id="Rf3213dc25cc34cdc"/>
      <p:boldItalic xmlns:r="http://schemas.openxmlformats.org/officeDocument/2006/relationships" r:id="Re5884ef7c7ad47a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7fb2fd0c8e4db1" /><Relationship Type="http://schemas.openxmlformats.org/officeDocument/2006/relationships/slideMaster" Target="/ppt/slideMasters/slideMaster1.xml" Id="Re1a97a41599640ad" /><Relationship Type="http://schemas.openxmlformats.org/officeDocument/2006/relationships/notesMaster" Target="/ppt/notesMasters/notesMaster1.xml" Id="R855b7786965849f6" /><Relationship Type="http://schemas.openxmlformats.org/officeDocument/2006/relationships/presProps" Target="/ppt/presProps.xml" Id="R9aa5934dd88649fb" /><Relationship Type="http://schemas.openxmlformats.org/officeDocument/2006/relationships/viewProps" Target="/ppt/viewProps.xml" Id="R54dbe4d222444b82" /><Relationship Type="http://schemas.openxmlformats.org/officeDocument/2006/relationships/tableStyles" Target="/ppt/tableStyles.xml" Id="Rfca4e55b47e94dcc" /><Relationship Type="http://schemas.openxmlformats.org/officeDocument/2006/relationships/font" Target="/ppt/fonts/font.dat" Id="R7499327f1193490b" /><Relationship Type="http://schemas.openxmlformats.org/officeDocument/2006/relationships/font" Target="/ppt/fonts/font2.dat" Id="R27f23bc4429f44ac" /><Relationship Type="http://schemas.openxmlformats.org/officeDocument/2006/relationships/font" Target="/ppt/fonts/font3.dat" Id="R97237308ab1a4c7e" /><Relationship Type="http://schemas.openxmlformats.org/officeDocument/2006/relationships/font" Target="/ppt/fonts/font4.dat" Id="R0994089ecd1c4b88" /><Relationship Type="http://schemas.openxmlformats.org/officeDocument/2006/relationships/font" Target="/ppt/fonts/font5.dat" Id="R391e6681bd7b46c9" /><Relationship Type="http://schemas.openxmlformats.org/officeDocument/2006/relationships/font" Target="/ppt/fonts/font6.dat" Id="Rf7a50a0255a94b72" /><Relationship Type="http://schemas.openxmlformats.org/officeDocument/2006/relationships/font" Target="/ppt/fonts/font7.dat" Id="R34e310181ddc4f22" /><Relationship Type="http://schemas.openxmlformats.org/officeDocument/2006/relationships/font" Target="/ppt/fonts/font8.dat" Id="Rca1fff3a2d7d4169" /><Relationship Type="http://schemas.openxmlformats.org/officeDocument/2006/relationships/font" Target="/ppt/fonts/font9.dat" Id="R497fd72733ae4141" /><Relationship Type="http://schemas.openxmlformats.org/officeDocument/2006/relationships/font" Target="/ppt/fonts/font10.dat" Id="Rf3213dc25cc34cdc" /><Relationship Type="http://schemas.openxmlformats.org/officeDocument/2006/relationships/font" Target="/ppt/fonts/font11.dat" Id="Re5884ef7c7ad47a0" /><Relationship Type="http://schemas.openxmlformats.org/officeDocument/2006/relationships/slide" Target="/ppt/slides/slide1.xml" Id="R4f0a827f284540e2" /><Relationship Type="http://schemas.openxmlformats.org/officeDocument/2006/relationships/slide" Target="/ppt/slides/slide2.xml" Id="Rf48da81380ad4be4" /><Relationship Type="http://schemas.openxmlformats.org/officeDocument/2006/relationships/slide" Target="/ppt/slides/slide3.xml" Id="R34e4fe75e98a473d" /><Relationship Type="http://schemas.openxmlformats.org/officeDocument/2006/relationships/slide" Target="/ppt/slides/slide4.xml" Id="Raf58793e07244b81" /><Relationship Type="http://schemas.openxmlformats.org/officeDocument/2006/relationships/slide" Target="/ppt/slides/slide5.xml" Id="Rf7b0fd7387634bfe" /><Relationship Type="http://schemas.openxmlformats.org/officeDocument/2006/relationships/slide" Target="/ppt/slides/slide6.xml" Id="R5bea76d19c6c4bbf" /><Relationship Type="http://schemas.openxmlformats.org/officeDocument/2006/relationships/slide" Target="/ppt/slides/slide7.xml" Id="Rc4ac376cc8a94a48" /><Relationship Type="http://schemas.openxmlformats.org/officeDocument/2006/relationships/slide" Target="/ppt/slides/slide8.xml" Id="R13f38fe961e64b54" /><Relationship Type="http://schemas.openxmlformats.org/officeDocument/2006/relationships/slide" Target="/ppt/slides/slide9.xml" Id="R77fc3606c2f1436d" /><Relationship Type="http://schemas.openxmlformats.org/officeDocument/2006/relationships/slide" Target="/ppt/slides/slide10.xml" Id="Rde73f52d0ede4faa" /><Relationship Type="http://schemas.openxmlformats.org/officeDocument/2006/relationships/slide" Target="/ppt/slides/slide11.xml" Id="Rcb560b40b8cd45dc" /><Relationship Type="http://schemas.openxmlformats.org/officeDocument/2006/relationships/slide" Target="/ppt/slides/slide12.xml" Id="R02609d0939c54545" /><Relationship Type="http://schemas.openxmlformats.org/officeDocument/2006/relationships/slide" Target="/ppt/slides/slide13.xml" Id="R4a70f1e4f53d42ad" /><Relationship Type="http://schemas.openxmlformats.org/officeDocument/2006/relationships/slide" Target="/ppt/slides/slide14.xml" Id="R6f19dbcda7454515" /><Relationship Type="http://schemas.openxmlformats.org/officeDocument/2006/relationships/slide" Target="/ppt/slides/slide15.xml" Id="Rdaa521142be34855" /><Relationship Type="http://schemas.openxmlformats.org/officeDocument/2006/relationships/slide" Target="/ppt/slides/slide16.xml" Id="Re089df9e4bfa43df" /><Relationship Type="http://schemas.openxmlformats.org/officeDocument/2006/relationships/slide" Target="/ppt/slides/slide17.xml" Id="Rbfcc6836e7214e22" /><Relationship Type="http://schemas.openxmlformats.org/officeDocument/2006/relationships/slide" Target="/ppt/slides/slide18.xml" Id="Rf7e7be43428f4428" /><Relationship Type="http://schemas.openxmlformats.org/officeDocument/2006/relationships/slide" Target="/ppt/slides/slide19.xml" Id="R7972ac459ae942b2" /><Relationship Type="http://schemas.openxmlformats.org/officeDocument/2006/relationships/slide" Target="/ppt/slides/slide20.xml" Id="Rdf15918bfd8f4703" /><Relationship Type="http://schemas.openxmlformats.org/officeDocument/2006/relationships/slide" Target="/ppt/slides/slide21.xml" Id="Re61f5b01989444cc" /><Relationship Type="http://schemas.openxmlformats.org/officeDocument/2006/relationships/slide" Target="/ppt/slides/slide22.xml" Id="R640f085408fe41aa" /><Relationship Type="http://schemas.openxmlformats.org/officeDocument/2006/relationships/slide" Target="/ppt/slides/slide23.xml" Id="R28ae23f6c8754616" /><Relationship Type="http://schemas.openxmlformats.org/officeDocument/2006/relationships/slide" Target="/ppt/slides/slide24.xml" Id="R0bc17d4e17c1443d" /><Relationship Type="http://schemas.openxmlformats.org/officeDocument/2006/relationships/slide" Target="/ppt/slides/slide25.xml" Id="R7162d2b3dcab4574" /><Relationship Type="http://schemas.openxmlformats.org/officeDocument/2006/relationships/slide" Target="/ppt/slides/slide26.xml" Id="Rbd77491d23804882" /><Relationship Type="http://schemas.openxmlformats.org/officeDocument/2006/relationships/slide" Target="/ppt/slides/slide27.xml" Id="R86fbcbfc3e234dc7" /><Relationship Type="http://schemas.openxmlformats.org/officeDocument/2006/relationships/slide" Target="/ppt/slides/slide28.xml" Id="R2652b766bb344acd" /><Relationship Type="http://schemas.openxmlformats.org/officeDocument/2006/relationships/slide" Target="/ppt/slides/slide29.xml" Id="R3dc82e6e22084e5d" /><Relationship Type="http://schemas.openxmlformats.org/officeDocument/2006/relationships/slide" Target="/ppt/slides/slide30.xml" Id="R7d7fb46dd5684ef2" /><Relationship Type="http://schemas.openxmlformats.org/officeDocument/2006/relationships/slide" Target="/ppt/slides/slide31.xml" Id="R478ff410c5e945be" /><Relationship Type="http://schemas.openxmlformats.org/officeDocument/2006/relationships/slide" Target="/ppt/slides/slide32.xml" Id="R6a904b9207d4400e" /><Relationship Type="http://schemas.openxmlformats.org/officeDocument/2006/relationships/slide" Target="/ppt/slides/slide33.xml" Id="R5ddff3d0f1054b11" /><Relationship Type="http://schemas.openxmlformats.org/officeDocument/2006/relationships/slide" Target="/ppt/slides/slide34.xml" Id="R1f68b54083594e5a" /><Relationship Type="http://schemas.openxmlformats.org/officeDocument/2006/relationships/slide" Target="/ppt/slides/slide35.xml" Id="R5722a5bdcaf24341" /><Relationship Type="http://schemas.openxmlformats.org/officeDocument/2006/relationships/slide" Target="/ppt/slides/slide36.xml" Id="Rf9d9f3dce1784b23" /><Relationship Type="http://schemas.openxmlformats.org/officeDocument/2006/relationships/slide" Target="/ppt/slides/slide37.xml" Id="Rd4e380d3c07a4117" /><Relationship Type="http://schemas.openxmlformats.org/officeDocument/2006/relationships/slide" Target="/ppt/slides/slide38.xml" Id="Rfe74d494696f4294" /><Relationship Type="http://schemas.openxmlformats.org/officeDocument/2006/relationships/slide" Target="/ppt/slides/slide39.xml" Id="Ra326bd82a73b4376" /><Relationship Type="http://schemas.openxmlformats.org/officeDocument/2006/relationships/slide" Target="/ppt/slides/slide40.xml" Id="Rdbd5a682888c4bc4" /><Relationship Type="http://schemas.openxmlformats.org/officeDocument/2006/relationships/slide" Target="/ppt/slides/slide41.xml" Id="R4903a13084e44245" /><Relationship Type="http://schemas.openxmlformats.org/officeDocument/2006/relationships/slide" Target="/ppt/slides/slide42.xml" Id="R400beba2a59f4d2e" /><Relationship Type="http://schemas.openxmlformats.org/officeDocument/2006/relationships/slide" Target="/ppt/slides/slide43.xml" Id="R13b73b53fe72430e" /><Relationship Type="http://schemas.openxmlformats.org/officeDocument/2006/relationships/slide" Target="/ppt/slides/slide44.xml" Id="Rb33d18e5adab4d0d" /><Relationship Type="http://schemas.openxmlformats.org/officeDocument/2006/relationships/slide" Target="/ppt/slides/slide45.xml" Id="R6b667e1ef48648d1" /><Relationship Type="http://schemas.openxmlformats.org/officeDocument/2006/relationships/slide" Target="/ppt/slides/slide46.xml" Id="Rf79748ae51854344" /><Relationship Type="http://schemas.openxmlformats.org/officeDocument/2006/relationships/slide" Target="/ppt/slides/slide47.xml" Id="R737f4b01195845dd" /><Relationship Type="http://schemas.openxmlformats.org/officeDocument/2006/relationships/slide" Target="/ppt/slides/slide48.xml" Id="R788a0cae9b3647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58fcd081ba42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GCP Template">
  <a:themeElements>
    <a:clrScheme name="GCP template">
      <a:dk1>
        <a:srgbClr val="000000"/>
      </a:dk1>
      <a:lt1>
        <a:srgbClr val="FFFFFF"/>
      </a:lt1>
      <a:dk2>
        <a:srgbClr val="080808"/>
      </a:dk2>
      <a:lt2>
        <a:srgbClr val="F8F8F8"/>
      </a:lt2>
      <a:accent1>
        <a:srgbClr val="4285F4"/>
      </a:accent1>
      <a:accent2>
        <a:srgbClr val="D02D2A"/>
      </a:accent2>
      <a:accent3>
        <a:srgbClr val="F0A608"/>
      </a:accent3>
      <a:accent4>
        <a:srgbClr val="0F9D58"/>
      </a:accent4>
      <a:accent5>
        <a:srgbClr val="254A89"/>
      </a:accent5>
      <a:accent6>
        <a:srgbClr val="D34836"/>
      </a:accent6>
      <a:hlink>
        <a:srgbClr val="4285F4"/>
      </a:hlink>
      <a:folHlink>
        <a:srgbClr val="254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CP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d0cbd6d0474a92" /><Relationship Type="http://schemas.openxmlformats.org/officeDocument/2006/relationships/notesMaster" Target="/ppt/notesMasters/notesMaster1.xml" Id="R83ab9e91e55341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5b23bf1b24403" /><Relationship Type="http://schemas.openxmlformats.org/officeDocument/2006/relationships/notesMaster" Target="/ppt/notesMasters/notesMaster1.xml" Id="R9b40efae491442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da8cfa92f34d99" /><Relationship Type="http://schemas.openxmlformats.org/officeDocument/2006/relationships/notesMaster" Target="/ppt/notesMasters/notesMaster1.xml" Id="Rb87546ed68c345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24d82b1b5a417c" /><Relationship Type="http://schemas.openxmlformats.org/officeDocument/2006/relationships/notesMaster" Target="/ppt/notesMasters/notesMaster1.xml" Id="R943fa206899e44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06061a2f274858" /><Relationship Type="http://schemas.openxmlformats.org/officeDocument/2006/relationships/notesMaster" Target="/ppt/notesMasters/notesMaster1.xml" Id="R55b86406760541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e68c7b3210486c" /><Relationship Type="http://schemas.openxmlformats.org/officeDocument/2006/relationships/notesMaster" Target="/ppt/notesMasters/notesMaster1.xml" Id="R4d71d1073bd64a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d21441c6c04cfe" /><Relationship Type="http://schemas.openxmlformats.org/officeDocument/2006/relationships/notesMaster" Target="/ppt/notesMasters/notesMaster1.xml" Id="R1eeb3963ddbe40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faa33c13b44722" /><Relationship Type="http://schemas.openxmlformats.org/officeDocument/2006/relationships/notesMaster" Target="/ppt/notesMasters/notesMaster1.xml" Id="R1a6acdc2aa014b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5a88d2f2014d5d" /><Relationship Type="http://schemas.openxmlformats.org/officeDocument/2006/relationships/notesMaster" Target="/ppt/notesMasters/notesMaster1.xml" Id="Ra3ab9ad419c243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ec4fd5fe5f4c16" /><Relationship Type="http://schemas.openxmlformats.org/officeDocument/2006/relationships/notesMaster" Target="/ppt/notesMasters/notesMaster1.xml" Id="R9cacfccd56064e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d68657848a41b7" /><Relationship Type="http://schemas.openxmlformats.org/officeDocument/2006/relationships/notesMaster" Target="/ppt/notesMasters/notesMaster1.xml" Id="R0a53dc22112849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ad388285a44ab7" /><Relationship Type="http://schemas.openxmlformats.org/officeDocument/2006/relationships/notesMaster" Target="/ppt/notesMasters/notesMaster1.xml" Id="Rf676d156a7de40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63b56b90de436d" /><Relationship Type="http://schemas.openxmlformats.org/officeDocument/2006/relationships/notesMaster" Target="/ppt/notesMasters/notesMaster1.xml" Id="R34d2ffe1d27b49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93fdd1745b4c3c" /><Relationship Type="http://schemas.openxmlformats.org/officeDocument/2006/relationships/notesMaster" Target="/ppt/notesMasters/notesMaster1.xml" Id="Rd50b9db8db0b4d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5204a51f1240b3" /><Relationship Type="http://schemas.openxmlformats.org/officeDocument/2006/relationships/notesMaster" Target="/ppt/notesMasters/notesMaster1.xml" Id="R6bceb120122049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ecbead073d4c90" /><Relationship Type="http://schemas.openxmlformats.org/officeDocument/2006/relationships/notesMaster" Target="/ppt/notesMasters/notesMaster1.xml" Id="Rdd6064ab5e204a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6167ecd1674460" /><Relationship Type="http://schemas.openxmlformats.org/officeDocument/2006/relationships/notesMaster" Target="/ppt/notesMasters/notesMaster1.xml" Id="R09a0f0999ac944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876ea99b7e4314" /><Relationship Type="http://schemas.openxmlformats.org/officeDocument/2006/relationships/notesMaster" Target="/ppt/notesMasters/notesMaster1.xml" Id="R8c01de0cad1445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99da49e9214133" /><Relationship Type="http://schemas.openxmlformats.org/officeDocument/2006/relationships/notesMaster" Target="/ppt/notesMasters/notesMaster1.xml" Id="R599d5f718c9e48c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26c14472534698" /><Relationship Type="http://schemas.openxmlformats.org/officeDocument/2006/relationships/notesMaster" Target="/ppt/notesMasters/notesMaster1.xml" Id="Rf9532749326042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f1155f68714a9a" /><Relationship Type="http://schemas.openxmlformats.org/officeDocument/2006/relationships/notesMaster" Target="/ppt/notesMasters/notesMaster1.xml" Id="R730d46600e0b42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98789c678a43bd" /><Relationship Type="http://schemas.openxmlformats.org/officeDocument/2006/relationships/notesMaster" Target="/ppt/notesMasters/notesMaster1.xml" Id="Rac6d6a452f10410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bef2ae068ba49ee" /><Relationship Type="http://schemas.openxmlformats.org/officeDocument/2006/relationships/notesMaster" Target="/ppt/notesMasters/notesMaster1.xml" Id="Rc862ef702cad49e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390465abafe4b14" /><Relationship Type="http://schemas.openxmlformats.org/officeDocument/2006/relationships/notesMaster" Target="/ppt/notesMasters/notesMaster1.xml" Id="Rb9bd18deb7e24c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85ee0994b2430f" /><Relationship Type="http://schemas.openxmlformats.org/officeDocument/2006/relationships/notesMaster" Target="/ppt/notesMasters/notesMaster1.xml" Id="Rd78f8edcbe95462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db2ad6817844a1" /><Relationship Type="http://schemas.openxmlformats.org/officeDocument/2006/relationships/notesMaster" Target="/ppt/notesMasters/notesMaster1.xml" Id="R82ac1c6436b646c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6680375fc34c85" /><Relationship Type="http://schemas.openxmlformats.org/officeDocument/2006/relationships/notesMaster" Target="/ppt/notesMasters/notesMaster1.xml" Id="Rc34a7c633ac5434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e7a7d818bef49a3" /><Relationship Type="http://schemas.openxmlformats.org/officeDocument/2006/relationships/notesMaster" Target="/ppt/notesMasters/notesMaster1.xml" Id="Rfcc4d230638641f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d97c8b6cf30499c" /><Relationship Type="http://schemas.openxmlformats.org/officeDocument/2006/relationships/notesMaster" Target="/ppt/notesMasters/notesMaster1.xml" Id="R93cad821411649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17926afa0594563" /><Relationship Type="http://schemas.openxmlformats.org/officeDocument/2006/relationships/notesMaster" Target="/ppt/notesMasters/notesMaster1.xml" Id="R81b8f73be3b1404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afdb26a5728474b" /><Relationship Type="http://schemas.openxmlformats.org/officeDocument/2006/relationships/notesMaster" Target="/ppt/notesMasters/notesMaster1.xml" Id="R7cd0e7fa284c4f0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9446d5db2b445ce" /><Relationship Type="http://schemas.openxmlformats.org/officeDocument/2006/relationships/notesMaster" Target="/ppt/notesMasters/notesMaster1.xml" Id="Ra2dd2128f4aa4e3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5540fb0760c4b71" /><Relationship Type="http://schemas.openxmlformats.org/officeDocument/2006/relationships/notesMaster" Target="/ppt/notesMasters/notesMaster1.xml" Id="R3222bbb86bef4e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0725f28e6bd4921" /><Relationship Type="http://schemas.openxmlformats.org/officeDocument/2006/relationships/notesMaster" Target="/ppt/notesMasters/notesMaster1.xml" Id="R16bf0aab9f5748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06a70e1892466f" /><Relationship Type="http://schemas.openxmlformats.org/officeDocument/2006/relationships/notesMaster" Target="/ppt/notesMasters/notesMaster1.xml" Id="Rd2887864aefe4ba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b2c274dfa9d4a66" /><Relationship Type="http://schemas.openxmlformats.org/officeDocument/2006/relationships/notesMaster" Target="/ppt/notesMasters/notesMaster1.xml" Id="R74e11b7eb3cf45b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8bb2fa8e37a4947" /><Relationship Type="http://schemas.openxmlformats.org/officeDocument/2006/relationships/notesMaster" Target="/ppt/notesMasters/notesMaster1.xml" Id="R1250255131c14c9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2b6f5e570934a7e" /><Relationship Type="http://schemas.openxmlformats.org/officeDocument/2006/relationships/notesMaster" Target="/ppt/notesMasters/notesMaster1.xml" Id="R051e532ffe3a475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fbb7d5df1604ffd" /><Relationship Type="http://schemas.openxmlformats.org/officeDocument/2006/relationships/notesMaster" Target="/ppt/notesMasters/notesMaster1.xml" Id="R57a6dd211fb74a4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14de99c96a2425d" /><Relationship Type="http://schemas.openxmlformats.org/officeDocument/2006/relationships/notesMaster" Target="/ppt/notesMasters/notesMaster1.xml" Id="Rd64b23ae7b764da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716c9071f744b61" /><Relationship Type="http://schemas.openxmlformats.org/officeDocument/2006/relationships/notesMaster" Target="/ppt/notesMasters/notesMaster1.xml" Id="R7d294fb3e26b41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2504d7bffb24005" /><Relationship Type="http://schemas.openxmlformats.org/officeDocument/2006/relationships/notesMaster" Target="/ppt/notesMasters/notesMaster1.xml" Id="R89fa0e121dfa46e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4138999efd64a60" /><Relationship Type="http://schemas.openxmlformats.org/officeDocument/2006/relationships/notesMaster" Target="/ppt/notesMasters/notesMaster1.xml" Id="R6165c18076de484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e55f134ba2e4f84" /><Relationship Type="http://schemas.openxmlformats.org/officeDocument/2006/relationships/notesMaster" Target="/ppt/notesMasters/notesMaster1.xml" Id="R8a930df40b6c48a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e67c0a7383b4826" /><Relationship Type="http://schemas.openxmlformats.org/officeDocument/2006/relationships/notesMaster" Target="/ppt/notesMasters/notesMaster1.xml" Id="Rd75ab623c79e441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578277f668d4481" /><Relationship Type="http://schemas.openxmlformats.org/officeDocument/2006/relationships/notesMaster" Target="/ppt/notesMasters/notesMaster1.xml" Id="R4239743834f545b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0ba07a2f839416d" /><Relationship Type="http://schemas.openxmlformats.org/officeDocument/2006/relationships/notesMaster" Target="/ppt/notesMasters/notesMaster1.xml" Id="Re0d165cbb60742d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821ad0cb6f94bc8" /><Relationship Type="http://schemas.openxmlformats.org/officeDocument/2006/relationships/notesMaster" Target="/ppt/notesMasters/notesMaster1.xml" Id="R2addeaa5364d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Module 3 and establish its scope.</a:t>
            </a:r>
          </a:p>
          <a:p xmlns:a="http://schemas.openxmlformats.org/drawingml/2006/main">
            <a:r>
              <a:t>Discuss: Responsible AI asks whether an AI system is useful, safe, fair enough for its context, understandable, and accountable—not merely whether it works.</a:t>
            </a:r>
          </a:p>
          <a:p xmlns:a="http://schemas.openxmlformats.org/drawingml/2006/main">
            <a:r>
              <a:t>Trainer guidance: Ask learners for one AI decision that could affect a person. Use their answers to establish that technical output can create real-world consequences.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State measurable learning outcomes.</a:t>
            </a:r>
          </a:p>
          <a:p xmlns:a="http://schemas.openxmlformats.org/drawingml/2006/main">
            <a:r>
              <a:t>Discuss: The unit moves from meaning and stakeholders to lifecycle decisions, business alignment, oversight, and issue spotting.</a:t>
            </a:r>
          </a:p>
          <a:p xmlns:a="http://schemas.openxmlformats.org/drawingml/2006/main">
            <a:r>
              <a:t>Trainer guidance: Preview that learners will repeatedly use a campus support assistant as a running example.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Preview the module’s progressive structure.</a:t>
            </a:r>
          </a:p>
          <a:p xmlns:a="http://schemas.openxmlformats.org/drawingml/2006/main">
            <a:r>
              <a:t>Discuss: Each section answers a practical question: why care, where decisions occur, how values become controls, and how a team spots issues.</a:t>
            </a:r>
          </a:p>
          <a:p xmlns:a="http://schemas.openxmlformats.org/drawingml/2006/main">
            <a:r>
              <a:t>Trainer guidance: Walk left to right and explain that responsible AI is continuous rather than a final checklist.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Begin the motivation section.</a:t>
            </a:r>
          </a:p>
          <a:p xmlns:a="http://schemas.openxmlformats.org/drawingml/2006/main">
            <a:r>
              <a:t>Discuss: Learners first need a concrete picture of AI as part of a larger social and technical system.</a:t>
            </a:r>
          </a:p>
          <a:p xmlns:a="http://schemas.openxmlformats.org/drawingml/2006/main">
            <a:r>
              <a:t>Trainer guidance: Use this divider as a pause. Ask whether a highly accurate system can still be irresponsible.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responsible AI as a socio-technical concern.</a:t>
            </a:r>
          </a:p>
          <a:p xmlns:a="http://schemas.openxmlformats.org/drawingml/2006/main">
            <a:r>
              <a:t>Discuss: The same model can produce different outcomes depending on who uses it, how recommendations are displayed, and what happens after a mistake.</a:t>
            </a:r>
          </a:p>
          <a:p xmlns:a="http://schemas.openxmlformats.org/drawingml/2006/main">
            <a:r>
              <a:t>Trainer guidance: Point to each illustrated stakeholder. Ask which one owns the final decision and which one bears the consequence.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Define responsible AI in contrast with technical performance.</a:t>
            </a:r>
          </a:p>
          <a:p xmlns:a="http://schemas.openxmlformats.org/drawingml/2006/main">
            <a:r>
              <a:t>Discuss: A system can be technically impressive yet inappropriate because the task, context, affected people, or available recourse is wrong.</a:t>
            </a:r>
          </a:p>
          <a:p xmlns:a="http://schemas.openxmlformats.org/drawingml/2006/main">
            <a:r>
              <a:t>Trainer guidance: Use a résumé-ranking model: high agreement with past decisions may reproduce past exclusion.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stakeholder ripple effects.</a:t>
            </a:r>
          </a:p>
          <a:p xmlns:a="http://schemas.openxmlformats.org/drawingml/2006/main">
            <a:r>
              <a:t>Discuss: A prediction is converted into a human action, which changes a person’s experience and may affect institutional trust.</a:t>
            </a:r>
          </a:p>
          <a:p xmlns:a="http://schemas.openxmlformats.org/drawingml/2006/main">
            <a:r>
              <a:t>Trainer guidance: Ask learners where an error could be caught. Highlight that later controls cannot always undo an earlier harmful framing.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https://ai.google/static/documents/ai-responsibility-2024-update.pdf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Apply the definition to a relatable campus scenario.</a:t>
            </a:r>
          </a:p>
          <a:p xmlns:a="http://schemas.openxmlformats.org/drawingml/2006/main">
            <a:r>
              <a:t>Discuss: The use case is not automatically good or bad. Its acceptability depends on data, context, human oversight, alternatives, and monitoring.</a:t>
            </a:r>
          </a:p>
          <a:p xmlns:a="http://schemas.openxmlformats.org/drawingml/2006/main">
            <a:r>
              <a:t>Trainer guidance: Ask groups to identify one benefit, one affected stakeholder, one risk, and one safeguard.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https://ai.google/safety/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proportionate risk reasoning.</a:t>
            </a:r>
          </a:p>
          <a:p xmlns:a="http://schemas.openxmlformats.org/drawingml/2006/main">
            <a:r>
              <a:t>Discuss: Teams compare intended benefit with possible harm, then choose controls appropriate to likelihood and severity.</a:t>
            </a:r>
          </a:p>
          <a:p xmlns:a="http://schemas.openxmlformats.org/drawingml/2006/main">
            <a:r>
              <a:t>Trainer guidance: Contrast a creative poster generator with an admissions recommender. The same error rate has different consequences.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Provide a reusable issue-spotting mental model.</a:t>
            </a:r>
          </a:p>
          <a:p xmlns:a="http://schemas.openxmlformats.org/drawingml/2006/main">
            <a:r>
              <a:t>Discuss: People, data, behavior, control, and evidence turn an abstract ethics conversation into concrete design questions.</a:t>
            </a:r>
          </a:p>
          <a:p xmlns:a="http://schemas.openxmlformats.org/drawingml/2006/main">
            <a:r>
              <a:t>Trainer guidance: Ask learners which question the campus assistant scenario makes most urgent and why.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a complete use case with benefit, risk, and controls.</a:t>
            </a:r>
          </a:p>
          <a:p xmlns:a="http://schemas.openxmlformats.org/drawingml/2006/main">
            <a:r>
              <a:t>Discuss: The responsible version narrows the system role to formative support and keeps grading accountability with educators.</a:t>
            </a:r>
          </a:p>
          <a:p xmlns:a="http://schemas.openxmlformats.org/drawingml/2006/main">
            <a:r>
              <a:t>Trainer guidance: Ask how the design would change if the output directly determined marks.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safeguards across contexts.</a:t>
            </a:r>
          </a:p>
          <a:p xmlns:a="http://schemas.openxmlformats.org/drawingml/2006/main">
            <a:r>
              <a:t>Discuss: Summarization is the same technical capability, but consequence severity changes the acceptable automation and oversight level.</a:t>
            </a:r>
          </a:p>
          <a:p xmlns:a="http://schemas.openxmlformats.org/drawingml/2006/main">
            <a:r>
              <a:t>Trainer guidance: Ask whether a single organization policy can cover both examples without context-specific rules.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https://ai.google/safety/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Begin the lifecycle section.</a:t>
            </a:r>
          </a:p>
          <a:p xmlns:a="http://schemas.openxmlformats.org/drawingml/2006/main">
            <a:r>
              <a:t>Discuss: Responsibility cannot be added after the model is already deployed.</a:t>
            </a:r>
          </a:p>
          <a:p xmlns:a="http://schemas.openxmlformats.org/drawingml/2006/main">
            <a:r>
              <a:t>Trainer guidance: Tell learners to watch how the campus scenario changes at each stage.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the full responsible AI lifecycle.</a:t>
            </a:r>
          </a:p>
          <a:p xmlns:a="http://schemas.openxmlformats.org/drawingml/2006/main">
            <a:r>
              <a:t>Discuss: The illustration connects framing, data, model building, evaluation, launch, monitoring, incident response, and feedback.</a:t>
            </a:r>
          </a:p>
          <a:p xmlns:a="http://schemas.openxmlformats.org/drawingml/2006/main">
            <a:r>
              <a:t>Trainer guidance: Trace the diagram left to right, then point to the loop back. Ask why a one-time launch review is insufficient.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https://ai.google/static/documents/ai-responsibility-2024-update.pdf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Name the lifecycle stages and their governing questions.</a:t>
            </a:r>
          </a:p>
          <a:p xmlns:a="http://schemas.openxmlformats.org/drawingml/2006/main">
            <a:r>
              <a:t>Discuss: The questions prevent a team from treating responsible AI as only a fairness test or a launch approval.</a:t>
            </a:r>
          </a:p>
          <a:p xmlns:a="http://schemas.openxmlformats.org/drawingml/2006/main">
            <a:r>
              <a:t>Trainer guidance: Use the campus assistant: ask one learner to answer each stage question in a sentence.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responsible problem framing.</a:t>
            </a:r>
          </a:p>
          <a:p xmlns:a="http://schemas.openxmlformats.org/drawingml/2006/main">
            <a:r>
              <a:t>Discuss: A clear objective identifies the beneficiary, success measure, human responsibility, and unacceptable outcome. It also permits a non-AI alternative.</a:t>
            </a:r>
          </a:p>
          <a:p xmlns:a="http://schemas.openxmlformats.org/drawingml/2006/main">
            <a:r>
              <a:t>Trainer guidance: Ask learners to rewrite the weak framing before revealing the clear version.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https://ai.google/static/documents/ai-responsibility-2024-update.pdf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representation, permission, quality, and protection in data.</a:t>
            </a:r>
          </a:p>
          <a:p xmlns:a="http://schemas.openxmlformats.org/drawingml/2006/main">
            <a:r>
              <a:t>Discuss: Data is not neutral evidence; it reflects collection rules, historical decisions, missing populations, and label definitions.</a:t>
            </a:r>
          </a:p>
          <a:p xmlns:a="http://schemas.openxmlformats.org/drawingml/2006/main">
            <a:r>
              <a:t>Trainer guidance: Use the regional-language example to distinguish overall accuracy from performance for an affected group.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Separate model output from the complete decision system.</a:t>
            </a:r>
          </a:p>
          <a:p xmlns:a="http://schemas.openxmlformats.org/drawingml/2006/main">
            <a:r>
              <a:t>Discuss: A probability or generated summary becomes consequential only after thresholds, interface cues, and human action are applied.</a:t>
            </a:r>
          </a:p>
          <a:p xmlns:a="http://schemas.openxmlformats.org/drawingml/2006/main">
            <a:r>
              <a:t>Trainer guidance: Ask what happens if staff interpret a low-confidence output as certain.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multi-lens evaluation.</a:t>
            </a:r>
          </a:p>
          <a:p xmlns:a="http://schemas.openxmlformats.org/drawingml/2006/main">
            <a:r>
              <a:t>Discuss: Quality, safety, group performance, real user tasks, edge cases, and misuse tests provide complementary evidence.</a:t>
            </a:r>
          </a:p>
          <a:p xmlns:a="http://schemas.openxmlformats.org/drawingml/2006/main">
            <a:r>
              <a:t>Trainer guidance: Ask why average accuracy could hide failures for a small but high-impact subgroup.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https://ai.google/safety/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distribution and context shift after deployment.</a:t>
            </a:r>
          </a:p>
          <a:p xmlns:a="http://schemas.openxmlformats.org/drawingml/2006/main">
            <a:r>
              <a:t>Discuss: Real users, seasonal demand, new languages, and unexpected behavior can invalidate pre-launch assumptions.</a:t>
            </a:r>
          </a:p>
          <a:p xmlns:a="http://schemas.openxmlformats.org/drawingml/2006/main">
            <a:r>
              <a:t>Trainer guidance: Use exam season as a scenario: volume and wording change at the exact moment consequences become more serious.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the monitoring and response loop.</a:t>
            </a:r>
          </a:p>
          <a:p xmlns:a="http://schemas.openxmlformats.org/drawingml/2006/main">
            <a:r>
              <a:t>Discuss: Monitoring is useful only when signals have owners, thresholds, response playbooks, and verification. The diagram is embedded as a high-resolution image so its curved arrows render consistently across WPS, PowerPoint, and Google Slides.</a:t>
            </a:r>
          </a:p>
          <a:p xmlns:a="http://schemas.openxmlformats.org/drawingml/2006/main">
            <a:r>
              <a:t>Trainer guidance: Follow the arrows clockwise. Ask which signal would reveal under-prioritization in a regional language: aggregate latency or subgroup escalation rates.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https://ai.google/safety/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Walk through a responsible incident response scenario.</a:t>
            </a:r>
          </a:p>
          <a:p xmlns:a="http://schemas.openxmlformats.org/drawingml/2006/main">
            <a:r>
              <a:t>Discuss: Containment protects affected people before the team has a perfect root-cause explanation. Correction includes system and process changes.</a:t>
            </a:r>
          </a:p>
          <a:p xmlns:a="http://schemas.openxmlformats.org/drawingml/2006/main">
            <a:r>
              <a:t>Trainer guidance: Ask why silently changing the prompt would be an incomplete response.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https://ai.google/safety/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Begin the operational reasoning section.</a:t>
            </a:r>
          </a:p>
          <a:p xmlns:a="http://schemas.openxmlformats.org/drawingml/2006/main">
            <a:r>
              <a:t>Discuss: The goal is to make abstract values testable and assign responsibility.</a:t>
            </a:r>
          </a:p>
          <a:p xmlns:a="http://schemas.openxmlformats.org/drawingml/2006/main">
            <a:r>
              <a:t>Trainer guidance: Explain that detailed governance implementation belongs in later modules; here the focus is the reasoning pattern.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Connect business success with human outcomes and safety measures.</a:t>
            </a:r>
          </a:p>
          <a:p xmlns:a="http://schemas.openxmlformats.org/drawingml/2006/main">
            <a:r>
              <a:t>Discuss: Efficiency alone can reward unsafe behavior. A balanced success definition includes task quality, critical failures, and user experience.</a:t>
            </a:r>
          </a:p>
          <a:p xmlns:a="http://schemas.openxmlformats.org/drawingml/2006/main">
            <a:r>
              <a:t>Trainer guidance: Ask what could happen if the team optimizes only average response time.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Teach the value-to-evidence chain.</a:t>
            </a:r>
          </a:p>
          <a:p xmlns:a="http://schemas.openxmlformats.org/drawingml/2006/main">
            <a:r>
              <a:t>Discuss: Values guide requirements; requirements determine controls; controls produce evidence that can be reviewed.</a:t>
            </a:r>
          </a:p>
          <a:p xmlns:a="http://schemas.openxmlformats.org/drawingml/2006/main">
            <a:r>
              <a:t>Trainer guidance: Give “transparency” as a second example and ask learners to fill the four boxes verbally.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proportionate oversight with a continuum.</a:t>
            </a:r>
          </a:p>
          <a:p xmlns:a="http://schemas.openxmlformats.org/drawingml/2006/main">
            <a:r>
              <a:t>Discuss: The consequence of error, vulnerability of affected people, reversibility, and uncertainty determine the control level.</a:t>
            </a:r>
          </a:p>
          <a:p xmlns:a="http://schemas.openxmlformats.org/drawingml/2006/main">
            <a:r>
              <a:t>Trainer guidance: Ask where automated grading belongs and what additional facts are needed before deciding.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a complete human oversight and recourse flow.</a:t>
            </a:r>
          </a:p>
          <a:p xmlns:a="http://schemas.openxmlformats.org/drawingml/2006/main">
            <a:r>
              <a:t>Discuss: Effective oversight equips the reviewer with context, time, training, and authority. Recourse gives the affected person a route to challenge and correct the outcome.</a:t>
            </a:r>
          </a:p>
          <a:p xmlns:a="http://schemas.openxmlformats.org/drawingml/2006/main">
            <a:r>
              <a:t>Trainer guidance: Point to the feedback loop. Explain that appeals also reveal failure patterns for monitoring.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Differentiate human oversight arrangements.</a:t>
            </a:r>
          </a:p>
          <a:p xmlns:a="http://schemas.openxmlformats.org/drawingml/2006/main">
            <a:r>
              <a:t>Discuss: The terms describe when a person intervenes. They do not by themselves guarantee meaningful review.</a:t>
            </a:r>
          </a:p>
          <a:p xmlns:a="http://schemas.openxmlformats.org/drawingml/2006/main">
            <a:r>
              <a:t>Trainer guidance: Ask which arrangement fits creative slogan generation versus emergency support routing.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Define useful transparency for different audiences.</a:t>
            </a:r>
          </a:p>
          <a:p xmlns:a="http://schemas.openxmlformats.org/drawingml/2006/main">
            <a:r>
              <a:t>Discuss: Transparency is audience-specific. A student, operational reviewer, and system owner need different evidence and language.</a:t>
            </a:r>
          </a:p>
          <a:p xmlns:a="http://schemas.openxmlformats.org/drawingml/2006/main">
            <a:r>
              <a:t>Trainer guidance: Ask why showing raw probability values may not help a student challenge a decision.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https://ai.google/static/documents/ai-responsibility-2024-update.pdf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recourse as a process.</a:t>
            </a:r>
          </a:p>
          <a:p xmlns:a="http://schemas.openxmlformats.org/drawingml/2006/main">
            <a:r>
              <a:t>Discuss: Effective recourse includes notice, an accessible challenge route, qualified review, correction, and learning.</a:t>
            </a:r>
          </a:p>
          <a:p xmlns:a="http://schemas.openxmlformats.org/drawingml/2006/main">
            <a:r>
              <a:t>Trainer guidance: Ask which step is missing when a website only says “AI may be used.”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Apply task narrowing to a high-consequence scenario.</a:t>
            </a:r>
          </a:p>
          <a:p xmlns:a="http://schemas.openxmlformats.org/drawingml/2006/main">
            <a:r>
              <a:t>Discuss: Instead of asking AI to rank applicants, the redesigned role supports human evidence review and preserves accountability.</a:t>
            </a:r>
          </a:p>
          <a:p xmlns:a="http://schemas.openxmlformats.org/drawingml/2006/main">
            <a:r>
              <a:t>Trainer guidance: Ask whether even summarization could create harm and what evaluation would detect it.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Generalize a reusable assistive workflow.</a:t>
            </a:r>
          </a:p>
          <a:p xmlns:a="http://schemas.openxmlformats.org/drawingml/2006/main">
            <a:r>
              <a:t>Discuss: AI can organize or draft while a qualified person verifies the content and remains accountable. The user retains an escalation route.</a:t>
            </a:r>
          </a:p>
          <a:p xmlns:a="http://schemas.openxmlformats.org/drawingml/2006/main">
            <a:r>
              <a:t>Trainer guidance: Ask when the reviewer might simply accept every output and how interface design can reduce automation bias.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Begin the practice section.</a:t>
            </a:r>
          </a:p>
          <a:p xmlns:a="http://schemas.openxmlformats.org/drawingml/2006/main">
            <a:r>
              <a:t>Discuss: Learners now combine stakeholders, lifecycle, values, evidence, oversight, and recourse.</a:t>
            </a:r>
          </a:p>
          <a:p xmlns:a="http://schemas.openxmlformats.org/drawingml/2006/main">
            <a:r>
              <a:t>Trainer guidance: Explain that the goal is disciplined questioning—not perfect prediction.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https://www.skills.google/course_templates/554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Provide a compact responsible AI review checklist.</a:t>
            </a:r>
          </a:p>
          <a:p xmlns:a="http://schemas.openxmlformats.org/drawingml/2006/main">
            <a:r>
              <a:t>Discuss: Purpose, people, failure, control, and evidence summarize the unit into questions usable in any project meeting.</a:t>
            </a:r>
          </a:p>
          <a:p xmlns:a="http://schemas.openxmlformats.org/drawingml/2006/main">
            <a:r>
              <a:t>Trainer guidance: Have learners apply the five questions to an AI attendance-monitoring proposal.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Teach the pre-mortem technique.</a:t>
            </a:r>
          </a:p>
          <a:p xmlns:a="http://schemas.openxmlformats.org/drawingml/2006/main">
            <a:r>
              <a:t>Discuss: Imagining a concrete future failure reduces optimism bias and reveals signals, controls, and owners before launch.</a:t>
            </a:r>
          </a:p>
          <a:p xmlns:a="http://schemas.openxmlformats.org/drawingml/2006/main">
            <a:r>
              <a:t>Trainer guidance: Run a 90-second pre-mortem for the campus assistant; collect one failure story and one early signal.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Synthesize the full unit in one worked example.</a:t>
            </a:r>
          </a:p>
          <a:p xmlns:a="http://schemas.openxmlformats.org/drawingml/2006/main">
            <a:r>
              <a:t>Discuss: Each lifecycle stage contributes a responsible decision and evidence. No single safeguard carries the whole system.</a:t>
            </a:r>
          </a:p>
          <a:p xmlns:a="http://schemas.openxmlformats.org/drawingml/2006/main">
            <a:r>
              <a:t>Trainer guidance: Ask learners which row they would revisit if appeal rates rose after launch.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Prepare learners for the approved Skills Google activity.</a:t>
            </a:r>
          </a:p>
          <a:p xmlns:a="http://schemas.openxmlformats.org/drawingml/2006/main">
            <a:r>
              <a:t>Discuss: The activity reinforces responsible AI concepts without requiring students to use a personal Google Cloud account.</a:t>
            </a:r>
          </a:p>
          <a:p xmlns:a="http://schemas.openxmlformats.org/drawingml/2006/main">
            <a:r>
              <a:t>Trainer guidance: Verify the live activity title and availability immediately before delivery because platform content can change.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https://www.skills.google/course_templates/554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Give learners structured practice.</a:t>
            </a:r>
          </a:p>
          <a:p xmlns:a="http://schemas.openxmlformats.org/drawingml/2006/main">
            <a:r>
              <a:t>Discuss: The activity requires a benefit, stakeholder map, concrete failure, preventive control, monitoring signal, and accountability route.</a:t>
            </a:r>
          </a:p>
          <a:p xmlns:a="http://schemas.openxmlformats.org/drawingml/2006/main">
            <a:r>
              <a:t>Trainer guidance: Listen for controls that are specific and testable rather than “be ethical” or “use good data.”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Synthesize the module’s essential ideas.</a:t>
            </a:r>
          </a:p>
          <a:p xmlns:a="http://schemas.openxmlformats.org/drawingml/2006/main">
            <a:r>
              <a:t>Discuss: The review reconnects definition, socio-technical impact, lifecycle, evidence, oversight, recourse, and issue spotting.</a:t>
            </a:r>
          </a:p>
          <a:p xmlns:a="http://schemas.openxmlformats.org/drawingml/2006/main">
            <a:r>
              <a:t>Trainer guidance: Ask learners to explain each row without reading the sentence word-for-word.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Transition to assessment.</a:t>
            </a:r>
          </a:p>
          <a:p xmlns:a="http://schemas.openxmlformats.org/drawingml/2006/main">
            <a:r>
              <a:t>Discuss: The questions test lifecycle responsibility, meaningful oversight, and value-to-evidence reasoning.</a:t>
            </a:r>
          </a:p>
          <a:p xmlns:a="http://schemas.openxmlformats.org/drawingml/2006/main">
            <a:r>
              <a:t>Trainer guidance: Have every learner commit to an answer before revealing the explanation slide.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Check lifecycle sequencing.</a:t>
            </a:r>
          </a:p>
          <a:p xmlns:a="http://schemas.openxmlformats.org/drawingml/2006/main">
            <a:r>
              <a:t>Discuss: Problem framing comes before data collection and model selection.</a:t>
            </a:r>
          </a:p>
          <a:p xmlns:a="http://schemas.openxmlformats.org/drawingml/2006/main">
            <a:r>
              <a:t>Trainer guidance: Ask learners to eliminate options that occur after launch or rely on assumptions.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answer 1.</a:t>
            </a:r>
          </a:p>
          <a:p xmlns:a="http://schemas.openxmlformats.org/drawingml/2006/main">
            <a:r>
              <a:t>Discuss: Responsible choices begin before model development.</a:t>
            </a:r>
          </a:p>
          <a:p xmlns:a="http://schemas.openxmlformats.org/drawingml/2006/main">
            <a:r>
              <a:t>Trainer guidance: Connect the answer to the weak-versus-clear framing slide.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Check meaningful human oversight.</a:t>
            </a:r>
          </a:p>
          <a:p xmlns:a="http://schemas.openxmlformats.org/drawingml/2006/main">
            <a:r>
              <a:t>Discuss: Presence of a person is not enough; the reviewer needs capability and authority.</a:t>
            </a:r>
          </a:p>
          <a:p xmlns:a="http://schemas.openxmlformats.org/drawingml/2006/main">
            <a:r>
              <a:t>Trainer guidance: Ask which option protects against automation bias and creates useful feedback.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answer 2.</a:t>
            </a:r>
          </a:p>
          <a:p xmlns:a="http://schemas.openxmlformats.org/drawingml/2006/main">
            <a:r>
              <a:t>Discuss: Meaningful oversight is a designed role rather than a symbolic approval step.</a:t>
            </a:r>
          </a:p>
          <a:p xmlns:a="http://schemas.openxmlformats.org/drawingml/2006/main">
            <a:r>
              <a:t>Trainer guidance: Use the campus counselor as a concrete reviewer example.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Check the value-to-evidence chain.</a:t>
            </a:r>
          </a:p>
          <a:p xmlns:a="http://schemas.openxmlformats.org/drawingml/2006/main">
            <a:r>
              <a:t>Discuss: A responsible claim must change requirements, controls, and evidence.</a:t>
            </a:r>
          </a:p>
          <a:p xmlns:a="http://schemas.openxmlformats.org/drawingml/2006/main">
            <a:r>
              <a:t>Trainer guidance: Ask learners what evidence would support fair language treatment.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answer 3.</a:t>
            </a:r>
          </a:p>
          <a:p xmlns:a="http://schemas.openxmlformats.org/drawingml/2006/main">
            <a:r>
              <a:t>Discuss: Operational responsibility is specific, testable, reviewable, and owned.</a:t>
            </a:r>
          </a:p>
          <a:p xmlns:a="http://schemas.openxmlformats.org/drawingml/2006/main">
            <a:r>
              <a:t>Trainer guidance: Revisit the fair-access example from the values-chain slide.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Provide official references for principles and responsible development.</a:t>
            </a:r>
          </a:p>
          <a:p xmlns:a="http://schemas.openxmlformats.org/drawingml/2006/main">
            <a:r>
              <a:t>Discuss: These sources support the module’s definitions, safety concepts, and lifecycle practices.</a:t>
            </a:r>
          </a:p>
          <a:p xmlns:a="http://schemas.openxmlformats.org/drawingml/2006/main">
            <a:r>
              <a:t>Trainer guidance: Encourage learners to verify current terminology and practices because this field changes quickly.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- https://cloud.google.com/responsible-ai</a:t>
            </a:r>
          </a:p>
          <a:p xmlns:a="http://schemas.openxmlformats.org/drawingml/2006/main">
            <a:r>
              <a:t>- https://ai.google/safety/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Provide references for further study and the assigned activity.</a:t>
            </a:r>
          </a:p>
          <a:p xmlns:a="http://schemas.openxmlformats.org/drawingml/2006/main">
            <a:r>
              <a:t>Discuss: The 2024 and 2026 updates offer examples; the Skills activity reinforces the beginner concepts.</a:t>
            </a:r>
          </a:p>
          <a:p xmlns:a="http://schemas.openxmlformats.org/drawingml/2006/main">
            <a:r>
              <a:t>Trainer guidance: Before delivery, confirm that the Skills activity remains available and that the principle wording is current.</a:t>
            </a:r>
          </a:p>
          <a:p xmlns:a="http://schemas.openxmlformats.org/drawingml/2006/main">
            <a:r>
              <a:t>Student note: Connect the definition to the example and identify the decision, stakeholder, risk, and control.</a:t>
            </a:r>
          </a:p>
          <a:p xmlns:a="http://schemas.openxmlformats.org/drawingml/2006/main">
            <a:r>
              <a:t>Accessibility: Read essential labels aloud and explain relationships without relying only on color.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https://ai.google/static/documents/ai-responsibility-2024-update.pdf</a:t>
            </a:r>
          </a:p>
          <a:p xmlns:a="http://schemas.openxmlformats.org/drawingml/2006/main">
            <a:r>
              <a:t>- https://ai.google/static/documents/ai-responsibility-update-2026.pdf</a:t>
            </a:r>
          </a:p>
          <a:p xmlns:a="http://schemas.openxmlformats.org/drawingml/2006/main">
            <a:r>
              <a:t>- https://www.skills.google/course_templates/554</a:t>
            </a:r>
          </a:p>
          <a:p xmlns:a="http://schemas.openxmlformats.org/drawingml/2006/main">
            <a:r>
              <a:t>- https://ai.google/responsibility/principles/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433dfd0f344aa" /><Relationship Type="http://schemas.openxmlformats.org/officeDocument/2006/relationships/theme" Target="/ppt/theme/theme1.xml" Id="Rb4df4da72a3d4e0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433dfd0f344aa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8c0b0f26b4dcc" /><Relationship Type="http://schemas.openxmlformats.org/officeDocument/2006/relationships/notesSlide" Target="/ppt/notesSlides/notesSlide1.xml" Id="R07c7bd03547a4c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fd5c569b94865" /><Relationship Type="http://schemas.openxmlformats.org/officeDocument/2006/relationships/notesSlide" Target="/ppt/notesSlides/notesSlide2.xml" Id="R43a1c83bd7ad4d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fa02e55864f20" /><Relationship Type="http://schemas.openxmlformats.org/officeDocument/2006/relationships/notesSlide" Target="/ppt/notesSlides/notesSlide3.xml" Id="Rbb0fd839d1d14e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d4cbecb9242ec" /><Relationship Type="http://schemas.openxmlformats.org/officeDocument/2006/relationships/notesSlide" Target="/ppt/notesSlides/notesSlide4.xml" Id="R66e6546c6d534a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380d47c6c4700" /><Relationship Type="http://schemas.openxmlformats.org/officeDocument/2006/relationships/image" Target="/ppt/media/image.png" Id="Re6abf8aaa9ef49eb" /><Relationship Type="http://schemas.openxmlformats.org/officeDocument/2006/relationships/notesSlide" Target="/ppt/notesSlides/notesSlide5.xml" Id="Re8e92c2e0dfc48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9cf8257bd4aa0" /><Relationship Type="http://schemas.openxmlformats.org/officeDocument/2006/relationships/notesSlide" Target="/ppt/notesSlides/notesSlide6.xml" Id="R2b3d5213188c49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e98b2082d44f3" /><Relationship Type="http://schemas.openxmlformats.org/officeDocument/2006/relationships/notesSlide" Target="/ppt/notesSlides/notesSlide7.xml" Id="R7b9f46f0e13e44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8e70c62f14453" /><Relationship Type="http://schemas.openxmlformats.org/officeDocument/2006/relationships/notesSlide" Target="/ppt/notesSlides/notesSlide8.xml" Id="R59d766a3db4c4b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ce292cb94426a" /><Relationship Type="http://schemas.openxmlformats.org/officeDocument/2006/relationships/notesSlide" Target="/ppt/notesSlides/notesSlide9.xml" Id="R076a5a82287940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56ebc8d784046" /><Relationship Type="http://schemas.openxmlformats.org/officeDocument/2006/relationships/notesSlide" Target="/ppt/notesSlides/notesSlide10.xml" Id="Racc1c0aa1e8b4e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bd4cb3b3b4074" /><Relationship Type="http://schemas.openxmlformats.org/officeDocument/2006/relationships/notesSlide" Target="/ppt/notesSlides/notesSlide11.xml" Id="R3125fe1973574e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ca04cbb484f3a" /><Relationship Type="http://schemas.openxmlformats.org/officeDocument/2006/relationships/notesSlide" Target="/ppt/notesSlides/notesSlide12.xml" Id="Rc446d7b8abed44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c2b1efdba4334" /><Relationship Type="http://schemas.openxmlformats.org/officeDocument/2006/relationships/notesSlide" Target="/ppt/notesSlides/notesSlide13.xml" Id="R4cd7fab58fc746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7488edf314864" /><Relationship Type="http://schemas.openxmlformats.org/officeDocument/2006/relationships/image" Target="/ppt/media/image2.png" Id="Redd7ee054524431e" /><Relationship Type="http://schemas.openxmlformats.org/officeDocument/2006/relationships/notesSlide" Target="/ppt/notesSlides/notesSlide14.xml" Id="Rdf2a49f64c0547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fa205afa949fe" /><Relationship Type="http://schemas.openxmlformats.org/officeDocument/2006/relationships/notesSlide" Target="/ppt/notesSlides/notesSlide15.xml" Id="Rff78219fbca543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1eed2540f45ca" /><Relationship Type="http://schemas.openxmlformats.org/officeDocument/2006/relationships/notesSlide" Target="/ppt/notesSlides/notesSlide16.xml" Id="Rfd8a0159d6db4a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ed333ccec49e4" /><Relationship Type="http://schemas.openxmlformats.org/officeDocument/2006/relationships/notesSlide" Target="/ppt/notesSlides/notesSlide17.xml" Id="R1f44894d734e49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9ec5dabae4c61" /><Relationship Type="http://schemas.openxmlformats.org/officeDocument/2006/relationships/notesSlide" Target="/ppt/notesSlides/notesSlide18.xml" Id="R43c3918fb22146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c7c69b7e546dd" /><Relationship Type="http://schemas.openxmlformats.org/officeDocument/2006/relationships/notesSlide" Target="/ppt/notesSlides/notesSlide19.xml" Id="Re9eab0b6397d4a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f4a84da28431d" /><Relationship Type="http://schemas.openxmlformats.org/officeDocument/2006/relationships/notesSlide" Target="/ppt/notesSlides/notesSlide20.xml" Id="Re0c4a40328614d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22b8774634aef" /><Relationship Type="http://schemas.openxmlformats.org/officeDocument/2006/relationships/image" Target="/ppt/media/image3.png" Id="R10e291a6e7f540ce" /><Relationship Type="http://schemas.openxmlformats.org/officeDocument/2006/relationships/notesSlide" Target="/ppt/notesSlides/notesSlide21.xml" Id="Re82c1487847a4be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6d5dbbe8147d1" /><Relationship Type="http://schemas.openxmlformats.org/officeDocument/2006/relationships/notesSlide" Target="/ppt/notesSlides/notesSlide22.xml" Id="R58be5b58a4aa41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ffe6ffa284d28" /><Relationship Type="http://schemas.openxmlformats.org/officeDocument/2006/relationships/notesSlide" Target="/ppt/notesSlides/notesSlide23.xml" Id="R4a17343caa8b4b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6d4b941774ce4" /><Relationship Type="http://schemas.openxmlformats.org/officeDocument/2006/relationships/notesSlide" Target="/ppt/notesSlides/notesSlide24.xml" Id="Re1dc41350560445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f0b3cfe0441b6" /><Relationship Type="http://schemas.openxmlformats.org/officeDocument/2006/relationships/notesSlide" Target="/ppt/notesSlides/notesSlide25.xml" Id="Rae34b908542f4b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232e2f39346a9" /><Relationship Type="http://schemas.openxmlformats.org/officeDocument/2006/relationships/notesSlide" Target="/ppt/notesSlides/notesSlide26.xml" Id="R914ab4179d9445b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b5a82cad04e94" /><Relationship Type="http://schemas.openxmlformats.org/officeDocument/2006/relationships/image" Target="/ppt/media/image4.png" Id="R9e6f3ff50cfd408b" /><Relationship Type="http://schemas.openxmlformats.org/officeDocument/2006/relationships/notesSlide" Target="/ppt/notesSlides/notesSlide27.xml" Id="R61d63951404d4bd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b0f9735584a76" /><Relationship Type="http://schemas.openxmlformats.org/officeDocument/2006/relationships/notesSlide" Target="/ppt/notesSlides/notesSlide28.xml" Id="R3f519c93d4c8407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bb576c0964085" /><Relationship Type="http://schemas.openxmlformats.org/officeDocument/2006/relationships/notesSlide" Target="/ppt/notesSlides/notesSlide29.xml" Id="Rf2f040ef958748a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0d9ced78f4c43" /><Relationship Type="http://schemas.openxmlformats.org/officeDocument/2006/relationships/notesSlide" Target="/ppt/notesSlides/notesSlide30.xml" Id="Ra8e3db78df534c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28a602ff94d22" /><Relationship Type="http://schemas.openxmlformats.org/officeDocument/2006/relationships/notesSlide" Target="/ppt/notesSlides/notesSlide31.xml" Id="Rf985b7317e7f469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ed1017fd54408" /><Relationship Type="http://schemas.openxmlformats.org/officeDocument/2006/relationships/notesSlide" Target="/ppt/notesSlides/notesSlide32.xml" Id="R5bd0c2abe670482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5c6d4e8ab4e39" /><Relationship Type="http://schemas.openxmlformats.org/officeDocument/2006/relationships/notesSlide" Target="/ppt/notesSlides/notesSlide33.xml" Id="R93b58422caf5443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e765b11fd4158" /><Relationship Type="http://schemas.openxmlformats.org/officeDocument/2006/relationships/notesSlide" Target="/ppt/notesSlides/notesSlide34.xml" Id="R48eba1a7fb0a4d2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46614462048f5" /><Relationship Type="http://schemas.openxmlformats.org/officeDocument/2006/relationships/notesSlide" Target="/ppt/notesSlides/notesSlide35.xml" Id="R06c60e4d46ab4f6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0cc2d857b4544" /><Relationship Type="http://schemas.openxmlformats.org/officeDocument/2006/relationships/notesSlide" Target="/ppt/notesSlides/notesSlide36.xml" Id="R2f85174f4631446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3a46c03c4419f" /><Relationship Type="http://schemas.openxmlformats.org/officeDocument/2006/relationships/notesSlide" Target="/ppt/notesSlides/notesSlide37.xml" Id="R81664375b6df46a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54f5a1c4949f2" /><Relationship Type="http://schemas.openxmlformats.org/officeDocument/2006/relationships/notesSlide" Target="/ppt/notesSlides/notesSlide38.xml" Id="Re5cf7c7bce814cb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5d04b3bd643aa" /><Relationship Type="http://schemas.openxmlformats.org/officeDocument/2006/relationships/notesSlide" Target="/ppt/notesSlides/notesSlide39.xml" Id="R54e0924b3914497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f59abaf444933" /><Relationship Type="http://schemas.openxmlformats.org/officeDocument/2006/relationships/notesSlide" Target="/ppt/notesSlides/notesSlide40.xml" Id="R8778cc5b78824fa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21f33c4844ccd" /><Relationship Type="http://schemas.openxmlformats.org/officeDocument/2006/relationships/notesSlide" Target="/ppt/notesSlides/notesSlide41.xml" Id="R0ce491e470a04c6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9b96f8d2049b9" /><Relationship Type="http://schemas.openxmlformats.org/officeDocument/2006/relationships/notesSlide" Target="/ppt/notesSlides/notesSlide42.xml" Id="R526ed2f9f1de4d3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5ed5075c04326" /><Relationship Type="http://schemas.openxmlformats.org/officeDocument/2006/relationships/notesSlide" Target="/ppt/notesSlides/notesSlide43.xml" Id="R7c0cccc833084de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81ac065a041ee" /><Relationship Type="http://schemas.openxmlformats.org/officeDocument/2006/relationships/notesSlide" Target="/ppt/notesSlides/notesSlide44.xml" Id="R4d522939b5294d8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9be8ff5a64cab" /><Relationship Type="http://schemas.openxmlformats.org/officeDocument/2006/relationships/notesSlide" Target="/ppt/notesSlides/notesSlide45.xml" Id="Rbf7bc21385904f5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894c2e4144f7d" /><Relationship Type="http://schemas.openxmlformats.org/officeDocument/2006/relationships/notesSlide" Target="/ppt/notesSlides/notesSlide46.xml" Id="Rb05812e9265b430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d0e6bdfb143c5" /><Relationship Type="http://schemas.openxmlformats.org/officeDocument/2006/relationships/hyperlink" Target="https://ai.google/responsibility/principles/" TargetMode="External" Id="R63bebffbb615408e" /><Relationship Type="http://schemas.openxmlformats.org/officeDocument/2006/relationships/hyperlink" Target="https://cloud.google.com/responsible-ai" TargetMode="External" Id="R1d69e8542f9048fb" /><Relationship Type="http://schemas.openxmlformats.org/officeDocument/2006/relationships/hyperlink" Target="https://ai.google/safety/" TargetMode="External" Id="R69f9ffe557fd4cc5" /><Relationship Type="http://schemas.openxmlformats.org/officeDocument/2006/relationships/hyperlink" Target="https://ai.google/static/documents/ai-responsibility-update-2026.pdf" TargetMode="External" Id="Rc170a34aa7174a4c" /><Relationship Type="http://schemas.openxmlformats.org/officeDocument/2006/relationships/notesSlide" Target="/ppt/notesSlides/notesSlide47.xml" Id="R2f07b15aba104b6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3ad87c9304e6c" /><Relationship Type="http://schemas.openxmlformats.org/officeDocument/2006/relationships/hyperlink" Target="https://ai.google/static/documents/ai-responsibility-2024-update.pdf" TargetMode="External" Id="R9f5f52fc009b4c73" /><Relationship Type="http://schemas.openxmlformats.org/officeDocument/2006/relationships/hyperlink" Target="https://ai.google/static/documents/ai-responsibility-update-2026.pdf" TargetMode="External" Id="Rca5347c243d54270" /><Relationship Type="http://schemas.openxmlformats.org/officeDocument/2006/relationships/hyperlink" Target="https://www.skills.google/course_templates/554" TargetMode="External" Id="R516b18517ca54160" /><Relationship Type="http://schemas.openxmlformats.org/officeDocument/2006/relationships/hyperlink" Target="https://ai.google/responsibility/principles/" TargetMode="External" Id="Ra0994aa600dd4615" /><Relationship Type="http://schemas.openxmlformats.org/officeDocument/2006/relationships/notesSlide" Target="/ppt/notesSlides/notesSlide48.xml" Id="R3d86647c4fab4d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64D1E-7F82-4A4B-905D-5B4775DD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3300" b="0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Introduction to</a:t>
            </a:r>
          </a:p>
          <a:p xmlns:a="http://schemas.openxmlformats.org/drawingml/2006/main">
            <a:pPr algn="l">
              <a:defRPr sz="3300" b="0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3300" b="0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Responsible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5DCFC-E467-47D4-9378-80C6F1E4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CSG202 · Module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C01BA-F1DD-4856-B2C8-1ABBEAE1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solidFill>
              <a:srgbClr val="F8F8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F26B0-13D6-46EA-B46E-5EC736C9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43175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3900" b="0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08BCD-0453-4AB5-8008-F70B3448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23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4836"/>
          </a:solidFill>
          <a:ln xmlns:a="http://schemas.openxmlformats.org/drawingml/2006/main" w="0">
            <a:solidFill>
              <a:srgbClr val="D348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45366-2053-4A80-B05C-904E41C3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71550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98ECD-7CD4-4F39-8820-15F7CE7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753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58"/>
          </a:solidFill>
          <a:ln xmlns:a="http://schemas.openxmlformats.org/drawingml/2006/main" w="0">
            <a:solidFill>
              <a:srgbClr val="0F9D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DE345-AB3A-47B0-BF35-EAEC616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816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7860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BD6BB-2C88-4855-8EA6-E429006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94529-057B-444F-8954-881160C6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482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709EB-1EA8-4632-9689-52A251B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Explain responsible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540AE-FFA8-418C-A34F-154C914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91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Describe why accuracy alone is not enough for a trustworthy AI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860AC-56F8-44AB-88CE-C199302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2482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9B12F-4773-453A-BC3D-12A17331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3830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Map stakeholder 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0CE15-F3C9-40A1-A1A4-26AC847D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76450"/>
            <a:ext cx="4791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Identify who benefits, who may be harmed, and who can challenge a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FBFC8-0175-4DAE-8941-5F65B18A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2482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A3A8B-4D2E-4063-83DC-45C3CBC6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Trace lifecycle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83540-0948-47A1-B51D-09AAAD46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791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Recognize responsible choices from problem framing through monitoring.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96640-A649-4747-86FA-786BC9E2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14700"/>
            <a:ext cx="52482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E8FF2-7BAA-4719-AF03-FFEE1037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2425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Connect values to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06811-D24D-4E6C-B3D5-43586A82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62400"/>
            <a:ext cx="4791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Translate a value such as fairness into a requirement, test,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598696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FF9CD-C6CC-4D62-AD31-9DDF1F0A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Module topics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0EB71-3BD9-4B3B-A892-3EA94B2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275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A connected journey from intent to accountable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B34F1-FC07-4395-BC34-A1881032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86050"/>
            <a:ext cx="938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89228-F17B-4FD5-89F5-8D69FC4C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43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285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2C511-BFAC-44DD-ABCE-FD4EDACF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574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11942-5F07-43E3-B0A9-AFD8D2C6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147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Why responsible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AI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51C2D-58D6-4E37-A807-2D2B2871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285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A4B75-EE81-46EF-9EB7-00D3BB2E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B46C9-2ACB-41E3-AB40-92BD9678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Decisions across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the 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6396F-E5C2-4371-99BC-E07C141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43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285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3A085-7FE4-4EC6-B223-93EE5EC6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574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459A5-C6D3-446A-930B-4CA14E0E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147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Values, risk,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and oversight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C3E40-3257-40B2-BBEA-616D40E8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285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F6A51-491A-4097-A91D-01CB36A6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998EE-3EEA-4137-9806-0F61FE1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Issue spotting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and practice</a:t>
            </a:r>
          </a:p>
        </p:txBody>
      </p:sp>
    </p:spTree>
    <p:extLst>
      <p:ext uri="{BB962C8B-B14F-4D97-AF65-F5344CB8AC3E}">
        <p14:creationId xmlns:p14="http://schemas.microsoft.com/office/powerpoint/2010/main" val="923587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F7078-D8A6-4D98-B616-39A9B66F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4D68C-FBC6-41F6-984F-337A6A1C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47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B235D-4CDE-48E5-BE09-CD9E60CD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342900" cy="3429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01A5B-4D0D-4211-B386-D70828CD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Why responsible AI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F2ED9-0EF5-4029-8524-3E36A4B5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AI systems interact with people, policies, data, and real-world consequences</a:t>
            </a:r>
          </a:p>
        </p:txBody>
      </p:sp>
    </p:spTree>
    <p:extLst>
      <p:ext uri="{BB962C8B-B14F-4D97-AF65-F5344CB8AC3E}">
        <p14:creationId xmlns:p14="http://schemas.microsoft.com/office/powerpoint/2010/main" val="61044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AD3F9-563C-4A4E-A84E-53D7F4E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An AI system is part of a socio-technical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2FE20-38E6-44EF-A8EB-D5E07295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275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The model is only one component of the outcome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bf8aaa9ef49eb"/>
          <a:stretch xmlns:a="http://schemas.openxmlformats.org/drawingml/2006/main"/>
        </p:blipFill>
        <p:spPr>
          <a:xfrm xmlns:a="http://schemas.openxmlformats.org/drawingml/2006/main">
            <a:off x="523875" y="1765862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D02B4-BD80-4845-8586-3767E666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Look beyond the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B1835-CD39-465F-8BF9-A910DE2F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A2416-8832-46E2-AAFB-E44D3ECE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38375"/>
            <a:ext cx="3343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People decide goals, labels, thresholds, and responses.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0BFE3-F618-447B-BE37-94C9828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B9D6D-5A2D-4FDD-8DDE-865170F9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67025"/>
            <a:ext cx="3343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Policies define acceptable use and escalation.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B8974-D68D-4F9F-955E-189AE6FE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88F27-1406-4037-A2C7-91A0DAF0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95675"/>
            <a:ext cx="3343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Data reflects past choices and missing voices.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F7F6D-7E95-4447-9B6D-684859FC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24298-D73A-4E99-9F05-9C704714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24325"/>
            <a:ext cx="3343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Interfaces shape what users understand and do next.</a:t>
            </a:r>
          </a:p>
        </p:txBody>
      </p:sp>
    </p:spTree>
    <p:extLst>
      <p:ext uri="{BB962C8B-B14F-4D97-AF65-F5344CB8AC3E}">
        <p14:creationId xmlns:p14="http://schemas.microsoft.com/office/powerpoint/2010/main" val="2052854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10DED-23B0-44E9-9FCF-EB2956A1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Responsible AI connects capability with consequences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A4488-8ABD-44BD-AACF-1D11A4A3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476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DC003-2EDD-44B1-A777-F7487F5C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Can the system do the task?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FBA84-0F47-462A-8E71-8DFB9941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Technical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A2087-B446-4EE0-B191-2264F788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77B94-C06C-4A47-BE62-59DB7CC4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33750"/>
            <a:ext cx="2962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Quality and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17833-4857-4819-B1A8-5A8D358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A9E21-D435-4986-89FC-9E3F103A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71900"/>
            <a:ext cx="2962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Latency and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AD9D3-0742-45EF-9264-162A924B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035E4-6585-42F1-99E9-E54E965C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10050"/>
            <a:ext cx="2962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Robustness under variation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570D0-A5DC-4749-BB1A-CDEA2EE8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4476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85F56-F655-4E92-BFB7-8277D011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52625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Should it be used this way?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E573C-DD08-4DCD-9357-04A9EA6A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14625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Responsible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4BD22-973C-4B12-A2AE-CBB973D4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E8000-7128-4D56-9F2D-55AE264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962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People and rights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7045D-478E-4A47-A268-844CC0B3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7B430-20C6-4FAD-B5C4-27CD58C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2962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Context and power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C6C4C-59E0-482E-AE55-F62639B1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4191B-A2F1-45AE-BD33-EA5D2D0A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2962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Accountability and recourse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2C27E-B069-432D-B68B-78288B6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 trustworthy solution needs both answers.</a:t>
            </a:r>
          </a:p>
        </p:txBody>
      </p:sp>
    </p:spTree>
    <p:extLst>
      <p:ext uri="{BB962C8B-B14F-4D97-AF65-F5344CB8AC3E}">
        <p14:creationId xmlns:p14="http://schemas.microsoft.com/office/powerpoint/2010/main" val="2817678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DA6CC-084D-47F9-9F19-E7721DBA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One model output can create a chain of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882F2-5E9D-488B-AED5-2BEE647D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A8FC5-72F5-4B24-9801-7AE92B3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D81CE-81BD-484C-AA76-FC8F3E69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771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Model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CF905-6C6E-401E-9EC4-26C3A9A4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“High risk”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6262A-FD42-4B37-8E7E-A0F74D94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38AD9-1894-4CC1-8BFF-D54A63EA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1771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Staff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692F6-C4FB-4FA1-9F87-8D2D4479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Priority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333C1-22C7-4E08-B239-9C7997E1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34AF7-05BF-4682-A381-565C650A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90750"/>
            <a:ext cx="1771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Student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50D0A-8245-4C4D-8EB3-7E34F7C6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Delay or stigma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64951-FCD0-4F54-BADB-CD41517D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41C94-467A-44B3-9A24-8BFF3B36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90750"/>
            <a:ext cx="1771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Institutional effect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F2011-30DE-4AC8-B965-58D1CE0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766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Trust and equity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09253-C3F0-4979-B086-E2491B3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Responsible AI examines the entire chain—not only the first box.</a:t>
            </a:r>
          </a:p>
        </p:txBody>
      </p:sp>
    </p:spTree>
    <p:extLst>
      <p:ext uri="{BB962C8B-B14F-4D97-AF65-F5344CB8AC3E}">
        <p14:creationId xmlns:p14="http://schemas.microsoft.com/office/powerpoint/2010/main" val="157964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09D8F-1515-4E41-980D-9ECB61E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Scenario: an AI assistant routes student support requests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22CF1-B41E-413E-8C79-10CE44FF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The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44422-8E6B-4044-A3AE-888FED4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Summarize incoming messages and assign urgency so counselors can respond faster.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ED476-2ED3-4DA0-91EB-29E5F7C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000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7EEDB"/>
          </a:solidFill>
          <a:ln xmlns:a="http://schemas.openxmlformats.org/drawingml/2006/main" w="0">
            <a:solidFill>
              <a:srgbClr val="D7E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1C867-2F7E-4B52-B4D2-4890D1B9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Potential benefit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94CEB-0E97-4406-82AB-84B142C5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Shorter queues and faster attention for urgent needs.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3BB93-426C-46CB-BB50-2E5E8A29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81125"/>
            <a:ext cx="6191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F9258-CA0A-4C2D-B2FC-8C295CB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Questions before 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B9665-3BFE-40C9-BDFF-83D37569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D4C0A-4BDD-4A16-9001-3BB5228D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286000"/>
            <a:ext cx="515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Are mental-health messages allowed in training or logging?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38A07-BE0F-4E82-A918-2BFDCCE9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68A77-A9EC-4FC6-ABEA-48AB2719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00350"/>
            <a:ext cx="515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Could language, disability, or culture affect urgency scores?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D0707-E583-43E5-B5EE-A5538EBA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B1851-DAFA-4B13-B8B1-CBEF2E55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14700"/>
            <a:ext cx="515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Can a student reach a person without using the assistant?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9506D-85F8-4505-A5F0-E610ACFB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0C60D-EA30-4310-9B9C-5389431C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829050"/>
            <a:ext cx="515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reviews low-confidence or high-risk cases?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A8F41-48E2-45F9-B07A-B6DC4620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49CE5-7BD7-4987-BAAD-4804C304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515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How will errors be reported and corrected?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D9DE3-A68A-4EB7-81B9-41A93132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Use case + context + safeguards = a responsible design conversation</a:t>
            </a:r>
          </a:p>
        </p:txBody>
      </p:sp>
    </p:spTree>
    <p:extLst>
      <p:ext uri="{BB962C8B-B14F-4D97-AF65-F5344CB8AC3E}">
        <p14:creationId xmlns:p14="http://schemas.microsoft.com/office/powerpoint/2010/main" val="1401759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56784-9DCD-463E-9825-F64D9EDC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Responsible design balances benefit, likelihood, and severity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F31B2-4868-4E26-8439-ECC756FE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81250"/>
            <a:ext cx="1238250" cy="1238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A2138-18DC-4EB5-AF47-8DCCF2F8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800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solidFill>
              <a:srgbClr val="5F63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83589-AB51-4296-8F90-A5681E87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7EEDB"/>
          </a:solidFill>
          <a:ln xmlns:a="http://schemas.openxmlformats.org/drawingml/2006/main" w="0">
            <a:solidFill>
              <a:srgbClr val="D7E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0F3D4-74C5-411E-8A3C-559BB739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Expected benefit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27E7A-722C-4A14-BB1D-DE84A5C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benefits, how much, and how will we know?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DB865-88C7-4BE9-951C-5D900A9B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D2E04-989D-4A65-9ABF-FEEE8F3C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Potential harm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F9188-F438-4EEF-8671-CA6A372D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may be affected, how likely, and how severe?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43BDA-2E3E-4473-B7E9-E221D976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Risk is not “zero or unacceptable.” Controls should be proportional to context.</a:t>
            </a:r>
          </a:p>
        </p:txBody>
      </p:sp>
    </p:spTree>
    <p:extLst>
      <p:ext uri="{BB962C8B-B14F-4D97-AF65-F5344CB8AC3E}">
        <p14:creationId xmlns:p14="http://schemas.microsoft.com/office/powerpoint/2010/main" val="5080805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A3E52-CA0B-4C9B-A53E-422B5C2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Five recurring questions organize a responsible AI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8387D-3214-40DC-A277-5F84001F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285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4A183-1641-4352-AF14-1FC9D13E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743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8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Is it useful</a:t>
            </a:r>
          </a:p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8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for the stated need?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953B1-CEBD-46B9-831E-D3D25EC0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7C1F7-DAB6-4A7F-ACE5-FB8393DE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People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is affected?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54A75-C7E6-4A88-A949-A1E3E3FF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DF884-7345-49FA-9594-204A0F9E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Data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is represented?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FB1D8-BD87-4AA6-8D6D-9036E40C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0115B-C3D9-4AC2-AD98-392D6439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Behavior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When can it fail?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F366E-041C-4312-B428-F055D0D8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36A05-29ED-4D64-BEFC-BBAE869D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100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Control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can intervene?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3D53A-5DDA-42E8-A00C-3C36A1EC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86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57DFB-F1FA-473B-8DC8-311254B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958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How will claims be tested?</a:t>
            </a:r>
          </a:p>
        </p:txBody>
      </p:sp>
    </p:spTree>
    <p:extLst>
      <p:ext uri="{BB962C8B-B14F-4D97-AF65-F5344CB8AC3E}">
        <p14:creationId xmlns:p14="http://schemas.microsoft.com/office/powerpoint/2010/main" val="14668370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618BE-44E2-4149-B8B0-85D77C25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Use case: AI-generated feedback on student writing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661A2-38A9-4AC2-BD61-CDFF2309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482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98144-006C-4EFC-B5D9-10EF8202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F21AB-AA37-4933-8FEC-7E2A84C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91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Give faster formative feedback while preserving teacher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837BD-6FB7-4015-8442-B10FE406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2482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ADC4B-E5CF-488E-BA8E-FE933F6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3830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Useful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E0201-4FB4-40BF-9C20-C9A6DE08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76450"/>
            <a:ext cx="4791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Highlights unclear claims and suggests questions—not a final grade.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109EC-6D88-4925-98E4-D0412B4E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2482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1B6BE-27C7-4364-ACA2-F974BB19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Risk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D6266-DF01-4ABC-A360-05201F5F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791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Dialect or non-standard English is treated as lower-quality reasoning.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D5F8B-6B78-457A-AAF9-3CC35E63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14700"/>
            <a:ext cx="52482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74156-AD01-4E68-A023-B1F3E14B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2425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32A6B-F244-4715-B0A5-8BEC4755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62400"/>
            <a:ext cx="47910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Teacher review, rubric-based evaluation, student appeal, and subgroup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5F0C1-DDD0-40E1-BEC6-00584C4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Design choice: support learning, do not silently replace the accountable educator.</a:t>
            </a:r>
          </a:p>
        </p:txBody>
      </p:sp>
    </p:spTree>
    <p:extLst>
      <p:ext uri="{BB962C8B-B14F-4D97-AF65-F5344CB8AC3E}">
        <p14:creationId xmlns:p14="http://schemas.microsoft.com/office/powerpoint/2010/main" val="10548379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E7766-B55F-4D39-8C70-AB9E9FFA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The same AI capability can require different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58CA0-01FE-4863-A624-0DF860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Dimension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C887D-E1D8-4B31-B5F8-B6BE7608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Retail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3D33E-04C2-4888-9534-EC735E7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Healthcare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90485-97F3-4CEC-9B55-5431919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3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A6E8B-4C49-425B-9CC5-401546CF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419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Customer-service 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23A60-5E96-4520-B965-858DE095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Clinical consultation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0D90D-CD4E-4691-B30A-FC1F173B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3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Possible harm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88601-15D1-4D86-9172-FB26C47D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419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Incorrect refund or delay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D8197-A9E2-4C68-80AA-D6435496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194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Missed symptom or unsafe advice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15F57-88C7-456D-AFB3-3279602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3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Oversight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E1AD0-FB3D-4511-9B10-1FAF2BD9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419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Agent reviews before sending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65E98-8141-419F-93ED-A787A08D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Qualified clinician verifies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E239B-69D5-494D-9DA3-F053837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3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Recourse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C333A-AE93-442D-B032-5F01CBF7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419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Escalation and complaint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5A026-122F-42F5-8362-9570C30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Immediate clinical escalation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82A75-BCE8-4094-A2EC-11F79A02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150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Risk depends on the decision context—not only the model.</a:t>
            </a:r>
          </a:p>
        </p:txBody>
      </p:sp>
    </p:spTree>
    <p:extLst>
      <p:ext uri="{BB962C8B-B14F-4D97-AF65-F5344CB8AC3E}">
        <p14:creationId xmlns:p14="http://schemas.microsoft.com/office/powerpoint/2010/main" val="3821744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21A88-98E9-4076-B952-35174D0C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13B31-0113-4C01-BB6E-1F15D672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47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BF341-5C43-4F4A-A268-0AC4A32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342900" cy="3429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C6F83-80E3-4D13-A6A0-47912FFE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Responsible decisions across the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CD442-49BF-4850-8785-BA2B8A11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Choices before training, during evaluation, at launch, and after deployment</a:t>
            </a:r>
          </a:p>
        </p:txBody>
      </p:sp>
    </p:spTree>
    <p:extLst>
      <p:ext uri="{BB962C8B-B14F-4D97-AF65-F5344CB8AC3E}">
        <p14:creationId xmlns:p14="http://schemas.microsoft.com/office/powerpoint/2010/main" val="18238954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F10D4-93DA-45C0-A459-1A68EF79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Responsible AI is a continuous lifecycle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7ee054524431e"/>
          <a:stretch xmlns:a="http://schemas.openxmlformats.org/drawingml/2006/main"/>
        </p:blipFill>
        <p:spPr>
          <a:xfrm xmlns:a="http://schemas.openxmlformats.org/drawingml/2006/main">
            <a:off x="1333500" y="1238250"/>
            <a:ext cx="9525000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372DA-769B-4DEE-87B5-6C78C957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007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The feedback loop updates the problem, data, tests, and controls.</a:t>
            </a:r>
          </a:p>
        </p:txBody>
      </p:sp>
    </p:spTree>
    <p:extLst>
      <p:ext uri="{BB962C8B-B14F-4D97-AF65-F5344CB8AC3E}">
        <p14:creationId xmlns:p14="http://schemas.microsoft.com/office/powerpoint/2010/main" val="3935543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8E2C7-0014-42BA-A645-8BE7524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Each stage asks a different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1714F-4C31-4A4E-8100-763F718D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03BB5-50E5-44B1-8A9D-F9C8DBF8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6FA97-39A2-4A88-B27C-ECA60F6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Should we build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88488-EEF7-42AA-B6E3-6EAFF228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5262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D1E70-FB87-4B8A-B12B-A653B0AC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DCE49-529D-4C9C-BB15-C49C7C2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Whose reality is represented?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CBCB4-657B-4A8D-B068-C6E3E2DA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58C51-8C67-4AF2-AE90-9F6375F0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162FD-EB83-4DB5-82F2-F3EA40C6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behavior is optimized?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1DF85-5F6C-4546-A258-25E3902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E3580-FB65-4589-B57A-CCDC9745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43364-6DD9-4706-B5B2-9C459FD5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Does it work safely for this context?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CC71B-FCED-46F8-BB99-4F121607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7EEDB"/>
          </a:solidFill>
          <a:ln xmlns:a="http://schemas.openxmlformats.org/drawingml/2006/main" w="0">
            <a:solidFill>
              <a:srgbClr val="D7E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224E0-C0D9-47C2-B9A0-E1BC4864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Launch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E7C41-9C1A-4FF2-AA07-F388F1B6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can rely on it—and how?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2405B-6EDD-4914-A474-EF0A4CB3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5262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47599-B739-4E3C-A753-136EB123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9075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Monitor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760C3-8856-4079-8518-35FB5F03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62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changed after release?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02FDB-AF47-4B54-AB9F-3D1598F9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 missed decision early in the lifecycle is expensive to repair later.</a:t>
            </a:r>
          </a:p>
        </p:txBody>
      </p:sp>
    </p:spTree>
    <p:extLst>
      <p:ext uri="{BB962C8B-B14F-4D97-AF65-F5344CB8AC3E}">
        <p14:creationId xmlns:p14="http://schemas.microsoft.com/office/powerpoint/2010/main" val="1418297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1FE0E-BE69-470B-9DED-9E94BF59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Problem framing: begin with the need, not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BA946-7526-4340-B37A-1AAEF927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34836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D34836"/>
                </a:solidFill>
                <a:latin typeface="Google Sans Medium"/>
                <a:ea typeface="Google Sans Medium"/>
                <a:cs typeface="Google Sans Medium"/>
              </a:rPr>
              <a:t>Weak 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D9C89-4803-4CA8-8900-2021746D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381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977B2-BD5D-49B0-BECE-67B73CB6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“Use generative AI to automate student support.”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9226C-FF4C-4C96-9A83-ABE5835D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9D58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725" b="1">
                <a:solidFill>
                  <a:srgbClr val="0F9D58"/>
                </a:solidFill>
                <a:latin typeface="Google Sans Medium"/>
                <a:ea typeface="Google Sans Medium"/>
                <a:cs typeface="Google Sans Medium"/>
              </a:rPr>
              <a:t>Clear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D996B-92A1-4049-BB23-4277B15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4381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D7EEDB"/>
          </a:solidFill>
          <a:ln xmlns:a="http://schemas.openxmlformats.org/drawingml/2006/main" w="0">
            <a:solidFill>
              <a:srgbClr val="D7E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264FA-DADD-470A-8577-5665A499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38375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“Reduce first-response time while preserving counselor control and urgent escalation.”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FEED4-0CDF-4BBE-B6C3-B2CBBAB9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Scenario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A38EB-6005-4A0B-B257-6C66A2BE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05300"/>
            <a:ext cx="842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Would a simpler queue rule or form redesign solve the need with less risk?</a:t>
            </a:r>
          </a:p>
        </p:txBody>
      </p:sp>
    </p:spTree>
    <p:extLst>
      <p:ext uri="{BB962C8B-B14F-4D97-AF65-F5344CB8AC3E}">
        <p14:creationId xmlns:p14="http://schemas.microsoft.com/office/powerpoint/2010/main" val="2934180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8090F-D4C1-450D-B1D6-4D8D2279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Data decisions determine what the system can 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E180D-BBD3-4E4A-8D1E-C478F085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90A30-6964-4B9A-8E33-F15DAA08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238EC-DB78-45EE-8F70-577C9C05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924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Which students, languages, and situations appear?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7B965-657E-4904-82C8-EB516F1C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19250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66800-4685-4A26-A613-44BAB37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57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Permission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224E3-CE97-4511-BAB0-9EE472D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24125"/>
            <a:ext cx="1924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Was the data collected and reused appropriately?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DEF9B-34C2-4594-84F8-A88F9253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D2458-A3F8-4CEE-85BF-8ACA5049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480A3-CA9A-4424-8544-14139441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24125"/>
            <a:ext cx="1924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Are labels consistent, current, and meaningful?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2117A-EC7A-49BA-A523-725D87B8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61FFF-5848-44D1-98A5-08513B00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C3F5A-D0CF-4B3D-B44E-D397BC8B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24125"/>
            <a:ext cx="1924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sensitive information must be minimized?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EF92C-2B12-4FD2-91B5-BB07D6BE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876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7339E-2EA5-4925-BC59-670D2C18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96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Example: If urgent messages in regional languages are rare in training data, the assistant may under-prioritize them even when overall accuracy looks high.</a:t>
            </a:r>
          </a:p>
        </p:txBody>
      </p:sp>
    </p:spTree>
    <p:extLst>
      <p:ext uri="{BB962C8B-B14F-4D97-AF65-F5344CB8AC3E}">
        <p14:creationId xmlns:p14="http://schemas.microsoft.com/office/powerpoint/2010/main" val="6821539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2C862-DCAD-431A-84FB-F58AC7B4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Model choices should match the consequence of an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C7A50-51F3-47C2-ACEF-4C75E3D6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65112-DBF2-43EF-81E0-8CE23D39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79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72728-9C94-4919-A49B-AC0AB58F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9E4F8-1F0A-441A-A0F2-56B54F43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0975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Model and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9E829-B481-44BC-817F-A3DC71E7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5D886-67FC-4800-982E-F0799981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179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Decision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BB4B3-ED86-41B0-B41D-FB70A6CD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9E4E2-0CFC-4732-B906-85470D96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09750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Human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D91D0-FE5D-47D0-B4A6-4EA62CA7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What is predicted?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5ECA3-AB0A-4986-B70E-F49CFA68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Urgency category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CD79D-A324-46EE-AA5E-1AC81B0B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What evidence is used?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C97B5-51DB-44E1-8DE6-8E3BA37F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Message + allowed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068CE-0108-456E-8AC6-EFCB17BE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What threshold triggers action?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AFCA4-13F8-4A8F-891A-4369259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Low confidence →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1BCCF-C25A-46B2-AD98-0E2B034C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2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Who owns the outcome?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A4125-7C50-4625-AE3E-7DDBD482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671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Counselor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89C8F-65CC-46E6-BC51-04EF38AE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 model is not the decision: thresholds, interface design, and human response complete the system.</a:t>
            </a:r>
          </a:p>
        </p:txBody>
      </p:sp>
    </p:spTree>
    <p:extLst>
      <p:ext uri="{BB962C8B-B14F-4D97-AF65-F5344CB8AC3E}">
        <p14:creationId xmlns:p14="http://schemas.microsoft.com/office/powerpoint/2010/main" val="400515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B3399-8A14-41D3-A548-AA4C749D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Evaluation needs more than one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02B58-F249-4063-8046-CC6EC05F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66875"/>
            <a:ext cx="44767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DADC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95D94-E280-4054-A436-2942C0AF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5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850DD-38E2-49E0-A7DD-21C38A9C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47875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517DD-AD52-47BC-B370-10C9E077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33675"/>
            <a:ext cx="352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4E18C-5A93-4C9A-B429-F6A31A78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28925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E6276-0CD7-4208-9B32-38CD2A5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14725"/>
            <a:ext cx="4095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8D1AC-FCF2-4739-9705-17212236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6099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Fairness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DDCAC-FD50-4DFF-B785-FAF6258B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Also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7F9FC-226F-433B-A048-4470D5BD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886D7-E17E-478C-87FE-180D0054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Real user tasks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946BC-BA37-4A05-9B89-CCB797F8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A95A9-F0A0-425B-9889-62EBB98C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4797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Edge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AA265-0DA0-4023-A08D-269ECF7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8405D-48A0-4A99-80C9-2737500B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Misuse attempts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9D343-E769-4874-AAAC-C649486D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77B2C-6610-4D16-926B-FE87F19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Uncertainty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C3757-3318-4223-9712-DFE81E4F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62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54518-08CC-4C53-B72E-983CB26F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58"/>
          </a:solidFill>
          <a:ln xmlns:a="http://schemas.openxmlformats.org/drawingml/2006/main" w="0">
            <a:solidFill>
              <a:srgbClr val="0F9D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4C580-C234-4815-B49A-E04DC24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CC2D2-8E49-4703-85BA-90232FAC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58"/>
          </a:solidFill>
          <a:ln xmlns:a="http://schemas.openxmlformats.org/drawingml/2006/main" w="0">
            <a:solidFill>
              <a:srgbClr val="0F9D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9152E-B917-4E02-A13C-6082903D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4797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Human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E7B05-D6A3-40BE-8701-3EFE56F6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58"/>
          </a:solidFill>
          <a:ln xmlns:a="http://schemas.openxmlformats.org/drawingml/2006/main" w="0">
            <a:solidFill>
              <a:srgbClr val="0F9D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603ED-EB03-43AE-8D37-2B567500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47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User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6CF27-064C-4DAA-BEF2-AEF3CF67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58"/>
          </a:solidFill>
          <a:ln xmlns:a="http://schemas.openxmlformats.org/drawingml/2006/main" w="0">
            <a:solidFill>
              <a:srgbClr val="0F9D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CE64FE-84A2-4DE9-8F4F-DFFA6558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8142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Red-team findings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AB2EE-31A3-4BA6-AB6F-44272324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No single metric proves that a system is responsible.</a:t>
            </a:r>
          </a:p>
        </p:txBody>
      </p:sp>
    </p:spTree>
    <p:extLst>
      <p:ext uri="{BB962C8B-B14F-4D97-AF65-F5344CB8AC3E}">
        <p14:creationId xmlns:p14="http://schemas.microsoft.com/office/powerpoint/2010/main" val="2445701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19D16-D875-4781-A1FD-99A79BF2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 system can pass testing and still fail after launch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2D283-FF8B-411B-89A6-332CE0BB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During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8B809-36B5-4B89-9BC5-5DDB241C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After launch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9E734-D5F1-4B6C-8CA4-0F8BED52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CF63B-8201-41A5-9934-13C44B9D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90750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Test data</a:t>
            </a:r>
          </a:p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Known semester patterns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31017-1289-45B8-AC85-9E7268A1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8DB50-001E-45B3-BEC3-E2AD3CFC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38500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Users</a:t>
            </a:r>
          </a:p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Pilot counselors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ADC54-6A0C-489E-8BC5-E4ACFC12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0E134-0578-4676-9C66-273FB19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86250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Behavior</a:t>
            </a:r>
          </a:p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Expected requests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6E8EB-893C-420B-863A-8D8F58A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334D4-DC5F-40D2-B0A1-869E7616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190750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Live data</a:t>
            </a:r>
          </a:p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Exam-season surge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A299C-C2CF-4676-A747-4E5B3E6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F90CF-9F6A-49C0-921D-8519CDB9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Users</a:t>
            </a:r>
          </a:p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New staff and languages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D018D-FC63-45E7-9961-8996812E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A4690-17CA-4CF0-8DBA-8B081632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Behavior</a:t>
            </a:r>
          </a:p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Workarounds and misuse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8A558-1DE8-4D3B-9D9A-D60E3F98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Deployment changes the environment; monitoring checks whether assumptions remain true.</a:t>
            </a:r>
          </a:p>
        </p:txBody>
      </p:sp>
    </p:spTree>
    <p:extLst>
      <p:ext uri="{BB962C8B-B14F-4D97-AF65-F5344CB8AC3E}">
        <p14:creationId xmlns:p14="http://schemas.microsoft.com/office/powerpoint/2010/main" val="10850843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14E91-9839-47FA-B39C-71EE082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Monitoring turns signals into action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291a6e7f540ce"/>
          <a:stretch xmlns:a="http://schemas.openxmlformats.org/drawingml/2006/main"/>
        </p:blipFill>
        <p:spPr>
          <a:xfrm xmlns:a="http://schemas.openxmlformats.org/drawingml/2006/main">
            <a:off x="285750" y="1048407"/>
            <a:ext cx="11620500" cy="5008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528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14E85-B53A-470B-9359-6764B337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Scenario: the assistant misses urgent messages in one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8CB1A-DB97-4E25-ACA1-22E7205B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062C0-35D1-4CF4-A79E-2D17B59B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1 Detect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5C79F-40AB-4B36-917B-49283FA1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Counselor reports repeated misses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DF0B3-E6E5-44C5-B315-FE6BE56B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002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2F2BD-8806-4CA9-93A1-D1064DAC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3837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2 Contain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09C2E-1B19-4E8B-8331-3E9840AB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575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Route all affected messages to manual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23020-C2F1-4CF0-9760-FA7894AC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002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AF8CB-9A1E-4153-BC6F-B1D22FD5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23837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3 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DF73C-8595-47D8-AC27-BACBAA93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575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Check data, prompt, threshold, and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37078-4555-4690-95BB-8FC0E66F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002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F612B-3702-436E-897F-40549FB8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4 Correct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90717-3F40-4047-AA2B-F2CA12A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Improve controls and re-evaluate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F7D8E-B6DE-4074-8DD2-5E172DC2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0025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7EEDB"/>
          </a:solidFill>
          <a:ln xmlns:a="http://schemas.openxmlformats.org/drawingml/2006/main" w="0">
            <a:solidFill>
              <a:srgbClr val="D7E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6B536-5653-42DA-8753-7003FD62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23837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5 Communicate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D65C4-8B84-4435-9293-DA0B5865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575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Inform users and document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1348D-C193-4592-A9BD-D3CF4228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The responsible response protects people first, then diagnoses and improves the system.</a:t>
            </a:r>
          </a:p>
        </p:txBody>
      </p:sp>
    </p:spTree>
    <p:extLst>
      <p:ext uri="{BB962C8B-B14F-4D97-AF65-F5344CB8AC3E}">
        <p14:creationId xmlns:p14="http://schemas.microsoft.com/office/powerpoint/2010/main" val="7518374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A0091-DFE4-4F18-8A3E-4A70F1C1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14767-57AD-40DC-A676-C572AFF7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47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44A5F-8EEA-4897-9012-D9FEAB42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342900" cy="3429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DFD54-E6F5-495C-9E0B-F68B48F4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Values, risk, and human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44C57-1DE7-481C-99ED-0674B368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Translate intentions into requirements, controls, evidence, and recourse</a:t>
            </a:r>
          </a:p>
        </p:txBody>
      </p:sp>
    </p:spTree>
    <p:extLst>
      <p:ext uri="{BB962C8B-B14F-4D97-AF65-F5344CB8AC3E}">
        <p14:creationId xmlns:p14="http://schemas.microsoft.com/office/powerpoint/2010/main" val="3751376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052B3-EDC3-4E89-9C6E-AA1AADD3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Business need and human outcome must be measured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FB68A-E27C-49C1-91B7-C45207EA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9AC80-EEB6-4370-8E0A-29B935BF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76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5A47C-FACD-4C8F-B017-C8DF5F43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763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Reduce average first-response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BE8AC-F2F0-4CE2-A01F-6B7E620B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82645-815C-41CF-A4D6-508D43A4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812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Human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8F861-87C7-4BBA-9063-E75E9CD7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81225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Urgent students receive timely, appropriate 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DDED4-FFA5-4707-8086-D0B0B95D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13E4C-C1DA-4DA3-B9E5-39F7BBB5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Quality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94DDD-20F5-4119-9E43-9A30BE6A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861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Routing agreement with trained counselors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5DE37-F3A3-4608-B1FF-6992776C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1204B-5E66-4F89-90F7-446DF6C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Safety measure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3E4A7-9D77-4A6F-81B1-28D03AA9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90975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Critical-miss rate and escalation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70BD1-4035-44E1-A805-2638DC8D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E8CF8-B51A-4EA1-8871-F6EB45FA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Experience 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83357-6947-46EB-9C4E-6A670CBE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958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Can students understand and challenge the route?</a:t>
            </a:r>
          </a:p>
        </p:txBody>
      </p:sp>
    </p:spTree>
    <p:extLst>
      <p:ext uri="{BB962C8B-B14F-4D97-AF65-F5344CB8AC3E}">
        <p14:creationId xmlns:p14="http://schemas.microsoft.com/office/powerpoint/2010/main" val="12025958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BCB7B-C5AA-4F07-B3C3-F4DE3C6E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 value becomes useful when it changes a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2EBF1-EB6C-4A7D-90F0-0B6C0C3A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333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045DE-A196-43E9-9CC9-E0CCD72E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14500"/>
            <a:ext cx="2028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5EAEF-70E3-4CAD-8B38-6EA7B9EA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Fair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18EF0-7EC6-49E0-940F-EEAD4466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811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40BCB-ADD6-4415-9374-0DA27DFB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2333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366BC-E9E1-4905-BE01-5ED36773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2028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02222-DACB-4B49-AC73-C2CF7D49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Language must not determine urgency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CFBE5-1E8E-435E-91C7-B391C313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811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6BFF9-7DFE-4E31-A1A5-41C26710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2333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9BBAA-5E11-490C-9299-B93A84A0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714500"/>
            <a:ext cx="2028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CF185-69D0-4C39-BE3E-B824A80E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Subgroup tests + manual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E569D-175A-46EC-9508-39ADF16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811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C3BF2-C315-439F-BA07-876BA92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2333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691CE-636F-4EA1-9DBA-0ABFA9E8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14500"/>
            <a:ext cx="2028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353C7-92E2-4A78-8562-0C37B684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Miss rates and appeal outcomes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EF8AC-6AA9-42F9-AF8D-5F152D75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D5F28-8ADF-483F-9D9C-37A4623D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863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13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If a team cannot name the requirement, control, and evidence, the value is still only an aspiration.</a:t>
            </a:r>
          </a:p>
        </p:txBody>
      </p:sp>
    </p:spTree>
    <p:extLst>
      <p:ext uri="{BB962C8B-B14F-4D97-AF65-F5344CB8AC3E}">
        <p14:creationId xmlns:p14="http://schemas.microsoft.com/office/powerpoint/2010/main" val="12511040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BE6E3-7572-4643-9063-9DBD9067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Oversight should increase with consequence and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1057C-72CA-4D57-85CC-908CDA72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009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8DAA1-E67B-4C73-A8DA-33D43D4C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71750"/>
            <a:ext cx="3371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CA086-2111-4112-9394-7CAE0D00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71750"/>
            <a:ext cx="33623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81AA7-ED07-4D46-A496-2859767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3362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Lower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5DE49-214B-45AE-9038-3D98653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Moderate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2C2BC-683A-495B-8C37-D6EBF193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95500"/>
            <a:ext cx="3362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Higher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3434A-6528-4D66-872B-68F6799A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Brainstorm event names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26DB0-C7EC-467F-8A3C-DDB7D35D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38625"/>
            <a:ext cx="3019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User reviews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C6FCA-7EA6-4B3B-8AC7-4FCDC70B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19500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Draft student FAQ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4DAA4-337B-4AA8-9BEE-A12E2A7E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38625"/>
            <a:ext cx="3019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Owner checks facts and tone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AD269-CB87-4726-B753-F2874A9C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19500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2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Recommend urgent intervention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07130-F4D9-4717-B1A7-7556658D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38625"/>
            <a:ext cx="3019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Trained reviewer + fallback + appeal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5C386-F9A4-4ECE-AE56-2C9C85FE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Risk tiering is contextual: the same model may be low-risk in one use and high-risk in another.</a:t>
            </a:r>
          </a:p>
        </p:txBody>
      </p:sp>
    </p:spTree>
    <p:extLst>
      <p:ext uri="{BB962C8B-B14F-4D97-AF65-F5344CB8AC3E}">
        <p14:creationId xmlns:p14="http://schemas.microsoft.com/office/powerpoint/2010/main" val="5671524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3F2A6-5614-4935-A5A2-28F68733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Human oversight needs authority, information, and recourse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f3ff50cfd408b"/>
          <a:stretch xmlns:a="http://schemas.openxmlformats.org/drawingml/2006/main"/>
        </p:blipFill>
        <p:spPr>
          <a:xfrm xmlns:a="http://schemas.openxmlformats.org/drawingml/2006/main">
            <a:off x="1840714" y="1285875"/>
            <a:ext cx="8510572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5DD46-9B71-4E1B-B39E-DC5477ED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00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 human is not a safeguard if they cannot understand, question, or overturn the output.</a:t>
            </a:r>
          </a:p>
        </p:txBody>
      </p:sp>
    </p:spTree>
    <p:extLst>
      <p:ext uri="{BB962C8B-B14F-4D97-AF65-F5344CB8AC3E}">
        <p14:creationId xmlns:p14="http://schemas.microsoft.com/office/powerpoint/2010/main" val="2062972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CEE0D-DF37-4069-A833-AF09302B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“Human in the loop” can mean three different arrangements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1EE67-32FD-45F6-8E74-C18FC6DC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AD0BF-2EF5-430F-8B90-B476E5A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Human-in-the-loop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F6196-E050-4694-BCA6-E902126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93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 person approves each consequential output before action. Example: counselor confirms urgent routing.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2494F-60B1-49F1-B81E-5618FF6A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830A8-84F2-4520-9596-AE90497B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383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Human-on-the-loop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5FB87-599E-4FD8-BE51-2A3DD138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93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Automation proceeds, while a person supervises alerts and can intervene. Example: agent watches queue anomalies.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D6530-4DBE-43AA-88D9-E27210D4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C3074-74B2-4C94-ABDB-46D1CEF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383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Human-out-of-the-loop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1DE88-9242-44BE-8341-6AA74D86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93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No routine review before action. Suitable only when consequences are low and recovery is easy.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CA115-37E3-4016-9B17-25F6AA3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Choose the arrangement from the risk—not from convenience alone.</a:t>
            </a:r>
          </a:p>
        </p:txBody>
      </p:sp>
    </p:spTree>
    <p:extLst>
      <p:ext uri="{BB962C8B-B14F-4D97-AF65-F5344CB8AC3E}">
        <p14:creationId xmlns:p14="http://schemas.microsoft.com/office/powerpoint/2010/main" val="11090994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99991-1261-40C2-B8B9-FCFB7FB0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Transparency should help someone make a better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701F2-22BC-4F3E-9F66-A73BB921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5108E-5D12-42EC-94D4-9272787F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C2EBE-DD26-4BFF-8885-C6FBDD8F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52575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Know AI is involved and what to verify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258CB-44AF-4B7C-8DED-F9992F0E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1351A-7C36-46BE-97E1-0A3613EC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86337-6C2C-473A-9CC1-8065CEBA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81325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See evidence, uncertainty, and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33CB6-82F1-4B1C-95F0-C776962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1DBA3-A451-46FE-844A-6E84B21D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72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6E7A7-53A0-4078-8921-D7144218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10075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Understand tests, incidents, and change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33FFA-284D-4645-9F65-286500E1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7715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01E73-017B-4270-B40E-97FAAD27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531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463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More information is not always more useful—match the explanation to the audience.</a:t>
            </a:r>
          </a:p>
        </p:txBody>
      </p:sp>
    </p:spTree>
    <p:extLst>
      <p:ext uri="{BB962C8B-B14F-4D97-AF65-F5344CB8AC3E}">
        <p14:creationId xmlns:p14="http://schemas.microsoft.com/office/powerpoint/2010/main" val="3555296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F0687-4B60-4E05-9DF2-B77DCEE3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Recourse makes a consequential system contestable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1D7B3-8AFA-4EC8-93A6-C6289226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C34D2-8D12-47B2-A463-04FCA95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47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Notice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2D4CD-CF55-423F-92B9-3B8F37C5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Tell the person what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08E0E-8DB4-42C5-B823-47A5219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526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62999-57D9-401B-A836-193AA13F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47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56C0E-9BE2-48E5-A401-4B9BC33B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9087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Provide a clear route to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2D309-5D88-4CC2-8494-B64913B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526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7E0BC-828B-49EF-A505-CFCAA544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47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7F238-EB0C-4E78-AF2A-6C7F0175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9087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 qualified person re-examines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85455-7FC4-4D17-BCE1-B45DAB33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526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0FCC8-4856-4061-A9E9-061506E3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47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Correct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0B907-9A68-402C-9671-20AE1F82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Fix the outcome and relevant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2DBFD-3B49-4DB8-A063-E9B590A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526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7EEDB"/>
          </a:solidFill>
          <a:ln xmlns:a="http://schemas.openxmlformats.org/drawingml/2006/main" w="0">
            <a:solidFill>
              <a:srgbClr val="D7E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FFD34-5FEC-46C2-A149-B4EA93A0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47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Learn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FB576-1DB3-4720-8760-C3FD4EFE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9087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 patterns to improve the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CD6C0-F4D3-4B74-873E-CA5C333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05375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Example: a student can appeal an incorrect urgency category without having to understand the model.</a:t>
            </a:r>
          </a:p>
        </p:txBody>
      </p:sp>
    </p:spTree>
    <p:extLst>
      <p:ext uri="{BB962C8B-B14F-4D97-AF65-F5344CB8AC3E}">
        <p14:creationId xmlns:p14="http://schemas.microsoft.com/office/powerpoint/2010/main" val="9472304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05F15-E318-457B-938D-449E4855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Scenario: should AI recommend scholarship candidates?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FE665-C570-47BF-89D1-D05F393C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D58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0F9D58"/>
                </a:solidFill>
                <a:latin typeface="Google Sans Medium"/>
                <a:ea typeface="Google Sans Medium"/>
                <a:cs typeface="Google Sans Medium"/>
              </a:rPr>
              <a:t>Potential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21CF4-A4D9-4A69-95E1-5653B0CE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Help reviewers find evidence across many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36C8F-DD48-4B1F-A99A-8D3E63F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34836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650" b="1">
                <a:solidFill>
                  <a:srgbClr val="D34836"/>
                </a:solidFill>
                <a:latin typeface="Google Sans Medium"/>
                <a:ea typeface="Google Sans Medium"/>
                <a:cs typeface="Google Sans Medium"/>
              </a:rPr>
              <a:t>High-consequence concerns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B40EB-E663-420D-8BA0-A846194C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4836"/>
          </a:solidFill>
          <a:ln xmlns:a="http://schemas.openxmlformats.org/drawingml/2006/main" w="0">
            <a:solidFill>
              <a:srgbClr val="D348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85391-C8F5-4436-83E4-8AD7E5FA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14750"/>
            <a:ext cx="3248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Historical award patterns may encode exclusion.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E4A79-DC3D-4683-8812-3F91FF93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4836"/>
          </a:solidFill>
          <a:ln xmlns:a="http://schemas.openxmlformats.org/drawingml/2006/main" w="0">
            <a:solidFill>
              <a:srgbClr val="D348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F5AF3-8C63-4AB8-B112-A33DD639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86250"/>
            <a:ext cx="3248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Generated summaries may omit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DD19A-8AC5-482E-9082-F907C7CD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4836"/>
          </a:solidFill>
          <a:ln xmlns:a="http://schemas.openxmlformats.org/drawingml/2006/main" w="0">
            <a:solidFill>
              <a:srgbClr val="D348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16355-31DA-4C8B-854B-E2B7753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57750"/>
            <a:ext cx="3248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Applicants may not know how to challenge errors.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5C30B-5890-4F72-839C-04C473A0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657225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19050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E77B4-BA6E-4C2F-9CE0-B0B8F87F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668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Responsible redesign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A122E-E921-4587-B89F-276C4547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388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5EAEF-BCE2-461D-A989-5C9A6883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Summarize evidence; never rank or decide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5B849-EF6A-4DE1-8409-150D4410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432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388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72F49-0A43-499D-9BB2-7ADFD964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43225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Two trained reviewers inspect source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5A65C-2C08-48A0-9756-461DB962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528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388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E72C2-414A-4CFD-B02B-1113B9A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52825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Check omission and subgroup error patterns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CF4B5-C254-48B3-8AEC-2A0233BE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624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388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Recourse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B50E3-5458-4B1C-8A80-00B171F4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62425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Applicants can correct factual 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D98E7-627E-430F-9E94-EACC2BEC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Sometimes responsibility means narrowing the task.</a:t>
            </a:r>
          </a:p>
        </p:txBody>
      </p:sp>
    </p:spTree>
    <p:extLst>
      <p:ext uri="{BB962C8B-B14F-4D97-AF65-F5344CB8AC3E}">
        <p14:creationId xmlns:p14="http://schemas.microsoft.com/office/powerpoint/2010/main" val="17054480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819B6-B317-4C2A-B9E0-45327576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Use case pattern: assist the expert, preserve the accountable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A9DFF-D92A-4CDA-BE44-2A0B06BF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A2D66-F995-42F1-AAC5-B569FA5E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User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832BB-AB2A-43E0-BC11-8A1FFC4B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102E1-AB8A-4A49-9827-61E39A29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28875"/>
            <a:ext cx="2076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AI drafts or organizes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EB5C1-8BCB-4412-A260-581130C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23CEC-43B1-440B-8F72-64862376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288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65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Expert verifies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41E37-5B66-42CB-97C3-3782DF10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B407A-0D3E-4842-9F26-7D50A8F4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28875"/>
            <a:ext cx="1600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1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User receives answer + route to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F8EBC-5C4F-4FEA-A8A5-8625D0BD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1FE2A-9B9D-4721-A67E-B5C4B86A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DDA00-6377-4A49-9D9D-42E07B27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767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Student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96FDC-75BF-4E93-ADCB-A20E1726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EF568-E8B9-41D3-862A-594A6C2E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577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Employee HR FAQ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8B906-4728-48BD-BD42-A900D50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F007A-45E5-41F2-AC57-C9CE0689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387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Customer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63871-2967-4CFC-91E3-91DE1F62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C19A1-A7E4-49D3-9429-22617AFE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197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Clinical documentation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6D949-E597-41E6-BF70-7ECF1AED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Key condition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F8429-316B-4349-8A6A-E5E9F257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2437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The expert must have source context, time, training, and authority to correct the draft.</a:t>
            </a:r>
          </a:p>
        </p:txBody>
      </p:sp>
    </p:spTree>
    <p:extLst>
      <p:ext uri="{BB962C8B-B14F-4D97-AF65-F5344CB8AC3E}">
        <p14:creationId xmlns:p14="http://schemas.microsoft.com/office/powerpoint/2010/main" val="20559245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8CA1B-A886-4438-99CF-926976A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4DF4E-2605-4C4A-9DD7-C20CBCA1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47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3C8BE-185D-4B49-9462-1ECC0E69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342900" cy="3429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C873F-4214-463C-AA31-638F847E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Issue spotting and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CC540-7E40-4EBA-9B39-437E0777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Use simple questions, pre-mortems, and worked scenarios before deployment</a:t>
            </a:r>
          </a:p>
        </p:txBody>
      </p:sp>
    </p:spTree>
    <p:extLst>
      <p:ext uri="{BB962C8B-B14F-4D97-AF65-F5344CB8AC3E}">
        <p14:creationId xmlns:p14="http://schemas.microsoft.com/office/powerpoint/2010/main" val="9331584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A59E4-A23E-46D2-B2FD-B7389156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Use five questions before approving an AI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A4DD6-7598-44C5-ABE9-82FD31CB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93B3C-0063-44F6-B2FE-DD6971C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38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F6C0B-67CF-4FD8-825F-D53B7BC9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2382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need is being solved—and is AI necessary?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4DBEE-442F-4FA9-88E4-838C7A01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6F711-FF30-4911-A432-1C043CB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193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People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307C4-F044-4C2A-8959-21EE4C6A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193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benefits, who may be harmed, and who is missing?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103C9-F655-452C-BC26-764A1577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527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7353E-4059-42A1-B1D0-CD28501E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Failure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DDD90-6D3B-4B0E-9543-1C02B683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004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can go wrong, and how serious is it?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A9E63-F849-4398-994F-810B415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3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9C6C1-56CB-4226-880F-F3A2C1EB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814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9D20A-35FB-4C5A-8EC8-4370E0C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814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can intervene, appeal, pause, or stop?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32440-401E-4663-8E23-86D8783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14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8C647-3505-4CF3-87B9-FB86D08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67B41-3C1D-410E-988E-B0CA7AC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625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2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tests and monitoring justify trust?</a:t>
            </a:r>
          </a:p>
        </p:txBody>
      </p:sp>
    </p:spTree>
    <p:extLst>
      <p:ext uri="{BB962C8B-B14F-4D97-AF65-F5344CB8AC3E}">
        <p14:creationId xmlns:p14="http://schemas.microsoft.com/office/powerpoint/2010/main" val="4165651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6BCD5-D5A4-4EAD-AC3D-9D3555BF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Pre-mortem: imagine the deployment failed six months later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3D508-75CC-43F8-9337-C1100391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E715B-04AC-470E-B252-77194B8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“The system caused harm, lost trust, or was stopped. What happened?”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9210B-624E-4321-808C-53D5419F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2476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95520-A855-4FF6-8ACE-22B454D9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Failure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55550-B921-47F4-BA88-AFF6E555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005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Describe a specific person, event, and consequence.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2E761-61E5-4E45-87A4-7BFE2C2A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476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8E5CC-F1D7-49A2-88F7-2FDC1710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Early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A340B-2290-42E7-A913-E71946E9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005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would have warned the team sooner?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8B08C-BD69-4FDB-A752-CD272AC5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2476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61C0D-9115-4BF7-B935-1DE9C31E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Preventive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5D86E-F3B3-478C-AF7A-75DD0556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0005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What design or process could reduce the risk?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209E4-C5D2-40C2-824C-2154AE15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476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76F56-5EE4-49D2-BDF4-5141C399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81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D2AD8-5F43-4FAA-991E-770A12C4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1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Who acts when the signal appears?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F328B-5021-4D01-B111-AC24B3DF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721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 pre-mortem turns vague concern into testable signals and owned controls.</a:t>
            </a:r>
          </a:p>
        </p:txBody>
      </p:sp>
    </p:spTree>
    <p:extLst>
      <p:ext uri="{BB962C8B-B14F-4D97-AF65-F5344CB8AC3E}">
        <p14:creationId xmlns:p14="http://schemas.microsoft.com/office/powerpoint/2010/main" val="13648232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023F2-F861-4EA4-891B-D844D8F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Worked example: responsible campus support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59EF1-9047-43CA-96F6-06533EA9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33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3D60E-8E23-4AC7-AFF9-B0173F7F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B84D0-C8D9-4DE5-A7BF-1DFEBCD0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0495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Faster first response without replacing counselor judgment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54618-E7A3-48DB-8C72-406179E1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533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906C4-25E1-4CDB-9C1A-BD2F1D3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99C43-1291-4BBC-91DB-639C4CD0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0495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Consent, language coverage, sensitive-data minimization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E2D02-08B2-4D78-8A63-FB5DC042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33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26509-5739-4545-A896-0ECCF53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B6072-CCED-4285-AD8C-66D2194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337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Summarize + suggest urgency; expose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82146-5241-4219-9847-EEBDB0F9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533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B6C45-87E3-4E66-9F47-3FB0DF29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DCBAA-B7B7-4A2D-A7F1-6DCF2CAB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337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Critical misses, subgroup results, counselor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AB377-2490-4EF5-832F-C8AA283D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533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7EEDB"/>
          </a:solidFill>
          <a:ln xmlns:a="http://schemas.openxmlformats.org/drawingml/2006/main" w="0">
            <a:solidFill>
              <a:srgbClr val="D7E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0643F-CA43-4E15-85C9-2D7FCF41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Launch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96F18-4A66-4EC2-A143-328897C3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6245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Manual fallback, notice, escalation, limited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7B792-A4E1-40B5-A9BF-38B22DB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33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60AB3-F4F5-4A87-BE85-33777A0E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Monitor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4E313-77F6-43AD-9998-EA603D3D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6245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Drift, appeals, incidents, and periodic re-evaluation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53DAC-A031-4FC2-AFA6-60A78A23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157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The system remains accountable because each stage has a decision, control,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7912104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FD062-DE8C-4B80-A744-FE3AE400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Google Skills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3A3D9-B5BC-4CCB-8DA4-4F9C60DD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275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Introduction to Responsible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D8138-0E92-480A-B0E8-2640D7EB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857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12A1D-1D2B-4DE2-8B0F-8CA8BF93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What learners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26463-0693-4C9A-B853-6C214256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0EEC4-2106-4FE3-99D9-7EB63B29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Review why responsible AI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86075-6827-4E02-948D-06DCA404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282D6-4148-4EFB-8DFB-0B6323BD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Identify common dimensions and practices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3C7F9-9423-4555-9FBF-DC69CA7D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41907-2CDC-4A8F-B469-26126AF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90925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Connect principles to project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EB95B-9319-4269-BEDE-FB1F91F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C6BD4-74B6-4973-96E1-43424B98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 the course environment—no personal GCP account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27673-E179-4790-AE7E-D62CF9AD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3149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AC2B3-295F-4830-94F8-6A5E364B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335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Trainer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2F614-8454-4BD0-8B1E-1E00A2C4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E7096-45AE-434C-B747-A7BD9BB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288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Confirm the activity is currently 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576B9-E3EF-4606-BA69-C245DD81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8BB93-FC2C-4BF0-86B0-5CF52FA1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Explain temporary access or course credits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5302E-5C71-4A69-9ACE-CE98D252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B0DBA-B103-4742-823F-65B15D19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Keep the official instructions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A9A6E-2ACF-4922-B7AF-9DD5E2DA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F15B7-ED40-4EFC-96A5-7BEAA723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Debrief with the five issue-spotting questions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A30BD-B94F-410A-89F5-165E625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63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Skills Google course template: 554</a:t>
            </a:r>
          </a:p>
        </p:txBody>
      </p:sp>
    </p:spTree>
    <p:extLst>
      <p:ext uri="{BB962C8B-B14F-4D97-AF65-F5344CB8AC3E}">
        <p14:creationId xmlns:p14="http://schemas.microsoft.com/office/powerpoint/2010/main" val="14130716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E17AB-6613-4477-9816-2F1FBC5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Class activity: improve an AI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93806-4B68-4CEA-839C-779AEB1B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8587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2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Think · Pair · 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D2362-353D-42AD-A2CC-84EB1620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2392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1DC48-69B4-4C98-88A1-ADBCFC16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28875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Choose one proposal: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14AC0-02A1-4D4C-A9A5-62C680C7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57500"/>
            <a:ext cx="847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AI attendance monitoring · automated grading · campus support chatbot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C5865-5B21-4939-9084-38426BD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1. State the intended benefit and affected people.</a:t>
            </a:r>
          </a:p>
          <a:p xmlns:a="http://schemas.openxmlformats.org/drawingml/2006/main">
            <a:pPr algn="l">
              <a:def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2. Write one realistic failure scenario.</a:t>
            </a:r>
          </a:p>
          <a:p xmlns:a="http://schemas.openxmlformats.org/drawingml/2006/main">
            <a:pPr algn="l">
              <a:def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3. Choose one preventive control and one monitoring signal.</a:t>
            </a:r>
          </a:p>
          <a:p xmlns:a="http://schemas.openxmlformats.org/drawingml/2006/main">
            <a:pPr algn="l">
              <a:def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463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4. Define who can review, appeal, or stop the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AB016-EE4F-481F-B791-C2E29B0B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5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3 minutes individually · 5 minutes in pairs · 2 minutes to share</a:t>
            </a:r>
          </a:p>
        </p:txBody>
      </p:sp>
    </p:spTree>
    <p:extLst>
      <p:ext uri="{BB962C8B-B14F-4D97-AF65-F5344CB8AC3E}">
        <p14:creationId xmlns:p14="http://schemas.microsoft.com/office/powerpoint/2010/main" val="122089917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63424-6B94-4A60-A769-41D91E83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Module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A2422-1E97-4723-8431-2F6BDB73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DA0A5-1E27-4BB1-804B-7C376B46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287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10CC3-668B-4B08-ACF8-83560B4A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2872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Responsible AI connects technical capability with people, context, and consequences.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08010-F1A3-4E83-B509-91BECFAC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13A32-9696-430F-BCC2-F7390E8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62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Lifecycle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D26F6-B651-43D0-8392-ACFBC259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621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Framing, data, building, evaluation, launch, and monitoring all contain responsible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AF4C7-6AD3-4028-9775-A9AE8651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5A463-7620-437B-BB2C-F8662E42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95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Operational pattern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A03AC-5C79-422D-949F-65837DFC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Value → requirement → control →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8FAFE-33C8-4836-A3AD-A2CC79AB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69669-8A57-4670-9B5F-B7338F55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290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Human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D38CD-8F94-4517-8E8E-E88721A8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Oversight needs authority and information; affected people need recourse.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DC9C0-6173-401B-BC5E-C0FE9740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762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C2ABB-C506-4D02-A850-46EE8047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625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DED1D-D451-4567-A703-91ECF76E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6252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388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Use purpose, people, failure, control, and evidence questions.</a:t>
            </a:r>
          </a:p>
        </p:txBody>
      </p:sp>
    </p:spTree>
    <p:extLst>
      <p:ext uri="{BB962C8B-B14F-4D97-AF65-F5344CB8AC3E}">
        <p14:creationId xmlns:p14="http://schemas.microsoft.com/office/powerpoint/2010/main" val="143096897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308A3-40E4-4828-B9F1-0D38C93D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36A7A-16AA-43E5-8E8D-E1B4524A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47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4350" b="0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A37FE-54FB-471C-8F7E-883E6523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342900" cy="3429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A608"/>
          </a:solidFill>
          <a:ln xmlns:a="http://schemas.openxmlformats.org/drawingml/2006/main" w="0">
            <a:solidFill>
              <a:srgbClr val="F0A60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4C6EA-F38B-4037-91B6-1B97BE23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Knowledge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4D3BB-6915-4298-8310-227663A2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0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</a:rPr>
              <a:t>Three questions to confirm the key distinctions</a:t>
            </a:r>
          </a:p>
        </p:txBody>
      </p:sp>
    </p:spTree>
    <p:extLst>
      <p:ext uri="{BB962C8B-B14F-4D97-AF65-F5344CB8AC3E}">
        <p14:creationId xmlns:p14="http://schemas.microsoft.com/office/powerpoint/2010/main" val="95589767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0C6E8-2ED8-4D94-B04C-B761366F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0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Question #1: Which action belongs earliest in a responsible AI lifecycle?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93C98-F832-4AF0-8C97-B1845DE5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6D391-B26F-48DC-A343-36A9F37A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A. Add an appeal button after complaints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93277-E38E-441B-B08C-7E21620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FD295-80E0-4303-81C6-CB0C430B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B. Define the human need and decide whether AI is appropriate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28CC0-D94B-4CDD-A0C9-51C05E09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CDEFD-DFE1-4611-87D4-E41AC7CD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C. Monitor only overall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5F905-C9F4-4817-A985-95125F2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A03D3-236D-4507-89EB-FABB6026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D. Assume the training data represents everyone</a:t>
            </a:r>
          </a:p>
        </p:txBody>
      </p:sp>
    </p:spTree>
    <p:extLst>
      <p:ext uri="{BB962C8B-B14F-4D97-AF65-F5344CB8AC3E}">
        <p14:creationId xmlns:p14="http://schemas.microsoft.com/office/powerpoint/2010/main" val="17184942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4C221-6DA4-4933-9BDF-D30C5136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Answer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461E2-9E10-4225-895E-C9527599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solidFill>
              <a:srgbClr val="F8F8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C5FA2-E711-48DE-A259-FE88E16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Correct answer: B. Define the human need and decide whether AI is appropriate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9F07-4135-4B21-9C01-C24B8A28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857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Responsible AI begins by clarifying the need, affected people, success measures, unacceptable outcomes, and whether a lower-risk solution could work.</a:t>
            </a:r>
          </a:p>
        </p:txBody>
      </p:sp>
    </p:spTree>
    <p:extLst>
      <p:ext uri="{BB962C8B-B14F-4D97-AF65-F5344CB8AC3E}">
        <p14:creationId xmlns:p14="http://schemas.microsoft.com/office/powerpoint/2010/main" val="178024260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6CC14-79EA-4867-9EB8-32228A59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0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Question #2: When is a human reviewer a meaningful safeguard?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AD605-5D39-4DC5-A85D-C1C83CC1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8BFED-A4F9-4233-A15F-C7FE0A4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A. The reviewer sees only the final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DAD53-AD7A-42C0-A360-94AAF03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320F9-6F17-40F8-9ED6-F877FA3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B. The reviewer must approve quickly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70EA1-AD38-4A91-9D15-387B4A36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F0730-F1B4-4DF8-99A1-4901D97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C. The reviewer has context, training, time, and authority to overturn the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E6C7E-CDC0-415C-94C1-45397A65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3E5DB-9F31-439B-8E17-891B5C4E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D. The system never records disagreements</a:t>
            </a:r>
          </a:p>
        </p:txBody>
      </p:sp>
    </p:spTree>
    <p:extLst>
      <p:ext uri="{BB962C8B-B14F-4D97-AF65-F5344CB8AC3E}">
        <p14:creationId xmlns:p14="http://schemas.microsoft.com/office/powerpoint/2010/main" val="99094674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846CC-5C0C-4EE8-83C0-096D6262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Answer #2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62204-B015-46A5-B806-81CC7B8C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solidFill>
              <a:srgbClr val="F8F8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656A1-79F5-4389-97EA-D917C8B9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Correct answer: C. The reviewer has context, training, time, and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DF6EA-AFB5-4F0D-8BEC-03A8412A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857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Human oversight works only when the reviewer can understand the recommendation, question it, change the outcome, and escalate problems.</a:t>
            </a:r>
          </a:p>
        </p:txBody>
      </p:sp>
    </p:spTree>
    <p:extLst>
      <p:ext uri="{BB962C8B-B14F-4D97-AF65-F5344CB8AC3E}">
        <p14:creationId xmlns:p14="http://schemas.microsoft.com/office/powerpoint/2010/main" val="176940478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21AC4-D5F9-44E0-BC25-207356F1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025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Question #3: Which sequence best turns fairness into an operational practice?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D1D06-4D02-4DD8-A450-CC16C85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6DAFC"/>
          </a:solidFill>
          <a:ln xmlns:a="http://schemas.openxmlformats.org/drawingml/2006/main" w="0">
            <a:solidFill>
              <a:srgbClr val="C6D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21DDC-E921-4544-A803-5039CA6B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A. Value → slogan → launch → hope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288DE-7C8A-4FDC-A07D-35B5D021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FC3"/>
          </a:solidFill>
          <a:ln xmlns:a="http://schemas.openxmlformats.org/drawingml/2006/main" w="0">
            <a:solidFill>
              <a:srgbClr val="FDEF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0A99D-78F2-4420-A57C-E58850FD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B. Value → requirement → control →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F8C93-043C-433F-89ED-4C2327AE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C7C9"/>
          </a:solidFill>
          <a:ln xmlns:a="http://schemas.openxmlformats.org/drawingml/2006/main" w="0">
            <a:solidFill>
              <a:srgbClr val="F5C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25102-C318-417B-A709-B90C3D75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C. Model → accuracy → deployment → silence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300A6-FA72-4875-BBC6-8FE61C5F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0E1E5"/>
          </a:solidFill>
          <a:ln xmlns:a="http://schemas.openxmlformats.org/drawingml/2006/main" w="0">
            <a:solidFill>
              <a:srgbClr val="D0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92DDB-4BC3-48C0-9D43-7C76B89A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500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D. Data → model → interface → marketing</a:t>
            </a:r>
          </a:p>
        </p:txBody>
      </p:sp>
    </p:spTree>
    <p:extLst>
      <p:ext uri="{BB962C8B-B14F-4D97-AF65-F5344CB8AC3E}">
        <p14:creationId xmlns:p14="http://schemas.microsoft.com/office/powerpoint/2010/main" val="137959168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7E898-0C00-45C8-9A27-C4DF38E5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Answer #3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1442F-4691-4843-838E-A864F3F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solidFill>
              <a:srgbClr val="F8F8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1158E-A09B-4236-94E9-9FAFEA3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8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Correct answer: B. Value → requirement → control →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FECF1-D4F9-4EAA-9073-94B5B0A3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857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defRPr>
            </a:pPr>
            <a:r>
              <a:rPr sz="1575" b="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</a:rPr>
              <a:t>A value guides a testable requirement; a control implements it; evidence shows whether the control works in practice.</a:t>
            </a:r>
          </a:p>
        </p:txBody>
      </p:sp>
    </p:spTree>
    <p:extLst>
      <p:ext uri="{BB962C8B-B14F-4D97-AF65-F5344CB8AC3E}">
        <p14:creationId xmlns:p14="http://schemas.microsoft.com/office/powerpoint/2010/main" val="177956086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E81F6-80CE-4124-9B1A-5F0FDB1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References: principles and responsible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5AC27-477A-43A7-A0DD-7B0D3111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Google AI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79F6B-EB7C-4729-B690-D6B97CA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principles: bold innovation, responsible development and deployment, and collaborative progress.</a:t>
            </a:r>
          </a:p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63bebffbb615408e"/>
              </a:rPr>
              <a:t>https://ai.google/responsibility/principles/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DAB9A-0D55-497A-BBAB-F1ADC4EA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Responsible AI — Google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07DD6-5BE0-43AA-B658-52723A91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Overview of responsible AI concepts and practical development considerations.</a:t>
            </a:r>
          </a:p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1d69e8542f9048fb"/>
              </a:rPr>
              <a:t>https://cloud.google.com/responsible-ai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D0073-101F-48F3-A3D0-6471700E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AI Safety —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891BF-E9B4-47E7-9276-ED2E8478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overview of Google’s AI safety research and practices.</a:t>
            </a:r>
          </a:p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69f9ffe557fd4cc5"/>
              </a:rPr>
              <a:t>https://ai.google/safety/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FA2C7-99A6-427E-93A6-BDB3C6F2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AI Responsibility Update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04D7D-AA93-4CFE-B1AA-F47AD1BD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report on governance, evaluation, safeguards, and deployment practices.</a:t>
            </a:r>
          </a:p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c170a34aa7174a4c"/>
              </a:rPr>
              <a:t>https://ai.google/static/documents/ai-responsibility-update-2026.pdf</a:t>
            </a:r>
          </a:p>
        </p:txBody>
      </p:sp>
    </p:spTree>
    <p:extLst>
      <p:ext uri="{BB962C8B-B14F-4D97-AF65-F5344CB8AC3E}">
        <p14:creationId xmlns:p14="http://schemas.microsoft.com/office/powerpoint/2010/main" val="32658184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F3163-120D-41A7-A454-D85DEB2E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>
                <a:solidFill>
                  <a:srgbClr val="000000"/>
                </a:solidFill>
                <a:latin typeface="Google Sans"/>
                <a:ea typeface="Google Sans"/>
                <a:cs typeface="Google Sans"/>
              </a:rPr>
              <a:t>References: lifecycle, examples, and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A8FDD-C613-4580-B385-10317BE6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AI Responsibility Update 2024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9FE93-8F19-48B7-A50A-0B118BF2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 and discussion of responsibility across AI development and deployment.</a:t>
            </a:r>
          </a:p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9f5f52fc009b4c73"/>
              </a:rPr>
              <a:t>https://ai.google/static/documents/ai-responsibility-2024-update.pdf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7EA5B-AC7B-4329-802B-940D3754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AI Responsibility Update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A428D-55AB-4E2D-8D2A-1A37DDBF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recent practices for evaluation, safeguards, and accountability.</a:t>
            </a:r>
          </a:p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ca5347c243d54270"/>
              </a:rPr>
              <a:t>https://ai.google/static/documents/ai-responsibility-update-2026.pdf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94BE8-F23E-45BA-A580-D8B2E6C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Introduction to Responsible AI — Google 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31411-B3F2-4DF2-9105-D8CC0816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Approved student activity delivered through the Skills Google learning environment.</a:t>
            </a:r>
          </a:p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516b18517ca54160"/>
              </a:rPr>
              <a:t>https://www.skills.google/course_templates/554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32703-25A1-4EAA-912C-6FFA0901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defRPr>
            </a:pPr>
            <a:r>
              <a:rPr sz="1275" b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</a:rPr>
              <a:t>Google AI Principles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696E-DB69-4F7A-822B-5CDCA78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the live page to confirm the latest wording before teaching.</a:t>
            </a:r>
          </a:p>
          <a:p xmlns:a="http://schemas.openxmlformats.org/drawingml/2006/main">
            <a:pPr algn="l">
              <a:defRPr sz="108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a0994aa600dd4615"/>
              </a:rPr>
              <a:t>https://ai.google/responsibility/principles/</a:t>
            </a:r>
          </a:p>
        </p:txBody>
      </p:sp>
    </p:spTree>
    <p:extLst>
      <p:ext uri="{BB962C8B-B14F-4D97-AF65-F5344CB8AC3E}">
        <p14:creationId xmlns:p14="http://schemas.microsoft.com/office/powerpoint/2010/main" val="79938299"/>
      </p:ext>
    </p:extLst>
  </p:cSld>
</p:sld>
</file>

<file path=ppt/theme/theme1.xml><?xml version="1.0" encoding="utf-8"?>
<a:theme xmlns:a="http://schemas.openxmlformats.org/drawingml/2006/main" name="GCP Template">
  <a:themeElements>
    <a:clrScheme name="GCP template">
      <a:dk1>
        <a:srgbClr val="000000"/>
      </a:dk1>
      <a:lt1>
        <a:srgbClr val="FFFFFF"/>
      </a:lt1>
      <a:dk2>
        <a:srgbClr val="080808"/>
      </a:dk2>
      <a:lt2>
        <a:srgbClr val="F8F8F8"/>
      </a:lt2>
      <a:accent1>
        <a:srgbClr val="4285F4"/>
      </a:accent1>
      <a:accent2>
        <a:srgbClr val="D02D2A"/>
      </a:accent2>
      <a:accent3>
        <a:srgbClr val="F0A608"/>
      </a:accent3>
      <a:accent4>
        <a:srgbClr val="0F9D58"/>
      </a:accent4>
      <a:accent5>
        <a:srgbClr val="254A89"/>
      </a:accent5>
      <a:accent6>
        <a:srgbClr val="D34836"/>
      </a:accent6>
      <a:hlink>
        <a:srgbClr val="4285F4"/>
      </a:hlink>
      <a:folHlink>
        <a:srgbClr val="254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CP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2026-08-31T06:51:16.6460000Z</dcterms:created>
  <dcterms:modified xsi:type="dcterms:W3CDTF">2026-08-31T06:51:16.6460000Z</dcterms:modified>
</coreProperties>
</file>