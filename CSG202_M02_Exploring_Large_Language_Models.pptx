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bad857df5c433b" /><Relationship Type="http://schemas.openxmlformats.org/officeDocument/2006/relationships/extended-properties" Target="/docProps/app.xml" Id="R67a55635658649ee" /><Relationship Type="http://schemas.openxmlformats.org/officeDocument/2006/relationships/officeDocument" Target="/ppt/presentation.xml" Id="R7a63f026388f40f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c24e5b484e043e1"/>
  </p:sldMasterIdLst>
  <p:notesMasterIdLst>
    <p:notesMasterId xmlns:r="http://schemas.openxmlformats.org/officeDocument/2006/relationships" r:id="Re89a6fa5126b4960"/>
  </p:notesMasterIdLst>
  <p:sldIdLst>
    <p:sldId xmlns:r="http://schemas.openxmlformats.org/officeDocument/2006/relationships" id="256" r:id="Rddd2e74269c14a06"/>
    <p:sldId xmlns:r="http://schemas.openxmlformats.org/officeDocument/2006/relationships" id="257" r:id="Ra923b3f5fe394858"/>
    <p:sldId xmlns:r="http://schemas.openxmlformats.org/officeDocument/2006/relationships" id="258" r:id="R3e3064abb9884e03"/>
    <p:sldId xmlns:r="http://schemas.openxmlformats.org/officeDocument/2006/relationships" id="259" r:id="Rac3c637814024872"/>
    <p:sldId xmlns:r="http://schemas.openxmlformats.org/officeDocument/2006/relationships" id="260" r:id="R424880d5d26348a7"/>
    <p:sldId xmlns:r="http://schemas.openxmlformats.org/officeDocument/2006/relationships" id="261" r:id="R729040ef426b4f2a"/>
    <p:sldId xmlns:r="http://schemas.openxmlformats.org/officeDocument/2006/relationships" id="262" r:id="Rf84120d3b6bf4669"/>
    <p:sldId xmlns:r="http://schemas.openxmlformats.org/officeDocument/2006/relationships" id="263" r:id="R07b062769bd3414e"/>
    <p:sldId xmlns:r="http://schemas.openxmlformats.org/officeDocument/2006/relationships" id="264" r:id="R0e9ac1a402fb494d"/>
    <p:sldId xmlns:r="http://schemas.openxmlformats.org/officeDocument/2006/relationships" id="265" r:id="R0230b5ede20742dd"/>
    <p:sldId xmlns:r="http://schemas.openxmlformats.org/officeDocument/2006/relationships" id="266" r:id="R4741e18946ba4c77"/>
    <p:sldId xmlns:r="http://schemas.openxmlformats.org/officeDocument/2006/relationships" id="267" r:id="Rb1fe3252000e4763"/>
    <p:sldId xmlns:r="http://schemas.openxmlformats.org/officeDocument/2006/relationships" id="268" r:id="R2e27460e12534625"/>
    <p:sldId xmlns:r="http://schemas.openxmlformats.org/officeDocument/2006/relationships" id="269" r:id="Rd818f587e3f74714"/>
    <p:sldId xmlns:r="http://schemas.openxmlformats.org/officeDocument/2006/relationships" id="270" r:id="R0c8c3f7ed2a648a5"/>
    <p:sldId xmlns:r="http://schemas.openxmlformats.org/officeDocument/2006/relationships" id="271" r:id="Ra1019e0cde034dfa"/>
    <p:sldId xmlns:r="http://schemas.openxmlformats.org/officeDocument/2006/relationships" id="272" r:id="R340c39f5028341fa"/>
    <p:sldId xmlns:r="http://schemas.openxmlformats.org/officeDocument/2006/relationships" id="273" r:id="R0eb95e75dc1843f4"/>
    <p:sldId xmlns:r="http://schemas.openxmlformats.org/officeDocument/2006/relationships" id="274" r:id="Rc703f48d106647a2"/>
    <p:sldId xmlns:r="http://schemas.openxmlformats.org/officeDocument/2006/relationships" id="275" r:id="R269361e2c5ac408c"/>
    <p:sldId xmlns:r="http://schemas.openxmlformats.org/officeDocument/2006/relationships" id="276" r:id="R2fa4a5a0c01c410e"/>
    <p:sldId xmlns:r="http://schemas.openxmlformats.org/officeDocument/2006/relationships" id="277" r:id="R1de303b583a9421c"/>
    <p:sldId xmlns:r="http://schemas.openxmlformats.org/officeDocument/2006/relationships" id="278" r:id="R12afc3c4be844ed0"/>
    <p:sldId xmlns:r="http://schemas.openxmlformats.org/officeDocument/2006/relationships" id="279" r:id="Rf9b58b6b54724cb4"/>
    <p:sldId xmlns:r="http://schemas.openxmlformats.org/officeDocument/2006/relationships" id="280" r:id="Rd9d5d2de24ea4537"/>
    <p:sldId xmlns:r="http://schemas.openxmlformats.org/officeDocument/2006/relationships" id="281" r:id="R9a7fa5dafabf488f"/>
    <p:sldId xmlns:r="http://schemas.openxmlformats.org/officeDocument/2006/relationships" id="282" r:id="R69ff4ee707284c4b"/>
    <p:sldId xmlns:r="http://schemas.openxmlformats.org/officeDocument/2006/relationships" id="283" r:id="R3167f8716b8f432d"/>
    <p:sldId xmlns:r="http://schemas.openxmlformats.org/officeDocument/2006/relationships" id="284" r:id="R5fb7083e81314f92"/>
    <p:sldId xmlns:r="http://schemas.openxmlformats.org/officeDocument/2006/relationships" id="285" r:id="R99b985b5df7b4a07"/>
    <p:sldId xmlns:r="http://schemas.openxmlformats.org/officeDocument/2006/relationships" id="286" r:id="Rc3bf9bea76994645"/>
    <p:sldId xmlns:r="http://schemas.openxmlformats.org/officeDocument/2006/relationships" id="287" r:id="R2897f240a2614e5d"/>
    <p:sldId xmlns:r="http://schemas.openxmlformats.org/officeDocument/2006/relationships" id="288" r:id="R62ed0f4a80fc427f"/>
    <p:sldId xmlns:r="http://schemas.openxmlformats.org/officeDocument/2006/relationships" id="289" r:id="R3792cc1ac390442c"/>
    <p:sldId xmlns:r="http://schemas.openxmlformats.org/officeDocument/2006/relationships" id="290" r:id="Rbbc0504125b44778"/>
    <p:sldId xmlns:r="http://schemas.openxmlformats.org/officeDocument/2006/relationships" id="291" r:id="Rbbdf29310d26417b"/>
    <p:sldId xmlns:r="http://schemas.openxmlformats.org/officeDocument/2006/relationships" id="292" r:id="Rddf431d528aa43ec"/>
    <p:sldId xmlns:r="http://schemas.openxmlformats.org/officeDocument/2006/relationships" id="293" r:id="R865f8e223ad04a8b"/>
    <p:sldId xmlns:r="http://schemas.openxmlformats.org/officeDocument/2006/relationships" id="294" r:id="Raf58682aa9314f06"/>
    <p:sldId xmlns:r="http://schemas.openxmlformats.org/officeDocument/2006/relationships" id="295" r:id="Rdcbc030a77be40c7"/>
    <p:sldId xmlns:r="http://schemas.openxmlformats.org/officeDocument/2006/relationships" id="296" r:id="Rf2c06dcd26a04668"/>
    <p:sldId xmlns:r="http://schemas.openxmlformats.org/officeDocument/2006/relationships" id="297" r:id="Rf250eef8f3324858"/>
    <p:sldId xmlns:r="http://schemas.openxmlformats.org/officeDocument/2006/relationships" id="298" r:id="Rd757a79e7d064a46"/>
    <p:sldId xmlns:r="http://schemas.openxmlformats.org/officeDocument/2006/relationships" id="299" r:id="R78f21520d8824099"/>
    <p:sldId xmlns:r="http://schemas.openxmlformats.org/officeDocument/2006/relationships" id="300" r:id="R716a0dfbf1a1496b"/>
    <p:sldId xmlns:r="http://schemas.openxmlformats.org/officeDocument/2006/relationships" id="301" r:id="R9cb97a0b84d146b7"/>
    <p:sldId xmlns:r="http://schemas.openxmlformats.org/officeDocument/2006/relationships" id="302" r:id="Rbf15d40731ed4aaf"/>
    <p:sldId xmlns:r="http://schemas.openxmlformats.org/officeDocument/2006/relationships" id="303" r:id="Rc884ceebcb4841b0"/>
    <p:sldId xmlns:r="http://schemas.openxmlformats.org/officeDocument/2006/relationships" id="304" r:id="R814c3686a149442b"/>
    <p:sldId xmlns:r="http://schemas.openxmlformats.org/officeDocument/2006/relationships" id="305" r:id="R39a7a37bc0414b7a"/>
  </p:sldIdLst>
  <p:sldSz cx="12192000" cy="6858000"/>
  <p:notesSz cx="6858000" cy="9144000"/>
  <p:embeddedFontLst>
    <p:embeddedFont>
      <p:font typeface="Roboto"/>
      <p:regular xmlns:r="http://schemas.openxmlformats.org/officeDocument/2006/relationships" r:id="R4ed662b7e57d480a"/>
    </p:embeddedFont>
    <p:embeddedFont>
      <p:font typeface="Google Sans Medium"/>
      <p:regular xmlns:r="http://schemas.openxmlformats.org/officeDocument/2006/relationships" r:id="Rca21d98164484e67"/>
    </p:embeddedFont>
    <p:embeddedFont>
      <p:font typeface="Google Sans"/>
      <p:regular xmlns:r="http://schemas.openxmlformats.org/officeDocument/2006/relationships" r:id="Rf5e4d011217e4880"/>
    </p:embeddedFont>
    <p:embeddedFont>
      <p:font typeface="Calibri"/>
      <p:regular xmlns:r="http://schemas.openxmlformats.org/officeDocument/2006/relationships" r:id="R00af032944a74a69"/>
    </p:embeddedFont>
    <p:embeddedFont>
      <p:font typeface="Roboto Light"/>
      <p:regular xmlns:r="http://schemas.openxmlformats.org/officeDocument/2006/relationships" r:id="R00e04c0fc87949d5"/>
    </p:embeddedFont>
    <p:embeddedFont>
      <p:font typeface="Helvetica Neue Light"/>
      <p:regular xmlns:r="http://schemas.openxmlformats.org/officeDocument/2006/relationships" r:id="R1c70dd1dfa2d4e23"/>
    </p:embeddedFont>
    <p:embeddedFont>
      <p:font typeface="Google Sans Text"/>
      <p:regular xmlns:r="http://schemas.openxmlformats.org/officeDocument/2006/relationships" r:id="R0c2be233cc094e9c"/>
    </p:embeddedFont>
    <p:embeddedFont>
      <p:font typeface="Roboto Mono"/>
      <p:regular xmlns:r="http://schemas.openxmlformats.org/officeDocument/2006/relationships" r:id="R3f3b6dc10a684ffc"/>
      <p:bold xmlns:r="http://schemas.openxmlformats.org/officeDocument/2006/relationships" r:id="R7ac38b02670147e2"/>
      <p:italic xmlns:r="http://schemas.openxmlformats.org/officeDocument/2006/relationships" r:id="Rc31ac1c0ed444e76"/>
      <p:boldItalic xmlns:r="http://schemas.openxmlformats.org/officeDocument/2006/relationships" r:id="R09c81524dd124e9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b468f08d3f34dd8" /><Relationship Type="http://schemas.openxmlformats.org/officeDocument/2006/relationships/slideMaster" Target="/ppt/slideMasters/slideMaster1.xml" Id="R1c24e5b484e043e1" /><Relationship Type="http://schemas.openxmlformats.org/officeDocument/2006/relationships/notesMaster" Target="/ppt/notesMasters/notesMaster1.xml" Id="Re89a6fa5126b4960" /><Relationship Type="http://schemas.openxmlformats.org/officeDocument/2006/relationships/presProps" Target="/ppt/presProps.xml" Id="R46ca2c02b1b54daa" /><Relationship Type="http://schemas.openxmlformats.org/officeDocument/2006/relationships/viewProps" Target="/ppt/viewProps.xml" Id="R79fb09c29ced466e" /><Relationship Type="http://schemas.openxmlformats.org/officeDocument/2006/relationships/tableStyles" Target="/ppt/tableStyles.xml" Id="R68b8a67f3fc44588" /><Relationship Type="http://schemas.openxmlformats.org/officeDocument/2006/relationships/font" Target="/ppt/fonts/font.dat" Id="R4ed662b7e57d480a" /><Relationship Type="http://schemas.openxmlformats.org/officeDocument/2006/relationships/font" Target="/ppt/fonts/font2.dat" Id="Rca21d98164484e67" /><Relationship Type="http://schemas.openxmlformats.org/officeDocument/2006/relationships/font" Target="/ppt/fonts/font3.dat" Id="Rf5e4d011217e4880" /><Relationship Type="http://schemas.openxmlformats.org/officeDocument/2006/relationships/font" Target="/ppt/fonts/font4.dat" Id="R00af032944a74a69" /><Relationship Type="http://schemas.openxmlformats.org/officeDocument/2006/relationships/font" Target="/ppt/fonts/font5.dat" Id="R00e04c0fc87949d5" /><Relationship Type="http://schemas.openxmlformats.org/officeDocument/2006/relationships/font" Target="/ppt/fonts/font6.dat" Id="R1c70dd1dfa2d4e23" /><Relationship Type="http://schemas.openxmlformats.org/officeDocument/2006/relationships/font" Target="/ppt/fonts/font7.dat" Id="R0c2be233cc094e9c" /><Relationship Type="http://schemas.openxmlformats.org/officeDocument/2006/relationships/font" Target="/ppt/fonts/font8.dat" Id="R3f3b6dc10a684ffc" /><Relationship Type="http://schemas.openxmlformats.org/officeDocument/2006/relationships/font" Target="/ppt/fonts/font9.dat" Id="R7ac38b02670147e2" /><Relationship Type="http://schemas.openxmlformats.org/officeDocument/2006/relationships/font" Target="/ppt/fonts/font10.dat" Id="Rc31ac1c0ed444e76" /><Relationship Type="http://schemas.openxmlformats.org/officeDocument/2006/relationships/font" Target="/ppt/fonts/font11.dat" Id="R09c81524dd124e96" /><Relationship Type="http://schemas.openxmlformats.org/officeDocument/2006/relationships/slide" Target="/ppt/slides/slide1.xml" Id="Rddd2e74269c14a06" /><Relationship Type="http://schemas.openxmlformats.org/officeDocument/2006/relationships/slide" Target="/ppt/slides/slide2.xml" Id="Ra923b3f5fe394858" /><Relationship Type="http://schemas.openxmlformats.org/officeDocument/2006/relationships/slide" Target="/ppt/slides/slide3.xml" Id="R3e3064abb9884e03" /><Relationship Type="http://schemas.openxmlformats.org/officeDocument/2006/relationships/slide" Target="/ppt/slides/slide4.xml" Id="Rac3c637814024872" /><Relationship Type="http://schemas.openxmlformats.org/officeDocument/2006/relationships/slide" Target="/ppt/slides/slide5.xml" Id="R424880d5d26348a7" /><Relationship Type="http://schemas.openxmlformats.org/officeDocument/2006/relationships/slide" Target="/ppt/slides/slide6.xml" Id="R729040ef426b4f2a" /><Relationship Type="http://schemas.openxmlformats.org/officeDocument/2006/relationships/slide" Target="/ppt/slides/slide7.xml" Id="Rf84120d3b6bf4669" /><Relationship Type="http://schemas.openxmlformats.org/officeDocument/2006/relationships/slide" Target="/ppt/slides/slide8.xml" Id="R07b062769bd3414e" /><Relationship Type="http://schemas.openxmlformats.org/officeDocument/2006/relationships/slide" Target="/ppt/slides/slide9.xml" Id="R0e9ac1a402fb494d" /><Relationship Type="http://schemas.openxmlformats.org/officeDocument/2006/relationships/slide" Target="/ppt/slides/slide10.xml" Id="R0230b5ede20742dd" /><Relationship Type="http://schemas.openxmlformats.org/officeDocument/2006/relationships/slide" Target="/ppt/slides/slide11.xml" Id="R4741e18946ba4c77" /><Relationship Type="http://schemas.openxmlformats.org/officeDocument/2006/relationships/slide" Target="/ppt/slides/slide12.xml" Id="Rb1fe3252000e4763" /><Relationship Type="http://schemas.openxmlformats.org/officeDocument/2006/relationships/slide" Target="/ppt/slides/slide13.xml" Id="R2e27460e12534625" /><Relationship Type="http://schemas.openxmlformats.org/officeDocument/2006/relationships/slide" Target="/ppt/slides/slide14.xml" Id="Rd818f587e3f74714" /><Relationship Type="http://schemas.openxmlformats.org/officeDocument/2006/relationships/slide" Target="/ppt/slides/slide15.xml" Id="R0c8c3f7ed2a648a5" /><Relationship Type="http://schemas.openxmlformats.org/officeDocument/2006/relationships/slide" Target="/ppt/slides/slide16.xml" Id="Ra1019e0cde034dfa" /><Relationship Type="http://schemas.openxmlformats.org/officeDocument/2006/relationships/slide" Target="/ppt/slides/slide17.xml" Id="R340c39f5028341fa" /><Relationship Type="http://schemas.openxmlformats.org/officeDocument/2006/relationships/slide" Target="/ppt/slides/slide18.xml" Id="R0eb95e75dc1843f4" /><Relationship Type="http://schemas.openxmlformats.org/officeDocument/2006/relationships/slide" Target="/ppt/slides/slide19.xml" Id="Rc703f48d106647a2" /><Relationship Type="http://schemas.openxmlformats.org/officeDocument/2006/relationships/slide" Target="/ppt/slides/slide20.xml" Id="R269361e2c5ac408c" /><Relationship Type="http://schemas.openxmlformats.org/officeDocument/2006/relationships/slide" Target="/ppt/slides/slide21.xml" Id="R2fa4a5a0c01c410e" /><Relationship Type="http://schemas.openxmlformats.org/officeDocument/2006/relationships/slide" Target="/ppt/slides/slide22.xml" Id="R1de303b583a9421c" /><Relationship Type="http://schemas.openxmlformats.org/officeDocument/2006/relationships/slide" Target="/ppt/slides/slide23.xml" Id="R12afc3c4be844ed0" /><Relationship Type="http://schemas.openxmlformats.org/officeDocument/2006/relationships/slide" Target="/ppt/slides/slide24.xml" Id="Rf9b58b6b54724cb4" /><Relationship Type="http://schemas.openxmlformats.org/officeDocument/2006/relationships/slide" Target="/ppt/slides/slide25.xml" Id="Rd9d5d2de24ea4537" /><Relationship Type="http://schemas.openxmlformats.org/officeDocument/2006/relationships/slide" Target="/ppt/slides/slide26.xml" Id="R9a7fa5dafabf488f" /><Relationship Type="http://schemas.openxmlformats.org/officeDocument/2006/relationships/slide" Target="/ppt/slides/slide27.xml" Id="R69ff4ee707284c4b" /><Relationship Type="http://schemas.openxmlformats.org/officeDocument/2006/relationships/slide" Target="/ppt/slides/slide28.xml" Id="R3167f8716b8f432d" /><Relationship Type="http://schemas.openxmlformats.org/officeDocument/2006/relationships/slide" Target="/ppt/slides/slide29.xml" Id="R5fb7083e81314f92" /><Relationship Type="http://schemas.openxmlformats.org/officeDocument/2006/relationships/slide" Target="/ppt/slides/slide30.xml" Id="R99b985b5df7b4a07" /><Relationship Type="http://schemas.openxmlformats.org/officeDocument/2006/relationships/slide" Target="/ppt/slides/slide31.xml" Id="Rc3bf9bea76994645" /><Relationship Type="http://schemas.openxmlformats.org/officeDocument/2006/relationships/slide" Target="/ppt/slides/slide32.xml" Id="R2897f240a2614e5d" /><Relationship Type="http://schemas.openxmlformats.org/officeDocument/2006/relationships/slide" Target="/ppt/slides/slide33.xml" Id="R62ed0f4a80fc427f" /><Relationship Type="http://schemas.openxmlformats.org/officeDocument/2006/relationships/slide" Target="/ppt/slides/slide34.xml" Id="R3792cc1ac390442c" /><Relationship Type="http://schemas.openxmlformats.org/officeDocument/2006/relationships/slide" Target="/ppt/slides/slide35.xml" Id="Rbbc0504125b44778" /><Relationship Type="http://schemas.openxmlformats.org/officeDocument/2006/relationships/slide" Target="/ppt/slides/slide36.xml" Id="Rbbdf29310d26417b" /><Relationship Type="http://schemas.openxmlformats.org/officeDocument/2006/relationships/slide" Target="/ppt/slides/slide37.xml" Id="Rddf431d528aa43ec" /><Relationship Type="http://schemas.openxmlformats.org/officeDocument/2006/relationships/slide" Target="/ppt/slides/slide38.xml" Id="R865f8e223ad04a8b" /><Relationship Type="http://schemas.openxmlformats.org/officeDocument/2006/relationships/slide" Target="/ppt/slides/slide39.xml" Id="Raf58682aa9314f06" /><Relationship Type="http://schemas.openxmlformats.org/officeDocument/2006/relationships/slide" Target="/ppt/slides/slide40.xml" Id="Rdcbc030a77be40c7" /><Relationship Type="http://schemas.openxmlformats.org/officeDocument/2006/relationships/slide" Target="/ppt/slides/slide41.xml" Id="Rf2c06dcd26a04668" /><Relationship Type="http://schemas.openxmlformats.org/officeDocument/2006/relationships/slide" Target="/ppt/slides/slide42.xml" Id="Rf250eef8f3324858" /><Relationship Type="http://schemas.openxmlformats.org/officeDocument/2006/relationships/slide" Target="/ppt/slides/slide43.xml" Id="Rd757a79e7d064a46" /><Relationship Type="http://schemas.openxmlformats.org/officeDocument/2006/relationships/slide" Target="/ppt/slides/slide44.xml" Id="R78f21520d8824099" /><Relationship Type="http://schemas.openxmlformats.org/officeDocument/2006/relationships/slide" Target="/ppt/slides/slide45.xml" Id="R716a0dfbf1a1496b" /><Relationship Type="http://schemas.openxmlformats.org/officeDocument/2006/relationships/slide" Target="/ppt/slides/slide46.xml" Id="R9cb97a0b84d146b7" /><Relationship Type="http://schemas.openxmlformats.org/officeDocument/2006/relationships/slide" Target="/ppt/slides/slide47.xml" Id="Rbf15d40731ed4aaf" /><Relationship Type="http://schemas.openxmlformats.org/officeDocument/2006/relationships/slide" Target="/ppt/slides/slide48.xml" Id="Rc884ceebcb4841b0" /><Relationship Type="http://schemas.openxmlformats.org/officeDocument/2006/relationships/slide" Target="/ppt/slides/slide49.xml" Id="R814c3686a149442b" /><Relationship Type="http://schemas.openxmlformats.org/officeDocument/2006/relationships/slide" Target="/ppt/slides/slide50.xml" Id="R39a7a37bc0414b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7782b8f8e24c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GCP Template">
  <a:themeElements>
    <a:clrScheme name="GCP template">
      <a:dk1>
        <a:srgbClr val="000000"/>
      </a:dk1>
      <a:lt1>
        <a:srgbClr val="FFFFFF"/>
      </a:lt1>
      <a:dk2>
        <a:srgbClr val="080808"/>
      </a:dk2>
      <a:lt2>
        <a:srgbClr val="F8F8F8"/>
      </a:lt2>
      <a:accent1>
        <a:srgbClr val="4285F4"/>
      </a:accent1>
      <a:accent2>
        <a:srgbClr val="D02D2A"/>
      </a:accent2>
      <a:accent3>
        <a:srgbClr val="F0A608"/>
      </a:accent3>
      <a:accent4>
        <a:srgbClr val="0F9D58"/>
      </a:accent4>
      <a:accent5>
        <a:srgbClr val="254A89"/>
      </a:accent5>
      <a:accent6>
        <a:srgbClr val="D34836"/>
      </a:accent6>
      <a:hlink>
        <a:srgbClr val="4285F4"/>
      </a:hlink>
      <a:folHlink>
        <a:srgbClr val="254A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P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632a56b02a4a06" /><Relationship Type="http://schemas.openxmlformats.org/officeDocument/2006/relationships/notesMaster" Target="/ppt/notesMasters/notesMaster1.xml" Id="R6749a1894f304a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42abff5ad24b47" /><Relationship Type="http://schemas.openxmlformats.org/officeDocument/2006/relationships/notesMaster" Target="/ppt/notesMasters/notesMaster1.xml" Id="Rd426e4f4376b41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34e0a8505f4358" /><Relationship Type="http://schemas.openxmlformats.org/officeDocument/2006/relationships/notesMaster" Target="/ppt/notesMasters/notesMaster1.xml" Id="Rb413201359654e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752f5e09d94494" /><Relationship Type="http://schemas.openxmlformats.org/officeDocument/2006/relationships/notesMaster" Target="/ppt/notesMasters/notesMaster1.xml" Id="R07e90e29c1b246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5bf9f31d424554" /><Relationship Type="http://schemas.openxmlformats.org/officeDocument/2006/relationships/notesMaster" Target="/ppt/notesMasters/notesMaster1.xml" Id="Rb21650b74fb84a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b90fcf252d4b9f" /><Relationship Type="http://schemas.openxmlformats.org/officeDocument/2006/relationships/notesMaster" Target="/ppt/notesMasters/notesMaster1.xml" Id="Rb06a3451e13a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badfdfd73a454b" /><Relationship Type="http://schemas.openxmlformats.org/officeDocument/2006/relationships/notesMaster" Target="/ppt/notesMasters/notesMaster1.xml" Id="R4a04ec90408e4d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01bada632b480c" /><Relationship Type="http://schemas.openxmlformats.org/officeDocument/2006/relationships/notesMaster" Target="/ppt/notesMasters/notesMaster1.xml" Id="R25ab351355084b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be1e060cfd46c4" /><Relationship Type="http://schemas.openxmlformats.org/officeDocument/2006/relationships/notesMaster" Target="/ppt/notesMasters/notesMaster1.xml" Id="Rd12f4a26d29445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b7d46a897b4c42" /><Relationship Type="http://schemas.openxmlformats.org/officeDocument/2006/relationships/notesMaster" Target="/ppt/notesMasters/notesMaster1.xml" Id="Rfc9b08bb8cdb482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e7721af3524f5c" /><Relationship Type="http://schemas.openxmlformats.org/officeDocument/2006/relationships/notesMaster" Target="/ppt/notesMasters/notesMaster1.xml" Id="Re2529d29964445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0de7da09684491" /><Relationship Type="http://schemas.openxmlformats.org/officeDocument/2006/relationships/notesMaster" Target="/ppt/notesMasters/notesMaster1.xml" Id="R17369ad9289745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850664b6c5408d" /><Relationship Type="http://schemas.openxmlformats.org/officeDocument/2006/relationships/notesMaster" Target="/ppt/notesMasters/notesMaster1.xml" Id="Rb736fbb9f63b47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7f9b4729cc4d4f" /><Relationship Type="http://schemas.openxmlformats.org/officeDocument/2006/relationships/notesMaster" Target="/ppt/notesMasters/notesMaster1.xml" Id="R4845a83b0bf04b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292526eb3a4469" /><Relationship Type="http://schemas.openxmlformats.org/officeDocument/2006/relationships/notesMaster" Target="/ppt/notesMasters/notesMaster1.xml" Id="R0340c6bef1ef4de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8da94aba82e4488" /><Relationship Type="http://schemas.openxmlformats.org/officeDocument/2006/relationships/notesMaster" Target="/ppt/notesMasters/notesMaster1.xml" Id="R69d6f5563b6d44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22b2dc9c054396" /><Relationship Type="http://schemas.openxmlformats.org/officeDocument/2006/relationships/notesMaster" Target="/ppt/notesMasters/notesMaster1.xml" Id="Rbba61dff4a1449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96b2f6b70c4817" /><Relationship Type="http://schemas.openxmlformats.org/officeDocument/2006/relationships/notesMaster" Target="/ppt/notesMasters/notesMaster1.xml" Id="R2e1526f0e740495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f8b0ddd59a4d1f" /><Relationship Type="http://schemas.openxmlformats.org/officeDocument/2006/relationships/notesMaster" Target="/ppt/notesMasters/notesMaster1.xml" Id="R110222a12f9e41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04ac23d67844480" /><Relationship Type="http://schemas.openxmlformats.org/officeDocument/2006/relationships/notesMaster" Target="/ppt/notesMasters/notesMaster1.xml" Id="R405ba867de424b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1b649f11c844421" /><Relationship Type="http://schemas.openxmlformats.org/officeDocument/2006/relationships/notesMaster" Target="/ppt/notesMasters/notesMaster1.xml" Id="R87ceb67ee8ae473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657854203c4e6a" /><Relationship Type="http://schemas.openxmlformats.org/officeDocument/2006/relationships/notesMaster" Target="/ppt/notesMasters/notesMaster1.xml" Id="R419781c8b21e495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54c0f02225d4b8d" /><Relationship Type="http://schemas.openxmlformats.org/officeDocument/2006/relationships/notesMaster" Target="/ppt/notesMasters/notesMaster1.xml" Id="R22603f2a869b47e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32eae633fb4fb3" /><Relationship Type="http://schemas.openxmlformats.org/officeDocument/2006/relationships/notesMaster" Target="/ppt/notesMasters/notesMaster1.xml" Id="Rd85c9ebafa164c0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07d91211c44833" /><Relationship Type="http://schemas.openxmlformats.org/officeDocument/2006/relationships/notesMaster" Target="/ppt/notesMasters/notesMaster1.xml" Id="R32e72669e86d404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f5858989e9443d4" /><Relationship Type="http://schemas.openxmlformats.org/officeDocument/2006/relationships/notesMaster" Target="/ppt/notesMasters/notesMaster1.xml" Id="R50cef07831b645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94aab0f727a4a79" /><Relationship Type="http://schemas.openxmlformats.org/officeDocument/2006/relationships/notesMaster" Target="/ppt/notesMasters/notesMaster1.xml" Id="R487556aec448438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6b49bef0837446f" /><Relationship Type="http://schemas.openxmlformats.org/officeDocument/2006/relationships/notesMaster" Target="/ppt/notesMasters/notesMaster1.xml" Id="R6d9ef39e28b546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69ad9156aa451b" /><Relationship Type="http://schemas.openxmlformats.org/officeDocument/2006/relationships/notesMaster" Target="/ppt/notesMasters/notesMaster1.xml" Id="Rda00b383474942b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adb7393e77f4290" /><Relationship Type="http://schemas.openxmlformats.org/officeDocument/2006/relationships/notesMaster" Target="/ppt/notesMasters/notesMaster1.xml" Id="R22589a8ede1c443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183e249be03406d" /><Relationship Type="http://schemas.openxmlformats.org/officeDocument/2006/relationships/notesMaster" Target="/ppt/notesMasters/notesMaster1.xml" Id="R178635c4fcab4c6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f6120e0cdc4ed0" /><Relationship Type="http://schemas.openxmlformats.org/officeDocument/2006/relationships/notesMaster" Target="/ppt/notesMasters/notesMaster1.xml" Id="R4e8822e36cfd493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7408e1d53df493d" /><Relationship Type="http://schemas.openxmlformats.org/officeDocument/2006/relationships/notesMaster" Target="/ppt/notesMasters/notesMaster1.xml" Id="R9df5e4f211e24e8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527360c57a4c5c" /><Relationship Type="http://schemas.openxmlformats.org/officeDocument/2006/relationships/notesMaster" Target="/ppt/notesMasters/notesMaster1.xml" Id="R0a6db51f1bd2407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e15a5aed1c7461e" /><Relationship Type="http://schemas.openxmlformats.org/officeDocument/2006/relationships/notesMaster" Target="/ppt/notesMasters/notesMaster1.xml" Id="R0758fc5234324f6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8b802d046f64c3d" /><Relationship Type="http://schemas.openxmlformats.org/officeDocument/2006/relationships/notesMaster" Target="/ppt/notesMasters/notesMaster1.xml" Id="Rab08985a14cf47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f1ebcd947774289" /><Relationship Type="http://schemas.openxmlformats.org/officeDocument/2006/relationships/notesMaster" Target="/ppt/notesMasters/notesMaster1.xml" Id="Rdf81bd5db0e5453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80da799a087401c" /><Relationship Type="http://schemas.openxmlformats.org/officeDocument/2006/relationships/notesMaster" Target="/ppt/notesMasters/notesMaster1.xml" Id="R22834329c7a8470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c66ca29dc584669" /><Relationship Type="http://schemas.openxmlformats.org/officeDocument/2006/relationships/notesMaster" Target="/ppt/notesMasters/notesMaster1.xml" Id="R2566f22ac26f41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77f92c80c154d63" /><Relationship Type="http://schemas.openxmlformats.org/officeDocument/2006/relationships/notesMaster" Target="/ppt/notesMasters/notesMaster1.xml" Id="R325a6aca37e241f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a6b0f7284d0420a" /><Relationship Type="http://schemas.openxmlformats.org/officeDocument/2006/relationships/notesMaster" Target="/ppt/notesMasters/notesMaster1.xml" Id="R7a01cf2ea2224a3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4fbe49906914717" /><Relationship Type="http://schemas.openxmlformats.org/officeDocument/2006/relationships/notesMaster" Target="/ppt/notesMasters/notesMaster1.xml" Id="Rae19ea8f4ad846c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803408ad847486f" /><Relationship Type="http://schemas.openxmlformats.org/officeDocument/2006/relationships/notesMaster" Target="/ppt/notesMasters/notesMaster1.xml" Id="R40d77090fbf942b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a08bf3b73bd4dde" /><Relationship Type="http://schemas.openxmlformats.org/officeDocument/2006/relationships/notesMaster" Target="/ppt/notesMasters/notesMaster1.xml" Id="R9e85928ee70340c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ee72cee5d094773" /><Relationship Type="http://schemas.openxmlformats.org/officeDocument/2006/relationships/notesMaster" Target="/ppt/notesMasters/notesMaster1.xml" Id="R665bf277391c4e6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f0cc19ce1744a37" /><Relationship Type="http://schemas.openxmlformats.org/officeDocument/2006/relationships/notesMaster" Target="/ppt/notesMasters/notesMaster1.xml" Id="R2b7a1d09624d48b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9631f3e9cf4321" /><Relationship Type="http://schemas.openxmlformats.org/officeDocument/2006/relationships/notesMaster" Target="/ppt/notesMasters/notesMaster1.xml" Id="R84ff2e4fdbf44dd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867bec71c4446e4" /><Relationship Type="http://schemas.openxmlformats.org/officeDocument/2006/relationships/notesMaster" Target="/ppt/notesMasters/notesMaster1.xml" Id="Rdb71cbec92c54a7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c2e96582278448b" /><Relationship Type="http://schemas.openxmlformats.org/officeDocument/2006/relationships/notesMaster" Target="/ppt/notesMasters/notesMaster1.xml" Id="Ra40c3ba4df70459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158a1f99144513" /><Relationship Type="http://schemas.openxmlformats.org/officeDocument/2006/relationships/notesMaster" Target="/ppt/notesMasters/notesMaster1.xml" Id="R4bfe9a6435674a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Module 2 and set the scope.</a:t>
            </a:r>
          </a:p>
          <a:p xmlns:a="http://schemas.openxmlformats.org/drawingml/2006/main">
            <a:r>
              <a:t>Discuss: This module explains what LLMs are, how they process language, where they are useful, how prompts influence output, and which Google tools support development.</a:t>
            </a:r>
          </a:p>
          <a:p xmlns:a="http://schemas.openxmlformats.org/drawingml/2006/main">
            <a:r>
              <a:t>Trainer guidance: Ask learners for one LLM-powered experience they have already encountered; do not assume they know the underlying terms.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Module scope: This module focuses on Large Language Models (LLMs): what they are, how they process text, where they are useful, how prompting and prompt tuning differ, and which Google tools support development.
Term - Large Language Model: A neural network trained on very large collections of language data so that it can estimate likely token sequences. An LLM does not store a perfect copy of everything it encountered; it learns numerical parameters that capture patterns.
Real-world examples: conversational assistants, document summarizers, translation systems, coding assistants, and systems that extract information from text.
Key takeaway: The module moves from definition to internal mechanism, then to applications, prompting, evaluation, and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State measurable learning outcomes.</a:t>
            </a:r>
          </a:p>
          <a:p xmlns:a="http://schemas.openxmlformats.org/drawingml/2006/main">
            <a:r>
              <a:t>Discuss: The sequence moves from definition to mechanism, then applications, prompting, and Google development tools.</a:t>
            </a:r>
          </a:p>
          <a:p xmlns:a="http://schemas.openxmlformats.org/drawingml/2006/main">
            <a:r>
              <a:t>Trainer guidance: Read each objective and connect it to the five sections on the next slide.</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https://cloud.google.com/vertex-ai/generative-ai/docs/learn/prompts/introduction-prompt-design</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Objective 1 - Define an LLM: Explain that it predicts tokens from context and learned parameters.
Objective 2 - Trace the data flow: Follow text through tokenization, embeddings, Transformer layers, next-token probabilities, and repeated generation.
Objective 3 - Match use cases: Decide whether an LLM is appropriate for summarization, translation, coding, conversation, extraction, or another language task, and identify how success would be measured.
Objective 4 - Use prompting concepts: Distinguish prompt design, prompt engineering, prompt tuning, and fine-tuning.
Objective 5 - Recognize Google tools: Know the roles of Vertex AI, Studio tools, Model Garden, Gemini APIs/SDKs, and Google Skills labs.
Study tip: Use these objectives as a checklist after completing the module.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Preview the learning progression.</a:t>
            </a:r>
          </a:p>
          <a:p xmlns:a="http://schemas.openxmlformats.org/drawingml/2006/main">
            <a:r>
              <a:t>Discuss: The order is deliberate: vocabulary first, mechanism second, application third, then customization and tools.</a:t>
            </a:r>
          </a:p>
          <a:p xmlns:a="http://schemas.openxmlformats.org/drawingml/2006/main">
            <a:r>
              <a:t>Trainer guidance: Walk left to right and explain that later sections depend on the earlier vocabulary.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https://cloud.google.com/vertex-ai/generative-ai/docs/learn/prompts/introduction-prompt-design</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Diagram walkthrough: The numbered circles represent the learning sequence. Topic 1 defines the model. Topic 2 opens the model and follows data through it. Topic 3 connects capability to use cases. Topic 4 explains how instructions and tuning change behaviour. Topic 5 introduces the development ecosystem.
Why the order matters: Prompting is easier to understand after learners know that an LLM predicts tokens. Tool selection is easier after learners know the task and evaluation method.
Key takeaway: The module is a cumulative explanation rather than five unrelated topics.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Begin the foundations section.</a:t>
            </a:r>
          </a:p>
          <a:p xmlns:a="http://schemas.openxmlformats.org/drawingml/2006/main">
            <a:r>
              <a:t>Discuss: Learners first need a plain-language mental model of what an LLM is and is not.</a:t>
            </a:r>
          </a:p>
          <a:p xmlns:a="http://schemas.openxmlformats.org/drawingml/2006/main">
            <a:r>
              <a:t>Trainer guidance: Use the section divider as a pause and invite a one-sentence definition from the class.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Section purpose: Establish the basic meaning of an LLM before discussing architecture.
Terms to remember: language model, token, context, parameter, probability, training, and inference.
Starter example: In the unfinished sentence “The library is open until ___,” a language model ranks possible continuations such as “eight,” “midnight,” or “Monday.” A large model uses more learned parameters and broader context than a simple earlier language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Define LLMs in beginner-friendly language.</a:t>
            </a:r>
          </a:p>
          <a:p xmlns:a="http://schemas.openxmlformats.org/drawingml/2006/main">
            <a:r>
              <a:t>Discuss: An LLM maps a prompt to probabilities for the next token. Repeating this step produces longer output. Scale can improve capability but does not guarantee accuracy.</a:t>
            </a:r>
          </a:p>
          <a:p xmlns:a="http://schemas.openxmlformats.org/drawingml/2006/main">
            <a:r>
              <a:t>Trainer guidance: Read the example aloud and stress that the percentages are illustrative, not a real model measurement.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Term - Language model: A model that estimates the probability of a token or sequence of tokens occurring in a context.
Term - Token: A unit processed by the model. It may be a whole word, part of a word, punctuation, whitespace, or another symbol.
Term - Parameter: A learned numerical value inside the neural network. Training adjusts parameters; inference uses them.
Diagram walkthrough: The prompt “The library is open until ___” enters the LLM. The model produces a probability distribution over possible next tokens. The displayed percentages are illustrative: they show ranking, not a database lookup.
Real-world example: Autocomplete in an email application predicts likely continuations. An LLM extends this idea across much longer context and more varied tasks.
Important limitation: A highly probable continuation can still be factually wrong. Probability measures linguistic likelihood under the model, not guaranteed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Differentiate an LLM from narrow NLP systems.</a:t>
            </a:r>
          </a:p>
          <a:p xmlns:a="http://schemas.openxmlformats.org/drawingml/2006/main">
            <a:r>
              <a:t>Discuss: Traditional systems can be excellent for one defined task. LLMs are flexible across tasks, but their output is probabilistic and requires evaluation.</a:t>
            </a:r>
          </a:p>
          <a:p xmlns:a="http://schemas.openxmlformats.org/drawingml/2006/main">
            <a:r>
              <a:t>Trainer guidance: Use the spam-classifier row to show that “older” does not mean “useless.” Match the tool to the task.</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Traditional task-specific NLP model: A model trained for one narrow job, such as classifying an email as spam or not spam. Its input and output format are usually fixed.
Large language model: A broader model that can perform many language tasks when the task is described in a prompt. It may later be adapted or connected to tools.
Table walkthrough: Compare the columns row by row. Traditional systems usually need labelled task-specific data and code changes when the task changes. LLM applications can often change behaviour by changing the prompt, examples, retrieved evidence, or adaptation method.
Example: A spam classifier returns a category. An LLM can explain why an email looks suspicious, summarize it, translate it, or draft a safe reply. These abilities do not mean the LLM is automatically more reliable for classification; evaluation is still required.
Key takeaway: Broad flexibility is the advantage of an LLM, while predictability and narrow optimization can favour a specialized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Place LLMs in a short historical sequence.</a:t>
            </a:r>
          </a:p>
          <a:p xmlns:a="http://schemas.openxmlformats.org/drawingml/2006/main">
            <a:r>
              <a:t>Discuss: Each stage addressed limitations of the previous approach. Transformers are the architectural turning point for modern generative LLMs.</a:t>
            </a:r>
          </a:p>
          <a:p xmlns:a="http://schemas.openxmlformats.org/drawingml/2006/main">
            <a:r>
              <a:t>Trainer guidance: Move left to right. Keep the history conceptual; students do not need equations yet.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https://developers.google.com/machine-learning/crash-course/llm/transformers</a:t>
            </a:r>
          </a:p>
          <a:p xmlns:a="http://schemas.openxmlformats.org/drawingml/2006/main">
            <a:r>
              <a:t>- https://arxiv.org/abs/1706.03762</a:t>
            </a:r>
          </a:p>
          <a:p xmlns:a="http://schemas.openxmlformats.org/drawingml/2006/main">
            <a:r>
              <a:t>[/Sources]</a:t>
            </a:r>
          </a:p>
          <a:p xmlns:a="http://schemas.openxmlformats.org/drawingml/2006/main">
            <a:r>
              <a:t>
STUDENT REFERENCE NOTES
Diagram walkthrough: The timeline shows major approaches for modelling language context. It is a conceptual evolution, not a claim that older methods disappeared.
N-gram: A sequence of N consecutive tokens. A bigram contains two tokens; a trigram contains three. An N-gram model predicts from counts of short token sequences. Example: after “machine,” it may rank “learning” highly because “machine learning” appeared frequently. Limitation: it remembers only a fixed short window.
RNN - Recurrent Neural Network: Processes a sequence one step at a time and carries a hidden state, like a small running memory. Earlier uses included speech recognition, sequence classification, and text generation. Limitation: distant information can fade during training.
LSTM - Long Short-Term Memory: A gated form of RNN. Input, forget, and output gates control what information is stored, removed, or exposed. LSTMs improved speech, handwriting, sentiment, and time-series systems, but still process steps sequentially.
Transformer: Uses attention to relate tokens more directly and supports greater parallelism during training. Modern text-generating LLMs are commonly decoder-only Transformers.
Pretrained model: A model first trained on a broad prediction objective and later reused or adapted. Foundation model: A large pretrained model that supports many downstream tasks and modalities.
Simple analogy: N-gram = remember the last few words; RNN = carry a running note; LSTM = carry a gated notebook; Transformer = compare relevant items across the available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Begin the mechanism section.</a:t>
            </a:r>
          </a:p>
          <a:p xmlns:a="http://schemas.openxmlformats.org/drawingml/2006/main">
            <a:r>
              <a:t>Discuss: This section follows one input from text to tokens, vectors, model layers, and generated output.</a:t>
            </a:r>
          </a:p>
          <a:p xmlns:a="http://schemas.openxmlformats.org/drawingml/2006/main">
            <a:r>
              <a:t>Trainer guidance: Tell learners they only need the data flow and purpose of each component—not the mathematics.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https://developers.google.com/machine-learning/crash-course/llm/transformers</a:t>
            </a:r>
          </a:p>
          <a:p xmlns:a="http://schemas.openxmlformats.org/drawingml/2006/main">
            <a:r>
              <a:t>[/Sources]</a:t>
            </a:r>
          </a:p>
          <a:p xmlns:a="http://schemas.openxmlformats.org/drawingml/2006/main">
            <a:r>
              <a:t>
STUDENT REFERENCE NOTES
Section purpose: Follow a prompt through the internal stages of an LLM.
Learning sequence: text becomes tokens; tokens become vectors; position and attention create contextual representations; repeated Transformer layers produce scores; a token is selected and appended; the process repeats.
Reminder: The diagrams are simplified teaching models. Commercial systems contain additional optimizations, safety layers, serving infrastructure, and sometimes tool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tokenization and token IDs.</a:t>
            </a:r>
          </a:p>
          <a:p xmlns:a="http://schemas.openxmlformats.org/drawingml/2006/main">
            <a:r>
              <a:t>Discuss: Text is split into tokens and each token receives a numeric ID. Different tokenizers can split and number the same text differently.</a:t>
            </a:r>
          </a:p>
          <a:p xmlns:a="http://schemas.openxmlformats.org/drawingml/2006/main">
            <a:r>
              <a:t>Trainer guidance: Ask students how “CSG202!” might be split. Emphasize that IDs are arbitrary identifiers.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Term - Tokenization: The process of splitting input into model-readable units and assigning token IDs.
Term - Token ID: A catalog number used by a particular tokenizer. The number itself has no semantic meaning. A different tokenizer may split or number the same text differently.
Diagram walkthrough: “unbelievable answers” is split into example subword pieces. Each piece maps to an ID. Subwords allow the tokenizer to represent unfamiliar or rare words using reusable parts.
Example: “CSG202!” might become tokens for “CS,” “G,” “202,” and “!” or a different grouping. The exact split depends on the tokenizer.
Why tokenization matters: Context limits, usage measurement, latency, and output limits are commonly expressed in tokens rather than words.
Common misconception: A token is not always one word, and one character is not always one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Build an intuitive understanding of embeddings.</a:t>
            </a:r>
          </a:p>
          <a:p xmlns:a="http://schemas.openxmlformats.org/drawingml/2006/main">
            <a:r>
              <a:t>Discuss: Embeddings convert discrete token IDs into vectors. Nearby points in this simplified picture represent related usage patterns, not fixed dictionary definitions.</a:t>
            </a:r>
          </a:p>
          <a:p xmlns:a="http://schemas.openxmlformats.org/drawingml/2006/main">
            <a:r>
              <a:t>Trainer guidance: State clearly that the axes are imaginary and the real vector has many dimensions.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https://developers.google.com/machine-learning/crash-course/llm/transformers</a:t>
            </a:r>
          </a:p>
          <a:p xmlns:a="http://schemas.openxmlformats.org/drawingml/2006/main">
            <a:r>
              <a:t>[/Sources]</a:t>
            </a:r>
          </a:p>
          <a:p xmlns:a="http://schemas.openxmlformats.org/drawingml/2006/main">
            <a:r>
              <a:t>
STUDENT REFERENCE NOTES
Term - Embedding: A vector, or list of numbers, that represents a token or other input in a learned numerical space.
Diagram walkthrough: Animal-related points are shown near one another and vehicle-related points form another group. This two-dimensional drawing is only an analogy; real embeddings use many dimensions and do not have labelled “animal” and “vehicle” axes.
Contextual embedding: Modern Transformer layers update token representations using surrounding context. Therefore, the word “bank” can receive different contextual representations in “river bank” and “bank account.”
Real-world uses: semantic search, document retrieval, recommendation, clustering, duplicate detection, and supplying relevant evidence to a generative model.
Important distinction: A token ID identifies an entry in a vocabulary; an embedding is the learned numerical representation used for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the Transformer data flow.</a:t>
            </a:r>
          </a:p>
          <a:p xmlns:a="http://schemas.openxmlformats.org/drawingml/2006/main">
            <a:r>
              <a:t>Discuss: Position information distinguishes order. Repeated Transformer blocks use attention and feed-forward computation to build contextual representations and next-token scores.</a:t>
            </a:r>
          </a:p>
          <a:p xmlns:a="http://schemas.openxmlformats.org/drawingml/2006/main">
            <a:r>
              <a:t>Trainer guidance: Trace left to right, then name the three repeated components without introducing equations.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https://developers.google.com/machine-learning/crash-course/llm/transformers</a:t>
            </a:r>
          </a:p>
          <a:p xmlns:a="http://schemas.openxmlformats.org/drawingml/2006/main">
            <a:r>
              <a:t>- https://arxiv.org/abs/1706.03762</a:t>
            </a:r>
          </a:p>
          <a:p xmlns:a="http://schemas.openxmlformats.org/drawingml/2006/main">
            <a:r>
              <a:t>[/Sources]</a:t>
            </a:r>
          </a:p>
          <a:p xmlns:a="http://schemas.openxmlformats.org/drawingml/2006/main">
            <a:r>
              <a:t>
STUDENT REFERENCE NOTES
Diagram walkthrough: Text is tokenized. Token embeddings provide learned meaning-like features. Position information provides order. Transformer blocks repeatedly combine context. The final representations are converted into next-token scores.
Term - Position information: Numerical information that helps the model distinguish order. “Dog bites person” and “person bites dog” contain similar tokens but express different events.
Term - Self-attention: A mechanism that lets each token representation combine information from other relevant tokens in the permitted context.
Term - Feed-forward network: A small neural network applied within each Transformer block to transform each token representation after attention mixes context.
Term - Residual connection: A path that carries earlier information around a sublayer and adds it back, helping deep networks train reliably.
Term - Normalization: A stabilizing operation applied to internal activations. Exact ordering can differ across Transformer implementations.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self-attention without mathematics.</a:t>
            </a:r>
          </a:p>
          <a:p xmlns:a="http://schemas.openxmlformats.org/drawingml/2006/main">
            <a:r>
              <a:t>Discuss: Attention lets each token combine information from other relevant tokens. Multiple heads can learn different relationships.</a:t>
            </a:r>
          </a:p>
          <a:p xmlns:a="http://schemas.openxmlformats.org/drawingml/2006/main">
            <a:r>
              <a:t>Trainer guidance: Point from “she” back to “student.” Explain that distance alone does not determine importance.</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https://developers.google.com/machine-learning/crash-course/llm/transformers</a:t>
            </a:r>
          </a:p>
          <a:p xmlns:a="http://schemas.openxmlformats.org/drawingml/2006/main">
            <a:r>
              <a:t>- https://arxiv.org/abs/1706.03762</a:t>
            </a:r>
          </a:p>
          <a:p xmlns:a="http://schemas.openxmlformats.org/drawingml/2006/main">
            <a:r>
              <a:t>[/Sources]</a:t>
            </a:r>
          </a:p>
          <a:p xmlns:a="http://schemas.openxmlformats.org/drawingml/2006/main">
            <a:r>
              <a:t>
STUDENT REFERENCE NOTES
Term - Attention weight: A learned, context-dependent value describing how strongly one token representation uses information from another token during a particular attention operation.
Diagram walkthrough: When updating the representation of “she,” the model can assign more attention to “student” than to unrelated words. The blue connection emphasizes that relationship.
Query, key, and value intuition: A token creates a query describing what information it needs. Other tokens provide keys used for matching and values containing information to combine. The model computes weighted combinations of values.
Multi-head attention: Several attention heads operate in parallel. Different heads can learn different relationships such as grammatical agreement, reference resolution, position, or topic.
Important caution: An attention visualization is not a complete human-readable explanation of the model’s decision. It shows one internal relationship, not the entire reasoning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Compare the main Transformer architecture families.</a:t>
            </a:r>
          </a:p>
          <a:p xmlns:a="http://schemas.openxmlformats.org/drawingml/2006/main">
            <a:r>
              <a:t>Discuss: Encoder-only models emphasize understanding, encoder-decoder models transform one sequence into another, and decoder-only models dominate conversational generation.</a:t>
            </a:r>
          </a:p>
          <a:p xmlns:a="http://schemas.openxmlformats.org/drawingml/2006/main">
            <a:r>
              <a:t>Trainer guidance: Use tasks—not model brand names—as the durable distinction.</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https://developers.google.com/machine-learning/crash-course/llm/transformers</a:t>
            </a:r>
          </a:p>
          <a:p xmlns:a="http://schemas.openxmlformats.org/drawingml/2006/main">
            <a:r>
              <a:t>[/Sources]</a:t>
            </a:r>
          </a:p>
          <a:p xmlns:a="http://schemas.openxmlformats.org/drawingml/2006/main">
            <a:r>
              <a:t>
STUDENT REFERENCE NOTES
Encoder-only Transformer: Reads the available input in both directions and produces contextual representations. Common task patterns include classification, extraction, and embedding generation. BERT-style models are a familiar example.
Encoder-decoder Transformer: The encoder represents the source sequence and the decoder generates a target sequence. Translation and summarization are classic examples. T5-style models follow this pattern.
Decoder-only Transformer: Predicts new tokens from earlier context. This architecture is widely used for chat, writing, and code generation. GPT-style models are a familiar pattern.
Diagram walkthrough: Read each column from architecture to behaviour, then to typical tasks and example family.
Caution: Product names do not always reveal every architectural detail. Use official model documentation and observed supported tasks rather than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Show a simplified decoder-only Transformer architecture.</a:t>
            </a:r>
          </a:p>
          <a:p xmlns:a="http://schemas.openxmlformats.org/drawingml/2006/main">
            <a:r>
              <a:t>Discuss: Prompt tokens become embeddings with position information. Each decoder layer applies masked self-attention, residual connections, normalization, and a feed-forward network. The final representation becomes scores over the vocabulary.</a:t>
            </a:r>
          </a:p>
          <a:p xmlns:a="http://schemas.openxmlformats.org/drawingml/2006/main">
            <a:r>
              <a:t>Trainer guidance: Trace the diagram from left to right. Explain that real models repeat the block many times and may vary in implementation; learners do not need the equations yet.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https://developers.google.com/machine-learning/crash-course/llm/transformers</a:t>
            </a:r>
          </a:p>
          <a:p xmlns:a="http://schemas.openxmlformats.org/drawingml/2006/main">
            <a:r>
              <a:t>- https://arxiv.org/abs/1706.03762</a:t>
            </a:r>
          </a:p>
          <a:p xmlns:a="http://schemas.openxmlformats.org/drawingml/2006/main">
            <a:r>
              <a:t>[/Sources]</a:t>
            </a:r>
          </a:p>
          <a:p xmlns:a="http://schemas.openxmlformats.org/drawingml/2006/main">
            <a:r>
              <a:t>
STUDENT REFERENCE NOTES
Diagram walkthrough - left: Prompt tokens become token embeddings and receive position information. Together these represent token identity, learned features, and order.
Diagram walkthrough - centre: A decoder block applies masked multi-head self-attention, a residual connection plus normalization, a feed-forward network, and another residual connection plus normalization. The block is repeated many times.
Masked attention: During next-token generation, a position may use earlier prompt and generated tokens but not future tokens that have not been generated. This prevents the model from seeing the answer in advance during autoregressive prediction.
Diagram walkthrough - right: Final contextual representations are projected into one score per vocabulary token. Softmax converts scores into a probability distribution. A decoding strategy selects a token, appends it, and repeats the process.
Term - Vocabulary: The tokenizer’s catalog of available tokens.
Term - Softmax: A mathematical function that converts a list of scores into non-negative probabilities that sum to one.
Architecture note: This is a simplified decoder-only block. Real systems can use pre-normalization, grouped-query attention, mixture-of-experts layers, caching, and other optimizations.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Trace a user prompt through decoder-only inference.</a:t>
            </a:r>
          </a:p>
          <a:p xmlns:a="http://schemas.openxmlformats.org/drawingml/2006/main">
            <a:r>
              <a:t>Discuss: The prompt is tokenized, embedded, processed through repeated decoder layers, converted into next-token probabilities, and extended one token at a time. Masked attention can use all earlier prompt and generated tokens.</a:t>
            </a:r>
          </a:p>
          <a:p xmlns:a="http://schemas.openxmlformats.org/drawingml/2006/main">
            <a:r>
              <a:t>Trainer guidance: Read the prompt first, then trace steps 1 to 5. Stress that the ranking is illustrative and that the whole sequence is processed again after each selected token.</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https://developers.google.com/machine-learning/crash-course/llm/transformers</a:t>
            </a:r>
          </a:p>
          <a:p xmlns:a="http://schemas.openxmlformats.org/drawingml/2006/main">
            <a:r>
              <a:t>- https://developers.google.com/machine-learning/crash-course/llm</a:t>
            </a:r>
          </a:p>
          <a:p xmlns:a="http://schemas.openxmlformats.org/drawingml/2006/main">
            <a:r>
              <a:t>- https://arxiv.org/abs/1706.03762</a:t>
            </a:r>
          </a:p>
          <a:p xmlns:a="http://schemas.openxmlformats.org/drawingml/2006/main">
            <a:r>
              <a:t>[/Sources]</a:t>
            </a:r>
          </a:p>
          <a:p xmlns:a="http://schemas.openxmlformats.org/drawingml/2006/main">
            <a:r>
              <a:t>
STUDENT REFERENCE NOTES
Diagram walkthrough: Step 1 tokenizes the user prompt. Step 2 creates embeddings and adds position information. Step 3 passes the representations through repeated decoder layers. Step 4 converts the final representation into ranked next-token probabilities. Step 5 selects and appends one token. The process repeats until a stopping condition is reached.
Attention example: When the output reaches the phrase “closes at,” attention can use earlier tokens such as “library,” “close,” and “8 PM.” The example ranking is illustrative; a real ranking depends on the exact model, tokenizer, prompt, controls, and generated prefix.
Term - Autoregressive generation: Producing an output sequentially, one token conditioned on earlier tokens at a time.
Term - Inference: Running a trained model on a prompt without performing the full training process.
Tool distinction: The model uses information present in its context. It searches a database or website only when the surrounding application supplies a retrieval or tool-calling mechanism.
Real-world example: A summarization application first places the document and instruction into the model context, then the model generates a summary token by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pretraining as a repeated learning loop.</a:t>
            </a:r>
          </a:p>
          <a:p xmlns:a="http://schemas.openxmlformats.org/drawingml/2006/main">
            <a:r>
              <a:t>Discuss: The model predicts, measures error, and adjusts parameters across many examples. The process needs large-scale compute and careful data preparation.</a:t>
            </a:r>
          </a:p>
          <a:p xmlns:a="http://schemas.openxmlformats.org/drawingml/2006/main">
            <a:r>
              <a:t>Trainer guidance: Separate the training loop from what happens later when a user sends a prompt.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Model-training steps:
1. Collect and prepare data: Gather text or code, filter poor-quality or unsafe material, remove unwanted duplicates, and divide data for training and evaluation.
2. Tokenize: Convert examples into token IDs.
3. Forward pass: The model receives tokens and predicts a target, such as a missing token or the next token.
4. Loss calculation: A loss function measures the difference between the predicted probability distribution and the expected target.
5. Backpropagation: The system computes how each parameter contributed to the loss by propagating gradients backward through the network.
6. Optimizer update: An optimizer makes small parameter changes intended to reduce future loss.
7. Repeat: The cycle runs over many batches and training steps using substantial compute.
8. Validate and evaluate: Use held-out examples and safety/quality tests to check generalization rather than memorized training performance.
Example: For “The library closes at ___,” if “8” is the target but receives low probability, training adjusts parameters so similar contexts are more likely to rank appropriate continuations higher.
Key distinction: Pretraining creates a broad base model. It does not by itself create a reliable production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Differentiate training and inference.</a:t>
            </a:r>
          </a:p>
          <a:p xmlns:a="http://schemas.openxmlformats.org/drawingml/2006/main">
            <a:r>
              <a:t>Discuss: Training changes parameters. Inference processes a prompt using the learned parameters. This distinction prevents confusion between prompt writing and model tuning.</a:t>
            </a:r>
          </a:p>
          <a:p xmlns:a="http://schemas.openxmlformats.org/drawingml/2006/main">
            <a:r>
              <a:t>Trainer guidance: Ask: “Does the model change its weights when I rewrite one prompt?” The answer is no.</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Training changes model parameters. It uses many examples, calculates loss, performs backpropagation, and updates parameters. Training can take substantial time and compute.
Inference uses the trained parameters. It processes one request or a batch and produces predictions, scores, embeddings, or generated tokens. Normal prompting occurs during inference and does not update the base model’s weights.
Diagram walkthrough: The two large panels contrast activities and cost. The bottom sentence connects this distinction to prompting and tuning.
Example: Rewriting “Summarize this” as “Summarize this in three bullets for a first-year student” changes the inference input. Fine-tuning or prompt tuning requires a supported training workflow and changes learned adaptation parameters.
Useful question: “Did any learned parameter change?” If no, the activity was not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autoregressive inference.</a:t>
            </a:r>
          </a:p>
          <a:p xmlns:a="http://schemas.openxmlformats.org/drawingml/2006/main">
            <a:r>
              <a:t>Discuss: A generative LLM usually selects one token, adds it to the context, and repeats. Small early choices can change later output.</a:t>
            </a:r>
          </a:p>
          <a:p xmlns:a="http://schemas.openxmlformats.org/drawingml/2006/main">
            <a:r>
              <a:t>Trainer guidance: Trace the five stages, then return from step 5 to step 1 verbally.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Diagram walkthrough: The model reads the current context, computes vocabulary scores, converts scores into probabilities, selects a token, appends it, and repeats.
Term - Logit or score: The raw number the model produces for each vocabulary option before softmax. Larger scores generally become larger probabilities.
Term - Decoding strategy: The rule used to choose from the probability distribution. It may choose the highest-probability token or sample from a controlled set.
Stopping conditions: End-of-sequence token, stop sequence, tool call, maximum output-token limit, or an application-level cancellation.
Example: After “A safe password should,” the model might append “use,” then recompute probabilities for the next token and continue with “multiple,” “unique,” and “characters.” The whole phrase is not normally selected in one step.
Key takeaway: Small token choices early in generation can change later continuations.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inference controls and the context budget.</a:t>
            </a:r>
          </a:p>
          <a:p xmlns:a="http://schemas.openxmlformats.org/drawingml/2006/main">
            <a:r>
              <a:t>Discuss: Temperature and top-p affect sampling; output limits affect length. The context window must hold instructions, evidence, history, and room for output.</a:t>
            </a:r>
          </a:p>
          <a:p xmlns:a="http://schemas.openxmlformats.org/drawingml/2006/main">
            <a:r>
              <a:t>Trainer guidance: Explain one control at a time. Avoid implying that higher randomness means creativity or that a larger context means perfect memory.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https://cloud.google.com/vertex-ai/generative-ai/docs/learn/prompts/introduction-prompt-design</a:t>
            </a:r>
          </a:p>
          <a:p xmlns:a="http://schemas.openxmlformats.org/drawingml/2006/main">
            <a:r>
              <a:t>[/Sources]</a:t>
            </a:r>
          </a:p>
          <a:p xmlns:a="http://schemas.openxmlformats.org/drawingml/2006/main">
            <a:r>
              <a:t>
STUDENT REFERENCE NOTES
Temperature: Controls how strongly the decoding process favours high-probability options. Lower settings usually produce more repeatable outputs; higher settings can increase variation. Temperature does not make facts more correct.
Top-p: Nucleus sampling that restricts selection to a smallest set of likely tokens whose cumulative probability reaches a threshold. Lower values usually narrow the candidate set.
Maximum output tokens: A hard limit on response length. More tokens provide more space, not more truth or better reasoning.
Context window: The maximum amount of tokenized information the model can consider in one request, commonly including system instructions, conversation history, retrieved evidence, user input, and generated output.
Diagram walkthrough: The three control scales show trade-offs. The coloured context bar shows that all included material competes for a finite context budget.
Example: For policy extraction, use controlled settings and a strict output format. For brainstorming slogans, more variation may be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common model stages.</a:t>
            </a:r>
          </a:p>
          <a:p xmlns:a="http://schemas.openxmlformats.org/drawingml/2006/main">
            <a:r>
              <a:t>Discuss: A base model is pretrained; instruction tuning teaches task following; chat alignment targets multi-turn interaction and preferred behavior.</a:t>
            </a:r>
          </a:p>
          <a:p xmlns:a="http://schemas.openxmlformats.org/drawingml/2006/main">
            <a:r>
              <a:t>Trainer guidance: Describe these as stages, not guaranteed separate products. Providers may use different training recipes.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Base model: The result of broad pretraining. It has learned language patterns but may not reliably follow user instructions or conversational conventions.
Instruction-tuned model: Further trained on instruction-and-response examples so that it better follows tasks such as summarize, classify, explain, or extract.
Chat-aligned model: Adapted for multi-turn interaction, dialogue roles, safety policies, and assistant-like behaviour. Exact alignment methods vary.
Diagram walkthrough: The staircase indicates successive adaptation stages. Each stage adds behaviour; it does not guarantee factuality, absence of bias, privacy, or security.
Example: A base model might merely continue a question. An instruction-tuned model tries to answer it. A chat-aligned model also follows system and conversation roles.
Term - Alignment: Techniques intended to make model behaviour better match human instructions, preferences, safety requirements, or application goals.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core LLM limitations.</a:t>
            </a:r>
          </a:p>
          <a:p xmlns:a="http://schemas.openxmlformats.org/drawingml/2006/main">
            <a:r>
              <a:t>Discuss: Fluency is not proof. Responsible systems use grounding, privacy controls, safety filters, monitoring, and human review based on risk.</a:t>
            </a:r>
          </a:p>
          <a:p xmlns:a="http://schemas.openxmlformats.org/drawingml/2006/main">
            <a:r>
              <a:t>Trainer guidance: Ask students which risk matters most for a university help-desk assistant and why.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Hallucination: Fluent content that is unsupported, fabricated, or inconsistent with trusted evidence. Verification and grounding are common controls.
Bias: Unequal or stereotyped behaviour reflecting patterns in data, design choices, or evaluation gaps. Testing must include relevant groups and scenarios.
Privacy and security: Risks involving confidential prompts, sensitive retrieved data, malicious instructions, data leakage, or unsafe tool use. Applications need access controls and data-handling rules.
Freshness: A model’s internal knowledge can be incomplete or outdated. Grounding supplies current or authoritative evidence at request time.
Diagram walkthrough: The central “LLM output” is surrounded by four limitations. The arrangement emphasizes that no single limitation explains every failure.
Real-world example: A university assistant should quote an approved current policy, cite the source, and escalate ambiguous high-impact cases instead of relying only on internal model knowledge.
Key takeaway: Fluency is a presentation quality, not proof of correctness.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Begin the applications section.</a:t>
            </a:r>
          </a:p>
          <a:p xmlns:a="http://schemas.openxmlformats.org/drawingml/2006/main">
            <a:r>
              <a:t>Discuss: Use cases become clearer when described as input, transformation, and expected output.</a:t>
            </a:r>
          </a:p>
          <a:p xmlns:a="http://schemas.openxmlformats.org/drawingml/2006/main">
            <a:r>
              <a:t>Trainer guidance: Ask learners to name both the input and output for any use case they suggest.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Section purpose: Move from model mechanism to practical applications.
Evaluation principle: A use case is not just a demonstration. Define the input, expected output, users, evidence, quality measure, acceptable risk, and review process.
Upcoming examples: summarization, translation, coding, and conversational AI, matching the Unit II instruction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Organize common LLM use cases.</a:t>
            </a:r>
          </a:p>
          <a:p xmlns:a="http://schemas.openxmlformats.org/drawingml/2006/main">
            <a:r>
              <a:t>Discuss: Some tasks reduce or structure existing content; others generate new content. Application quality depends on the surrounding system, not only the model.</a:t>
            </a:r>
          </a:p>
          <a:p xmlns:a="http://schemas.openxmlformats.org/drawingml/2006/main">
            <a:r>
              <a:t>Trainer guidance: Move left to right and ask for a familiar example at each point.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Diagram walkthrough: The horizontal line organizes LLM tasks from understanding or extracting existing information toward creating new content. It is a spectrum, not a strict ranking of difficulty.
Understand: classify, detect, or extract. Condense: summarize. Convert: translate or reformat. Interact: answer questions or tutor. Create: draft text, code, or ideas.
One model can support several tasks, but each task needs its own prompt, evidence, output contract, and evaluation set.
Examples: Extract dates from notices; summarize a paper; translate a product page; answer questions over a policy; draft starter code.
Key takeaway: Choose the task and success measure before choosing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four use cases named in the instruction plan.</a:t>
            </a:r>
          </a:p>
          <a:p xmlns:a="http://schemas.openxmlformats.org/drawingml/2006/main">
            <a:r>
              <a:t>Discuss: Summarization, translation, coding, and conversational AI differ in output format and evaluation. Each example names a concrete input and output.</a:t>
            </a:r>
          </a:p>
          <a:p xmlns:a="http://schemas.openxmlformats.org/drawingml/2006/main">
            <a:r>
              <a:t>Trainer guidance: Ask how each output could be checked: factual coverage, terminology, tests, or policy grounding.</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Summarization: Input is a longer document; output is a shorter representation. Evaluate coverage of important points, factual consistency, and length or format compliance.
Translation: Input is content in one language; output preserves meaning in another language. Evaluate meaning, terminology, fluency, and sensitive cultural context.
Coding: Input is a requirement or existing code; output may be code, tests, explanation, or review comments. Evaluate by running tests and reviewing security and maintainability.
Conversational AI: Input includes the current message plus relevant history or evidence; output is a context-aware response. Evaluate correctness, policy adherence, usefulness, and escalation behaviour.
Diagram walkthrough: Each column explicitly connects a task to one example input and one expected output. The downward relationship reinforces that evaluation begins with a defined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Apply the coding use case named in the instruction plan.</a:t>
            </a:r>
          </a:p>
          <a:p xmlns:a="http://schemas.openxmlformats.org/drawingml/2006/main">
            <a:r>
              <a:t>Discuss: A useful coding assistant needs a precise requirement, relevant project context, generated code, executable tests, and human review. The LLM produces a candidate—not guaranteed-correct software.</a:t>
            </a:r>
          </a:p>
          <a:p xmlns:a="http://schemas.openxmlformats.org/drawingml/2006/main">
            <a:r>
              <a:t>Trainer guidance: Ask which checks can be automated and which still require a developer. Contrast syntax correctness with security and requirement correctness.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https://cloud.google.com/vertex-ai/generative-ai/docs/learn/prompts/introduction-prompt-design</a:t>
            </a:r>
          </a:p>
          <a:p xmlns:a="http://schemas.openxmlformats.org/drawingml/2006/main">
            <a:r>
              <a:t>[/Sources]</a:t>
            </a:r>
          </a:p>
          <a:p xmlns:a="http://schemas.openxmlformats.org/drawingml/2006/main">
            <a:r>
              <a:t>
STUDENT REFERENCE NOTES
Diagram walkthrough: A developer describes the requirement. The application supplies context such as the function signature, examples, style rules, and constraints. The LLM produces code, explanation, and possible tests. Tools execute the tests and a developer reviews the result.
Term - Unit test: A small automated test that checks one behaviour of a function or component.
Term - Context: Information supplied with the request, such as project code, API contracts, coding standards, and examples.
Why review remains necessary: Generated code can be syntactically valid but logically incorrect, insecure, inefficient, or inconsistent with the real requirement.
Example check: Test valid and invalid student IDs, empty input, unexpected characters, length limits, and privacy/security requirements.
Key takeaway: The LLM accelerates drafting; executable evidence and human judgment determine whether the output is usable.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LLM-specific evaluation dimensions without repeating Module 1 suitability criteria.</a:t>
            </a:r>
          </a:p>
          <a:p xmlns:a="http://schemas.openxmlformats.org/drawingml/2006/main">
            <a:r>
              <a:t>Discuss: Task success, grounded accuracy, consistency, and operational fit turn a vague demonstration into a measurable evaluation.</a:t>
            </a:r>
          </a:p>
          <a:p xmlns:a="http://schemas.openxmlformats.org/drawingml/2006/main">
            <a:r>
              <a:t>Trainer guidance: Apply the four checks to the coding-assistant example. Ask learners what evidence would prove each check passed.</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Task success: Does the output solve the requested task and follow the required structure? Example: a summary contains all required sections and stays within the word limit.
Grounded accuracy: Are important claims supported by approved evidence? Example: a policy assistant cites the supplied policy rather than inventing a deadline.
Consistency: Does quality remain acceptable across representative variations, including short, long, unclear, multilingual, and adversarial inputs?
Operational fit: Are latency, cost, privacy, safety, access control, and human escalation acceptable for the intended environment?
Diagram walkthrough: The four numbered checks are complementary. Passing only one does not make an application ready.
Practical method: Build a small evaluation set before comparing prompts or models. Record expected results and failure conditions so improvements can be measured fairly.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Begin the prompting and tuning section.</a:t>
            </a:r>
          </a:p>
          <a:p xmlns:a="http://schemas.openxmlformats.org/drawingml/2006/main">
            <a:r>
              <a:t>Discuss: Prompting changes the request at inference; tuning changes learned parameters or prompt vectors during training.</a:t>
            </a:r>
          </a:p>
          <a:p xmlns:a="http://schemas.openxmlformats.org/drawingml/2006/main">
            <a:r>
              <a:t>Trainer guidance: Tell learners that the key question is “what changes—the text or the model?”</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Section purpose: Explain how an application guides or adapts an LLM.
Prompting changes the information and instructions supplied during inference. Prompt tuning and fine-tuning are training activities.
Key question for the section: What changes - the visible prompt, the retrieved context, learned prompt vectors, or model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Teach the practical components of a prompt.</a:t>
            </a:r>
          </a:p>
          <a:p xmlns:a="http://schemas.openxmlformats.org/drawingml/2006/main">
            <a:r>
              <a:t>Discuss: The task is required. Context, examples, output format, and constraints reduce ambiguity. System instructions can define persistent behavior.</a:t>
            </a:r>
          </a:p>
          <a:p xmlns:a="http://schemas.openxmlformats.org/drawingml/2006/main">
            <a:r>
              <a:t>Trainer guidance: Read the four rows as one complete prompt. Ask which row reduces hallucination most directly.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https://cloud.google.com/vertex-ai/generative-ai/docs/learn/prompts/prompt-design-strategies</a:t>
            </a:r>
          </a:p>
          <a:p xmlns:a="http://schemas.openxmlformats.org/drawingml/2006/main">
            <a:r>
              <a:t>[/Sources]</a:t>
            </a:r>
          </a:p>
          <a:p xmlns:a="http://schemas.openxmlformats.org/drawingml/2006/main">
            <a:r>
              <a:t>
STUDENT REFERENCE NOTES
Task: The action the model should perform, such as summarize, classify, translate, compare, or generate.
Context: Background information required for a useful answer, including source material, audience, definitions, or constraints.
Examples: Demonstrations of acceptable input-output behaviour. Examples clarify patterns that are difficult to state only as rules.
Constraints: Boundaries such as output length, allowed evidence, prohibited content, tone, or formatting requirements.
Diagram walkthrough: The four horizontal bands are prompt components. They are numbered to suggest a readable structure, but the best order should be tested for the selected model and task.
System instruction: Higher-level persistent guidance supplied by the application. It can define role, behaviour, and boundaries, but it is not a guarantee against every conflicting or malicious input.
Example: “Summarize the supplied policy for first-year students in five bullets. Use only the policy. Mark missing information as not 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zero-shot, one-shot, and few-shot prompting.</a:t>
            </a:r>
          </a:p>
          <a:p xmlns:a="http://schemas.openxmlformats.org/drawingml/2006/main">
            <a:r>
              <a:t>Discuss: Examples demonstrate the desired mapping and output format. Poor or contradictory examples can reduce quality.</a:t>
            </a:r>
          </a:p>
          <a:p xmlns:a="http://schemas.openxmlformats.org/drawingml/2006/main">
            <a:r>
              <a:t>Trainer guidance: Use the same classification task across all three columns so learners isolate the effect of examples.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https://cloud.google.com/vertex-ai/generative-ai/docs/learn/prompts/prompt-design-strategies</a:t>
            </a:r>
          </a:p>
          <a:p xmlns:a="http://schemas.openxmlformats.org/drawingml/2006/main">
            <a:r>
              <a:t>[/Sources]</a:t>
            </a:r>
          </a:p>
          <a:p xmlns:a="http://schemas.openxmlformats.org/drawingml/2006/main">
            <a:r>
              <a:t>
STUDENT REFERENCE NOTES
Zero-shot prompting: Give the instruction without a demonstration. Best when the task and output are familiar and easy to describe.
One-shot prompting: Provide one example. Useful for showing a specific style or structure.
Few-shot prompting: Provide several examples. Useful when multiple examples clarify boundaries, labels, or difficult edge cases.
Diagram walkthrough: Read across from instruction-only to one example and then several examples. More examples consume more context, so select representative examples rather than adding many blindly.
Example classification task: Zero-shot says “Classify as urgent or routine.” Few-shot adds labelled examples showing that a safety incident is urgent while a general timetable question is routine.
Evaluation caution: Examples can bias the output toward their wording or distribution. Test with cases that differ from the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Separate commonly confused customization terms.</a:t>
            </a:r>
          </a:p>
          <a:p xmlns:a="http://schemas.openxmlformats.org/drawingml/2006/main">
            <a:r>
              <a:t>Discuss: Prompt design and engineering edit text. Prompt tuning learns soft vectors. Fine-tuning learns adapters, selected parameters, or all parameters, depending on the method.</a:t>
            </a:r>
          </a:p>
          <a:p xmlns:a="http://schemas.openxmlformats.org/drawingml/2006/main">
            <a:r>
              <a:t>Trainer guidance: Read the “What changes?” row first; it is the fastest way to remove confusion.</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https://cloud.google.com/vertex-ai/generative-ai/docs/learn/prompts/prompt-design-strategies</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Prompt design: Write one clear prompt for a task. The visible prompt text changes.
Prompt engineering: Develop and test a repeatable prompting system, including templates, context retrieval, examples, output schemas, controls, and evaluation.
Prompt tuning: Learn continuous soft-prompt vectors while commonly keeping the base model frozen. It is a supported training method, not manual rewriting.
Fine-tuning: Train selected or many model parameters on task-specific examples. Exact supported methods vary by model and platform.
Table walkthrough: Compare the rows “main action,” “what changes,” “when useful,” and “first step.” Start with prompt design and evaluation because it is inexpensive and creates a baseline.
Example: Manually improving a support prompt is prompt design. Learning soft vectors from labelled support examples is prompt tuning. Updating model weights for a specialized style is fine-tuning.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prompt tuning accurately.</a:t>
            </a:r>
          </a:p>
          <a:p xmlns:a="http://schemas.openxmlformats.org/drawingml/2006/main">
            <a:r>
              <a:t>Discuss: Prompt tuning optimizes learnable continuous vectors while the base model stays frozen. Product availability varies; current Google documentation emphasizes supported supervised and preference tuning methods.</a:t>
            </a:r>
          </a:p>
          <a:p xmlns:a="http://schemas.openxmlformats.org/drawingml/2006/main">
            <a:r>
              <a:t>Trainer guidance: Contrast the learned vectors with human-readable prompt text. Do not imply that all Gemini models support prompt tuning.</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Term - Soft prompt: A learned sequence of continuous vectors placed into the model’s input representation. It is not normal human-readable text.
Diagram walkthrough: Training examples are used to learn the soft prompt. The base model remains frozen. The learned vectors plus the frozen model produce task output.
Reusable for a stable task: The same learned vectors can be applied to repeated examples of that task, subject to platform and model support.
What prompt tuning is not: It is not repeatedly rewriting words, adding one example manually, or guaranteed support for every model.
Example: An organization with many labelled support tickets might learn a soft prompt for routing categories while preserving the base model parameters.
Practical caution: Always check current product documentation. Some current models or platforms may emphasize other tuning methods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Provide a practical customization order.</a:t>
            </a:r>
          </a:p>
          <a:p xmlns:a="http://schemas.openxmlformats.org/drawingml/2006/main">
            <a:r>
              <a:t>Discuss: Start with prompt changes, then grounding and tools. Measure errors before deciding whether tuning is worth the cost and operational complexity.</a:t>
            </a:r>
          </a:p>
          <a:p xmlns:a="http://schemas.openxmlformats.org/drawingml/2006/main">
            <a:r>
              <a:t>Trainer guidance: Ask which step solves stale knowledge. The answer is grounding, not tuning alone.</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https://docs.cloud.google.com/vertex-ai/generative-ai/docs/models/tune-models</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Diagram walkthrough: The sequence is an efficiency strategy, not a universal rule.
1. Prompt: Clarify task, audience, context, examples, output format, and constraints.
2. Ground: Add current or private evidence through retrieval when the model cannot reliably answer from the prompt alone.
3. Evaluate: Measure quality against a fixed representative test set. Without evaluation, changes cannot be compared fairly.
4. Tune if needed: Use a supported tuning method when a stable measurable gap remains and the benefits justify data, cost, and maintenance.
Example: Before fine-tuning a policy assistant, test a stronger prompt and retrieved policy passages. If failures remain systematic across the evaluation set, investigate adaptation.
Key takeaway: Tuning should solve a demonstrated problem, not replace clear requirements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Demonstrate prompt improvement with a relatable example.</a:t>
            </a:r>
          </a:p>
          <a:p xmlns:a="http://schemas.openxmlformats.org/drawingml/2006/main">
            <a:r>
              <a:t>Discuss: The improved prompt makes audience, evidence, format, and failure handling explicit. Those properties can be evaluated.</a:t>
            </a:r>
          </a:p>
          <a:p xmlns:a="http://schemas.openxmlformats.org/drawingml/2006/main">
            <a:r>
              <a:t>Trainer guidance: Ask learners to identify what was added before revealing the bottom statement.</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https://cloud.google.com/vertex-ai/generative-ai/docs/learn/prompts/prompt-design-strategies</a:t>
            </a:r>
          </a:p>
          <a:p xmlns:a="http://schemas.openxmlformats.org/drawingml/2006/main">
            <a:r>
              <a:t>[/Sources]</a:t>
            </a:r>
          </a:p>
          <a:p xmlns:a="http://schemas.openxmlformats.org/drawingml/2006/main">
            <a:r>
              <a:t>
STUDENT REFERENCE NOTES
Diagram walkthrough: The weak prompt names only a broad topic. The improved prompt specifies task, audience, trusted context, output structure, and handling of unsupported information.
Why the improved prompt is testable: Reviewers can check whether the explanation is correct, suitable for first-year students, based only on supplied notes, exactly four bullets, and explicit about missing evidence.
Term - Output contract: A defined structure or schema the application expects, such as four bullets, JSON fields, a table, or labelled categories.
Term - Evidence discipline: A rule requiring the model to use allowed sources and mark unsupported claims instead of guessing.
Example improvement: Replace “Explain cloud security” with “Using the supplied notes only, explain shared responsibility to first-year students in four bullets and one campus example. Flag unsupported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Begin the Google tools section.</a:t>
            </a:r>
          </a:p>
          <a:p xmlns:a="http://schemas.openxmlformats.org/drawingml/2006/main">
            <a:r>
              <a:t>Discuss: Tool names and console labels change; teach the durable role of each tool in the lifecycle.</a:t>
            </a:r>
          </a:p>
          <a:p xmlns:a="http://schemas.openxmlformats.org/drawingml/2006/main">
            <a:r>
              <a:t>Trainer guidance: Explain that the syllabus may use older labels such as Vertex AI Studio while current screens may differ.</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a:t>
            </a:r>
          </a:p>
          <a:p xmlns:a="http://schemas.openxmlformats.org/drawingml/2006/main">
            <a:r>
              <a:t>- https://docs.cloud.google.com/vertex-ai/generative-ai/docs/model-garden/explore-models</a:t>
            </a:r>
          </a:p>
          <a:p xmlns:a="http://schemas.openxmlformats.org/drawingml/2006/main">
            <a:r>
              <a:t>[/Sources]</a:t>
            </a:r>
          </a:p>
          <a:p xmlns:a="http://schemas.openxmlformats.org/drawingml/2006/main">
            <a:r>
              <a:t>
STUDENT REFERENCE NOTES
Section purpose: Identify the role of each Google generative-AI development tool at an introductory level.
Scope boundary: This module introduces tool selection and basic prototyping. Later modules can cover deployment, monitoring, governance, and multimodal workflows in greater depth.
Product names, model versions, regions, preview status, and interfaces can change. Verify current official documentation before a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Bridge syllabus terminology to current documentation.</a:t>
            </a:r>
          </a:p>
          <a:p xmlns:a="http://schemas.openxmlformats.org/drawingml/2006/main">
            <a:r>
              <a:t>Discuss: The durable concepts are platform, Studio prototyping, Model Garden discovery, and API/SDK integration. Exact labels and model versions can change.</a:t>
            </a:r>
          </a:p>
          <a:p xmlns:a="http://schemas.openxmlformats.org/drawingml/2006/main">
            <a:r>
              <a:t>Trainer guidance: Show students where the syllabus label maps to the role they will see in the current console or lab.</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a:t>
            </a:r>
          </a:p>
          <a:p xmlns:a="http://schemas.openxmlformats.org/drawingml/2006/main">
            <a:r>
              <a:t>- https://docs.cloud.google.com/vertex-ai/generative-ai/docs/model-garden/explore-models</a:t>
            </a:r>
          </a:p>
          <a:p xmlns:a="http://schemas.openxmlformats.org/drawingml/2006/main">
            <a:r>
              <a:t>- https://ai.google.dev/gemini-api/docs/libraries</a:t>
            </a:r>
          </a:p>
          <a:p xmlns:a="http://schemas.openxmlformats.org/drawingml/2006/main">
            <a:r>
              <a:t>[/Sources]</a:t>
            </a:r>
          </a:p>
          <a:p xmlns:a="http://schemas.openxmlformats.org/drawingml/2006/main">
            <a:r>
              <a:t>
STUDENT REFERENCE NOTES
Vertex AI / Generative AI on Vertex AI: Google Cloud’s managed environment for building and operating AI applications with project-based access, IAM, regions, and enterprise controls.
Studio tools: Interactive interfaces for trying models, writing prompts, setting system instructions or generation controls, comparing responses, and producing starter code.
Model Garden: A catalog used to discover Google, partner, and open models, read model cards, compare capabilities, and review supported customization or deployment options.
Gemini API: An application programming interface used to send requests to Gemini models.
Google Gen AI SDK: A programming library that helps developers call supported Gemini services from code.
Diagram walkthrough: The left column lists labels students may see; the right column states the durable job behind each label.
Key takeaway: Learn the role first. Confirm the current screen label immediately before using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Teach durable model-selection criteria.</a:t>
            </a:r>
          </a:p>
          <a:p xmlns:a="http://schemas.openxmlformats.org/drawingml/2006/main">
            <a:r>
              <a:t>Discuss: Reasoning, balanced, efficient, and open-model choices trade capability, speed, cost, control, and licensing.</a:t>
            </a:r>
          </a:p>
          <a:p xmlns:a="http://schemas.openxmlformats.org/drawingml/2006/main">
            <a:r>
              <a:t>Trainer guidance: Avoid memorizing version numbers. Ask learners to choose a tier for each example workload.</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https://docs.cloud.google.com/vertex-ai/generative-ai/docs/learn/models</a:t>
            </a:r>
          </a:p>
          <a:p xmlns:a="http://schemas.openxmlformats.org/drawingml/2006/main">
            <a:r>
              <a:t>- https://docs.cloud.google.com/vertex-ai/generative-ai/docs/model-garden/explore-models</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Pro or reasoning-oriented tier: Favours maximum capability for complex multi-step reasoning, difficult coding, or demanding analysis. It may have higher latency and cost.
Flash or balanced tier: Favours a balance of quality, speed, and cost for assistants, summarization, extraction, and many application tasks.
Flash-Lite or efficient tier: Favours throughput and lower cost for simpler or high-volume tasks such as short classification or structured extraction.
Gemma open models: Models with downloadable weights under applicable terms, useful when greater control or a different deployment environment is required.
Table walkthrough: Start with workload need, then examine the typical family, reason, and example. The names illustrate durable product tiers; exact current versions and availability must be verified.
Selection factors: quality, latency, throughput, cost, context length, modality, region, safety controls, licensing, data governance, and deployment needs.
Key takeaway: The newest or largest model is not automatically the best operational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Differentiate Studio and Model Garden.</a:t>
            </a:r>
          </a:p>
          <a:p xmlns:a="http://schemas.openxmlformats.org/drawingml/2006/main">
            <a:r>
              <a:t>Discuss: Studio supports interactive prompting and response comparison. Model Garden supports discovery and deployment choices across model providers.</a:t>
            </a:r>
          </a:p>
          <a:p xmlns:a="http://schemas.openxmlformats.org/drawingml/2006/main">
            <a:r>
              <a:t>Trainer guidance: Ask which tool learners would open first for testing a prompt and which for comparing models.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a:t>
            </a:r>
          </a:p>
          <a:p xmlns:a="http://schemas.openxmlformats.org/drawingml/2006/main">
            <a:r>
              <a:t>- https://docs.cloud.google.com/vertex-ai/generative-ai/docs/model-garden/explore-models</a:t>
            </a:r>
          </a:p>
          <a:p xmlns:a="http://schemas.openxmlformats.org/drawingml/2006/main">
            <a:r>
              <a:t>[/Sources]</a:t>
            </a:r>
          </a:p>
          <a:p xmlns:a="http://schemas.openxmlformats.org/drawingml/2006/main">
            <a:r>
              <a:t>
STUDENT REFERENCE NOTES
Studio tools answer: “How does this model respond to my prompt?” Use them to prototype instructions, controls, examples, and output formats.
Model Garden answers: “Which model should we consider?” Use it to discover models, read model cards, compare modalities and licenses, and examine supported customization or deployment paths.
Diagram walkthrough: The two panels deliberately represent different questions. Studio is an experimentation workspace; Model Garden is a discovery and comparison catalog.
Example: A trainer selecting a model for summarization first checks Model Garden for suitable options, then uses Studio tools to test prompts on representative documents.
Term - Model card: Documentation describing intended uses, capabilities, limitations, evaluation information, and other important model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Help beginners select the correct Google tool without teaching the later deployment workflow.</a:t>
            </a:r>
          </a:p>
          <a:p xmlns:a="http://schemas.openxmlformats.org/drawingml/2006/main">
            <a:r>
              <a:t>Discuss: Model Garden is for model discovery, Studio tools are for prompt prototyping, APIs and SDKs connect applications, and Google Skills supplies guided temporary environments.</a:t>
            </a:r>
          </a:p>
          <a:p xmlns:a="http://schemas.openxmlformats.org/drawingml/2006/main">
            <a:r>
              <a:t>Trainer guidance: Use one learner question for each card: “Which model?”, “How does it respond?”, “How do I call it from code?”, and “Where can I practise?” Leave deployment and operations for later modules.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a:t>
            </a:r>
          </a:p>
          <a:p xmlns:a="http://schemas.openxmlformats.org/drawingml/2006/main">
            <a:r>
              <a:t>- https://docs.cloud.google.com/vertex-ai/generative-ai/docs/model-garden/explore-models</a:t>
            </a:r>
          </a:p>
          <a:p xmlns:a="http://schemas.openxmlformats.org/drawingml/2006/main">
            <a:r>
              <a:t>- https://ai.google.dev/gemini-api/docs/libraries</a:t>
            </a:r>
          </a:p>
          <a:p xmlns:a="http://schemas.openxmlformats.org/drawingml/2006/main">
            <a:r>
              <a:t>- https://www.skills.google/focuses/63251</a:t>
            </a:r>
          </a:p>
          <a:p xmlns:a="http://schemas.openxmlformats.org/drawingml/2006/main">
            <a:r>
              <a:t>[/Sources]</a:t>
            </a:r>
          </a:p>
          <a:p xmlns:a="http://schemas.openxmlformats.org/drawingml/2006/main">
            <a:r>
              <a:t>
STUDENT REFERENCE NOTES
Find a model: Open Model Garden when the question concerns available models, modalities, model cards, licensing, or supported deployment options.
Test a prompt: Open Studio tools when the question concerns model responses, prompt wording, system instructions, examples, or generation controls.
Call from code: Use a supported Gemini API and Google Gen AI SDK when an application must send requests programmatically.
Practise safely: Use the assigned Google Skills lab because it supplies temporary credentials and a guided environment.
Diagram walkthrough: The cards are a decision guide, not a full production lifecycle.
Scope reminder: Deployment, monitoring, governance, grounding architecture, and multimodal application design are intentionally left for later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the syllabus-aligned hands-on lab.</a:t>
            </a:r>
          </a:p>
          <a:p xmlns:a="http://schemas.openxmlformats.org/drawingml/2006/main">
            <a:r>
              <a:t>Discuss: GSP1151 focuses on concise, specific prompts, one task at a time, hallucination awareness, system instructions, output variability, classification, and examples.</a:t>
            </a:r>
          </a:p>
          <a:p xmlns:a="http://schemas.openxmlformats.org/drawingml/2006/main">
            <a:r>
              <a:t>Trainer guidance: Show the launch sequence before the timer starts. Students must use only the temporary lab username and password.</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https://www.skills.google/focuses/63251</a:t>
            </a:r>
          </a:p>
          <a:p xmlns:a="http://schemas.openxmlformats.org/drawingml/2006/main">
            <a:r>
              <a:t>- https://cloud.google.com/vertex-ai/generative-ai/docs/learn/prompts/introduction-prompt-design</a:t>
            </a:r>
          </a:p>
          <a:p xmlns:a="http://schemas.openxmlformats.org/drawingml/2006/main">
            <a:r>
              <a:t>[/Sources]</a:t>
            </a:r>
          </a:p>
          <a:p xmlns:a="http://schemas.openxmlformats.org/drawingml/2006/main">
            <a:r>
              <a:t>
STUDENT REFERENCE NOTES
Google Skills lab: A guided, temporary environment with its own username, password, project, resources, instructions, timer, and progress checks.
Temporary credentials: Use only the credentials supplied by the lab. A private or Incognito browser reduces conflicts with a personal Google account.
Timer: Lab access is time-limited and normally cannot be paused. Read the objectives before starting and avoid unrelated configuration.
Lab focus: Prompt-engineering best practices, reducing unnecessary variability, using examples, and improving responses.
Student procedure: Launch the lab, copy the temporary credentials carefully, open the required interface or notebook, complete tasks in order, verify progress checks, and save any permitted observations before time expires.
Safety reminder: Never use personal cloud credentials or personal billing unless the course explicitly instructs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Synthesize the module.</a:t>
            </a:r>
          </a:p>
          <a:p xmlns:a="http://schemas.openxmlformats.org/drawingml/2006/main">
            <a:r>
              <a:t>Discuss: The review reconnects definition, mechanism, application, prompting, and Google tools.</a:t>
            </a:r>
          </a:p>
          <a:p xmlns:a="http://schemas.openxmlformats.org/drawingml/2006/main">
            <a:r>
              <a:t>Trainer guidance: Ask learners to explain each row in their own words before moving to the activity.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https://developers.google.com/machine-learning/crash-course/llm/transformers</a:t>
            </a:r>
          </a:p>
          <a:p xmlns:a="http://schemas.openxmlformats.org/drawingml/2006/main">
            <a:r>
              <a:t>- https://cloud.google.com/vertex-ai/generative-ai/docs/learn/prompts/introduction-prompt-design</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Review row 1: An LLM predicts tokens using learned parameters and available context.
Review row 2: The internal flow is text to tokens, embeddings plus position, Transformer layers, probabilities, and repeated token generation.
Review row 3: LLM use cases need defined inputs, outputs, evidence, controls, and evaluation.
Review row 4: Prompt design changes visible instructions; prompt tuning learns soft vectors through a supported training process.
Review row 5: Model Garden discovers models, Studio prototypes prompts, APIs/SDKs integrate code, and Google Skills provides guided practice.
Study method: Cover the description column and try to explain each keyword from memory, then check the notes for missing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Apply the concepts to a new scenario.</a:t>
            </a:r>
          </a:p>
          <a:p xmlns:a="http://schemas.openxmlformats.org/drawingml/2006/main">
            <a:r>
              <a:t>Discuss: Learners must connect use-case definition, evaluation, risk, and the prompting-versus-tuning decision.</a:t>
            </a:r>
          </a:p>
          <a:p xmlns:a="http://schemas.openxmlformats.org/drawingml/2006/main">
            <a:r>
              <a:t>Trainer guidance: Listen for solutions that jump directly to tuning without first defining success or testing prompts.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https://cloud.google.com/vertex-ai/generative-ai/docs/learn/prompts/introduction-prompt-design</a:t>
            </a:r>
          </a:p>
          <a:p xmlns:a="http://schemas.openxmlformats.org/drawingml/2006/main">
            <a:r>
              <a:t>- https://docs.cloud.google.com/vertex-ai/generative-ai/docs/models/tune-models</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Activity goal: Apply the complete LLM application-thinking process rather than naming a fashionable tool.
Required elements: Define the user and task, input, expected output, evidence, success measure, one risk, and the first improvement method.
Example: Campus FAQ assistant. Input: student question plus retrieved approved policy. Output: a concise answer with a policy citation. Success: correct answer and citation on a representative test set. Risk: unsupported deadline. First step: prompt plus grounding before tuning.
Decision guidance: Start with prompting when instructions are unclear; grounding when current or private evidence is missing; tuning only when a stable measured behaviour gap remains.
For students: Be ready to explain why your success measure would detect a poor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Transition to assessment.</a:t>
            </a:r>
          </a:p>
          <a:p xmlns:a="http://schemas.openxmlformats.org/drawingml/2006/main">
            <a:r>
              <a:t>Discuss: The questions test mechanism, prompting versus tuning, and Google tool roles.</a:t>
            </a:r>
          </a:p>
          <a:p xmlns:a="http://schemas.openxmlformats.org/drawingml/2006/main">
            <a:r>
              <a:t>Trainer guidance: Have learners commit to an answer before showing the explanation slide.</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https://docs.cloud.google.com/vertex-ai/generative-ai/docs/models/tune-models</a:t>
            </a:r>
          </a:p>
          <a:p xmlns:a="http://schemas.openxmlformats.org/drawingml/2006/main">
            <a:r>
              <a:t>- https://docs.cloud.google.com/vertex-ai/generative-ai/docs/model-garden/explore-models</a:t>
            </a:r>
          </a:p>
          <a:p xmlns:a="http://schemas.openxmlformats.org/drawingml/2006/main">
            <a:r>
              <a:t>[/Sources]</a:t>
            </a:r>
          </a:p>
          <a:p xmlns:a="http://schemas.openxmlformats.org/drawingml/2006/main">
            <a:r>
              <a:t>
STUDENT REFERENCE NOTES
Knowledge-check purpose: Confirm three high-value distinctions - training versus inference, prompt design versus prompt tuning, and Studio versus Model Garden.
Answering strategy: Identify the key noun and verb in the question. Eliminate choices describing a different stage or tool role before selecting an answer.
Use the explanation slide after each question to correct the concept, not only to record the option letter.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Check the training-versus-inference distinction.</a:t>
            </a:r>
          </a:p>
          <a:p xmlns:a="http://schemas.openxmlformats.org/drawingml/2006/main">
            <a:r>
              <a:t>Discuss: Inference uses learned parameters to process an input and generate or score an output.</a:t>
            </a:r>
          </a:p>
          <a:p xmlns:a="http://schemas.openxmlformats.org/drawingml/2006/main">
            <a:r>
              <a:t>Trainer guidance: Ask learners to eliminate choices that describe training.</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Question focus - inference: Inference means using trained parameters to process an input and produce a prediction, embedding, score, or generated output.
Elimination clue: Collecting the training dataset, initializing parameters, and updating parameters belong to model training, not ordinary inference.
Example: Sending a prompt to a deployed LLM and receiving a summary is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answer to question 1.</a:t>
            </a:r>
          </a:p>
          <a:p xmlns:a="http://schemas.openxmlformats.org/drawingml/2006/main">
            <a:r>
              <a:t>Discuss: Inference is model use, not parameter learning.</a:t>
            </a:r>
          </a:p>
          <a:p xmlns:a="http://schemas.openxmlformats.org/drawingml/2006/main">
            <a:r>
              <a:t>Trainer guidance: Connect this answer to prompting: rewriting a prompt does not retrain the model.</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[/Sources]</a:t>
            </a:r>
          </a:p>
          <a:p xmlns:a="http://schemas.openxmlformats.org/drawingml/2006/main">
            <a:r>
              <a:t>
STUDENT REFERENCE NOTES
Why C is correct: The trained model already contains learned parameter values. During inference, it uses those values to process the prompt and generate or score an output.
Why the other ideas are wrong: Dataset collection and parameter initialization occur before or during training. Parameter updates occur during training or tuning, not every time a normal user submits a prompt.
Memory aid: Training learns; inference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Check the prompt-tuning definition.</a:t>
            </a:r>
          </a:p>
          <a:p xmlns:a="http://schemas.openxmlformats.org/drawingml/2006/main">
            <a:r>
              <a:t>Discuss: Prompt tuning is a training method that learns continuous prompt vectors; it is not manual prompt editing.</a:t>
            </a:r>
          </a:p>
          <a:p xmlns:a="http://schemas.openxmlformats.org/drawingml/2006/main">
            <a:r>
              <a:t>Trainer guidance: Ask what changes in each option: text, evidence, soft vectors, or all parameters.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Question focus - prompt tuning: Prompt tuning learns continuous soft-prompt vectors while commonly keeping the base model frozen.
Elimination clue: Human rewriting describes prompt design. Web search describes retrieval or a tool. Retraining every parameter describes full fine-tuning rather than prompt tuning.
Term - Frozen model: Model parameters are kept unchanged while another small set of adaptation parameters is learned.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answer to question 2.</a:t>
            </a:r>
          </a:p>
          <a:p xmlns:a="http://schemas.openxmlformats.org/drawingml/2006/main">
            <a:r>
              <a:t>Discuss: The frozen base model is the key distinction in prompt tuning.</a:t>
            </a:r>
          </a:p>
          <a:p xmlns:a="http://schemas.openxmlformats.org/drawingml/2006/main">
            <a:r>
              <a:t>Trainer guidance: Note that current product support varies by model and may emphasize other tuning methods.</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https://docs.cloud.google.com/vertex-ai/generative-ai/docs/models/tune-models</a:t>
            </a:r>
          </a:p>
          <a:p xmlns:a="http://schemas.openxmlformats.org/drawingml/2006/main">
            <a:r>
              <a:t>[/Sources]</a:t>
            </a:r>
          </a:p>
          <a:p xmlns:a="http://schemas.openxmlformats.org/drawingml/2006/main">
            <a:r>
              <a:t>
STUDENT REFERENCE NOTES
Why C is correct: Soft prompt vectors are learned from training examples and supplied to the frozen model as continuous input representations.
Prompt design versus prompt tuning: Prompt design edits visible text during inference. Prompt tuning requires a supported training workflow and learns vectors that are not normally human-readable.
Product caution: Supported tuning methods vary by model and platform, so consult current official documentation before planning an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Check Google ecosystem roles.</a:t>
            </a:r>
          </a:p>
          <a:p xmlns:a="http://schemas.openxmlformats.org/drawingml/2006/main">
            <a:r>
              <a:t>Discuss: Model Garden is the catalog for discovering models, reading model cards, and exploring deployment options.</a:t>
            </a:r>
          </a:p>
          <a:p xmlns:a="http://schemas.openxmlformats.org/drawingml/2006/main">
            <a:r>
              <a:t>Trainer guidance: Contrast discovery with Studio prototyping and API integration.</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https://docs.cloud.google.com/vertex-ai/generative-ai/docs/model-garden/explore-models</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Question focus - Model Garden: Model Garden is used to discover and compare models and examine model cards and supported options.
Elimination clue: A spreadsheet is unrelated. Temperature is a generation control. A context window is a model capacity concept. None of these is a model catalog.
Example: Use Model Garden to compare a Google model with a supported open model before prototyping prompts.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answer to question 3.</a:t>
            </a:r>
          </a:p>
          <a:p xmlns:a="http://schemas.openxmlformats.org/drawingml/2006/main">
            <a:r>
              <a:t>Discuss: Tool roles are more durable than exact product labels.</a:t>
            </a:r>
          </a:p>
          <a:p xmlns:a="http://schemas.openxmlformats.org/drawingml/2006/main">
            <a:r>
              <a:t>Trainer guidance: Ask which tool would be used next to prototype a prompt after selecting a model.</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https://docs.cloud.google.com/vertex-ai/generative-ai/docs/model-garden/explore-models</a:t>
            </a:r>
          </a:p>
          <a:p xmlns:a="http://schemas.openxmlformats.org/drawingml/2006/main">
            <a:r>
              <a:t>- https://docs.cloud.google.com/vertex-ai/generative-ai/docs</a:t>
            </a:r>
          </a:p>
          <a:p xmlns:a="http://schemas.openxmlformats.org/drawingml/2006/main">
            <a:r>
              <a:t>[/Sources]</a:t>
            </a:r>
          </a:p>
          <a:p xmlns:a="http://schemas.openxmlformats.org/drawingml/2006/main">
            <a:r>
              <a:t>
STUDENT REFERENCE NOTES
Why A is correct: Model Garden is the catalog and discovery experience. It helps users browse Google, partner, and open models and review capabilities and deployment information.
Related tool distinction: After identifying a candidate model, use Studio tools to test how it responds to prompts, then use APIs or SDKs for application integration.
Memory aid: Garden = discover models; Studio = experiment with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Provide official references for core concepts.</a:t>
            </a:r>
          </a:p>
          <a:p xmlns:a="http://schemas.openxmlformats.org/drawingml/2006/main">
            <a:r>
              <a:t>Discuss: These sources support the LLM, Transformer, and prompting sections.</a:t>
            </a:r>
          </a:p>
          <a:p xmlns:a="http://schemas.openxmlformats.org/drawingml/2006/main">
            <a:r>
              <a:t>Trainer guidance: Encourage students to use these links for revision and to verify terminology that changes over time.</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https://developers.google.com/machine-learning/crash-course/llm</a:t>
            </a:r>
          </a:p>
          <a:p xmlns:a="http://schemas.openxmlformats.org/drawingml/2006/main">
            <a:r>
              <a:t>- https://developers.google.com/machine-learning/crash-course/llm/transformers</a:t>
            </a:r>
          </a:p>
          <a:p xmlns:a="http://schemas.openxmlformats.org/drawingml/2006/main">
            <a:r>
              <a:t>- https://arxiv.org/abs/1706.03762</a:t>
            </a:r>
          </a:p>
          <a:p xmlns:a="http://schemas.openxmlformats.org/drawingml/2006/main">
            <a:r>
              <a:t>- https://cloud.google.com/vertex-ai/generative-ai/docs/learn/prompts/introduction-prompt-design</a:t>
            </a:r>
          </a:p>
          <a:p xmlns:a="http://schemas.openxmlformats.org/drawingml/2006/main">
            <a:r>
              <a:t>- https://cloud.google.com/vertex-ai/generative-ai/docs/learn/prompts/prompt-design-strategies</a:t>
            </a:r>
          </a:p>
          <a:p xmlns:a="http://schemas.openxmlformats.org/drawingml/2006/main">
            <a:r>
              <a:t>[/Sources]</a:t>
            </a:r>
          </a:p>
          <a:p xmlns:a="http://schemas.openxmlformats.org/drawingml/2006/main">
            <a:r>
              <a:t>
STUDENT REFERENCE NOTES
How to use these references: Start with the Google Machine Learning Crash Course for beginner explanations of LLMs, Transformers, self-attention, parameters, and generation. Use the original Transformer paper for historical and technical depth. Use the Google Cloud prompting pages for current prompt structure and workflow guidance.
Suggested revision order: LLM overview, Transformer/self-attention section, prompting introduction, prompting strategies, then the original paper only for deeper study.
Research habit: Prefer current primary documentation and research papers over unsourced diagrams or screenshots. Product interfaces can change faster than fundamental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Provide official references for customization and Google tools.</a:t>
            </a:r>
          </a:p>
          <a:p xmlns:a="http://schemas.openxmlformats.org/drawingml/2006/main">
            <a:r>
              <a:t>Discuss: The sources cover tuning, the managed platform, model discovery, developer access, and the assigned lab.</a:t>
            </a:r>
          </a:p>
          <a:p xmlns:a="http://schemas.openxmlformats.org/drawingml/2006/main">
            <a:r>
              <a:t>Trainer guidance: Remind trainers to verify model versions, preview status, and lab naming immediately before delivery.</a:t>
            </a:r>
          </a:p>
          <a:p xmlns:a="http://schemas.openxmlformats.org/drawingml/2006/main">
            <a:r>
              <a:t>Accessibility: Read the essential labels aloud and explain spatial relationships without relying only on color.</a:t>
            </a:r>
          </a:p>
          <a:p xmlns:a="http://schemas.openxmlformats.org/drawingml/2006/main">
            <a:r>
              <a:t>[Sources]</a:t>
            </a:r>
          </a:p>
          <a:p xmlns:a="http://schemas.openxmlformats.org/drawingml/2006/main">
            <a:r>
              <a:t>- https://docs.cloud.google.com/vertex-ai/generative-ai/docs/models/tune-models</a:t>
            </a:r>
          </a:p>
          <a:p xmlns:a="http://schemas.openxmlformats.org/drawingml/2006/main">
            <a:r>
              <a:t>- https://docs.cloud.google.com/vertex-ai/generative-ai/docs</a:t>
            </a:r>
          </a:p>
          <a:p xmlns:a="http://schemas.openxmlformats.org/drawingml/2006/main">
            <a:r>
              <a:t>- https://docs.cloud.google.com/vertex-ai/generative-ai/docs/model-garden/explore-models</a:t>
            </a:r>
          </a:p>
          <a:p xmlns:a="http://schemas.openxmlformats.org/drawingml/2006/main">
            <a:r>
              <a:t>- https://ai.google.dev/gemini-api/docs/libraries</a:t>
            </a:r>
          </a:p>
          <a:p xmlns:a="http://schemas.openxmlformats.org/drawingml/2006/main">
            <a:r>
              <a:t>- https://www.skills.google/focuses/63251</a:t>
            </a:r>
          </a:p>
          <a:p xmlns:a="http://schemas.openxmlformats.org/drawingml/2006/main">
            <a:r>
              <a:t>[/Sources]</a:t>
            </a:r>
          </a:p>
          <a:p xmlns:a="http://schemas.openxmlformats.org/drawingml/2006/main">
            <a:r>
              <a:t>
STUDENT REFERENCE NOTES
How to use these references: The tuning documentation explains current supported adaptation methods. The Vertex AI documentation covers the managed platform. Model Garden documentation covers model discovery. The Google Gen AI SDK documentation covers programmatic access. The Google Skills page identifies the assigned guided lab.
Before a live class: Verify model availability, region, preview or general-availability status, API/SDK guidance, lab title, lab duration, and any retirement notice.
Student reminder: Product names and interfaces may evolve. The durable concepts are model discovery, prompt prototyping, programmatic integration, evaluation, and controlled practice.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38a1554eaa4ded" /></Relationships>
</file>

<file path=ppt/slideLayouts/slideLayout1.xml><?xml version="1.0" encoding="utf-8"?>
<p:sldLayout xmlns:p="http://schemas.openxmlformats.org/presentationml/2006/main">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386993d4764071" /><Relationship Type="http://schemas.openxmlformats.org/officeDocument/2006/relationships/slideLayout" Target="/ppt/slideLayouts/slideLayout1.xml" Id="R524f851ad2ab4cc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4f851ad2ab4cc3"/>
  </p:sldLayoutIdLst>
</p:sldMaster>
</file>

<file path=ppt/slideMasters/theme/theme2.xml><?xml version="1.0" encoding="utf-8"?>
<a:theme xmlns:a="http://schemas.openxmlformats.org/drawingml/2006/main" name="GCP Template">
  <a:themeElements>
    <a:clrScheme name="GCP template">
      <a:dk1>
        <a:srgbClr val="000000"/>
      </a:dk1>
      <a:lt1>
        <a:srgbClr val="FFFFFF"/>
      </a:lt1>
      <a:dk2>
        <a:srgbClr val="080808"/>
      </a:dk2>
      <a:lt2>
        <a:srgbClr val="F8F8F8"/>
      </a:lt2>
      <a:accent1>
        <a:srgbClr val="4285F4"/>
      </a:accent1>
      <a:accent2>
        <a:srgbClr val="D02D2A"/>
      </a:accent2>
      <a:accent3>
        <a:srgbClr val="F0A608"/>
      </a:accent3>
      <a:accent4>
        <a:srgbClr val="0F9D58"/>
      </a:accent4>
      <a:accent5>
        <a:srgbClr val="254A89"/>
      </a:accent5>
      <a:accent6>
        <a:srgbClr val="D34836"/>
      </a:accent6>
      <a:hlink>
        <a:srgbClr val="4285F4"/>
      </a:hlink>
      <a:folHlink>
        <a:srgbClr val="254A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P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8ffed7bbb14be4" /><Relationship Type="http://schemas.openxmlformats.org/officeDocument/2006/relationships/notesSlide" Target="/ppt/notesSlides/notesSlide1.xml" Id="R1c083950cfa64d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8163fe84ad464b" /><Relationship Type="http://schemas.openxmlformats.org/officeDocument/2006/relationships/notesSlide" Target="/ppt/notesSlides/notesSlide2.xml" Id="R95beb482fba946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68a8d062be4bb9" /><Relationship Type="http://schemas.openxmlformats.org/officeDocument/2006/relationships/notesSlide" Target="/ppt/notesSlides/notesSlide3.xml" Id="R5f1474cf770b46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adbc72cc9b4853" /><Relationship Type="http://schemas.openxmlformats.org/officeDocument/2006/relationships/notesSlide" Target="/ppt/notesSlides/notesSlide4.xml" Id="Rbddc8c0ef05a4a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2fbfc0bd0347a5" /><Relationship Type="http://schemas.openxmlformats.org/officeDocument/2006/relationships/notesSlide" Target="/ppt/notesSlides/notesSlide5.xml" Id="R8ddf4bf664aa4b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70abf6e0f145c3" /><Relationship Type="http://schemas.openxmlformats.org/officeDocument/2006/relationships/notesSlide" Target="/ppt/notesSlides/notesSlide6.xml" Id="R0da2dcc52b3743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f6bc7363d947bd" /><Relationship Type="http://schemas.openxmlformats.org/officeDocument/2006/relationships/notesSlide" Target="/ppt/notesSlides/notesSlide7.xml" Id="R909c8a559ff749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018ecc7e874f43" /><Relationship Type="http://schemas.openxmlformats.org/officeDocument/2006/relationships/notesSlide" Target="/ppt/notesSlides/notesSlide8.xml" Id="R7570824794544c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ff50ad71ed4363" /><Relationship Type="http://schemas.openxmlformats.org/officeDocument/2006/relationships/notesSlide" Target="/ppt/notesSlides/notesSlide9.xml" Id="R01bcd6a7255045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c664f276334255" /><Relationship Type="http://schemas.openxmlformats.org/officeDocument/2006/relationships/notesSlide" Target="/ppt/notesSlides/notesSlide10.xml" Id="R7dda6507f9cd4f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b9387360884e93" /><Relationship Type="http://schemas.openxmlformats.org/officeDocument/2006/relationships/notesSlide" Target="/ppt/notesSlides/notesSlide11.xml" Id="R0d7553535c0f4e7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1e001b1dde74035" /><Relationship Type="http://schemas.openxmlformats.org/officeDocument/2006/relationships/notesSlide" Target="/ppt/notesSlides/notesSlide12.xml" Id="R1cc451a0983247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24898b980042d5" /><Relationship Type="http://schemas.openxmlformats.org/officeDocument/2006/relationships/notesSlide" Target="/ppt/notesSlides/notesSlide13.xml" Id="R2da9dceb6bf44a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e4cc4c3704344d2" /><Relationship Type="http://schemas.openxmlformats.org/officeDocument/2006/relationships/notesSlide" Target="/ppt/notesSlides/notesSlide14.xml" Id="Radef02f41a4643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6a625520684262" /><Relationship Type="http://schemas.openxmlformats.org/officeDocument/2006/relationships/notesSlide" Target="/ppt/notesSlides/notesSlide15.xml" Id="R0b8916a285e04f1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3b9c7e483c54595" /><Relationship Type="http://schemas.openxmlformats.org/officeDocument/2006/relationships/notesSlide" Target="/ppt/notesSlides/notesSlide16.xml" Id="R8e2604b9e04648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7c0b6f96a4b40dc" /><Relationship Type="http://schemas.openxmlformats.org/officeDocument/2006/relationships/notesSlide" Target="/ppt/notesSlides/notesSlide17.xml" Id="R03f6fa22f3ef4d6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6088bcef4a049ee" /><Relationship Type="http://schemas.openxmlformats.org/officeDocument/2006/relationships/notesSlide" Target="/ppt/notesSlides/notesSlide18.xml" Id="Rb5d41b32460a411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3e9d55817e34435" /><Relationship Type="http://schemas.openxmlformats.org/officeDocument/2006/relationships/notesSlide" Target="/ppt/notesSlides/notesSlide19.xml" Id="R2a7d15497c6e42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a029c2b846e488b" /><Relationship Type="http://schemas.openxmlformats.org/officeDocument/2006/relationships/notesSlide" Target="/ppt/notesSlides/notesSlide20.xml" Id="R37fa3730ff7546f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c1407c36278429a" /><Relationship Type="http://schemas.openxmlformats.org/officeDocument/2006/relationships/notesSlide" Target="/ppt/notesSlides/notesSlide21.xml" Id="R683cb4b96c124f4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33cc776633f4bdf" /><Relationship Type="http://schemas.openxmlformats.org/officeDocument/2006/relationships/notesSlide" Target="/ppt/notesSlides/notesSlide22.xml" Id="R6a628d66be8a41f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b86484de284267" /><Relationship Type="http://schemas.openxmlformats.org/officeDocument/2006/relationships/notesSlide" Target="/ppt/notesSlides/notesSlide23.xml" Id="Rbec381e0effd495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44d84dd26174bfd" /><Relationship Type="http://schemas.openxmlformats.org/officeDocument/2006/relationships/notesSlide" Target="/ppt/notesSlides/notesSlide24.xml" Id="Re68b30d43e2549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267b193e2643cc" /><Relationship Type="http://schemas.openxmlformats.org/officeDocument/2006/relationships/notesSlide" Target="/ppt/notesSlides/notesSlide25.xml" Id="Rd880881bc4d54e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7dda4a689e04c8a" /><Relationship Type="http://schemas.openxmlformats.org/officeDocument/2006/relationships/notesSlide" Target="/ppt/notesSlides/notesSlide26.xml" Id="R81be3d2f6e5d4c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5abba671c54d62" /><Relationship Type="http://schemas.openxmlformats.org/officeDocument/2006/relationships/notesSlide" Target="/ppt/notesSlides/notesSlide27.xml" Id="R774a5eeaf17f4bf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8e1df0b29594657" /><Relationship Type="http://schemas.openxmlformats.org/officeDocument/2006/relationships/notesSlide" Target="/ppt/notesSlides/notesSlide28.xml" Id="R4b0b94a933a04b6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55b2cc575894839" /><Relationship Type="http://schemas.openxmlformats.org/officeDocument/2006/relationships/notesSlide" Target="/ppt/notesSlides/notesSlide29.xml" Id="R112edecfe7ab45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1fc63a7d7ad42b2" /><Relationship Type="http://schemas.openxmlformats.org/officeDocument/2006/relationships/notesSlide" Target="/ppt/notesSlides/notesSlide30.xml" Id="R71e472828dc648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ae210263d8248e7" /><Relationship Type="http://schemas.openxmlformats.org/officeDocument/2006/relationships/notesSlide" Target="/ppt/notesSlides/notesSlide31.xml" Id="R5da1a1a19fb64e1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5804f226a74707" /><Relationship Type="http://schemas.openxmlformats.org/officeDocument/2006/relationships/notesSlide" Target="/ppt/notesSlides/notesSlide32.xml" Id="R7c8437f5bbf7472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36556468b9742fe" /><Relationship Type="http://schemas.openxmlformats.org/officeDocument/2006/relationships/notesSlide" Target="/ppt/notesSlides/notesSlide33.xml" Id="R71dffef8bd714d1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cf8583becc442fa" /><Relationship Type="http://schemas.openxmlformats.org/officeDocument/2006/relationships/notesSlide" Target="/ppt/notesSlides/notesSlide34.xml" Id="Readd4423fb0a46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a0eacb17e91474c" /><Relationship Type="http://schemas.openxmlformats.org/officeDocument/2006/relationships/notesSlide" Target="/ppt/notesSlides/notesSlide35.xml" Id="Rdf3278b0ea3b4c4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0ad372dfd84d42" /><Relationship Type="http://schemas.openxmlformats.org/officeDocument/2006/relationships/notesSlide" Target="/ppt/notesSlides/notesSlide36.xml" Id="R9c747ae3c1cd42b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91bc92163ec459f" /><Relationship Type="http://schemas.openxmlformats.org/officeDocument/2006/relationships/notesSlide" Target="/ppt/notesSlides/notesSlide37.xml" Id="R58c59bfc21a2445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274afaf3e8e4866" /><Relationship Type="http://schemas.openxmlformats.org/officeDocument/2006/relationships/notesSlide" Target="/ppt/notesSlides/notesSlide38.xml" Id="R7b5d900a4907489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75604372a5d45b6" /><Relationship Type="http://schemas.openxmlformats.org/officeDocument/2006/relationships/notesSlide" Target="/ppt/notesSlides/notesSlide39.xml" Id="Rb454422e228b424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7b110e493ba46f9" /><Relationship Type="http://schemas.openxmlformats.org/officeDocument/2006/relationships/notesSlide" Target="/ppt/notesSlides/notesSlide40.xml" Id="R955e1ea332474e7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958377c63d342da" /><Relationship Type="http://schemas.openxmlformats.org/officeDocument/2006/relationships/notesSlide" Target="/ppt/notesSlides/notesSlide41.xml" Id="Raa4abc6c46a9408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acaf8871fee4743" /><Relationship Type="http://schemas.openxmlformats.org/officeDocument/2006/relationships/notesSlide" Target="/ppt/notesSlides/notesSlide42.xml" Id="R50e723341ed54cc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813294384c14cbb" /><Relationship Type="http://schemas.openxmlformats.org/officeDocument/2006/relationships/notesSlide" Target="/ppt/notesSlides/notesSlide43.xml" Id="Re7ca9e31a1fc469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55cde7c65e84d96" /><Relationship Type="http://schemas.openxmlformats.org/officeDocument/2006/relationships/notesSlide" Target="/ppt/notesSlides/notesSlide44.xml" Id="R4ae801da1ec9409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106b772753e4004" /><Relationship Type="http://schemas.openxmlformats.org/officeDocument/2006/relationships/notesSlide" Target="/ppt/notesSlides/notesSlide45.xml" Id="R422c29f5bc12439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c8c5cb46f364921" /><Relationship Type="http://schemas.openxmlformats.org/officeDocument/2006/relationships/notesSlide" Target="/ppt/notesSlides/notesSlide46.xml" Id="R6c251dbe01f04cc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1f215570a4845ab" /><Relationship Type="http://schemas.openxmlformats.org/officeDocument/2006/relationships/notesSlide" Target="/ppt/notesSlides/notesSlide47.xml" Id="R1cca0d7dff10410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8ca0a6f6fad425d" /><Relationship Type="http://schemas.openxmlformats.org/officeDocument/2006/relationships/notesSlide" Target="/ppt/notesSlides/notesSlide48.xml" Id="Rcf7cd0f7444a421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c3df40c028204909" /><Relationship Type="http://schemas.openxmlformats.org/officeDocument/2006/relationships/hyperlink" Target="https://developers.google.com/machine-learning/crash-course/llm" TargetMode="External" Id="R8992d299bd404eae" /><Relationship Type="http://schemas.openxmlformats.org/officeDocument/2006/relationships/hyperlink" Target="https://developers.google.com/machine-learning/crash-course/llm/transformers" TargetMode="External" Id="R997f13b16f8a42f4" /><Relationship Type="http://schemas.openxmlformats.org/officeDocument/2006/relationships/hyperlink" Target="https://arxiv.org/abs/1706.03762" TargetMode="External" Id="Rf54aa7e4567c47cf" /><Relationship Type="http://schemas.openxmlformats.org/officeDocument/2006/relationships/hyperlink" Target="https://cloud.google.com/vertex-ai/generative-ai/docs/learn/prompts/introduction-prompt-design" TargetMode="External" Id="Reeff46275deb439a" /><Relationship Type="http://schemas.openxmlformats.org/officeDocument/2006/relationships/hyperlink" Target="https://cloud.google.com/vertex-ai/generative-ai/docs/learn/prompts/prompt-design-strategies" TargetMode="External" Id="Rc3780a741ff04869" /><Relationship Type="http://schemas.openxmlformats.org/officeDocument/2006/relationships/notesSlide" Target="/ppt/notesSlides/notesSlide49.xml" Id="R9212f3815f3c4e6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a5a1d4cae2b407d" /><Relationship Type="http://schemas.openxmlformats.org/officeDocument/2006/relationships/hyperlink" Target="https://docs.cloud.google.com/vertex-ai/generative-ai/docs/models/tune-models" TargetMode="External" Id="R359d2d1146dd4ef2" /><Relationship Type="http://schemas.openxmlformats.org/officeDocument/2006/relationships/hyperlink" Target="https://docs.cloud.google.com/vertex-ai/generative-ai/docs" TargetMode="External" Id="R461c8d27fe884f15" /><Relationship Type="http://schemas.openxmlformats.org/officeDocument/2006/relationships/hyperlink" Target="https://docs.cloud.google.com/vertex-ai/generative-ai/docs/model-garden/explore-models" TargetMode="External" Id="R44e0598786204dc9" /><Relationship Type="http://schemas.openxmlformats.org/officeDocument/2006/relationships/hyperlink" Target="https://ai.google.dev/gemini-api/docs/libraries" TargetMode="External" Id="R987026bcde684f30" /><Relationship Type="http://schemas.openxmlformats.org/officeDocument/2006/relationships/hyperlink" Target="https://www.skills.google/focuses/63251" TargetMode="External" Id="R76f6f41157fd49f2" /><Relationship Type="http://schemas.openxmlformats.org/officeDocument/2006/relationships/notesSlide" Target="/ppt/notesSlides/notesSlide50.xml" Id="R8f566baaceac43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81F095-7165-46C6-B4D6-C9C7CE704AEA}"/>
              </a:ext>
            </a:extLst>
          </p:cNvPr>
          <p:cNvSpPr>
            <a:spLocks xmlns:a="http://schemas.openxmlformats.org/drawingml/2006/main" noGrp="1"/>
          </p:cNvSpPr>
          <p:nvPr/>
        </p:nvSpPr>
        <p:spPr>
          <a:xfrm xmlns:a="http://schemas.openxmlformats.org/drawingml/2006/main">
            <a:off x="666750" y="2381250"/>
            <a:ext cx="7239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300" b="0">
                <a:solidFill>
                  <a:srgbClr val="000000"/>
                </a:solidFill>
                <a:latin typeface="Google Sans"/>
                <a:ea typeface="Google Sans"/>
                <a:cs typeface="Google Sans"/>
              </a:defRPr>
            </a:pPr>
            <a:r>
              <a:rPr sz="3300" b="0">
                <a:solidFill>
                  <a:srgbClr val="000000"/>
                </a:solidFill>
                <a:latin typeface="Google Sans"/>
                <a:ea typeface="Google Sans"/>
                <a:cs typeface="Google Sans"/>
              </a:rPr>
              <a:t>Exploring Large</a:t>
            </a:r>
          </a:p>
          <a:p xmlns:a="http://schemas.openxmlformats.org/drawingml/2006/main">
            <a:pPr algn="l">
              <a:buNone/>
              <a:defRPr sz="3300" b="0">
                <a:solidFill>
                  <a:srgbClr val="000000"/>
                </a:solidFill>
                <a:latin typeface="Google Sans"/>
                <a:ea typeface="Google Sans"/>
                <a:cs typeface="Google Sans"/>
              </a:defRPr>
            </a:pPr>
            <a:r>
              <a:rPr sz="3300" b="0">
                <a:solidFill>
                  <a:srgbClr val="000000"/>
                </a:solidFill>
                <a:latin typeface="Google Sans"/>
                <a:ea typeface="Google Sans"/>
                <a:cs typeface="Google Sans"/>
              </a:rPr>
              <a:t>Language Models</a:t>
            </a:r>
          </a:p>
        </p:txBody>
      </p:sp>
      <p:sp>
        <p:nvSpPr>
          <p:cNvPr id="2" name="">
            <a:extLst xmlns:a="http://schemas.openxmlformats.org/drawingml/2006/main">
              <a:ext uri="{FF2B5EF4-FFF2-40B4-BE49-F238E27FC236}">
                <a16:creationId xmlns:a16="http://schemas.microsoft.com/office/drawing/2014/main" id="{CE19E11B-C47E-4309-9032-F7B63CD9914E}"/>
              </a:ext>
            </a:extLst>
          </p:cNvPr>
          <p:cNvSpPr>
            <a:spLocks xmlns:a="http://schemas.openxmlformats.org/drawingml/2006/main" noGrp="1"/>
          </p:cNvSpPr>
          <p:nvPr/>
        </p:nvSpPr>
        <p:spPr>
          <a:xfrm xmlns:a="http://schemas.openxmlformats.org/drawingml/2006/main">
            <a:off x="685800" y="3943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CSG202 · Module 2</a:t>
            </a:r>
          </a:p>
        </p:txBody>
      </p:sp>
      <p:sp>
        <p:nvSpPr>
          <p:cNvPr id="3" name="">
            <a:extLst xmlns:a="http://schemas.openxmlformats.org/drawingml/2006/main">
              <a:ext uri="{FF2B5EF4-FFF2-40B4-BE49-F238E27FC236}">
                <a16:creationId xmlns:a16="http://schemas.microsoft.com/office/drawing/2014/main" id="{593C6103-360F-4C21-968B-D72C81BBEEDC}"/>
              </a:ext>
            </a:extLst>
          </p:cNvPr>
          <p:cNvSpPr>
            <a:spLocks xmlns:a="http://schemas.openxmlformats.org/drawingml/2006/main" noGrp="1"/>
          </p:cNvSpPr>
          <p:nvPr/>
        </p:nvSpPr>
        <p:spPr>
          <a:xfrm xmlns:a="http://schemas.openxmlformats.org/drawingml/2006/main">
            <a:off x="9096375" y="0"/>
            <a:ext cx="3095625" cy="6858000"/>
          </a:xfrm>
          <a:prstGeom xmlns:a="http://schemas.openxmlformats.org/drawingml/2006/main" prst="rect">
            <a:avLst/>
          </a:prstGeom>
          <a:solidFill xmlns:a="http://schemas.openxmlformats.org/drawingml/2006/main">
            <a:srgbClr val="F8F8F8"/>
          </a:solidFill>
          <a:ln xmlns:a="http://schemas.openxmlformats.org/drawingml/2006/main" w="0">
            <a:solidFill>
              <a:srgbClr val="F8F8F8"/>
            </a:solidFill>
            <a:prstDash val="solid"/>
          </a:ln>
        </p:spPr>
      </p:sp>
      <p:sp>
        <p:nvSpPr>
          <p:cNvPr id="4" name="">
            <a:extLst xmlns:a="http://schemas.openxmlformats.org/drawingml/2006/main">
              <a:ext uri="{FF2B5EF4-FFF2-40B4-BE49-F238E27FC236}">
                <a16:creationId xmlns:a16="http://schemas.microsoft.com/office/drawing/2014/main" id="{46DBEFCB-2F78-4222-8C55-F502DE7B0C45}"/>
              </a:ext>
            </a:extLst>
          </p:cNvPr>
          <p:cNvSpPr>
            <a:spLocks xmlns:a="http://schemas.openxmlformats.org/drawingml/2006/main" noGrp="1"/>
          </p:cNvSpPr>
          <p:nvPr/>
        </p:nvSpPr>
        <p:spPr>
          <a:xfrm xmlns:a="http://schemas.openxmlformats.org/drawingml/2006/main">
            <a:off x="9763125" y="2543175"/>
            <a:ext cx="1428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3900" b="0">
                <a:solidFill>
                  <a:srgbClr val="000000"/>
                </a:solidFill>
                <a:latin typeface="Google Sans"/>
                <a:ea typeface="Google Sans"/>
                <a:cs typeface="Google Sans"/>
              </a:defRPr>
            </a:pPr>
            <a:r>
              <a:rPr sz="3900" b="0">
                <a:solidFill>
                  <a:srgbClr val="000000"/>
                </a:solidFill>
                <a:latin typeface="Google Sans"/>
                <a:ea typeface="Google Sans"/>
                <a:cs typeface="Google Sans"/>
              </a:rPr>
              <a:t>02</a:t>
            </a:r>
          </a:p>
        </p:txBody>
      </p:sp>
      <p:sp>
        <p:nvSpPr>
          <p:cNvPr id="5" name="">
            <a:extLst xmlns:a="http://schemas.openxmlformats.org/drawingml/2006/main">
              <a:ext uri="{FF2B5EF4-FFF2-40B4-BE49-F238E27FC236}">
                <a16:creationId xmlns:a16="http://schemas.microsoft.com/office/drawing/2014/main" id="{03FFB257-EC9C-47ED-9FB1-51125395A822}"/>
              </a:ext>
            </a:extLst>
          </p:cNvPr>
          <p:cNvSpPr>
            <a:spLocks xmlns:a="http://schemas.openxmlformats.org/drawingml/2006/main" noGrp="1"/>
          </p:cNvSpPr>
          <p:nvPr/>
        </p:nvSpPr>
        <p:spPr>
          <a:xfrm xmlns:a="http://schemas.openxmlformats.org/drawingml/2006/main">
            <a:off x="11001375" y="723900"/>
            <a:ext cx="209550" cy="209550"/>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6" name="">
            <a:extLst xmlns:a="http://schemas.openxmlformats.org/drawingml/2006/main">
              <a:ext uri="{FF2B5EF4-FFF2-40B4-BE49-F238E27FC236}">
                <a16:creationId xmlns:a16="http://schemas.microsoft.com/office/drawing/2014/main" id="{35ECB6ED-E2A8-47B7-8BAE-5B2674A0EEAC}"/>
              </a:ext>
            </a:extLst>
          </p:cNvPr>
          <p:cNvSpPr>
            <a:spLocks xmlns:a="http://schemas.openxmlformats.org/drawingml/2006/main" noGrp="1"/>
          </p:cNvSpPr>
          <p:nvPr/>
        </p:nvSpPr>
        <p:spPr>
          <a:xfrm xmlns:a="http://schemas.openxmlformats.org/drawingml/2006/main">
            <a:off x="10382250" y="971550"/>
            <a:ext cx="76200" cy="2476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7" name="">
            <a:extLst xmlns:a="http://schemas.openxmlformats.org/drawingml/2006/main">
              <a:ext uri="{FF2B5EF4-FFF2-40B4-BE49-F238E27FC236}">
                <a16:creationId xmlns:a16="http://schemas.microsoft.com/office/drawing/2014/main" id="{F5785666-08B1-4031-B26B-C3306AA6982A}"/>
              </a:ext>
            </a:extLst>
          </p:cNvPr>
          <p:cNvSpPr>
            <a:spLocks xmlns:a="http://schemas.openxmlformats.org/drawingml/2006/main" noGrp="1"/>
          </p:cNvSpPr>
          <p:nvPr/>
        </p:nvSpPr>
        <p:spPr>
          <a:xfrm xmlns:a="http://schemas.openxmlformats.org/drawingml/2006/main">
            <a:off x="10687050" y="5753100"/>
            <a:ext cx="266700" cy="266700"/>
          </a:xfrm>
          <a:prstGeom xmlns:a="http://schemas.openxmlformats.org/drawingml/2006/main" prst="ellipse">
            <a:avLst/>
          </a:prstGeom>
          <a:solidFill xmlns:a="http://schemas.openxmlformats.org/drawingml/2006/main">
            <a:srgbClr val="0F9D58"/>
          </a:solidFill>
          <a:ln xmlns:a="http://schemas.openxmlformats.org/drawingml/2006/main" w="0">
            <a:solidFill>
              <a:srgbClr val="0F9D58"/>
            </a:solidFill>
            <a:prstDash val="solid"/>
          </a:ln>
        </p:spPr>
      </p:sp>
      <p:sp>
        <p:nvSpPr>
          <p:cNvPr id="8" name="">
            <a:extLst xmlns:a="http://schemas.openxmlformats.org/drawingml/2006/main">
              <a:ext uri="{FF2B5EF4-FFF2-40B4-BE49-F238E27FC236}">
                <a16:creationId xmlns:a16="http://schemas.microsoft.com/office/drawing/2014/main" id="{79109FB2-817F-4B11-8F6F-CE254876A379}"/>
              </a:ext>
            </a:extLst>
          </p:cNvPr>
          <p:cNvSpPr>
            <a:spLocks xmlns:a="http://schemas.openxmlformats.org/drawingml/2006/main" noGrp="1"/>
          </p:cNvSpPr>
          <p:nvPr/>
        </p:nvSpPr>
        <p:spPr>
          <a:xfrm xmlns:a="http://schemas.openxmlformats.org/drawingml/2006/main">
            <a:off x="9677400" y="5581650"/>
            <a:ext cx="228600" cy="2286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Tree>
    <p:extLst>
      <p:ext uri="{BB962C8B-B14F-4D97-AF65-F5344CB8AC3E}">
        <p14:creationId xmlns:p14="http://schemas.microsoft.com/office/powerpoint/2010/main" val="4533460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349FCA-5DC1-4562-B6C7-08A4CEF06277}"/>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Learning objectives</a:t>
            </a:r>
          </a:p>
        </p:txBody>
      </p:sp>
      <p:sp>
        <p:nvSpPr>
          <p:cNvPr id="2" name="">
            <a:extLst xmlns:a="http://schemas.openxmlformats.org/drawingml/2006/main">
              <a:ext uri="{FF2B5EF4-FFF2-40B4-BE49-F238E27FC236}">
                <a16:creationId xmlns:a16="http://schemas.microsoft.com/office/drawing/2014/main" id="{61A327FD-53A6-4385-B7E9-50A57ECC31C6}"/>
              </a:ext>
            </a:extLst>
          </p:cNvPr>
          <p:cNvSpPr>
            <a:spLocks xmlns:a="http://schemas.openxmlformats.org/drawingml/2006/main" noGrp="1"/>
          </p:cNvSpPr>
          <p:nvPr/>
        </p:nvSpPr>
        <p:spPr>
          <a:xfrm xmlns:a="http://schemas.openxmlformats.org/drawingml/2006/main">
            <a:off x="685800" y="1428750"/>
            <a:ext cx="4953000" cy="1619250"/>
          </a:xfrm>
          <a:prstGeom xmlns:a="http://schemas.openxmlformats.org/drawingml/2006/main" prst="roundRect">
            <a:avLst>
              <a:gd name="adj" fmla="val 4706"/>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81655AA4-21E3-4C14-9B39-325B199B4304}"/>
              </a:ext>
            </a:extLst>
          </p:cNvPr>
          <p:cNvSpPr>
            <a:spLocks xmlns:a="http://schemas.openxmlformats.org/drawingml/2006/main" noGrp="1"/>
          </p:cNvSpPr>
          <p:nvPr/>
        </p:nvSpPr>
        <p:spPr>
          <a:xfrm xmlns:a="http://schemas.openxmlformats.org/drawingml/2006/main">
            <a:off x="933450" y="16764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Define an LLM</a:t>
            </a:r>
          </a:p>
        </p:txBody>
      </p:sp>
      <p:sp>
        <p:nvSpPr>
          <p:cNvPr id="4" name="">
            <a:extLst xmlns:a="http://schemas.openxmlformats.org/drawingml/2006/main">
              <a:ext uri="{FF2B5EF4-FFF2-40B4-BE49-F238E27FC236}">
                <a16:creationId xmlns:a16="http://schemas.microsoft.com/office/drawing/2014/main" id="{BEBAC6DD-35FF-4780-B545-B32EE76C7A3D}"/>
              </a:ext>
            </a:extLst>
          </p:cNvPr>
          <p:cNvSpPr>
            <a:spLocks xmlns:a="http://schemas.openxmlformats.org/drawingml/2006/main" noGrp="1"/>
          </p:cNvSpPr>
          <p:nvPr/>
        </p:nvSpPr>
        <p:spPr>
          <a:xfrm xmlns:a="http://schemas.openxmlformats.org/drawingml/2006/main">
            <a:off x="933450" y="2209800"/>
            <a:ext cx="445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Explain how large language models learn and generate text.</a:t>
            </a:r>
          </a:p>
        </p:txBody>
      </p:sp>
      <p:sp>
        <p:nvSpPr>
          <p:cNvPr id="5" name="">
            <a:extLst xmlns:a="http://schemas.openxmlformats.org/drawingml/2006/main">
              <a:ext uri="{FF2B5EF4-FFF2-40B4-BE49-F238E27FC236}">
                <a16:creationId xmlns:a16="http://schemas.microsoft.com/office/drawing/2014/main" id="{878511A2-145C-4CC1-8247-A75492DEE774}"/>
              </a:ext>
            </a:extLst>
          </p:cNvPr>
          <p:cNvSpPr>
            <a:spLocks xmlns:a="http://schemas.openxmlformats.org/drawingml/2006/main" noGrp="1"/>
          </p:cNvSpPr>
          <p:nvPr/>
        </p:nvSpPr>
        <p:spPr>
          <a:xfrm xmlns:a="http://schemas.openxmlformats.org/drawingml/2006/main">
            <a:off x="6248400" y="1428750"/>
            <a:ext cx="4953000" cy="1619250"/>
          </a:xfrm>
          <a:prstGeom xmlns:a="http://schemas.openxmlformats.org/drawingml/2006/main" prst="roundRect">
            <a:avLst>
              <a:gd name="adj" fmla="val 4706"/>
            </a:avLst>
          </a:prstGeom>
          <a:solidFill xmlns:a="http://schemas.openxmlformats.org/drawingml/2006/main">
            <a:srgbClr val="FDEFC3"/>
          </a:solidFill>
          <a:ln xmlns:a="http://schemas.openxmlformats.org/drawingml/2006/main" w="0">
            <a:solidFill>
              <a:srgbClr val="FDEFC3"/>
            </a:solidFill>
            <a:prstDash val="solid"/>
          </a:ln>
        </p:spPr>
      </p:sp>
      <p:sp>
        <p:nvSpPr>
          <p:cNvPr id="6" name="">
            <a:extLst xmlns:a="http://schemas.openxmlformats.org/drawingml/2006/main">
              <a:ext uri="{FF2B5EF4-FFF2-40B4-BE49-F238E27FC236}">
                <a16:creationId xmlns:a16="http://schemas.microsoft.com/office/drawing/2014/main" id="{356C09C0-5D9C-4B96-97EA-6A9E1FE8C752}"/>
              </a:ext>
            </a:extLst>
          </p:cNvPr>
          <p:cNvSpPr>
            <a:spLocks xmlns:a="http://schemas.openxmlformats.org/drawingml/2006/main" noGrp="1"/>
          </p:cNvSpPr>
          <p:nvPr/>
        </p:nvSpPr>
        <p:spPr>
          <a:xfrm xmlns:a="http://schemas.openxmlformats.org/drawingml/2006/main">
            <a:off x="6496050" y="16764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Trace the data flow</a:t>
            </a:r>
          </a:p>
        </p:txBody>
      </p:sp>
      <p:sp>
        <p:nvSpPr>
          <p:cNvPr id="7" name="">
            <a:extLst xmlns:a="http://schemas.openxmlformats.org/drawingml/2006/main">
              <a:ext uri="{FF2B5EF4-FFF2-40B4-BE49-F238E27FC236}">
                <a16:creationId xmlns:a16="http://schemas.microsoft.com/office/drawing/2014/main" id="{E78B6BB8-D386-42CC-A289-DBD675E2BC5F}"/>
              </a:ext>
            </a:extLst>
          </p:cNvPr>
          <p:cNvSpPr>
            <a:spLocks xmlns:a="http://schemas.openxmlformats.org/drawingml/2006/main" noGrp="1"/>
          </p:cNvSpPr>
          <p:nvPr/>
        </p:nvSpPr>
        <p:spPr>
          <a:xfrm xmlns:a="http://schemas.openxmlformats.org/drawingml/2006/main">
            <a:off x="6496050" y="2209800"/>
            <a:ext cx="445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Connect tokens, embeddings, Transformers, and inference.</a:t>
            </a:r>
          </a:p>
        </p:txBody>
      </p:sp>
      <p:sp>
        <p:nvSpPr>
          <p:cNvPr id="8" name="">
            <a:extLst xmlns:a="http://schemas.openxmlformats.org/drawingml/2006/main">
              <a:ext uri="{FF2B5EF4-FFF2-40B4-BE49-F238E27FC236}">
                <a16:creationId xmlns:a16="http://schemas.microsoft.com/office/drawing/2014/main" id="{54A9D841-9F7A-478D-BFB5-FA8C06216E8A}"/>
              </a:ext>
            </a:extLst>
          </p:cNvPr>
          <p:cNvSpPr>
            <a:spLocks xmlns:a="http://schemas.openxmlformats.org/drawingml/2006/main" noGrp="1"/>
          </p:cNvSpPr>
          <p:nvPr/>
        </p:nvSpPr>
        <p:spPr>
          <a:xfrm xmlns:a="http://schemas.openxmlformats.org/drawingml/2006/main">
            <a:off x="685800" y="3619500"/>
            <a:ext cx="4953000" cy="1619250"/>
          </a:xfrm>
          <a:prstGeom xmlns:a="http://schemas.openxmlformats.org/drawingml/2006/main" prst="roundRect">
            <a:avLst>
              <a:gd name="adj" fmla="val 4706"/>
            </a:avLst>
          </a:prstGeom>
          <a:solidFill xmlns:a="http://schemas.openxmlformats.org/drawingml/2006/main">
            <a:srgbClr val="F5C7C9"/>
          </a:solidFill>
          <a:ln xmlns:a="http://schemas.openxmlformats.org/drawingml/2006/main" w="0">
            <a:solidFill>
              <a:srgbClr val="F5C7C9"/>
            </a:solidFill>
            <a:prstDash val="solid"/>
          </a:ln>
        </p:spPr>
      </p:sp>
      <p:sp>
        <p:nvSpPr>
          <p:cNvPr id="9" name="">
            <a:extLst xmlns:a="http://schemas.openxmlformats.org/drawingml/2006/main">
              <a:ext uri="{FF2B5EF4-FFF2-40B4-BE49-F238E27FC236}">
                <a16:creationId xmlns:a16="http://schemas.microsoft.com/office/drawing/2014/main" id="{404C5DE3-EF26-468B-83AC-E774F0BD74E5}"/>
              </a:ext>
            </a:extLst>
          </p:cNvPr>
          <p:cNvSpPr>
            <a:spLocks xmlns:a="http://schemas.openxmlformats.org/drawingml/2006/main" noGrp="1"/>
          </p:cNvSpPr>
          <p:nvPr/>
        </p:nvSpPr>
        <p:spPr>
          <a:xfrm xmlns:a="http://schemas.openxmlformats.org/drawingml/2006/main">
            <a:off x="933450" y="386715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Match use cases</a:t>
            </a:r>
          </a:p>
        </p:txBody>
      </p:sp>
      <p:sp>
        <p:nvSpPr>
          <p:cNvPr id="10" name="">
            <a:extLst xmlns:a="http://schemas.openxmlformats.org/drawingml/2006/main">
              <a:ext uri="{FF2B5EF4-FFF2-40B4-BE49-F238E27FC236}">
                <a16:creationId xmlns:a16="http://schemas.microsoft.com/office/drawing/2014/main" id="{698DE99C-785B-43AE-B274-1AF806FECB12}"/>
              </a:ext>
            </a:extLst>
          </p:cNvPr>
          <p:cNvSpPr>
            <a:spLocks xmlns:a="http://schemas.openxmlformats.org/drawingml/2006/main" noGrp="1"/>
          </p:cNvSpPr>
          <p:nvPr/>
        </p:nvSpPr>
        <p:spPr>
          <a:xfrm xmlns:a="http://schemas.openxmlformats.org/drawingml/2006/main">
            <a:off x="933450" y="4400550"/>
            <a:ext cx="445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Recognize suitable tasks, limitations, and validation needs.</a:t>
            </a:r>
          </a:p>
        </p:txBody>
      </p:sp>
      <p:sp>
        <p:nvSpPr>
          <p:cNvPr id="11" name="">
            <a:extLst xmlns:a="http://schemas.openxmlformats.org/drawingml/2006/main">
              <a:ext uri="{FF2B5EF4-FFF2-40B4-BE49-F238E27FC236}">
                <a16:creationId xmlns:a16="http://schemas.microsoft.com/office/drawing/2014/main" id="{C4D3D900-0E0E-4C32-B196-95E8CED57B62}"/>
              </a:ext>
            </a:extLst>
          </p:cNvPr>
          <p:cNvSpPr>
            <a:spLocks xmlns:a="http://schemas.openxmlformats.org/drawingml/2006/main" noGrp="1"/>
          </p:cNvSpPr>
          <p:nvPr/>
        </p:nvSpPr>
        <p:spPr>
          <a:xfrm xmlns:a="http://schemas.openxmlformats.org/drawingml/2006/main">
            <a:off x="6248400" y="3619500"/>
            <a:ext cx="4953000" cy="1619250"/>
          </a:xfrm>
          <a:prstGeom xmlns:a="http://schemas.openxmlformats.org/drawingml/2006/main" prst="roundRect">
            <a:avLst>
              <a:gd name="adj" fmla="val 4706"/>
            </a:avLst>
          </a:prstGeom>
          <a:solidFill xmlns:a="http://schemas.openxmlformats.org/drawingml/2006/main">
            <a:srgbClr val="D0E1E5"/>
          </a:solidFill>
          <a:ln xmlns:a="http://schemas.openxmlformats.org/drawingml/2006/main" w="0">
            <a:solidFill>
              <a:srgbClr val="D0E1E5"/>
            </a:solidFill>
            <a:prstDash val="solid"/>
          </a:ln>
        </p:spPr>
      </p:sp>
      <p:sp>
        <p:nvSpPr>
          <p:cNvPr id="12" name="">
            <a:extLst xmlns:a="http://schemas.openxmlformats.org/drawingml/2006/main">
              <a:ext uri="{FF2B5EF4-FFF2-40B4-BE49-F238E27FC236}">
                <a16:creationId xmlns:a16="http://schemas.microsoft.com/office/drawing/2014/main" id="{AA228042-105D-4848-8045-ED35D4E866AE}"/>
              </a:ext>
            </a:extLst>
          </p:cNvPr>
          <p:cNvSpPr>
            <a:spLocks xmlns:a="http://schemas.openxmlformats.org/drawingml/2006/main" noGrp="1"/>
          </p:cNvSpPr>
          <p:nvPr/>
        </p:nvSpPr>
        <p:spPr>
          <a:xfrm xmlns:a="http://schemas.openxmlformats.org/drawingml/2006/main">
            <a:off x="6496050" y="386715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Use prompting concepts</a:t>
            </a:r>
          </a:p>
        </p:txBody>
      </p:sp>
      <p:sp>
        <p:nvSpPr>
          <p:cNvPr id="13" name="">
            <a:extLst xmlns:a="http://schemas.openxmlformats.org/drawingml/2006/main">
              <a:ext uri="{FF2B5EF4-FFF2-40B4-BE49-F238E27FC236}">
                <a16:creationId xmlns:a16="http://schemas.microsoft.com/office/drawing/2014/main" id="{FACB6BC1-583E-4924-89ED-F58096FC2288}"/>
              </a:ext>
            </a:extLst>
          </p:cNvPr>
          <p:cNvSpPr>
            <a:spLocks xmlns:a="http://schemas.openxmlformats.org/drawingml/2006/main" noGrp="1"/>
          </p:cNvSpPr>
          <p:nvPr/>
        </p:nvSpPr>
        <p:spPr>
          <a:xfrm xmlns:a="http://schemas.openxmlformats.org/drawingml/2006/main">
            <a:off x="6496050" y="4400550"/>
            <a:ext cx="445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Distinguish prompt design, prompt tuning, and fine-tuning.</a:t>
            </a:r>
          </a:p>
        </p:txBody>
      </p:sp>
    </p:spTree>
    <p:extLst>
      <p:ext uri="{BB962C8B-B14F-4D97-AF65-F5344CB8AC3E}">
        <p14:creationId xmlns:p14="http://schemas.microsoft.com/office/powerpoint/2010/main" val="19163799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C5A239E-A8B7-4208-99D8-DD77316F423D}"/>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Module topics</a:t>
            </a:r>
          </a:p>
        </p:txBody>
      </p:sp>
      <p:sp>
        <p:nvSpPr>
          <p:cNvPr id="2" name="">
            <a:extLst xmlns:a="http://schemas.openxmlformats.org/drawingml/2006/main">
              <a:ext uri="{FF2B5EF4-FFF2-40B4-BE49-F238E27FC236}">
                <a16:creationId xmlns:a16="http://schemas.microsoft.com/office/drawing/2014/main" id="{D49D28D2-9F01-4B9E-9ECA-7DC065AD9F9A}"/>
              </a:ext>
            </a:extLst>
          </p:cNvPr>
          <p:cNvSpPr>
            <a:spLocks xmlns:a="http://schemas.openxmlformats.org/drawingml/2006/main" noGrp="1"/>
          </p:cNvSpPr>
          <p:nvPr/>
        </p:nvSpPr>
        <p:spPr>
          <a:xfrm xmlns:a="http://schemas.openxmlformats.org/drawingml/2006/main">
            <a:off x="1381125" y="2686050"/>
            <a:ext cx="9382125" cy="285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3" name="">
            <a:extLst xmlns:a="http://schemas.openxmlformats.org/drawingml/2006/main">
              <a:ext uri="{FF2B5EF4-FFF2-40B4-BE49-F238E27FC236}">
                <a16:creationId xmlns:a16="http://schemas.microsoft.com/office/drawing/2014/main" id="{A2D52F20-AD78-4AA7-95B9-857B330C44C7}"/>
              </a:ext>
            </a:extLst>
          </p:cNvPr>
          <p:cNvSpPr>
            <a:spLocks xmlns:a="http://schemas.openxmlformats.org/drawingml/2006/main" noGrp="1"/>
          </p:cNvSpPr>
          <p:nvPr/>
        </p:nvSpPr>
        <p:spPr>
          <a:xfrm xmlns:a="http://schemas.openxmlformats.org/drawingml/2006/main">
            <a:off x="1066800" y="234315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4" name="">
            <a:extLst xmlns:a="http://schemas.openxmlformats.org/drawingml/2006/main">
              <a:ext uri="{FF2B5EF4-FFF2-40B4-BE49-F238E27FC236}">
                <a16:creationId xmlns:a16="http://schemas.microsoft.com/office/drawing/2014/main" id="{D2065E89-7FFF-411D-8D1F-C3DB97D3E11A}"/>
              </a:ext>
            </a:extLst>
          </p:cNvPr>
          <p:cNvSpPr>
            <a:spLocks xmlns:a="http://schemas.openxmlformats.org/drawingml/2006/main" noGrp="1"/>
          </p:cNvSpPr>
          <p:nvPr/>
        </p:nvSpPr>
        <p:spPr>
          <a:xfrm xmlns:a="http://schemas.openxmlformats.org/drawingml/2006/main">
            <a:off x="1066800" y="2466975"/>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800" b="1">
                <a:solidFill>
                  <a:srgbClr val="4285F4"/>
                </a:solidFill>
                <a:latin typeface="Google Sans Medium"/>
                <a:ea typeface="Google Sans Medium"/>
                <a:cs typeface="Google Sans Medium"/>
              </a:defRPr>
            </a:pPr>
            <a:r>
              <a:rPr sz="1800" b="1">
                <a:solidFill>
                  <a:srgbClr val="4285F4"/>
                </a:solidFill>
                <a:latin typeface="Google Sans Medium"/>
                <a:ea typeface="Google Sans Medium"/>
                <a:cs typeface="Google Sans Medium"/>
              </a:rPr>
              <a:t>1</a:t>
            </a:r>
          </a:p>
        </p:txBody>
      </p:sp>
      <p:sp>
        <p:nvSpPr>
          <p:cNvPr id="5" name="">
            <a:extLst xmlns:a="http://schemas.openxmlformats.org/drawingml/2006/main">
              <a:ext uri="{FF2B5EF4-FFF2-40B4-BE49-F238E27FC236}">
                <a16:creationId xmlns:a16="http://schemas.microsoft.com/office/drawing/2014/main" id="{FE8A2D5A-5E9A-4D24-90AF-D6EDDD7632D0}"/>
              </a:ext>
            </a:extLst>
          </p:cNvPr>
          <p:cNvSpPr>
            <a:spLocks xmlns:a="http://schemas.openxmlformats.org/drawingml/2006/main" noGrp="1"/>
          </p:cNvSpPr>
          <p:nvPr/>
        </p:nvSpPr>
        <p:spPr>
          <a:xfrm xmlns:a="http://schemas.openxmlformats.org/drawingml/2006/main">
            <a:off x="647700" y="3314700"/>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What an</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LLM is</a:t>
            </a:r>
          </a:p>
        </p:txBody>
      </p:sp>
      <p:sp>
        <p:nvSpPr>
          <p:cNvPr id="6" name="">
            <a:extLst xmlns:a="http://schemas.openxmlformats.org/drawingml/2006/main">
              <a:ext uri="{FF2B5EF4-FFF2-40B4-BE49-F238E27FC236}">
                <a16:creationId xmlns:a16="http://schemas.microsoft.com/office/drawing/2014/main" id="{C67E9D3D-40B3-48B6-A68F-52C843950CB0}"/>
              </a:ext>
            </a:extLst>
          </p:cNvPr>
          <p:cNvSpPr>
            <a:spLocks xmlns:a="http://schemas.openxmlformats.org/drawingml/2006/main" noGrp="1"/>
          </p:cNvSpPr>
          <p:nvPr/>
        </p:nvSpPr>
        <p:spPr>
          <a:xfrm xmlns:a="http://schemas.openxmlformats.org/drawingml/2006/main">
            <a:off x="3305175" y="234315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7" name="">
            <a:extLst xmlns:a="http://schemas.openxmlformats.org/drawingml/2006/main">
              <a:ext uri="{FF2B5EF4-FFF2-40B4-BE49-F238E27FC236}">
                <a16:creationId xmlns:a16="http://schemas.microsoft.com/office/drawing/2014/main" id="{846C5171-127B-4E5D-B9EA-C68919E1D3B3}"/>
              </a:ext>
            </a:extLst>
          </p:cNvPr>
          <p:cNvSpPr>
            <a:spLocks xmlns:a="http://schemas.openxmlformats.org/drawingml/2006/main" noGrp="1"/>
          </p:cNvSpPr>
          <p:nvPr/>
        </p:nvSpPr>
        <p:spPr>
          <a:xfrm xmlns:a="http://schemas.openxmlformats.org/drawingml/2006/main">
            <a:off x="3305175" y="2466975"/>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800" b="1">
                <a:solidFill>
                  <a:srgbClr val="4285F4"/>
                </a:solidFill>
                <a:latin typeface="Google Sans Medium"/>
                <a:ea typeface="Google Sans Medium"/>
                <a:cs typeface="Google Sans Medium"/>
              </a:defRPr>
            </a:pPr>
            <a:r>
              <a:rPr sz="1800" b="1">
                <a:solidFill>
                  <a:srgbClr val="4285F4"/>
                </a:solidFill>
                <a:latin typeface="Google Sans Medium"/>
                <a:ea typeface="Google Sans Medium"/>
                <a:cs typeface="Google Sans Medium"/>
              </a:rPr>
              <a:t>2</a:t>
            </a:r>
          </a:p>
        </p:txBody>
      </p:sp>
      <p:sp>
        <p:nvSpPr>
          <p:cNvPr id="8" name="">
            <a:extLst xmlns:a="http://schemas.openxmlformats.org/drawingml/2006/main">
              <a:ext uri="{FF2B5EF4-FFF2-40B4-BE49-F238E27FC236}">
                <a16:creationId xmlns:a16="http://schemas.microsoft.com/office/drawing/2014/main" id="{C7154C32-A427-41EA-8A93-146CBBAE8675}"/>
              </a:ext>
            </a:extLst>
          </p:cNvPr>
          <p:cNvSpPr>
            <a:spLocks xmlns:a="http://schemas.openxmlformats.org/drawingml/2006/main" noGrp="1"/>
          </p:cNvSpPr>
          <p:nvPr/>
        </p:nvSpPr>
        <p:spPr>
          <a:xfrm xmlns:a="http://schemas.openxmlformats.org/drawingml/2006/main">
            <a:off x="2886075" y="3314700"/>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How an</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LLM works</a:t>
            </a:r>
          </a:p>
        </p:txBody>
      </p:sp>
      <p:sp>
        <p:nvSpPr>
          <p:cNvPr id="9" name="">
            <a:extLst xmlns:a="http://schemas.openxmlformats.org/drawingml/2006/main">
              <a:ext uri="{FF2B5EF4-FFF2-40B4-BE49-F238E27FC236}">
                <a16:creationId xmlns:a16="http://schemas.microsoft.com/office/drawing/2014/main" id="{38861182-E87B-4E29-9494-5E05B06770A2}"/>
              </a:ext>
            </a:extLst>
          </p:cNvPr>
          <p:cNvSpPr>
            <a:spLocks xmlns:a="http://schemas.openxmlformats.org/drawingml/2006/main" noGrp="1"/>
          </p:cNvSpPr>
          <p:nvPr/>
        </p:nvSpPr>
        <p:spPr>
          <a:xfrm xmlns:a="http://schemas.openxmlformats.org/drawingml/2006/main">
            <a:off x="5543550" y="234315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10" name="">
            <a:extLst xmlns:a="http://schemas.openxmlformats.org/drawingml/2006/main">
              <a:ext uri="{FF2B5EF4-FFF2-40B4-BE49-F238E27FC236}">
                <a16:creationId xmlns:a16="http://schemas.microsoft.com/office/drawing/2014/main" id="{6933430D-52B7-4B5B-825D-0CC70F10E579}"/>
              </a:ext>
            </a:extLst>
          </p:cNvPr>
          <p:cNvSpPr>
            <a:spLocks xmlns:a="http://schemas.openxmlformats.org/drawingml/2006/main" noGrp="1"/>
          </p:cNvSpPr>
          <p:nvPr/>
        </p:nvSpPr>
        <p:spPr>
          <a:xfrm xmlns:a="http://schemas.openxmlformats.org/drawingml/2006/main">
            <a:off x="5543550" y="2466975"/>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800" b="1">
                <a:solidFill>
                  <a:srgbClr val="4285F4"/>
                </a:solidFill>
                <a:latin typeface="Google Sans Medium"/>
                <a:ea typeface="Google Sans Medium"/>
                <a:cs typeface="Google Sans Medium"/>
              </a:defRPr>
            </a:pPr>
            <a:r>
              <a:rPr sz="1800" b="1">
                <a:solidFill>
                  <a:srgbClr val="4285F4"/>
                </a:solidFill>
                <a:latin typeface="Google Sans Medium"/>
                <a:ea typeface="Google Sans Medium"/>
                <a:cs typeface="Google Sans Medium"/>
              </a:rPr>
              <a:t>3</a:t>
            </a:r>
          </a:p>
        </p:txBody>
      </p:sp>
      <p:sp>
        <p:nvSpPr>
          <p:cNvPr id="11" name="">
            <a:extLst xmlns:a="http://schemas.openxmlformats.org/drawingml/2006/main">
              <a:ext uri="{FF2B5EF4-FFF2-40B4-BE49-F238E27FC236}">
                <a16:creationId xmlns:a16="http://schemas.microsoft.com/office/drawing/2014/main" id="{5AF728B0-9627-420C-9DB2-E6988BF6B5CF}"/>
              </a:ext>
            </a:extLst>
          </p:cNvPr>
          <p:cNvSpPr>
            <a:spLocks xmlns:a="http://schemas.openxmlformats.org/drawingml/2006/main" noGrp="1"/>
          </p:cNvSpPr>
          <p:nvPr/>
        </p:nvSpPr>
        <p:spPr>
          <a:xfrm xmlns:a="http://schemas.openxmlformats.org/drawingml/2006/main">
            <a:off x="5124450" y="3314700"/>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Where LLMs</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are useful</a:t>
            </a:r>
          </a:p>
        </p:txBody>
      </p:sp>
      <p:sp>
        <p:nvSpPr>
          <p:cNvPr id="12" name="">
            <a:extLst xmlns:a="http://schemas.openxmlformats.org/drawingml/2006/main">
              <a:ext uri="{FF2B5EF4-FFF2-40B4-BE49-F238E27FC236}">
                <a16:creationId xmlns:a16="http://schemas.microsoft.com/office/drawing/2014/main" id="{34758401-248B-494C-99B1-380595F9AC5F}"/>
              </a:ext>
            </a:extLst>
          </p:cNvPr>
          <p:cNvSpPr>
            <a:spLocks xmlns:a="http://schemas.openxmlformats.org/drawingml/2006/main" noGrp="1"/>
          </p:cNvSpPr>
          <p:nvPr/>
        </p:nvSpPr>
        <p:spPr>
          <a:xfrm xmlns:a="http://schemas.openxmlformats.org/drawingml/2006/main">
            <a:off x="7781925" y="234315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13" name="">
            <a:extLst xmlns:a="http://schemas.openxmlformats.org/drawingml/2006/main">
              <a:ext uri="{FF2B5EF4-FFF2-40B4-BE49-F238E27FC236}">
                <a16:creationId xmlns:a16="http://schemas.microsoft.com/office/drawing/2014/main" id="{02BA4192-392F-4D84-AA0B-735C0550E7F4}"/>
              </a:ext>
            </a:extLst>
          </p:cNvPr>
          <p:cNvSpPr>
            <a:spLocks xmlns:a="http://schemas.openxmlformats.org/drawingml/2006/main" noGrp="1"/>
          </p:cNvSpPr>
          <p:nvPr/>
        </p:nvSpPr>
        <p:spPr>
          <a:xfrm xmlns:a="http://schemas.openxmlformats.org/drawingml/2006/main">
            <a:off x="7781925" y="2466975"/>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800" b="1">
                <a:solidFill>
                  <a:srgbClr val="4285F4"/>
                </a:solidFill>
                <a:latin typeface="Google Sans Medium"/>
                <a:ea typeface="Google Sans Medium"/>
                <a:cs typeface="Google Sans Medium"/>
              </a:defRPr>
            </a:pPr>
            <a:r>
              <a:rPr sz="1800" b="1">
                <a:solidFill>
                  <a:srgbClr val="4285F4"/>
                </a:solidFill>
                <a:latin typeface="Google Sans Medium"/>
                <a:ea typeface="Google Sans Medium"/>
                <a:cs typeface="Google Sans Medium"/>
              </a:rPr>
              <a:t>4</a:t>
            </a:r>
          </a:p>
        </p:txBody>
      </p:sp>
      <p:sp>
        <p:nvSpPr>
          <p:cNvPr id="14" name="">
            <a:extLst xmlns:a="http://schemas.openxmlformats.org/drawingml/2006/main">
              <a:ext uri="{FF2B5EF4-FFF2-40B4-BE49-F238E27FC236}">
                <a16:creationId xmlns:a16="http://schemas.microsoft.com/office/drawing/2014/main" id="{4ED92C86-ABD6-46C3-BBA9-FFD161C0ACCB}"/>
              </a:ext>
            </a:extLst>
          </p:cNvPr>
          <p:cNvSpPr>
            <a:spLocks xmlns:a="http://schemas.openxmlformats.org/drawingml/2006/main" noGrp="1"/>
          </p:cNvSpPr>
          <p:nvPr/>
        </p:nvSpPr>
        <p:spPr>
          <a:xfrm xmlns:a="http://schemas.openxmlformats.org/drawingml/2006/main">
            <a:off x="7362825" y="3314700"/>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Prompting</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and tuning</a:t>
            </a:r>
          </a:p>
        </p:txBody>
      </p:sp>
      <p:sp>
        <p:nvSpPr>
          <p:cNvPr id="15" name="">
            <a:extLst xmlns:a="http://schemas.openxmlformats.org/drawingml/2006/main">
              <a:ext uri="{FF2B5EF4-FFF2-40B4-BE49-F238E27FC236}">
                <a16:creationId xmlns:a16="http://schemas.microsoft.com/office/drawing/2014/main" id="{4371505F-B7FC-4732-9754-49CF9C852CEF}"/>
              </a:ext>
            </a:extLst>
          </p:cNvPr>
          <p:cNvSpPr>
            <a:spLocks xmlns:a="http://schemas.openxmlformats.org/drawingml/2006/main" noGrp="1"/>
          </p:cNvSpPr>
          <p:nvPr/>
        </p:nvSpPr>
        <p:spPr>
          <a:xfrm xmlns:a="http://schemas.openxmlformats.org/drawingml/2006/main">
            <a:off x="10020300" y="2343150"/>
            <a:ext cx="685800" cy="685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16" name="">
            <a:extLst xmlns:a="http://schemas.openxmlformats.org/drawingml/2006/main">
              <a:ext uri="{FF2B5EF4-FFF2-40B4-BE49-F238E27FC236}">
                <a16:creationId xmlns:a16="http://schemas.microsoft.com/office/drawing/2014/main" id="{33226403-6B1F-421B-B860-BCDB153AD7E7}"/>
              </a:ext>
            </a:extLst>
          </p:cNvPr>
          <p:cNvSpPr>
            <a:spLocks xmlns:a="http://schemas.openxmlformats.org/drawingml/2006/main" noGrp="1"/>
          </p:cNvSpPr>
          <p:nvPr/>
        </p:nvSpPr>
        <p:spPr>
          <a:xfrm xmlns:a="http://schemas.openxmlformats.org/drawingml/2006/main">
            <a:off x="10020300" y="2466975"/>
            <a:ext cx="685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800" b="1">
                <a:solidFill>
                  <a:srgbClr val="4285F4"/>
                </a:solidFill>
                <a:latin typeface="Google Sans Medium"/>
                <a:ea typeface="Google Sans Medium"/>
                <a:cs typeface="Google Sans Medium"/>
              </a:defRPr>
            </a:pPr>
            <a:r>
              <a:rPr sz="1800" b="1">
                <a:solidFill>
                  <a:srgbClr val="4285F4"/>
                </a:solidFill>
                <a:latin typeface="Google Sans Medium"/>
                <a:ea typeface="Google Sans Medium"/>
                <a:cs typeface="Google Sans Medium"/>
              </a:rPr>
              <a:t>5</a:t>
            </a:r>
          </a:p>
        </p:txBody>
      </p:sp>
      <p:sp>
        <p:nvSpPr>
          <p:cNvPr id="17" name="">
            <a:extLst xmlns:a="http://schemas.openxmlformats.org/drawingml/2006/main">
              <a:ext uri="{FF2B5EF4-FFF2-40B4-BE49-F238E27FC236}">
                <a16:creationId xmlns:a16="http://schemas.microsoft.com/office/drawing/2014/main" id="{C3E7EE9E-6F0C-4FAC-9000-637EEAB73B03}"/>
              </a:ext>
            </a:extLst>
          </p:cNvPr>
          <p:cNvSpPr>
            <a:spLocks xmlns:a="http://schemas.openxmlformats.org/drawingml/2006/main" noGrp="1"/>
          </p:cNvSpPr>
          <p:nvPr/>
        </p:nvSpPr>
        <p:spPr>
          <a:xfrm xmlns:a="http://schemas.openxmlformats.org/drawingml/2006/main">
            <a:off x="9601200" y="3314700"/>
            <a:ext cx="152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Google Gen AI</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tools</a:t>
            </a:r>
          </a:p>
        </p:txBody>
      </p:sp>
    </p:spTree>
    <p:extLst>
      <p:ext uri="{BB962C8B-B14F-4D97-AF65-F5344CB8AC3E}">
        <p14:creationId xmlns:p14="http://schemas.microsoft.com/office/powerpoint/2010/main" val="6096260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7040D2-708F-4333-8E72-ACE99EBC650B}"/>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A0937FA6-F8F7-4FB0-BFBF-C429781DC406}"/>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01</a:t>
            </a:r>
          </a:p>
        </p:txBody>
      </p:sp>
      <p:sp>
        <p:nvSpPr>
          <p:cNvPr id="3" name="">
            <a:extLst xmlns:a="http://schemas.openxmlformats.org/drawingml/2006/main">
              <a:ext uri="{FF2B5EF4-FFF2-40B4-BE49-F238E27FC236}">
                <a16:creationId xmlns:a16="http://schemas.microsoft.com/office/drawing/2014/main" id="{8B00096E-5F2F-4479-9028-E75F0F8F20D4}"/>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44F4B4B2-A937-4388-B614-55EB5DDC2354}"/>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Large language models</a:t>
            </a:r>
          </a:p>
        </p:txBody>
      </p:sp>
      <p:sp>
        <p:nvSpPr>
          <p:cNvPr id="5" name="">
            <a:extLst xmlns:a="http://schemas.openxmlformats.org/drawingml/2006/main">
              <a:ext uri="{FF2B5EF4-FFF2-40B4-BE49-F238E27FC236}">
                <a16:creationId xmlns:a16="http://schemas.microsoft.com/office/drawing/2014/main" id="{50023844-E138-4903-ABAD-55F2DBB7DE50}"/>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Definition, scale, evolution, and model families</a:t>
            </a:r>
          </a:p>
        </p:txBody>
      </p:sp>
    </p:spTree>
    <p:extLst>
      <p:ext uri="{BB962C8B-B14F-4D97-AF65-F5344CB8AC3E}">
        <p14:creationId xmlns:p14="http://schemas.microsoft.com/office/powerpoint/2010/main" val="6037314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821103A-6BD5-43E3-9B6D-67814C3994D3}"/>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An LLM predicts language from learned patterns</a:t>
            </a:r>
          </a:p>
        </p:txBody>
      </p:sp>
      <p:sp>
        <p:nvSpPr>
          <p:cNvPr id="2" name="">
            <a:extLst xmlns:a="http://schemas.openxmlformats.org/drawingml/2006/main">
              <a:ext uri="{FF2B5EF4-FFF2-40B4-BE49-F238E27FC236}">
                <a16:creationId xmlns:a16="http://schemas.microsoft.com/office/drawing/2014/main" id="{188A84C0-7D13-488A-B08D-4C187A7B3183}"/>
              </a:ext>
            </a:extLst>
          </p:cNvPr>
          <p:cNvSpPr>
            <a:spLocks xmlns:a="http://schemas.openxmlformats.org/drawingml/2006/main" noGrp="1"/>
          </p:cNvSpPr>
          <p:nvPr/>
        </p:nvSpPr>
        <p:spPr>
          <a:xfrm xmlns:a="http://schemas.openxmlformats.org/drawingml/2006/main">
            <a:off x="666750" y="1409700"/>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A language model estimates which token is likely to come next in a sequence.</a:t>
            </a:r>
          </a:p>
        </p:txBody>
      </p:sp>
      <p:sp>
        <p:nvSpPr>
          <p:cNvPr id="3" name="">
            <a:extLst xmlns:a="http://schemas.openxmlformats.org/drawingml/2006/main">
              <a:ext uri="{FF2B5EF4-FFF2-40B4-BE49-F238E27FC236}">
                <a16:creationId xmlns:a16="http://schemas.microsoft.com/office/drawing/2014/main" id="{69A69CD3-9426-4677-B612-62F5722BB883}"/>
              </a:ext>
            </a:extLst>
          </p:cNvPr>
          <p:cNvSpPr>
            <a:spLocks xmlns:a="http://schemas.openxmlformats.org/drawingml/2006/main" noGrp="1"/>
          </p:cNvSpPr>
          <p:nvPr/>
        </p:nvSpPr>
        <p:spPr>
          <a:xfrm xmlns:a="http://schemas.openxmlformats.org/drawingml/2006/main">
            <a:off x="742950" y="26574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4" name="">
            <a:extLst xmlns:a="http://schemas.openxmlformats.org/drawingml/2006/main">
              <a:ext uri="{FF2B5EF4-FFF2-40B4-BE49-F238E27FC236}">
                <a16:creationId xmlns:a16="http://schemas.microsoft.com/office/drawing/2014/main" id="{79A1185C-76BE-4898-A860-A2698119480D}"/>
              </a:ext>
            </a:extLst>
          </p:cNvPr>
          <p:cNvSpPr>
            <a:spLocks xmlns:a="http://schemas.openxmlformats.org/drawingml/2006/main" noGrp="1"/>
          </p:cNvSpPr>
          <p:nvPr/>
        </p:nvSpPr>
        <p:spPr>
          <a:xfrm xmlns:a="http://schemas.openxmlformats.org/drawingml/2006/main">
            <a:off x="971550" y="257175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“Large” usually refers to model capacity, training data, and compute—not only parameter count.</a:t>
            </a:r>
          </a:p>
        </p:txBody>
      </p:sp>
      <p:sp>
        <p:nvSpPr>
          <p:cNvPr id="5" name="">
            <a:extLst xmlns:a="http://schemas.openxmlformats.org/drawingml/2006/main">
              <a:ext uri="{FF2B5EF4-FFF2-40B4-BE49-F238E27FC236}">
                <a16:creationId xmlns:a16="http://schemas.microsoft.com/office/drawing/2014/main" id="{9C0BA473-1564-45C1-B73E-ED2E0CEAC3D0}"/>
              </a:ext>
            </a:extLst>
          </p:cNvPr>
          <p:cNvSpPr>
            <a:spLocks xmlns:a="http://schemas.openxmlformats.org/drawingml/2006/main" noGrp="1"/>
          </p:cNvSpPr>
          <p:nvPr/>
        </p:nvSpPr>
        <p:spPr>
          <a:xfrm xmlns:a="http://schemas.openxmlformats.org/drawingml/2006/main">
            <a:off x="742950" y="340042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6" name="">
            <a:extLst xmlns:a="http://schemas.openxmlformats.org/drawingml/2006/main">
              <a:ext uri="{FF2B5EF4-FFF2-40B4-BE49-F238E27FC236}">
                <a16:creationId xmlns:a16="http://schemas.microsoft.com/office/drawing/2014/main" id="{32D81695-77D1-427C-8C71-91B5D065D788}"/>
              </a:ext>
            </a:extLst>
          </p:cNvPr>
          <p:cNvSpPr>
            <a:spLocks xmlns:a="http://schemas.openxmlformats.org/drawingml/2006/main" noGrp="1"/>
          </p:cNvSpPr>
          <p:nvPr/>
        </p:nvSpPr>
        <p:spPr>
          <a:xfrm xmlns:a="http://schemas.openxmlformats.org/drawingml/2006/main">
            <a:off x="971550" y="33147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The model stores statistical patterns in learned numerical weights, not a searchable copy of every source.</a:t>
            </a:r>
          </a:p>
        </p:txBody>
      </p:sp>
      <p:sp>
        <p:nvSpPr>
          <p:cNvPr id="7" name="">
            <a:extLst xmlns:a="http://schemas.openxmlformats.org/drawingml/2006/main">
              <a:ext uri="{FF2B5EF4-FFF2-40B4-BE49-F238E27FC236}">
                <a16:creationId xmlns:a16="http://schemas.microsoft.com/office/drawing/2014/main" id="{66432813-DA32-47B1-9AD6-E669F957A8DA}"/>
              </a:ext>
            </a:extLst>
          </p:cNvPr>
          <p:cNvSpPr>
            <a:spLocks xmlns:a="http://schemas.openxmlformats.org/drawingml/2006/main" noGrp="1"/>
          </p:cNvSpPr>
          <p:nvPr/>
        </p:nvSpPr>
        <p:spPr>
          <a:xfrm xmlns:a="http://schemas.openxmlformats.org/drawingml/2006/main">
            <a:off x="742950" y="41433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8" name="">
            <a:extLst xmlns:a="http://schemas.openxmlformats.org/drawingml/2006/main">
              <a:ext uri="{FF2B5EF4-FFF2-40B4-BE49-F238E27FC236}">
                <a16:creationId xmlns:a16="http://schemas.microsoft.com/office/drawing/2014/main" id="{38FC0583-3130-4DDE-8A53-9F22EA93983C}"/>
              </a:ext>
            </a:extLst>
          </p:cNvPr>
          <p:cNvSpPr>
            <a:spLocks xmlns:a="http://schemas.openxmlformats.org/drawingml/2006/main" noGrp="1"/>
          </p:cNvSpPr>
          <p:nvPr/>
        </p:nvSpPr>
        <p:spPr>
          <a:xfrm xmlns:a="http://schemas.openxmlformats.org/drawingml/2006/main">
            <a:off x="971550" y="405765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Generating one token repeatedly can produce paragraphs, code, summaries, or dialogue.</a:t>
            </a:r>
          </a:p>
        </p:txBody>
      </p:sp>
      <p:sp>
        <p:nvSpPr>
          <p:cNvPr id="9" name="">
            <a:extLst xmlns:a="http://schemas.openxmlformats.org/drawingml/2006/main">
              <a:ext uri="{FF2B5EF4-FFF2-40B4-BE49-F238E27FC236}">
                <a16:creationId xmlns:a16="http://schemas.microsoft.com/office/drawing/2014/main" id="{58D19557-AFB1-47C8-B3C3-6A241200CF49}"/>
              </a:ext>
            </a:extLst>
          </p:cNvPr>
          <p:cNvSpPr>
            <a:spLocks xmlns:a="http://schemas.openxmlformats.org/drawingml/2006/main" noGrp="1"/>
          </p:cNvSpPr>
          <p:nvPr/>
        </p:nvSpPr>
        <p:spPr>
          <a:xfrm xmlns:a="http://schemas.openxmlformats.org/drawingml/2006/main">
            <a:off x="6762750" y="1733550"/>
            <a:ext cx="1524000" cy="704850"/>
          </a:xfrm>
          <a:prstGeom xmlns:a="http://schemas.openxmlformats.org/drawingml/2006/main" prst="roundRect">
            <a:avLst>
              <a:gd name="adj" fmla="val 10811"/>
            </a:avLst>
          </a:prstGeom>
          <a:solidFill xmlns:a="http://schemas.openxmlformats.org/drawingml/2006/main">
            <a:srgbClr val="C6DAFC"/>
          </a:solidFill>
          <a:ln xmlns:a="http://schemas.openxmlformats.org/drawingml/2006/main" w="0">
            <a:solidFill>
              <a:srgbClr val="C6DAFC"/>
            </a:solidFill>
            <a:prstDash val="solid"/>
          </a:ln>
        </p:spPr>
      </p:sp>
      <p:sp>
        <p:nvSpPr>
          <p:cNvPr id="10" name="">
            <a:extLst xmlns:a="http://schemas.openxmlformats.org/drawingml/2006/main">
              <a:ext uri="{FF2B5EF4-FFF2-40B4-BE49-F238E27FC236}">
                <a16:creationId xmlns:a16="http://schemas.microsoft.com/office/drawing/2014/main" id="{6D8C33F1-FD87-4230-9DC4-1AC267617D9D}"/>
              </a:ext>
            </a:extLst>
          </p:cNvPr>
          <p:cNvSpPr>
            <a:spLocks xmlns:a="http://schemas.openxmlformats.org/drawingml/2006/main" noGrp="1"/>
          </p:cNvSpPr>
          <p:nvPr/>
        </p:nvSpPr>
        <p:spPr>
          <a:xfrm xmlns:a="http://schemas.openxmlformats.org/drawingml/2006/main">
            <a:off x="6915150" y="1828800"/>
            <a:ext cx="1219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000000"/>
                </a:solidFill>
                <a:latin typeface="Google Sans Text"/>
                <a:ea typeface="Google Sans Text"/>
                <a:cs typeface="Google Sans Text"/>
              </a:defRPr>
            </a:pPr>
            <a:r>
              <a:rPr sz="1650" b="1">
                <a:solidFill>
                  <a:srgbClr val="000000"/>
                </a:solidFill>
                <a:latin typeface="Google Sans Text"/>
                <a:ea typeface="Google Sans Text"/>
                <a:cs typeface="Google Sans Text"/>
              </a:rPr>
              <a:t>Prompt</a:t>
            </a:r>
          </a:p>
        </p:txBody>
      </p:sp>
      <p:sp>
        <p:nvSpPr>
          <p:cNvPr id="11" name="">
            <a:extLst xmlns:a="http://schemas.openxmlformats.org/drawingml/2006/main">
              <a:ext uri="{FF2B5EF4-FFF2-40B4-BE49-F238E27FC236}">
                <a16:creationId xmlns:a16="http://schemas.microsoft.com/office/drawing/2014/main" id="{790AC860-0441-4923-8499-44F3C15F04CB}"/>
              </a:ext>
            </a:extLst>
          </p:cNvPr>
          <p:cNvSpPr>
            <a:spLocks xmlns:a="http://schemas.openxmlformats.org/drawingml/2006/main" noGrp="1"/>
          </p:cNvSpPr>
          <p:nvPr/>
        </p:nvSpPr>
        <p:spPr>
          <a:xfrm xmlns:a="http://schemas.openxmlformats.org/drawingml/2006/main">
            <a:off x="8477250" y="1809750"/>
            <a:ext cx="533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300" b="0">
                <a:solidFill>
                  <a:srgbClr val="9AA0A6"/>
                </a:solidFill>
                <a:latin typeface="Google Sans Text"/>
                <a:ea typeface="Google Sans Text"/>
                <a:cs typeface="Google Sans Text"/>
              </a:defRPr>
            </a:pPr>
            <a:r>
              <a:rPr sz="3300" b="0">
                <a:solidFill>
                  <a:srgbClr val="9AA0A6"/>
                </a:solidFill>
                <a:latin typeface="Google Sans Text"/>
                <a:ea typeface="Google Sans Text"/>
                <a:cs typeface="Google Sans Text"/>
              </a:rPr>
              <a:t>›</a:t>
            </a:r>
          </a:p>
        </p:txBody>
      </p:sp>
      <p:sp>
        <p:nvSpPr>
          <p:cNvPr id="12" name="">
            <a:extLst xmlns:a="http://schemas.openxmlformats.org/drawingml/2006/main">
              <a:ext uri="{FF2B5EF4-FFF2-40B4-BE49-F238E27FC236}">
                <a16:creationId xmlns:a16="http://schemas.microsoft.com/office/drawing/2014/main" id="{C49A8409-C4D9-4EA2-A606-B116125A7E29}"/>
              </a:ext>
            </a:extLst>
          </p:cNvPr>
          <p:cNvSpPr>
            <a:spLocks xmlns:a="http://schemas.openxmlformats.org/drawingml/2006/main" noGrp="1"/>
          </p:cNvSpPr>
          <p:nvPr/>
        </p:nvSpPr>
        <p:spPr>
          <a:xfrm xmlns:a="http://schemas.openxmlformats.org/drawingml/2006/main">
            <a:off x="9048750" y="1733550"/>
            <a:ext cx="1619250" cy="704850"/>
          </a:xfrm>
          <a:prstGeom xmlns:a="http://schemas.openxmlformats.org/drawingml/2006/main" prst="roundRect">
            <a:avLst>
              <a:gd name="adj" fmla="val 10811"/>
            </a:avLst>
          </a:prstGeom>
          <a:solidFill xmlns:a="http://schemas.openxmlformats.org/drawingml/2006/main">
            <a:srgbClr val="FDEFC3"/>
          </a:solidFill>
          <a:ln xmlns:a="http://schemas.openxmlformats.org/drawingml/2006/main" w="0">
            <a:solidFill>
              <a:srgbClr val="FDEFC3"/>
            </a:solidFill>
            <a:prstDash val="solid"/>
          </a:ln>
        </p:spPr>
      </p:sp>
      <p:sp>
        <p:nvSpPr>
          <p:cNvPr id="13" name="">
            <a:extLst xmlns:a="http://schemas.openxmlformats.org/drawingml/2006/main">
              <a:ext uri="{FF2B5EF4-FFF2-40B4-BE49-F238E27FC236}">
                <a16:creationId xmlns:a16="http://schemas.microsoft.com/office/drawing/2014/main" id="{C1A7A4F6-A3CF-4360-AEAE-D1BFC6E3054D}"/>
              </a:ext>
            </a:extLst>
          </p:cNvPr>
          <p:cNvSpPr>
            <a:spLocks xmlns:a="http://schemas.openxmlformats.org/drawingml/2006/main" noGrp="1"/>
          </p:cNvSpPr>
          <p:nvPr/>
        </p:nvSpPr>
        <p:spPr>
          <a:xfrm xmlns:a="http://schemas.openxmlformats.org/drawingml/2006/main">
            <a:off x="9201150" y="1828800"/>
            <a:ext cx="1314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1">
                <a:solidFill>
                  <a:srgbClr val="000000"/>
                </a:solidFill>
                <a:latin typeface="Google Sans Text"/>
                <a:ea typeface="Google Sans Text"/>
                <a:cs typeface="Google Sans Text"/>
              </a:defRPr>
            </a:pPr>
            <a:r>
              <a:rPr sz="1650" b="1">
                <a:solidFill>
                  <a:srgbClr val="000000"/>
                </a:solidFill>
                <a:latin typeface="Google Sans Text"/>
                <a:ea typeface="Google Sans Text"/>
                <a:cs typeface="Google Sans Text"/>
              </a:rPr>
              <a:t>LLM</a:t>
            </a:r>
          </a:p>
        </p:txBody>
      </p:sp>
      <p:sp>
        <p:nvSpPr>
          <p:cNvPr id="14" name="">
            <a:extLst xmlns:a="http://schemas.openxmlformats.org/drawingml/2006/main">
              <a:ext uri="{FF2B5EF4-FFF2-40B4-BE49-F238E27FC236}">
                <a16:creationId xmlns:a16="http://schemas.microsoft.com/office/drawing/2014/main" id="{4476CF05-C85A-4569-8B31-D842AAEE7FB0}"/>
              </a:ext>
            </a:extLst>
          </p:cNvPr>
          <p:cNvSpPr>
            <a:spLocks xmlns:a="http://schemas.openxmlformats.org/drawingml/2006/main" noGrp="1"/>
          </p:cNvSpPr>
          <p:nvPr/>
        </p:nvSpPr>
        <p:spPr>
          <a:xfrm xmlns:a="http://schemas.openxmlformats.org/drawingml/2006/main">
            <a:off x="8543925" y="354330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15" name="">
            <a:extLst xmlns:a="http://schemas.openxmlformats.org/drawingml/2006/main">
              <a:ext uri="{FF2B5EF4-FFF2-40B4-BE49-F238E27FC236}">
                <a16:creationId xmlns:a16="http://schemas.microsoft.com/office/drawing/2014/main" id="{7388DBDE-5C92-4BB9-80D6-4A65DE8A42D6}"/>
              </a:ext>
            </a:extLst>
          </p:cNvPr>
          <p:cNvSpPr>
            <a:spLocks xmlns:a="http://schemas.openxmlformats.org/drawingml/2006/main" noGrp="1"/>
          </p:cNvSpPr>
          <p:nvPr/>
        </p:nvSpPr>
        <p:spPr>
          <a:xfrm xmlns:a="http://schemas.openxmlformats.org/drawingml/2006/main">
            <a:off x="8877300" y="4095750"/>
            <a:ext cx="2000250" cy="876300"/>
          </a:xfrm>
          <a:prstGeom xmlns:a="http://schemas.openxmlformats.org/drawingml/2006/main" prst="roundRect">
            <a:avLst>
              <a:gd name="adj" fmla="val 8696"/>
            </a:avLst>
          </a:prstGeom>
          <a:solidFill xmlns:a="http://schemas.openxmlformats.org/drawingml/2006/main">
            <a:srgbClr val="F5C7C9"/>
          </a:solidFill>
          <a:ln xmlns:a="http://schemas.openxmlformats.org/drawingml/2006/main" w="0">
            <a:solidFill>
              <a:srgbClr val="F5C7C9"/>
            </a:solidFill>
            <a:prstDash val="solid"/>
          </a:ln>
        </p:spPr>
      </p:sp>
      <p:sp>
        <p:nvSpPr>
          <p:cNvPr id="16" name="">
            <a:extLst xmlns:a="http://schemas.openxmlformats.org/drawingml/2006/main">
              <a:ext uri="{FF2B5EF4-FFF2-40B4-BE49-F238E27FC236}">
                <a16:creationId xmlns:a16="http://schemas.microsoft.com/office/drawing/2014/main" id="{37046D8C-7E44-4C57-9AD4-4CF414BBB6B1}"/>
              </a:ext>
            </a:extLst>
          </p:cNvPr>
          <p:cNvSpPr>
            <a:spLocks xmlns:a="http://schemas.openxmlformats.org/drawingml/2006/main" noGrp="1"/>
          </p:cNvSpPr>
          <p:nvPr/>
        </p:nvSpPr>
        <p:spPr>
          <a:xfrm xmlns:a="http://schemas.openxmlformats.org/drawingml/2006/main">
            <a:off x="9029700" y="4191000"/>
            <a:ext cx="1695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Text"/>
                <a:ea typeface="Google Sans Text"/>
                <a:cs typeface="Google Sans Text"/>
              </a:defRPr>
            </a:pPr>
            <a:r>
              <a:rPr sz="1500" b="1">
                <a:solidFill>
                  <a:srgbClr val="000000"/>
                </a:solidFill>
                <a:latin typeface="Google Sans Text"/>
                <a:ea typeface="Google Sans Text"/>
                <a:cs typeface="Google Sans Text"/>
              </a:rPr>
              <a:t>next-token</a:t>
            </a:r>
          </a:p>
          <a:p xmlns:a="http://schemas.openxmlformats.org/drawingml/2006/main">
            <a:pPr algn="ctr">
              <a:buNone/>
              <a:defRPr sz="1500" b="1">
                <a:solidFill>
                  <a:srgbClr val="000000"/>
                </a:solidFill>
                <a:latin typeface="Google Sans Text"/>
                <a:ea typeface="Google Sans Text"/>
                <a:cs typeface="Google Sans Text"/>
              </a:defRPr>
            </a:pPr>
            <a:r>
              <a:rPr sz="1500" b="1">
                <a:solidFill>
                  <a:srgbClr val="000000"/>
                </a:solidFill>
                <a:latin typeface="Google Sans Text"/>
                <a:ea typeface="Google Sans Text"/>
                <a:cs typeface="Google Sans Text"/>
              </a:rPr>
              <a:t>probabilities</a:t>
            </a:r>
          </a:p>
        </p:txBody>
      </p:sp>
      <p:sp>
        <p:nvSpPr>
          <p:cNvPr id="17" name="">
            <a:extLst xmlns:a="http://schemas.openxmlformats.org/drawingml/2006/main">
              <a:ext uri="{FF2B5EF4-FFF2-40B4-BE49-F238E27FC236}">
                <a16:creationId xmlns:a16="http://schemas.microsoft.com/office/drawing/2014/main" id="{00AACF00-13FF-4EC5-A441-2C9B7B82EFCD}"/>
              </a:ext>
            </a:extLst>
          </p:cNvPr>
          <p:cNvSpPr>
            <a:spLocks xmlns:a="http://schemas.openxmlformats.org/drawingml/2006/main" noGrp="1"/>
          </p:cNvSpPr>
          <p:nvPr/>
        </p:nvSpPr>
        <p:spPr>
          <a:xfrm xmlns:a="http://schemas.openxmlformats.org/drawingml/2006/main">
            <a:off x="6572250" y="302895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The library is open until ___</a:t>
            </a:r>
          </a:p>
        </p:txBody>
      </p:sp>
      <p:sp>
        <p:nvSpPr>
          <p:cNvPr id="18" name="">
            <a:extLst xmlns:a="http://schemas.openxmlformats.org/drawingml/2006/main">
              <a:ext uri="{FF2B5EF4-FFF2-40B4-BE49-F238E27FC236}">
                <a16:creationId xmlns:a16="http://schemas.microsoft.com/office/drawing/2014/main" id="{D6288BD3-A76D-4407-9DF6-876A9F7BB8E9}"/>
              </a:ext>
            </a:extLst>
          </p:cNvPr>
          <p:cNvSpPr>
            <a:spLocks xmlns:a="http://schemas.openxmlformats.org/drawingml/2006/main" noGrp="1"/>
          </p:cNvSpPr>
          <p:nvPr/>
        </p:nvSpPr>
        <p:spPr>
          <a:xfrm xmlns:a="http://schemas.openxmlformats.org/drawingml/2006/main">
            <a:off x="6572250" y="5314950"/>
            <a:ext cx="1381125" cy="495300"/>
          </a:xfrm>
          <a:prstGeom xmlns:a="http://schemas.openxmlformats.org/drawingml/2006/main" prst="roundRect">
            <a:avLst>
              <a:gd name="adj" fmla="val 15385"/>
            </a:avLst>
          </a:prstGeom>
          <a:solidFill xmlns:a="http://schemas.openxmlformats.org/drawingml/2006/main">
            <a:srgbClr val="D0E1E5"/>
          </a:solidFill>
          <a:ln xmlns:a="http://schemas.openxmlformats.org/drawingml/2006/main" w="0">
            <a:solidFill>
              <a:srgbClr val="D0E1E5"/>
            </a:solidFill>
            <a:prstDash val="solid"/>
          </a:ln>
        </p:spPr>
      </p:sp>
      <p:sp>
        <p:nvSpPr>
          <p:cNvPr id="19" name="">
            <a:extLst xmlns:a="http://schemas.openxmlformats.org/drawingml/2006/main">
              <a:ext uri="{FF2B5EF4-FFF2-40B4-BE49-F238E27FC236}">
                <a16:creationId xmlns:a16="http://schemas.microsoft.com/office/drawing/2014/main" id="{2694EFEE-BF18-4C3B-ACD8-8734E6C36792}"/>
              </a:ext>
            </a:extLst>
          </p:cNvPr>
          <p:cNvSpPr>
            <a:spLocks xmlns:a="http://schemas.openxmlformats.org/drawingml/2006/main" noGrp="1"/>
          </p:cNvSpPr>
          <p:nvPr/>
        </p:nvSpPr>
        <p:spPr>
          <a:xfrm xmlns:a="http://schemas.openxmlformats.org/drawingml/2006/main">
            <a:off x="6724650" y="5410200"/>
            <a:ext cx="1076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8 pm  42%</a:t>
            </a:r>
          </a:p>
        </p:txBody>
      </p:sp>
      <p:sp>
        <p:nvSpPr>
          <p:cNvPr id="20" name="">
            <a:extLst xmlns:a="http://schemas.openxmlformats.org/drawingml/2006/main">
              <a:ext uri="{FF2B5EF4-FFF2-40B4-BE49-F238E27FC236}">
                <a16:creationId xmlns:a16="http://schemas.microsoft.com/office/drawing/2014/main" id="{B19309CC-CA17-43B2-BD8C-99517099F4ED}"/>
              </a:ext>
            </a:extLst>
          </p:cNvPr>
          <p:cNvSpPr>
            <a:spLocks xmlns:a="http://schemas.openxmlformats.org/drawingml/2006/main" noGrp="1"/>
          </p:cNvSpPr>
          <p:nvPr/>
        </p:nvSpPr>
        <p:spPr>
          <a:xfrm xmlns:a="http://schemas.openxmlformats.org/drawingml/2006/main">
            <a:off x="8143875" y="5314950"/>
            <a:ext cx="1381125" cy="495300"/>
          </a:xfrm>
          <a:prstGeom xmlns:a="http://schemas.openxmlformats.org/drawingml/2006/main" prst="roundRect">
            <a:avLst>
              <a:gd name="adj" fmla="val 15385"/>
            </a:avLst>
          </a:prstGeom>
          <a:solidFill xmlns:a="http://schemas.openxmlformats.org/drawingml/2006/main">
            <a:srgbClr val="D0E1E5"/>
          </a:solidFill>
          <a:ln xmlns:a="http://schemas.openxmlformats.org/drawingml/2006/main" w="0">
            <a:solidFill>
              <a:srgbClr val="D0E1E5"/>
            </a:solidFill>
            <a:prstDash val="solid"/>
          </a:ln>
        </p:spPr>
      </p:sp>
      <p:sp>
        <p:nvSpPr>
          <p:cNvPr id="21" name="">
            <a:extLst xmlns:a="http://schemas.openxmlformats.org/drawingml/2006/main">
              <a:ext uri="{FF2B5EF4-FFF2-40B4-BE49-F238E27FC236}">
                <a16:creationId xmlns:a16="http://schemas.microsoft.com/office/drawing/2014/main" id="{1D418CDB-BEDF-4CC0-8767-E3ACB5A57415}"/>
              </a:ext>
            </a:extLst>
          </p:cNvPr>
          <p:cNvSpPr>
            <a:spLocks xmlns:a="http://schemas.openxmlformats.org/drawingml/2006/main" noGrp="1"/>
          </p:cNvSpPr>
          <p:nvPr/>
        </p:nvSpPr>
        <p:spPr>
          <a:xfrm xmlns:a="http://schemas.openxmlformats.org/drawingml/2006/main">
            <a:off x="8296275" y="5410200"/>
            <a:ext cx="1076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6 pm  31%</a:t>
            </a:r>
          </a:p>
        </p:txBody>
      </p:sp>
      <p:sp>
        <p:nvSpPr>
          <p:cNvPr id="22" name="">
            <a:extLst xmlns:a="http://schemas.openxmlformats.org/drawingml/2006/main">
              <a:ext uri="{FF2B5EF4-FFF2-40B4-BE49-F238E27FC236}">
                <a16:creationId xmlns:a16="http://schemas.microsoft.com/office/drawing/2014/main" id="{860D1C25-38F5-477D-B72A-8909B69070C3}"/>
              </a:ext>
            </a:extLst>
          </p:cNvPr>
          <p:cNvSpPr>
            <a:spLocks xmlns:a="http://schemas.openxmlformats.org/drawingml/2006/main" noGrp="1"/>
          </p:cNvSpPr>
          <p:nvPr/>
        </p:nvSpPr>
        <p:spPr>
          <a:xfrm xmlns:a="http://schemas.openxmlformats.org/drawingml/2006/main">
            <a:off x="9715500" y="5314950"/>
            <a:ext cx="1524000" cy="495300"/>
          </a:xfrm>
          <a:prstGeom xmlns:a="http://schemas.openxmlformats.org/drawingml/2006/main" prst="roundRect">
            <a:avLst>
              <a:gd name="adj" fmla="val 15385"/>
            </a:avLst>
          </a:prstGeom>
          <a:solidFill xmlns:a="http://schemas.openxmlformats.org/drawingml/2006/main">
            <a:srgbClr val="D0E1E5"/>
          </a:solidFill>
          <a:ln xmlns:a="http://schemas.openxmlformats.org/drawingml/2006/main" w="0">
            <a:solidFill>
              <a:srgbClr val="D0E1E5"/>
            </a:solidFill>
            <a:prstDash val="solid"/>
          </a:ln>
        </p:spPr>
      </p:sp>
      <p:sp>
        <p:nvSpPr>
          <p:cNvPr id="23" name="">
            <a:extLst xmlns:a="http://schemas.openxmlformats.org/drawingml/2006/main">
              <a:ext uri="{FF2B5EF4-FFF2-40B4-BE49-F238E27FC236}">
                <a16:creationId xmlns:a16="http://schemas.microsoft.com/office/drawing/2014/main" id="{98CE3C53-1936-4BAA-870D-0F9996D4FCEB}"/>
              </a:ext>
            </a:extLst>
          </p:cNvPr>
          <p:cNvSpPr>
            <a:spLocks xmlns:a="http://schemas.openxmlformats.org/drawingml/2006/main" noGrp="1"/>
          </p:cNvSpPr>
          <p:nvPr/>
        </p:nvSpPr>
        <p:spPr>
          <a:xfrm xmlns:a="http://schemas.openxmlformats.org/drawingml/2006/main">
            <a:off x="9867900" y="541020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Monday  9%</a:t>
            </a:r>
          </a:p>
        </p:txBody>
      </p:sp>
    </p:spTree>
    <p:extLst>
      <p:ext uri="{BB962C8B-B14F-4D97-AF65-F5344CB8AC3E}">
        <p14:creationId xmlns:p14="http://schemas.microsoft.com/office/powerpoint/2010/main" val="13846335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650FA10-783F-4282-A417-DFAB51E75801}"/>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Traditional language systems and LLMs solve different shapes of problems</a:t>
            </a:r>
          </a:p>
        </p:txBody>
      </p:sp>
      <p:sp>
        <p:nvSpPr>
          <p:cNvPr id="2" name="">
            <a:extLst xmlns:a="http://schemas.openxmlformats.org/drawingml/2006/main">
              <a:ext uri="{FF2B5EF4-FFF2-40B4-BE49-F238E27FC236}">
                <a16:creationId xmlns:a16="http://schemas.microsoft.com/office/drawing/2014/main" id="{CCC050FD-52DD-4ED5-8AAB-693D5C9819B2}"/>
              </a:ext>
            </a:extLst>
          </p:cNvPr>
          <p:cNvSpPr>
            <a:spLocks xmlns:a="http://schemas.openxmlformats.org/drawingml/2006/main" noGrp="1"/>
          </p:cNvSpPr>
          <p:nvPr/>
        </p:nvSpPr>
        <p:spPr>
          <a:xfrm xmlns:a="http://schemas.openxmlformats.org/drawingml/2006/main">
            <a:off x="666750" y="1381125"/>
            <a:ext cx="3476625" cy="628650"/>
          </a:xfrm>
          <a:prstGeom xmlns:a="http://schemas.openxmlformats.org/drawingml/2006/main" prst="rect">
            <a:avLst/>
          </a:prstGeom>
          <a:solidFill xmlns:a="http://schemas.openxmlformats.org/drawingml/2006/main">
            <a:srgbClr val="D0E1E5"/>
          </a:solidFill>
          <a:ln xmlns:a="http://schemas.openxmlformats.org/drawingml/2006/main" w="0">
            <a:solidFill>
              <a:srgbClr val="D0E1E5"/>
            </a:solidFill>
            <a:prstDash val="solid"/>
          </a:ln>
        </p:spPr>
      </p:sp>
      <p:sp>
        <p:nvSpPr>
          <p:cNvPr id="3" name="">
            <a:extLst xmlns:a="http://schemas.openxmlformats.org/drawingml/2006/main">
              <a:ext uri="{FF2B5EF4-FFF2-40B4-BE49-F238E27FC236}">
                <a16:creationId xmlns:a16="http://schemas.microsoft.com/office/drawing/2014/main" id="{83B792AB-9804-46A1-A378-1A8AF001B342}"/>
              </a:ext>
            </a:extLst>
          </p:cNvPr>
          <p:cNvSpPr>
            <a:spLocks xmlns:a="http://schemas.openxmlformats.org/drawingml/2006/main" noGrp="1"/>
          </p:cNvSpPr>
          <p:nvPr/>
        </p:nvSpPr>
        <p:spPr>
          <a:xfrm xmlns:a="http://schemas.openxmlformats.org/drawingml/2006/main">
            <a:off x="838200" y="1524000"/>
            <a:ext cx="3133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Compare</a:t>
            </a:r>
          </a:p>
        </p:txBody>
      </p:sp>
      <p:sp>
        <p:nvSpPr>
          <p:cNvPr id="4" name="">
            <a:extLst xmlns:a="http://schemas.openxmlformats.org/drawingml/2006/main">
              <a:ext uri="{FF2B5EF4-FFF2-40B4-BE49-F238E27FC236}">
                <a16:creationId xmlns:a16="http://schemas.microsoft.com/office/drawing/2014/main" id="{F6059A57-0BCD-4017-917B-90E436058BD5}"/>
              </a:ext>
            </a:extLst>
          </p:cNvPr>
          <p:cNvSpPr>
            <a:spLocks xmlns:a="http://schemas.openxmlformats.org/drawingml/2006/main" noGrp="1"/>
          </p:cNvSpPr>
          <p:nvPr/>
        </p:nvSpPr>
        <p:spPr>
          <a:xfrm xmlns:a="http://schemas.openxmlformats.org/drawingml/2006/main">
            <a:off x="4143375" y="1381125"/>
            <a:ext cx="3476625" cy="62865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5" name="">
            <a:extLst xmlns:a="http://schemas.openxmlformats.org/drawingml/2006/main">
              <a:ext uri="{FF2B5EF4-FFF2-40B4-BE49-F238E27FC236}">
                <a16:creationId xmlns:a16="http://schemas.microsoft.com/office/drawing/2014/main" id="{0D4318A2-4738-48BE-B1F8-358F0980F9B1}"/>
              </a:ext>
            </a:extLst>
          </p:cNvPr>
          <p:cNvSpPr>
            <a:spLocks xmlns:a="http://schemas.openxmlformats.org/drawingml/2006/main" noGrp="1"/>
          </p:cNvSpPr>
          <p:nvPr/>
        </p:nvSpPr>
        <p:spPr>
          <a:xfrm xmlns:a="http://schemas.openxmlformats.org/drawingml/2006/main">
            <a:off x="4314825" y="1524000"/>
            <a:ext cx="3133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Traditional NLP system</a:t>
            </a:r>
          </a:p>
        </p:txBody>
      </p:sp>
      <p:sp>
        <p:nvSpPr>
          <p:cNvPr id="6" name="">
            <a:extLst xmlns:a="http://schemas.openxmlformats.org/drawingml/2006/main">
              <a:ext uri="{FF2B5EF4-FFF2-40B4-BE49-F238E27FC236}">
                <a16:creationId xmlns:a16="http://schemas.microsoft.com/office/drawing/2014/main" id="{275EDEB5-BC0D-4F00-BC7A-21E8C3B43154}"/>
              </a:ext>
            </a:extLst>
          </p:cNvPr>
          <p:cNvSpPr>
            <a:spLocks xmlns:a="http://schemas.openxmlformats.org/drawingml/2006/main" noGrp="1"/>
          </p:cNvSpPr>
          <p:nvPr/>
        </p:nvSpPr>
        <p:spPr>
          <a:xfrm xmlns:a="http://schemas.openxmlformats.org/drawingml/2006/main">
            <a:off x="7620000" y="1381125"/>
            <a:ext cx="3476625" cy="6286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7" name="">
            <a:extLst xmlns:a="http://schemas.openxmlformats.org/drawingml/2006/main">
              <a:ext uri="{FF2B5EF4-FFF2-40B4-BE49-F238E27FC236}">
                <a16:creationId xmlns:a16="http://schemas.microsoft.com/office/drawing/2014/main" id="{3EFD34E0-BCD6-48E1-8998-DD21C3D64357}"/>
              </a:ext>
            </a:extLst>
          </p:cNvPr>
          <p:cNvSpPr>
            <a:spLocks xmlns:a="http://schemas.openxmlformats.org/drawingml/2006/main" noGrp="1"/>
          </p:cNvSpPr>
          <p:nvPr/>
        </p:nvSpPr>
        <p:spPr>
          <a:xfrm xmlns:a="http://schemas.openxmlformats.org/drawingml/2006/main">
            <a:off x="7791450" y="1524000"/>
            <a:ext cx="3133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Large language model</a:t>
            </a:r>
          </a:p>
        </p:txBody>
      </p:sp>
      <p:sp>
        <p:nvSpPr>
          <p:cNvPr id="8" name="">
            <a:extLst xmlns:a="http://schemas.openxmlformats.org/drawingml/2006/main">
              <a:ext uri="{FF2B5EF4-FFF2-40B4-BE49-F238E27FC236}">
                <a16:creationId xmlns:a16="http://schemas.microsoft.com/office/drawing/2014/main" id="{04D2134B-98F3-4225-818A-D767519FDF54}"/>
              </a:ext>
            </a:extLst>
          </p:cNvPr>
          <p:cNvSpPr>
            <a:spLocks xmlns:a="http://schemas.openxmlformats.org/drawingml/2006/main" noGrp="1"/>
          </p:cNvSpPr>
          <p:nvPr/>
        </p:nvSpPr>
        <p:spPr>
          <a:xfrm xmlns:a="http://schemas.openxmlformats.org/drawingml/2006/main">
            <a:off x="666750" y="2009775"/>
            <a:ext cx="347662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9" name="">
            <a:extLst xmlns:a="http://schemas.openxmlformats.org/drawingml/2006/main">
              <a:ext uri="{FF2B5EF4-FFF2-40B4-BE49-F238E27FC236}">
                <a16:creationId xmlns:a16="http://schemas.microsoft.com/office/drawing/2014/main" id="{FDFEFE92-6E7D-411E-B00B-094DFA6408A0}"/>
              </a:ext>
            </a:extLst>
          </p:cNvPr>
          <p:cNvSpPr>
            <a:spLocks xmlns:a="http://schemas.openxmlformats.org/drawingml/2006/main" noGrp="1"/>
          </p:cNvSpPr>
          <p:nvPr/>
        </p:nvSpPr>
        <p:spPr>
          <a:xfrm xmlns:a="http://schemas.openxmlformats.org/drawingml/2006/main">
            <a:off x="838200" y="21812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Typical scope</a:t>
            </a:r>
          </a:p>
        </p:txBody>
      </p:sp>
      <p:sp>
        <p:nvSpPr>
          <p:cNvPr id="10" name="">
            <a:extLst xmlns:a="http://schemas.openxmlformats.org/drawingml/2006/main">
              <a:ext uri="{FF2B5EF4-FFF2-40B4-BE49-F238E27FC236}">
                <a16:creationId xmlns:a16="http://schemas.microsoft.com/office/drawing/2014/main" id="{494DA925-63A9-456C-A92F-338C85022DC7}"/>
              </a:ext>
            </a:extLst>
          </p:cNvPr>
          <p:cNvSpPr>
            <a:spLocks xmlns:a="http://schemas.openxmlformats.org/drawingml/2006/main" noGrp="1"/>
          </p:cNvSpPr>
          <p:nvPr/>
        </p:nvSpPr>
        <p:spPr>
          <a:xfrm xmlns:a="http://schemas.openxmlformats.org/drawingml/2006/main">
            <a:off x="4143375" y="20097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1" name="">
            <a:extLst xmlns:a="http://schemas.openxmlformats.org/drawingml/2006/main">
              <a:ext uri="{FF2B5EF4-FFF2-40B4-BE49-F238E27FC236}">
                <a16:creationId xmlns:a16="http://schemas.microsoft.com/office/drawing/2014/main" id="{B54FB24F-B036-4E78-8E25-BACC6102F718}"/>
              </a:ext>
            </a:extLst>
          </p:cNvPr>
          <p:cNvSpPr>
            <a:spLocks xmlns:a="http://schemas.openxmlformats.org/drawingml/2006/main" noGrp="1"/>
          </p:cNvSpPr>
          <p:nvPr/>
        </p:nvSpPr>
        <p:spPr>
          <a:xfrm xmlns:a="http://schemas.openxmlformats.org/drawingml/2006/main">
            <a:off x="4314825" y="21812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One narrow task</a:t>
            </a:r>
          </a:p>
        </p:txBody>
      </p:sp>
      <p:sp>
        <p:nvSpPr>
          <p:cNvPr id="12" name="">
            <a:extLst xmlns:a="http://schemas.openxmlformats.org/drawingml/2006/main">
              <a:ext uri="{FF2B5EF4-FFF2-40B4-BE49-F238E27FC236}">
                <a16:creationId xmlns:a16="http://schemas.microsoft.com/office/drawing/2014/main" id="{43CA9459-DD3A-4112-8118-A8AE4F619335}"/>
              </a:ext>
            </a:extLst>
          </p:cNvPr>
          <p:cNvSpPr>
            <a:spLocks xmlns:a="http://schemas.openxmlformats.org/drawingml/2006/main" noGrp="1"/>
          </p:cNvSpPr>
          <p:nvPr/>
        </p:nvSpPr>
        <p:spPr>
          <a:xfrm xmlns:a="http://schemas.openxmlformats.org/drawingml/2006/main">
            <a:off x="7620000" y="20097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3" name="">
            <a:extLst xmlns:a="http://schemas.openxmlformats.org/drawingml/2006/main">
              <a:ext uri="{FF2B5EF4-FFF2-40B4-BE49-F238E27FC236}">
                <a16:creationId xmlns:a16="http://schemas.microsoft.com/office/drawing/2014/main" id="{B4AEFDF8-C000-4DB9-ABD4-B58D2652AE3E}"/>
              </a:ext>
            </a:extLst>
          </p:cNvPr>
          <p:cNvSpPr>
            <a:spLocks xmlns:a="http://schemas.openxmlformats.org/drawingml/2006/main" noGrp="1"/>
          </p:cNvSpPr>
          <p:nvPr/>
        </p:nvSpPr>
        <p:spPr>
          <a:xfrm xmlns:a="http://schemas.openxmlformats.org/drawingml/2006/main">
            <a:off x="7791450" y="21812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Many language tasks</a:t>
            </a:r>
          </a:p>
        </p:txBody>
      </p:sp>
      <p:sp>
        <p:nvSpPr>
          <p:cNvPr id="14" name="">
            <a:extLst xmlns:a="http://schemas.openxmlformats.org/drawingml/2006/main">
              <a:ext uri="{FF2B5EF4-FFF2-40B4-BE49-F238E27FC236}">
                <a16:creationId xmlns:a16="http://schemas.microsoft.com/office/drawing/2014/main" id="{FEC9DDAF-4619-4A2F-BE27-9CE9CFCC8B9E}"/>
              </a:ext>
            </a:extLst>
          </p:cNvPr>
          <p:cNvSpPr>
            <a:spLocks xmlns:a="http://schemas.openxmlformats.org/drawingml/2006/main" noGrp="1"/>
          </p:cNvSpPr>
          <p:nvPr/>
        </p:nvSpPr>
        <p:spPr>
          <a:xfrm xmlns:a="http://schemas.openxmlformats.org/drawingml/2006/main">
            <a:off x="666750" y="2886075"/>
            <a:ext cx="347662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15" name="">
            <a:extLst xmlns:a="http://schemas.openxmlformats.org/drawingml/2006/main">
              <a:ext uri="{FF2B5EF4-FFF2-40B4-BE49-F238E27FC236}">
                <a16:creationId xmlns:a16="http://schemas.microsoft.com/office/drawing/2014/main" id="{BB479197-4BB2-4048-A568-84984EEE1FF9}"/>
              </a:ext>
            </a:extLst>
          </p:cNvPr>
          <p:cNvSpPr>
            <a:spLocks xmlns:a="http://schemas.openxmlformats.org/drawingml/2006/main" noGrp="1"/>
          </p:cNvSpPr>
          <p:nvPr/>
        </p:nvSpPr>
        <p:spPr>
          <a:xfrm xmlns:a="http://schemas.openxmlformats.org/drawingml/2006/main">
            <a:off x="838200" y="30575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Data and features</a:t>
            </a:r>
          </a:p>
        </p:txBody>
      </p:sp>
      <p:sp>
        <p:nvSpPr>
          <p:cNvPr id="16" name="">
            <a:extLst xmlns:a="http://schemas.openxmlformats.org/drawingml/2006/main">
              <a:ext uri="{FF2B5EF4-FFF2-40B4-BE49-F238E27FC236}">
                <a16:creationId xmlns:a16="http://schemas.microsoft.com/office/drawing/2014/main" id="{3E24649F-703F-4706-8522-F1C1C15BF2AE}"/>
              </a:ext>
            </a:extLst>
          </p:cNvPr>
          <p:cNvSpPr>
            <a:spLocks xmlns:a="http://schemas.openxmlformats.org/drawingml/2006/main" noGrp="1"/>
          </p:cNvSpPr>
          <p:nvPr/>
        </p:nvSpPr>
        <p:spPr>
          <a:xfrm xmlns:a="http://schemas.openxmlformats.org/drawingml/2006/main">
            <a:off x="4143375" y="28860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7" name="">
            <a:extLst xmlns:a="http://schemas.openxmlformats.org/drawingml/2006/main">
              <a:ext uri="{FF2B5EF4-FFF2-40B4-BE49-F238E27FC236}">
                <a16:creationId xmlns:a16="http://schemas.microsoft.com/office/drawing/2014/main" id="{714B2141-F76B-48F9-8601-260F500573FE}"/>
              </a:ext>
            </a:extLst>
          </p:cNvPr>
          <p:cNvSpPr>
            <a:spLocks xmlns:a="http://schemas.openxmlformats.org/drawingml/2006/main" noGrp="1"/>
          </p:cNvSpPr>
          <p:nvPr/>
        </p:nvSpPr>
        <p:spPr>
          <a:xfrm xmlns:a="http://schemas.openxmlformats.org/drawingml/2006/main">
            <a:off x="4314825" y="30575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Often task-specific</a:t>
            </a:r>
          </a:p>
        </p:txBody>
      </p:sp>
      <p:sp>
        <p:nvSpPr>
          <p:cNvPr id="18" name="">
            <a:extLst xmlns:a="http://schemas.openxmlformats.org/drawingml/2006/main">
              <a:ext uri="{FF2B5EF4-FFF2-40B4-BE49-F238E27FC236}">
                <a16:creationId xmlns:a16="http://schemas.microsoft.com/office/drawing/2014/main" id="{D5F55E6E-57FF-4423-A411-591523E4CD62}"/>
              </a:ext>
            </a:extLst>
          </p:cNvPr>
          <p:cNvSpPr>
            <a:spLocks xmlns:a="http://schemas.openxmlformats.org/drawingml/2006/main" noGrp="1"/>
          </p:cNvSpPr>
          <p:nvPr/>
        </p:nvSpPr>
        <p:spPr>
          <a:xfrm xmlns:a="http://schemas.openxmlformats.org/drawingml/2006/main">
            <a:off x="7620000" y="28860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9" name="">
            <a:extLst xmlns:a="http://schemas.openxmlformats.org/drawingml/2006/main">
              <a:ext uri="{FF2B5EF4-FFF2-40B4-BE49-F238E27FC236}">
                <a16:creationId xmlns:a16="http://schemas.microsoft.com/office/drawing/2014/main" id="{3EBE5EF2-C1AD-4577-A874-FD2470C15F55}"/>
              </a:ext>
            </a:extLst>
          </p:cNvPr>
          <p:cNvSpPr>
            <a:spLocks xmlns:a="http://schemas.openxmlformats.org/drawingml/2006/main" noGrp="1"/>
          </p:cNvSpPr>
          <p:nvPr/>
        </p:nvSpPr>
        <p:spPr>
          <a:xfrm xmlns:a="http://schemas.openxmlformats.org/drawingml/2006/main">
            <a:off x="7791450" y="30575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Broad pretraining, then prompting or adaptation</a:t>
            </a:r>
          </a:p>
        </p:txBody>
      </p:sp>
      <p:sp>
        <p:nvSpPr>
          <p:cNvPr id="20" name="">
            <a:extLst xmlns:a="http://schemas.openxmlformats.org/drawingml/2006/main">
              <a:ext uri="{FF2B5EF4-FFF2-40B4-BE49-F238E27FC236}">
                <a16:creationId xmlns:a16="http://schemas.microsoft.com/office/drawing/2014/main" id="{84B1C2FA-D30B-4B15-B059-C22551B9CDDB}"/>
              </a:ext>
            </a:extLst>
          </p:cNvPr>
          <p:cNvSpPr>
            <a:spLocks xmlns:a="http://schemas.openxmlformats.org/drawingml/2006/main" noGrp="1"/>
          </p:cNvSpPr>
          <p:nvPr/>
        </p:nvSpPr>
        <p:spPr>
          <a:xfrm xmlns:a="http://schemas.openxmlformats.org/drawingml/2006/main">
            <a:off x="666750" y="3762375"/>
            <a:ext cx="347662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21" name="">
            <a:extLst xmlns:a="http://schemas.openxmlformats.org/drawingml/2006/main">
              <a:ext uri="{FF2B5EF4-FFF2-40B4-BE49-F238E27FC236}">
                <a16:creationId xmlns:a16="http://schemas.microsoft.com/office/drawing/2014/main" id="{5FEA4D2E-7208-4B7A-94B3-4FD139B88802}"/>
              </a:ext>
            </a:extLst>
          </p:cNvPr>
          <p:cNvSpPr>
            <a:spLocks xmlns:a="http://schemas.openxmlformats.org/drawingml/2006/main" noGrp="1"/>
          </p:cNvSpPr>
          <p:nvPr/>
        </p:nvSpPr>
        <p:spPr>
          <a:xfrm xmlns:a="http://schemas.openxmlformats.org/drawingml/2006/main">
            <a:off x="838200" y="39338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Changing behavior</a:t>
            </a:r>
          </a:p>
        </p:txBody>
      </p:sp>
      <p:sp>
        <p:nvSpPr>
          <p:cNvPr id="22" name="">
            <a:extLst xmlns:a="http://schemas.openxmlformats.org/drawingml/2006/main">
              <a:ext uri="{FF2B5EF4-FFF2-40B4-BE49-F238E27FC236}">
                <a16:creationId xmlns:a16="http://schemas.microsoft.com/office/drawing/2014/main" id="{CD9E490E-58C4-400E-9976-A756F1E9755F}"/>
              </a:ext>
            </a:extLst>
          </p:cNvPr>
          <p:cNvSpPr>
            <a:spLocks xmlns:a="http://schemas.openxmlformats.org/drawingml/2006/main" noGrp="1"/>
          </p:cNvSpPr>
          <p:nvPr/>
        </p:nvSpPr>
        <p:spPr>
          <a:xfrm xmlns:a="http://schemas.openxmlformats.org/drawingml/2006/main">
            <a:off x="4143375" y="37623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3" name="">
            <a:extLst xmlns:a="http://schemas.openxmlformats.org/drawingml/2006/main">
              <a:ext uri="{FF2B5EF4-FFF2-40B4-BE49-F238E27FC236}">
                <a16:creationId xmlns:a16="http://schemas.microsoft.com/office/drawing/2014/main" id="{B668F123-96A2-4097-A74E-BB925E47FE72}"/>
              </a:ext>
            </a:extLst>
          </p:cNvPr>
          <p:cNvSpPr>
            <a:spLocks xmlns:a="http://schemas.openxmlformats.org/drawingml/2006/main" noGrp="1"/>
          </p:cNvSpPr>
          <p:nvPr/>
        </p:nvSpPr>
        <p:spPr>
          <a:xfrm xmlns:a="http://schemas.openxmlformats.org/drawingml/2006/main">
            <a:off x="4314825" y="39338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Rewrite rules or retrain</a:t>
            </a:r>
          </a:p>
        </p:txBody>
      </p:sp>
      <p:sp>
        <p:nvSpPr>
          <p:cNvPr id="24" name="">
            <a:extLst xmlns:a="http://schemas.openxmlformats.org/drawingml/2006/main">
              <a:ext uri="{FF2B5EF4-FFF2-40B4-BE49-F238E27FC236}">
                <a16:creationId xmlns:a16="http://schemas.microsoft.com/office/drawing/2014/main" id="{28F43166-E807-4BEF-A432-398384A4D9A2}"/>
              </a:ext>
            </a:extLst>
          </p:cNvPr>
          <p:cNvSpPr>
            <a:spLocks xmlns:a="http://schemas.openxmlformats.org/drawingml/2006/main" noGrp="1"/>
          </p:cNvSpPr>
          <p:nvPr/>
        </p:nvSpPr>
        <p:spPr>
          <a:xfrm xmlns:a="http://schemas.openxmlformats.org/drawingml/2006/main">
            <a:off x="7620000" y="37623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5" name="">
            <a:extLst xmlns:a="http://schemas.openxmlformats.org/drawingml/2006/main">
              <a:ext uri="{FF2B5EF4-FFF2-40B4-BE49-F238E27FC236}">
                <a16:creationId xmlns:a16="http://schemas.microsoft.com/office/drawing/2014/main" id="{9874819C-D000-402D-B6A9-A86709689984}"/>
              </a:ext>
            </a:extLst>
          </p:cNvPr>
          <p:cNvSpPr>
            <a:spLocks xmlns:a="http://schemas.openxmlformats.org/drawingml/2006/main" noGrp="1"/>
          </p:cNvSpPr>
          <p:nvPr/>
        </p:nvSpPr>
        <p:spPr>
          <a:xfrm xmlns:a="http://schemas.openxmlformats.org/drawingml/2006/main">
            <a:off x="7791450" y="39338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Change prompt; ground, tune, or retrain if needed</a:t>
            </a:r>
          </a:p>
        </p:txBody>
      </p:sp>
      <p:sp>
        <p:nvSpPr>
          <p:cNvPr id="26" name="">
            <a:extLst xmlns:a="http://schemas.openxmlformats.org/drawingml/2006/main">
              <a:ext uri="{FF2B5EF4-FFF2-40B4-BE49-F238E27FC236}">
                <a16:creationId xmlns:a16="http://schemas.microsoft.com/office/drawing/2014/main" id="{DE4287D9-4A2D-4E17-9DEC-A21B0385DEA6}"/>
              </a:ext>
            </a:extLst>
          </p:cNvPr>
          <p:cNvSpPr>
            <a:spLocks xmlns:a="http://schemas.openxmlformats.org/drawingml/2006/main" noGrp="1"/>
          </p:cNvSpPr>
          <p:nvPr/>
        </p:nvSpPr>
        <p:spPr>
          <a:xfrm xmlns:a="http://schemas.openxmlformats.org/drawingml/2006/main">
            <a:off x="666750" y="4638675"/>
            <a:ext cx="3476625" cy="87630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27" name="">
            <a:extLst xmlns:a="http://schemas.openxmlformats.org/drawingml/2006/main">
              <a:ext uri="{FF2B5EF4-FFF2-40B4-BE49-F238E27FC236}">
                <a16:creationId xmlns:a16="http://schemas.microsoft.com/office/drawing/2014/main" id="{83D1007F-C9E1-4467-B2D3-B52D6FB89B90}"/>
              </a:ext>
            </a:extLst>
          </p:cNvPr>
          <p:cNvSpPr>
            <a:spLocks xmlns:a="http://schemas.openxmlformats.org/drawingml/2006/main" noGrp="1"/>
          </p:cNvSpPr>
          <p:nvPr/>
        </p:nvSpPr>
        <p:spPr>
          <a:xfrm xmlns:a="http://schemas.openxmlformats.org/drawingml/2006/main">
            <a:off x="838200" y="48101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Example</a:t>
            </a:r>
          </a:p>
        </p:txBody>
      </p:sp>
      <p:sp>
        <p:nvSpPr>
          <p:cNvPr id="28" name="">
            <a:extLst xmlns:a="http://schemas.openxmlformats.org/drawingml/2006/main">
              <a:ext uri="{FF2B5EF4-FFF2-40B4-BE49-F238E27FC236}">
                <a16:creationId xmlns:a16="http://schemas.microsoft.com/office/drawing/2014/main" id="{776BEC16-A54B-44C7-823B-3B73AE8CAB96}"/>
              </a:ext>
            </a:extLst>
          </p:cNvPr>
          <p:cNvSpPr>
            <a:spLocks xmlns:a="http://schemas.openxmlformats.org/drawingml/2006/main" noGrp="1"/>
          </p:cNvSpPr>
          <p:nvPr/>
        </p:nvSpPr>
        <p:spPr>
          <a:xfrm xmlns:a="http://schemas.openxmlformats.org/drawingml/2006/main">
            <a:off x="4143375" y="46386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9" name="">
            <a:extLst xmlns:a="http://schemas.openxmlformats.org/drawingml/2006/main">
              <a:ext uri="{FF2B5EF4-FFF2-40B4-BE49-F238E27FC236}">
                <a16:creationId xmlns:a16="http://schemas.microsoft.com/office/drawing/2014/main" id="{DA1F7FAD-321C-4E70-AA3D-559C91E862CC}"/>
              </a:ext>
            </a:extLst>
          </p:cNvPr>
          <p:cNvSpPr>
            <a:spLocks xmlns:a="http://schemas.openxmlformats.org/drawingml/2006/main" noGrp="1"/>
          </p:cNvSpPr>
          <p:nvPr/>
        </p:nvSpPr>
        <p:spPr>
          <a:xfrm xmlns:a="http://schemas.openxmlformats.org/drawingml/2006/main">
            <a:off x="4314825" y="48101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Spam classifier</a:t>
            </a:r>
          </a:p>
        </p:txBody>
      </p:sp>
      <p:sp>
        <p:nvSpPr>
          <p:cNvPr id="30" name="">
            <a:extLst xmlns:a="http://schemas.openxmlformats.org/drawingml/2006/main">
              <a:ext uri="{FF2B5EF4-FFF2-40B4-BE49-F238E27FC236}">
                <a16:creationId xmlns:a16="http://schemas.microsoft.com/office/drawing/2014/main" id="{37D3CE04-EA2F-4C06-BCF7-9C8CF500360C}"/>
              </a:ext>
            </a:extLst>
          </p:cNvPr>
          <p:cNvSpPr>
            <a:spLocks xmlns:a="http://schemas.openxmlformats.org/drawingml/2006/main" noGrp="1"/>
          </p:cNvSpPr>
          <p:nvPr/>
        </p:nvSpPr>
        <p:spPr>
          <a:xfrm xmlns:a="http://schemas.openxmlformats.org/drawingml/2006/main">
            <a:off x="7620000" y="4638675"/>
            <a:ext cx="3476625"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1" name="">
            <a:extLst xmlns:a="http://schemas.openxmlformats.org/drawingml/2006/main">
              <a:ext uri="{FF2B5EF4-FFF2-40B4-BE49-F238E27FC236}">
                <a16:creationId xmlns:a16="http://schemas.microsoft.com/office/drawing/2014/main" id="{8D3BD195-5398-4B5C-98C8-2C4AED040324}"/>
              </a:ext>
            </a:extLst>
          </p:cNvPr>
          <p:cNvSpPr>
            <a:spLocks xmlns:a="http://schemas.openxmlformats.org/drawingml/2006/main" noGrp="1"/>
          </p:cNvSpPr>
          <p:nvPr/>
        </p:nvSpPr>
        <p:spPr>
          <a:xfrm xmlns:a="http://schemas.openxmlformats.org/drawingml/2006/main">
            <a:off x="7791450" y="4810125"/>
            <a:ext cx="31337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Assistant that summarizes, translates, and answers questions</a:t>
            </a:r>
          </a:p>
        </p:txBody>
      </p:sp>
    </p:spTree>
    <p:extLst>
      <p:ext uri="{BB962C8B-B14F-4D97-AF65-F5344CB8AC3E}">
        <p14:creationId xmlns:p14="http://schemas.microsoft.com/office/powerpoint/2010/main" val="18758139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842BE4-76D5-45FC-AC09-00CC8CF56E66}"/>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LLMs evolved by learning longer and richer relationships</a:t>
            </a:r>
          </a:p>
        </p:txBody>
      </p:sp>
      <p:sp>
        <p:nvSpPr>
          <p:cNvPr id="2" name="">
            <a:extLst xmlns:a="http://schemas.openxmlformats.org/drawingml/2006/main">
              <a:ext uri="{FF2B5EF4-FFF2-40B4-BE49-F238E27FC236}">
                <a16:creationId xmlns:a16="http://schemas.microsoft.com/office/drawing/2014/main" id="{13C156E0-54E9-4542-9BC4-A82D82E485AC}"/>
              </a:ext>
            </a:extLst>
          </p:cNvPr>
          <p:cNvSpPr>
            <a:spLocks xmlns:a="http://schemas.openxmlformats.org/drawingml/2006/main" noGrp="1"/>
          </p:cNvSpPr>
          <p:nvPr/>
        </p:nvSpPr>
        <p:spPr>
          <a:xfrm xmlns:a="http://schemas.openxmlformats.org/drawingml/2006/main">
            <a:off x="952500" y="3143250"/>
            <a:ext cx="10096500"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3" name="">
            <a:extLst xmlns:a="http://schemas.openxmlformats.org/drawingml/2006/main">
              <a:ext uri="{FF2B5EF4-FFF2-40B4-BE49-F238E27FC236}">
                <a16:creationId xmlns:a16="http://schemas.microsoft.com/office/drawing/2014/main" id="{EB980E7C-5778-4724-B539-7ED3EBF14374}"/>
              </a:ext>
            </a:extLst>
          </p:cNvPr>
          <p:cNvSpPr>
            <a:spLocks xmlns:a="http://schemas.openxmlformats.org/drawingml/2006/main" noGrp="1"/>
          </p:cNvSpPr>
          <p:nvPr/>
        </p:nvSpPr>
        <p:spPr>
          <a:xfrm xmlns:a="http://schemas.openxmlformats.org/drawingml/2006/main">
            <a:off x="1352550" y="2876550"/>
            <a:ext cx="571500" cy="571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4" name="">
            <a:extLst xmlns:a="http://schemas.openxmlformats.org/drawingml/2006/main">
              <a:ext uri="{FF2B5EF4-FFF2-40B4-BE49-F238E27FC236}">
                <a16:creationId xmlns:a16="http://schemas.microsoft.com/office/drawing/2014/main" id="{AB356785-D62E-4886-B930-A72C8F874E35}"/>
              </a:ext>
            </a:extLst>
          </p:cNvPr>
          <p:cNvSpPr>
            <a:spLocks xmlns:a="http://schemas.openxmlformats.org/drawingml/2006/main" noGrp="1"/>
          </p:cNvSpPr>
          <p:nvPr/>
        </p:nvSpPr>
        <p:spPr>
          <a:xfrm xmlns:a="http://schemas.openxmlformats.org/drawingml/2006/main">
            <a:off x="1352550" y="298132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1</a:t>
            </a:r>
          </a:p>
        </p:txBody>
      </p:sp>
      <p:sp>
        <p:nvSpPr>
          <p:cNvPr id="5" name="">
            <a:extLst xmlns:a="http://schemas.openxmlformats.org/drawingml/2006/main">
              <a:ext uri="{FF2B5EF4-FFF2-40B4-BE49-F238E27FC236}">
                <a16:creationId xmlns:a16="http://schemas.microsoft.com/office/drawing/2014/main" id="{2E884CE4-7993-4317-B3A0-BEC158A122A1}"/>
              </a:ext>
            </a:extLst>
          </p:cNvPr>
          <p:cNvSpPr>
            <a:spLocks xmlns:a="http://schemas.openxmlformats.org/drawingml/2006/main" noGrp="1"/>
          </p:cNvSpPr>
          <p:nvPr/>
        </p:nvSpPr>
        <p:spPr>
          <a:xfrm xmlns:a="http://schemas.openxmlformats.org/drawingml/2006/main">
            <a:off x="666750" y="18573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N-grams</a:t>
            </a:r>
          </a:p>
        </p:txBody>
      </p:sp>
      <p:sp>
        <p:nvSpPr>
          <p:cNvPr id="6" name="">
            <a:extLst xmlns:a="http://schemas.openxmlformats.org/drawingml/2006/main">
              <a:ext uri="{FF2B5EF4-FFF2-40B4-BE49-F238E27FC236}">
                <a16:creationId xmlns:a16="http://schemas.microsoft.com/office/drawing/2014/main" id="{6F84DC21-0FC6-4B78-80F2-C7A0557F71D5}"/>
              </a:ext>
            </a:extLst>
          </p:cNvPr>
          <p:cNvSpPr>
            <a:spLocks xmlns:a="http://schemas.openxmlformats.org/drawingml/2006/main" noGrp="1"/>
          </p:cNvSpPr>
          <p:nvPr/>
        </p:nvSpPr>
        <p:spPr>
          <a:xfrm xmlns:a="http://schemas.openxmlformats.org/drawingml/2006/main">
            <a:off x="666750" y="37147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Count nearby word patterns</a:t>
            </a:r>
          </a:p>
        </p:txBody>
      </p:sp>
      <p:sp>
        <p:nvSpPr>
          <p:cNvPr id="7" name="">
            <a:extLst xmlns:a="http://schemas.openxmlformats.org/drawingml/2006/main">
              <a:ext uri="{FF2B5EF4-FFF2-40B4-BE49-F238E27FC236}">
                <a16:creationId xmlns:a16="http://schemas.microsoft.com/office/drawing/2014/main" id="{FEBEA559-20B8-48EB-BA18-81504F9414CD}"/>
              </a:ext>
            </a:extLst>
          </p:cNvPr>
          <p:cNvSpPr>
            <a:spLocks xmlns:a="http://schemas.openxmlformats.org/drawingml/2006/main" noGrp="1"/>
          </p:cNvSpPr>
          <p:nvPr/>
        </p:nvSpPr>
        <p:spPr>
          <a:xfrm xmlns:a="http://schemas.openxmlformats.org/drawingml/2006/main">
            <a:off x="3619500" y="2876550"/>
            <a:ext cx="571500" cy="571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8" name="">
            <a:extLst xmlns:a="http://schemas.openxmlformats.org/drawingml/2006/main">
              <a:ext uri="{FF2B5EF4-FFF2-40B4-BE49-F238E27FC236}">
                <a16:creationId xmlns:a16="http://schemas.microsoft.com/office/drawing/2014/main" id="{8F54E429-C0EA-4994-BDCB-6488287D9B77}"/>
              </a:ext>
            </a:extLst>
          </p:cNvPr>
          <p:cNvSpPr>
            <a:spLocks xmlns:a="http://schemas.openxmlformats.org/drawingml/2006/main" noGrp="1"/>
          </p:cNvSpPr>
          <p:nvPr/>
        </p:nvSpPr>
        <p:spPr>
          <a:xfrm xmlns:a="http://schemas.openxmlformats.org/drawingml/2006/main">
            <a:off x="3619500" y="298132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44ECB272-E363-4559-A1F1-B253B838FA97}"/>
              </a:ext>
            </a:extLst>
          </p:cNvPr>
          <p:cNvSpPr>
            <a:spLocks xmlns:a="http://schemas.openxmlformats.org/drawingml/2006/main" noGrp="1"/>
          </p:cNvSpPr>
          <p:nvPr/>
        </p:nvSpPr>
        <p:spPr>
          <a:xfrm xmlns:a="http://schemas.openxmlformats.org/drawingml/2006/main">
            <a:off x="2933700" y="18573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RNNs / LSTMs</a:t>
            </a:r>
          </a:p>
        </p:txBody>
      </p:sp>
      <p:sp>
        <p:nvSpPr>
          <p:cNvPr id="10" name="">
            <a:extLst xmlns:a="http://schemas.openxmlformats.org/drawingml/2006/main">
              <a:ext uri="{FF2B5EF4-FFF2-40B4-BE49-F238E27FC236}">
                <a16:creationId xmlns:a16="http://schemas.microsoft.com/office/drawing/2014/main" id="{BBD63707-EE61-42A3-8FA9-A962EAEA57A4}"/>
              </a:ext>
            </a:extLst>
          </p:cNvPr>
          <p:cNvSpPr>
            <a:spLocks xmlns:a="http://schemas.openxmlformats.org/drawingml/2006/main" noGrp="1"/>
          </p:cNvSpPr>
          <p:nvPr/>
        </p:nvSpPr>
        <p:spPr>
          <a:xfrm xmlns:a="http://schemas.openxmlformats.org/drawingml/2006/main">
            <a:off x="2933700" y="37147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Carry a sequence state</a:t>
            </a:r>
          </a:p>
        </p:txBody>
      </p:sp>
      <p:sp>
        <p:nvSpPr>
          <p:cNvPr id="11" name="">
            <a:extLst xmlns:a="http://schemas.openxmlformats.org/drawingml/2006/main">
              <a:ext uri="{FF2B5EF4-FFF2-40B4-BE49-F238E27FC236}">
                <a16:creationId xmlns:a16="http://schemas.microsoft.com/office/drawing/2014/main" id="{38AFAC1C-DBEC-4E8F-85DA-7DEAC2732381}"/>
              </a:ext>
            </a:extLst>
          </p:cNvPr>
          <p:cNvSpPr>
            <a:spLocks xmlns:a="http://schemas.openxmlformats.org/drawingml/2006/main" noGrp="1"/>
          </p:cNvSpPr>
          <p:nvPr/>
        </p:nvSpPr>
        <p:spPr>
          <a:xfrm xmlns:a="http://schemas.openxmlformats.org/drawingml/2006/main">
            <a:off x="5886450" y="2876550"/>
            <a:ext cx="571500" cy="571500"/>
          </a:xfrm>
          <a:prstGeom xmlns:a="http://schemas.openxmlformats.org/drawingml/2006/main" prst="ellipse">
            <a:avLst/>
          </a:prstGeom>
          <a:solidFill xmlns:a="http://schemas.openxmlformats.org/drawingml/2006/main">
            <a:srgbClr val="4285F4"/>
          </a:solidFill>
          <a:ln xmlns:a="http://schemas.openxmlformats.org/drawingml/2006/main" w="19050">
            <a:solidFill>
              <a:srgbClr val="4285F4"/>
            </a:solidFill>
            <a:prstDash val="solid"/>
          </a:ln>
        </p:spPr>
      </p:sp>
      <p:sp>
        <p:nvSpPr>
          <p:cNvPr id="12" name="">
            <a:extLst xmlns:a="http://schemas.openxmlformats.org/drawingml/2006/main">
              <a:ext uri="{FF2B5EF4-FFF2-40B4-BE49-F238E27FC236}">
                <a16:creationId xmlns:a16="http://schemas.microsoft.com/office/drawing/2014/main" id="{F1B71CF9-2BC5-4E69-854E-C92B018D16E3}"/>
              </a:ext>
            </a:extLst>
          </p:cNvPr>
          <p:cNvSpPr>
            <a:spLocks xmlns:a="http://schemas.openxmlformats.org/drawingml/2006/main" noGrp="1"/>
          </p:cNvSpPr>
          <p:nvPr/>
        </p:nvSpPr>
        <p:spPr>
          <a:xfrm xmlns:a="http://schemas.openxmlformats.org/drawingml/2006/main">
            <a:off x="5886450" y="298132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3</a:t>
            </a:r>
          </a:p>
        </p:txBody>
      </p:sp>
      <p:sp>
        <p:nvSpPr>
          <p:cNvPr id="13" name="">
            <a:extLst xmlns:a="http://schemas.openxmlformats.org/drawingml/2006/main">
              <a:ext uri="{FF2B5EF4-FFF2-40B4-BE49-F238E27FC236}">
                <a16:creationId xmlns:a16="http://schemas.microsoft.com/office/drawing/2014/main" id="{C4019058-1F6C-4272-B303-5BADD19618C9}"/>
              </a:ext>
            </a:extLst>
          </p:cNvPr>
          <p:cNvSpPr>
            <a:spLocks xmlns:a="http://schemas.openxmlformats.org/drawingml/2006/main" noGrp="1"/>
          </p:cNvSpPr>
          <p:nvPr/>
        </p:nvSpPr>
        <p:spPr>
          <a:xfrm xmlns:a="http://schemas.openxmlformats.org/drawingml/2006/main">
            <a:off x="5200650" y="18573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Transformers</a:t>
            </a:r>
          </a:p>
        </p:txBody>
      </p:sp>
      <p:sp>
        <p:nvSpPr>
          <p:cNvPr id="14" name="">
            <a:extLst xmlns:a="http://schemas.openxmlformats.org/drawingml/2006/main">
              <a:ext uri="{FF2B5EF4-FFF2-40B4-BE49-F238E27FC236}">
                <a16:creationId xmlns:a16="http://schemas.microsoft.com/office/drawing/2014/main" id="{E3DB6CF7-A268-4FDD-ACBC-917225A079D1}"/>
              </a:ext>
            </a:extLst>
          </p:cNvPr>
          <p:cNvSpPr>
            <a:spLocks xmlns:a="http://schemas.openxmlformats.org/drawingml/2006/main" noGrp="1"/>
          </p:cNvSpPr>
          <p:nvPr/>
        </p:nvSpPr>
        <p:spPr>
          <a:xfrm xmlns:a="http://schemas.openxmlformats.org/drawingml/2006/main">
            <a:off x="5200650" y="37147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Use attention across tokens</a:t>
            </a:r>
          </a:p>
        </p:txBody>
      </p:sp>
      <p:sp>
        <p:nvSpPr>
          <p:cNvPr id="15" name="">
            <a:extLst xmlns:a="http://schemas.openxmlformats.org/drawingml/2006/main">
              <a:ext uri="{FF2B5EF4-FFF2-40B4-BE49-F238E27FC236}">
                <a16:creationId xmlns:a16="http://schemas.microsoft.com/office/drawing/2014/main" id="{259E30D4-B02A-495F-831A-31751524F6BC}"/>
              </a:ext>
            </a:extLst>
          </p:cNvPr>
          <p:cNvSpPr>
            <a:spLocks xmlns:a="http://schemas.openxmlformats.org/drawingml/2006/main" noGrp="1"/>
          </p:cNvSpPr>
          <p:nvPr/>
        </p:nvSpPr>
        <p:spPr>
          <a:xfrm xmlns:a="http://schemas.openxmlformats.org/drawingml/2006/main">
            <a:off x="8153400" y="2876550"/>
            <a:ext cx="571500" cy="571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6" name="">
            <a:extLst xmlns:a="http://schemas.openxmlformats.org/drawingml/2006/main">
              <a:ext uri="{FF2B5EF4-FFF2-40B4-BE49-F238E27FC236}">
                <a16:creationId xmlns:a16="http://schemas.microsoft.com/office/drawing/2014/main" id="{DFE478EC-8660-498A-87AE-2E4863EF9BC8}"/>
              </a:ext>
            </a:extLst>
          </p:cNvPr>
          <p:cNvSpPr>
            <a:spLocks xmlns:a="http://schemas.openxmlformats.org/drawingml/2006/main" noGrp="1"/>
          </p:cNvSpPr>
          <p:nvPr/>
        </p:nvSpPr>
        <p:spPr>
          <a:xfrm xmlns:a="http://schemas.openxmlformats.org/drawingml/2006/main">
            <a:off x="8153400" y="298132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4</a:t>
            </a:r>
          </a:p>
        </p:txBody>
      </p:sp>
      <p:sp>
        <p:nvSpPr>
          <p:cNvPr id="17" name="">
            <a:extLst xmlns:a="http://schemas.openxmlformats.org/drawingml/2006/main">
              <a:ext uri="{FF2B5EF4-FFF2-40B4-BE49-F238E27FC236}">
                <a16:creationId xmlns:a16="http://schemas.microsoft.com/office/drawing/2014/main" id="{05EA979E-BA42-4D44-B8F2-A378B8A1625C}"/>
              </a:ext>
            </a:extLst>
          </p:cNvPr>
          <p:cNvSpPr>
            <a:spLocks xmlns:a="http://schemas.openxmlformats.org/drawingml/2006/main" noGrp="1"/>
          </p:cNvSpPr>
          <p:nvPr/>
        </p:nvSpPr>
        <p:spPr>
          <a:xfrm xmlns:a="http://schemas.openxmlformats.org/drawingml/2006/main">
            <a:off x="7467600" y="18573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Pretrained LMs</a:t>
            </a:r>
          </a:p>
        </p:txBody>
      </p:sp>
      <p:sp>
        <p:nvSpPr>
          <p:cNvPr id="18" name="">
            <a:extLst xmlns:a="http://schemas.openxmlformats.org/drawingml/2006/main">
              <a:ext uri="{FF2B5EF4-FFF2-40B4-BE49-F238E27FC236}">
                <a16:creationId xmlns:a16="http://schemas.microsoft.com/office/drawing/2014/main" id="{33F095BA-F23C-40A7-AD1F-FF16C8A59CF5}"/>
              </a:ext>
            </a:extLst>
          </p:cNvPr>
          <p:cNvSpPr>
            <a:spLocks xmlns:a="http://schemas.openxmlformats.org/drawingml/2006/main" noGrp="1"/>
          </p:cNvSpPr>
          <p:nvPr/>
        </p:nvSpPr>
        <p:spPr>
          <a:xfrm xmlns:a="http://schemas.openxmlformats.org/drawingml/2006/main">
            <a:off x="7467600" y="37147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Reuse one model across tasks</a:t>
            </a:r>
          </a:p>
        </p:txBody>
      </p:sp>
      <p:sp>
        <p:nvSpPr>
          <p:cNvPr id="19" name="">
            <a:extLst xmlns:a="http://schemas.openxmlformats.org/drawingml/2006/main">
              <a:ext uri="{FF2B5EF4-FFF2-40B4-BE49-F238E27FC236}">
                <a16:creationId xmlns:a16="http://schemas.microsoft.com/office/drawing/2014/main" id="{CAC7BE25-2962-427D-8555-0340285DD8AC}"/>
              </a:ext>
            </a:extLst>
          </p:cNvPr>
          <p:cNvSpPr>
            <a:spLocks xmlns:a="http://schemas.openxmlformats.org/drawingml/2006/main" noGrp="1"/>
          </p:cNvSpPr>
          <p:nvPr/>
        </p:nvSpPr>
        <p:spPr>
          <a:xfrm xmlns:a="http://schemas.openxmlformats.org/drawingml/2006/main">
            <a:off x="10420350" y="2876550"/>
            <a:ext cx="571500" cy="571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20" name="">
            <a:extLst xmlns:a="http://schemas.openxmlformats.org/drawingml/2006/main">
              <a:ext uri="{FF2B5EF4-FFF2-40B4-BE49-F238E27FC236}">
                <a16:creationId xmlns:a16="http://schemas.microsoft.com/office/drawing/2014/main" id="{927061CA-09F1-4B7F-A67A-5ACFFCC5D873}"/>
              </a:ext>
            </a:extLst>
          </p:cNvPr>
          <p:cNvSpPr>
            <a:spLocks xmlns:a="http://schemas.openxmlformats.org/drawingml/2006/main" noGrp="1"/>
          </p:cNvSpPr>
          <p:nvPr/>
        </p:nvSpPr>
        <p:spPr>
          <a:xfrm xmlns:a="http://schemas.openxmlformats.org/drawingml/2006/main">
            <a:off x="10420350" y="2981325"/>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5</a:t>
            </a:r>
          </a:p>
        </p:txBody>
      </p:sp>
      <p:sp>
        <p:nvSpPr>
          <p:cNvPr id="21" name="">
            <a:extLst xmlns:a="http://schemas.openxmlformats.org/drawingml/2006/main">
              <a:ext uri="{FF2B5EF4-FFF2-40B4-BE49-F238E27FC236}">
                <a16:creationId xmlns:a16="http://schemas.microsoft.com/office/drawing/2014/main" id="{B69C6583-4CA9-41E1-ACA1-B4E35234F865}"/>
              </a:ext>
            </a:extLst>
          </p:cNvPr>
          <p:cNvSpPr>
            <a:spLocks xmlns:a="http://schemas.openxmlformats.org/drawingml/2006/main" noGrp="1"/>
          </p:cNvSpPr>
          <p:nvPr/>
        </p:nvSpPr>
        <p:spPr>
          <a:xfrm xmlns:a="http://schemas.openxmlformats.org/drawingml/2006/main">
            <a:off x="9734550" y="1857375"/>
            <a:ext cx="1943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Foundation models</a:t>
            </a:r>
          </a:p>
        </p:txBody>
      </p:sp>
      <p:sp>
        <p:nvSpPr>
          <p:cNvPr id="22" name="">
            <a:extLst xmlns:a="http://schemas.openxmlformats.org/drawingml/2006/main">
              <a:ext uri="{FF2B5EF4-FFF2-40B4-BE49-F238E27FC236}">
                <a16:creationId xmlns:a16="http://schemas.microsoft.com/office/drawing/2014/main" id="{9616F988-2706-4DBA-9443-D21DE6C9A013}"/>
              </a:ext>
            </a:extLst>
          </p:cNvPr>
          <p:cNvSpPr>
            <a:spLocks xmlns:a="http://schemas.openxmlformats.org/drawingml/2006/main" noGrp="1"/>
          </p:cNvSpPr>
          <p:nvPr/>
        </p:nvSpPr>
        <p:spPr>
          <a:xfrm xmlns:a="http://schemas.openxmlformats.org/drawingml/2006/main">
            <a:off x="9734550" y="37147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Support text and other modalities</a:t>
            </a:r>
          </a:p>
        </p:txBody>
      </p:sp>
      <p:sp>
        <p:nvSpPr>
          <p:cNvPr id="23" name="">
            <a:extLst xmlns:a="http://schemas.openxmlformats.org/drawingml/2006/main">
              <a:ext uri="{FF2B5EF4-FFF2-40B4-BE49-F238E27FC236}">
                <a16:creationId xmlns:a16="http://schemas.microsoft.com/office/drawing/2014/main" id="{1809B484-2BC0-4836-BE67-C944394D76DD}"/>
              </a:ext>
            </a:extLst>
          </p:cNvPr>
          <p:cNvSpPr>
            <a:spLocks xmlns:a="http://schemas.openxmlformats.org/drawingml/2006/main" noGrp="1"/>
          </p:cNvSpPr>
          <p:nvPr/>
        </p:nvSpPr>
        <p:spPr>
          <a:xfrm xmlns:a="http://schemas.openxmlformats.org/drawingml/2006/main">
            <a:off x="1809750" y="514350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The Transformer architecture made it practical to model relationships between many tokens in parallel.</a:t>
            </a:r>
          </a:p>
        </p:txBody>
      </p:sp>
    </p:spTree>
    <p:extLst>
      <p:ext uri="{BB962C8B-B14F-4D97-AF65-F5344CB8AC3E}">
        <p14:creationId xmlns:p14="http://schemas.microsoft.com/office/powerpoint/2010/main" val="7674614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5289466-E216-41F9-9BD4-944E4D906B83}"/>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8FE9089B-6084-4650-80F0-BAD3E91FBA16}"/>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02</a:t>
            </a:r>
          </a:p>
        </p:txBody>
      </p:sp>
      <p:sp>
        <p:nvSpPr>
          <p:cNvPr id="3" name="">
            <a:extLst xmlns:a="http://schemas.openxmlformats.org/drawingml/2006/main">
              <a:ext uri="{FF2B5EF4-FFF2-40B4-BE49-F238E27FC236}">
                <a16:creationId xmlns:a16="http://schemas.microsoft.com/office/drawing/2014/main" id="{13FEF992-BCDC-467C-BE1D-9B66DD904662}"/>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1625EB4C-9CEF-4526-B4AC-10AB29EF06E1}"/>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Inside an LLM</a:t>
            </a:r>
          </a:p>
        </p:txBody>
      </p:sp>
      <p:sp>
        <p:nvSpPr>
          <p:cNvPr id="5" name="">
            <a:extLst xmlns:a="http://schemas.openxmlformats.org/drawingml/2006/main">
              <a:ext uri="{FF2B5EF4-FFF2-40B4-BE49-F238E27FC236}">
                <a16:creationId xmlns:a16="http://schemas.microsoft.com/office/drawing/2014/main" id="{2B53786F-EB70-4A03-BC73-29A395B2D083}"/>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Tokens, embeddings, Transformers, training, and inference</a:t>
            </a:r>
          </a:p>
        </p:txBody>
      </p:sp>
    </p:spTree>
    <p:extLst>
      <p:ext uri="{BB962C8B-B14F-4D97-AF65-F5344CB8AC3E}">
        <p14:creationId xmlns:p14="http://schemas.microsoft.com/office/powerpoint/2010/main" val="11466214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AC1635D-AD67-411F-8569-4519A58B8E58}"/>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Tokenization converts text into model-readable pieces</a:t>
            </a:r>
          </a:p>
        </p:txBody>
      </p:sp>
      <p:sp>
        <p:nvSpPr>
          <p:cNvPr id="2" name="">
            <a:extLst xmlns:a="http://schemas.openxmlformats.org/drawingml/2006/main">
              <a:ext uri="{FF2B5EF4-FFF2-40B4-BE49-F238E27FC236}">
                <a16:creationId xmlns:a16="http://schemas.microsoft.com/office/drawing/2014/main" id="{DC5CA5AB-5E24-4530-8F96-A0B1BE992C99}"/>
              </a:ext>
            </a:extLst>
          </p:cNvPr>
          <p:cNvSpPr>
            <a:spLocks xmlns:a="http://schemas.openxmlformats.org/drawingml/2006/main" noGrp="1"/>
          </p:cNvSpPr>
          <p:nvPr/>
        </p:nvSpPr>
        <p:spPr>
          <a:xfrm xmlns:a="http://schemas.openxmlformats.org/drawingml/2006/main">
            <a:off x="857250" y="14287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1">
                <a:solidFill>
                  <a:srgbClr val="000000"/>
                </a:solidFill>
                <a:latin typeface="Google Sans Medium"/>
                <a:ea typeface="Google Sans Medium"/>
                <a:cs typeface="Google Sans Medium"/>
              </a:defRPr>
            </a:pPr>
            <a:r>
              <a:rPr sz="2250" b="1">
                <a:solidFill>
                  <a:srgbClr val="000000"/>
                </a:solidFill>
                <a:latin typeface="Google Sans Medium"/>
                <a:ea typeface="Google Sans Medium"/>
                <a:cs typeface="Google Sans Medium"/>
              </a:rPr>
              <a:t>“unbelievable answers”</a:t>
            </a:r>
          </a:p>
        </p:txBody>
      </p:sp>
      <p:sp>
        <p:nvSpPr>
          <p:cNvPr id="3" name="">
            <a:extLst xmlns:a="http://schemas.openxmlformats.org/drawingml/2006/main">
              <a:ext uri="{FF2B5EF4-FFF2-40B4-BE49-F238E27FC236}">
                <a16:creationId xmlns:a16="http://schemas.microsoft.com/office/drawing/2014/main" id="{C850AED7-4D49-4CB2-9F0E-23018073FC3E}"/>
              </a:ext>
            </a:extLst>
          </p:cNvPr>
          <p:cNvSpPr>
            <a:spLocks xmlns:a="http://schemas.openxmlformats.org/drawingml/2006/main" noGrp="1"/>
          </p:cNvSpPr>
          <p:nvPr/>
        </p:nvSpPr>
        <p:spPr>
          <a:xfrm xmlns:a="http://schemas.openxmlformats.org/drawingml/2006/main">
            <a:off x="5524500" y="142875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300" b="0">
                <a:solidFill>
                  <a:srgbClr val="9AA0A6"/>
                </a:solidFill>
                <a:latin typeface="Google Sans Text"/>
                <a:ea typeface="Google Sans Text"/>
                <a:cs typeface="Google Sans Text"/>
              </a:defRPr>
            </a:pPr>
            <a:r>
              <a:rPr sz="3300" b="0">
                <a:solidFill>
                  <a:srgbClr val="9AA0A6"/>
                </a:solidFill>
                <a:latin typeface="Google Sans Text"/>
                <a:ea typeface="Google Sans Text"/>
                <a:cs typeface="Google Sans Text"/>
              </a:rPr>
              <a:t>›</a:t>
            </a:r>
          </a:p>
        </p:txBody>
      </p:sp>
      <p:sp>
        <p:nvSpPr>
          <p:cNvPr id="4" name="">
            <a:extLst xmlns:a="http://schemas.openxmlformats.org/drawingml/2006/main">
              <a:ext uri="{FF2B5EF4-FFF2-40B4-BE49-F238E27FC236}">
                <a16:creationId xmlns:a16="http://schemas.microsoft.com/office/drawing/2014/main" id="{DB38D638-4F96-4AEC-8E26-74FFF6367B71}"/>
              </a:ext>
            </a:extLst>
          </p:cNvPr>
          <p:cNvSpPr>
            <a:spLocks xmlns:a="http://schemas.openxmlformats.org/drawingml/2006/main" noGrp="1"/>
          </p:cNvSpPr>
          <p:nvPr/>
        </p:nvSpPr>
        <p:spPr>
          <a:xfrm xmlns:a="http://schemas.openxmlformats.org/drawingml/2006/main">
            <a:off x="6381750" y="1428750"/>
            <a:ext cx="1028700" cy="552450"/>
          </a:xfrm>
          <a:prstGeom xmlns:a="http://schemas.openxmlformats.org/drawingml/2006/main" prst="roundRect">
            <a:avLst>
              <a:gd name="adj" fmla="val 13793"/>
            </a:avLst>
          </a:prstGeom>
          <a:solidFill xmlns:a="http://schemas.openxmlformats.org/drawingml/2006/main">
            <a:srgbClr val="C6DAFC"/>
          </a:solidFill>
          <a:ln xmlns:a="http://schemas.openxmlformats.org/drawingml/2006/main" w="0">
            <a:solidFill>
              <a:srgbClr val="C6DAFC"/>
            </a:solidFill>
            <a:prstDash val="solid"/>
          </a:ln>
        </p:spPr>
      </p:sp>
      <p:sp>
        <p:nvSpPr>
          <p:cNvPr id="5" name="">
            <a:extLst xmlns:a="http://schemas.openxmlformats.org/drawingml/2006/main">
              <a:ext uri="{FF2B5EF4-FFF2-40B4-BE49-F238E27FC236}">
                <a16:creationId xmlns:a16="http://schemas.microsoft.com/office/drawing/2014/main" id="{BE02413D-5F66-4963-BA04-5F85AAA7D715}"/>
              </a:ext>
            </a:extLst>
          </p:cNvPr>
          <p:cNvSpPr>
            <a:spLocks xmlns:a="http://schemas.openxmlformats.org/drawingml/2006/main" noGrp="1"/>
          </p:cNvSpPr>
          <p:nvPr/>
        </p:nvSpPr>
        <p:spPr>
          <a:xfrm xmlns:a="http://schemas.openxmlformats.org/drawingml/2006/main">
            <a:off x="6534150" y="15240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un</a:t>
            </a:r>
          </a:p>
        </p:txBody>
      </p:sp>
      <p:sp>
        <p:nvSpPr>
          <p:cNvPr id="6" name="">
            <a:extLst xmlns:a="http://schemas.openxmlformats.org/drawingml/2006/main">
              <a:ext uri="{FF2B5EF4-FFF2-40B4-BE49-F238E27FC236}">
                <a16:creationId xmlns:a16="http://schemas.microsoft.com/office/drawing/2014/main" id="{4785B303-45B5-42E1-B8E5-45975C9C1A62}"/>
              </a:ext>
            </a:extLst>
          </p:cNvPr>
          <p:cNvSpPr>
            <a:spLocks xmlns:a="http://schemas.openxmlformats.org/drawingml/2006/main" noGrp="1"/>
          </p:cNvSpPr>
          <p:nvPr/>
        </p:nvSpPr>
        <p:spPr>
          <a:xfrm xmlns:a="http://schemas.openxmlformats.org/drawingml/2006/main">
            <a:off x="7572375" y="1428750"/>
            <a:ext cx="1028700" cy="552450"/>
          </a:xfrm>
          <a:prstGeom xmlns:a="http://schemas.openxmlformats.org/drawingml/2006/main" prst="roundRect">
            <a:avLst>
              <a:gd name="adj" fmla="val 13793"/>
            </a:avLst>
          </a:prstGeom>
          <a:solidFill xmlns:a="http://schemas.openxmlformats.org/drawingml/2006/main">
            <a:srgbClr val="FDEFC3"/>
          </a:solidFill>
          <a:ln xmlns:a="http://schemas.openxmlformats.org/drawingml/2006/main" w="0">
            <a:solidFill>
              <a:srgbClr val="FDEFC3"/>
            </a:solidFill>
            <a:prstDash val="solid"/>
          </a:ln>
        </p:spPr>
      </p:sp>
      <p:sp>
        <p:nvSpPr>
          <p:cNvPr id="7" name="">
            <a:extLst xmlns:a="http://schemas.openxmlformats.org/drawingml/2006/main">
              <a:ext uri="{FF2B5EF4-FFF2-40B4-BE49-F238E27FC236}">
                <a16:creationId xmlns:a16="http://schemas.microsoft.com/office/drawing/2014/main" id="{A885A33C-0303-43F0-8926-E99A0A5D2B72}"/>
              </a:ext>
            </a:extLst>
          </p:cNvPr>
          <p:cNvSpPr>
            <a:spLocks xmlns:a="http://schemas.openxmlformats.org/drawingml/2006/main" noGrp="1"/>
          </p:cNvSpPr>
          <p:nvPr/>
        </p:nvSpPr>
        <p:spPr>
          <a:xfrm xmlns:a="http://schemas.openxmlformats.org/drawingml/2006/main">
            <a:off x="7724775" y="15240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believ</a:t>
            </a:r>
          </a:p>
        </p:txBody>
      </p:sp>
      <p:sp>
        <p:nvSpPr>
          <p:cNvPr id="8" name="">
            <a:extLst xmlns:a="http://schemas.openxmlformats.org/drawingml/2006/main">
              <a:ext uri="{FF2B5EF4-FFF2-40B4-BE49-F238E27FC236}">
                <a16:creationId xmlns:a16="http://schemas.microsoft.com/office/drawing/2014/main" id="{68732A77-35F7-43B5-AD0F-A2D7E4C1BEB1}"/>
              </a:ext>
            </a:extLst>
          </p:cNvPr>
          <p:cNvSpPr>
            <a:spLocks xmlns:a="http://schemas.openxmlformats.org/drawingml/2006/main" noGrp="1"/>
          </p:cNvSpPr>
          <p:nvPr/>
        </p:nvSpPr>
        <p:spPr>
          <a:xfrm xmlns:a="http://schemas.openxmlformats.org/drawingml/2006/main">
            <a:off x="8763000" y="1428750"/>
            <a:ext cx="1028700" cy="552450"/>
          </a:xfrm>
          <a:prstGeom xmlns:a="http://schemas.openxmlformats.org/drawingml/2006/main" prst="roundRect">
            <a:avLst>
              <a:gd name="adj" fmla="val 13793"/>
            </a:avLst>
          </a:prstGeom>
          <a:solidFill xmlns:a="http://schemas.openxmlformats.org/drawingml/2006/main">
            <a:srgbClr val="F5C7C9"/>
          </a:solidFill>
          <a:ln xmlns:a="http://schemas.openxmlformats.org/drawingml/2006/main" w="0">
            <a:solidFill>
              <a:srgbClr val="F5C7C9"/>
            </a:solidFill>
            <a:prstDash val="solid"/>
          </a:ln>
        </p:spPr>
      </p:sp>
      <p:sp>
        <p:nvSpPr>
          <p:cNvPr id="9" name="">
            <a:extLst xmlns:a="http://schemas.openxmlformats.org/drawingml/2006/main">
              <a:ext uri="{FF2B5EF4-FFF2-40B4-BE49-F238E27FC236}">
                <a16:creationId xmlns:a16="http://schemas.microsoft.com/office/drawing/2014/main" id="{60CE3853-51C1-4E0A-87B6-61D72E6E1176}"/>
              </a:ext>
            </a:extLst>
          </p:cNvPr>
          <p:cNvSpPr>
            <a:spLocks xmlns:a="http://schemas.openxmlformats.org/drawingml/2006/main" noGrp="1"/>
          </p:cNvSpPr>
          <p:nvPr/>
        </p:nvSpPr>
        <p:spPr>
          <a:xfrm xmlns:a="http://schemas.openxmlformats.org/drawingml/2006/main">
            <a:off x="8915400" y="15240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able</a:t>
            </a:r>
          </a:p>
        </p:txBody>
      </p:sp>
      <p:sp>
        <p:nvSpPr>
          <p:cNvPr id="10" name="">
            <a:extLst xmlns:a="http://schemas.openxmlformats.org/drawingml/2006/main">
              <a:ext uri="{FF2B5EF4-FFF2-40B4-BE49-F238E27FC236}">
                <a16:creationId xmlns:a16="http://schemas.microsoft.com/office/drawing/2014/main" id="{4AEF2C07-520B-4BD3-819D-5811E915B111}"/>
              </a:ext>
            </a:extLst>
          </p:cNvPr>
          <p:cNvSpPr>
            <a:spLocks xmlns:a="http://schemas.openxmlformats.org/drawingml/2006/main" noGrp="1"/>
          </p:cNvSpPr>
          <p:nvPr/>
        </p:nvSpPr>
        <p:spPr>
          <a:xfrm xmlns:a="http://schemas.openxmlformats.org/drawingml/2006/main">
            <a:off x="9953625" y="1428750"/>
            <a:ext cx="1028700" cy="552450"/>
          </a:xfrm>
          <a:prstGeom xmlns:a="http://schemas.openxmlformats.org/drawingml/2006/main" prst="roundRect">
            <a:avLst>
              <a:gd name="adj" fmla="val 13793"/>
            </a:avLst>
          </a:prstGeom>
          <a:solidFill xmlns:a="http://schemas.openxmlformats.org/drawingml/2006/main">
            <a:srgbClr val="D0E1E5"/>
          </a:solidFill>
          <a:ln xmlns:a="http://schemas.openxmlformats.org/drawingml/2006/main" w="0">
            <a:solidFill>
              <a:srgbClr val="D0E1E5"/>
            </a:solidFill>
            <a:prstDash val="solid"/>
          </a:ln>
        </p:spPr>
      </p:sp>
      <p:sp>
        <p:nvSpPr>
          <p:cNvPr id="11" name="">
            <a:extLst xmlns:a="http://schemas.openxmlformats.org/drawingml/2006/main">
              <a:ext uri="{FF2B5EF4-FFF2-40B4-BE49-F238E27FC236}">
                <a16:creationId xmlns:a16="http://schemas.microsoft.com/office/drawing/2014/main" id="{E4734F5F-394F-48B6-ACCD-D60CF4C6B68D}"/>
              </a:ext>
            </a:extLst>
          </p:cNvPr>
          <p:cNvSpPr>
            <a:spLocks xmlns:a="http://schemas.openxmlformats.org/drawingml/2006/main" noGrp="1"/>
          </p:cNvSpPr>
          <p:nvPr/>
        </p:nvSpPr>
        <p:spPr>
          <a:xfrm xmlns:a="http://schemas.openxmlformats.org/drawingml/2006/main">
            <a:off x="10106025" y="1524000"/>
            <a:ext cx="723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answers</a:t>
            </a:r>
          </a:p>
        </p:txBody>
      </p:sp>
      <p:sp>
        <p:nvSpPr>
          <p:cNvPr id="12" name="">
            <a:extLst xmlns:a="http://schemas.openxmlformats.org/drawingml/2006/main">
              <a:ext uri="{FF2B5EF4-FFF2-40B4-BE49-F238E27FC236}">
                <a16:creationId xmlns:a16="http://schemas.microsoft.com/office/drawing/2014/main" id="{10539813-36F7-4BD9-9A6E-BE83FBA8D258}"/>
              </a:ext>
            </a:extLst>
          </p:cNvPr>
          <p:cNvSpPr>
            <a:spLocks xmlns:a="http://schemas.openxmlformats.org/drawingml/2006/main" noGrp="1"/>
          </p:cNvSpPr>
          <p:nvPr/>
        </p:nvSpPr>
        <p:spPr>
          <a:xfrm xmlns:a="http://schemas.openxmlformats.org/drawingml/2006/main">
            <a:off x="838200" y="2476500"/>
            <a:ext cx="10477500" cy="190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13" name="">
            <a:extLst xmlns:a="http://schemas.openxmlformats.org/drawingml/2006/main">
              <a:ext uri="{FF2B5EF4-FFF2-40B4-BE49-F238E27FC236}">
                <a16:creationId xmlns:a16="http://schemas.microsoft.com/office/drawing/2014/main" id="{A1A3E1C6-FEA2-4C81-A6F9-2FEE6CE9C851}"/>
              </a:ext>
            </a:extLst>
          </p:cNvPr>
          <p:cNvSpPr>
            <a:spLocks xmlns:a="http://schemas.openxmlformats.org/drawingml/2006/main" noGrp="1"/>
          </p:cNvSpPr>
          <p:nvPr/>
        </p:nvSpPr>
        <p:spPr>
          <a:xfrm xmlns:a="http://schemas.openxmlformats.org/drawingml/2006/main">
            <a:off x="952500" y="27813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Tokens may be words, word pieces, punctuation, or spaces. The exact split depends on the tokenizer.</a:t>
            </a:r>
          </a:p>
        </p:txBody>
      </p:sp>
      <p:sp>
        <p:nvSpPr>
          <p:cNvPr id="14" name="">
            <a:extLst xmlns:a="http://schemas.openxmlformats.org/drawingml/2006/main">
              <a:ext uri="{FF2B5EF4-FFF2-40B4-BE49-F238E27FC236}">
                <a16:creationId xmlns:a16="http://schemas.microsoft.com/office/drawing/2014/main" id="{46E06FB2-F64E-4221-9E49-315625CAB7F1}"/>
              </a:ext>
            </a:extLst>
          </p:cNvPr>
          <p:cNvSpPr>
            <a:spLocks xmlns:a="http://schemas.openxmlformats.org/drawingml/2006/main" noGrp="1"/>
          </p:cNvSpPr>
          <p:nvPr/>
        </p:nvSpPr>
        <p:spPr>
          <a:xfrm xmlns:a="http://schemas.openxmlformats.org/drawingml/2006/main">
            <a:off x="2333625" y="3905250"/>
            <a:ext cx="1476375" cy="590550"/>
          </a:xfrm>
          <a:prstGeom xmlns:a="http://schemas.openxmlformats.org/drawingml/2006/main" prst="roundRect">
            <a:avLst>
              <a:gd name="adj" fmla="val 12903"/>
            </a:avLst>
          </a:prstGeom>
          <a:solidFill xmlns:a="http://schemas.openxmlformats.org/drawingml/2006/main">
            <a:srgbClr val="C6DAFC"/>
          </a:solidFill>
          <a:ln xmlns:a="http://schemas.openxmlformats.org/drawingml/2006/main" w="0">
            <a:solidFill>
              <a:srgbClr val="C6DAFC"/>
            </a:solidFill>
            <a:prstDash val="solid"/>
          </a:ln>
        </p:spPr>
      </p:sp>
      <p:sp>
        <p:nvSpPr>
          <p:cNvPr id="15" name="">
            <a:extLst xmlns:a="http://schemas.openxmlformats.org/drawingml/2006/main">
              <a:ext uri="{FF2B5EF4-FFF2-40B4-BE49-F238E27FC236}">
                <a16:creationId xmlns:a16="http://schemas.microsoft.com/office/drawing/2014/main" id="{1D9E17F2-09CB-4270-AA26-923170A815D9}"/>
              </a:ext>
            </a:extLst>
          </p:cNvPr>
          <p:cNvSpPr>
            <a:spLocks xmlns:a="http://schemas.openxmlformats.org/drawingml/2006/main" noGrp="1"/>
          </p:cNvSpPr>
          <p:nvPr/>
        </p:nvSpPr>
        <p:spPr>
          <a:xfrm xmlns:a="http://schemas.openxmlformats.org/drawingml/2006/main">
            <a:off x="2486025" y="4000500"/>
            <a:ext cx="1171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un</a:t>
            </a:r>
          </a:p>
        </p:txBody>
      </p:sp>
      <p:sp>
        <p:nvSpPr>
          <p:cNvPr id="16" name="">
            <a:extLst xmlns:a="http://schemas.openxmlformats.org/drawingml/2006/main">
              <a:ext uri="{FF2B5EF4-FFF2-40B4-BE49-F238E27FC236}">
                <a16:creationId xmlns:a16="http://schemas.microsoft.com/office/drawing/2014/main" id="{FCE36DDE-18F8-4F10-A8BC-AA2BF33450D9}"/>
              </a:ext>
            </a:extLst>
          </p:cNvPr>
          <p:cNvSpPr>
            <a:spLocks xmlns:a="http://schemas.openxmlformats.org/drawingml/2006/main" noGrp="1"/>
          </p:cNvSpPr>
          <p:nvPr/>
        </p:nvSpPr>
        <p:spPr>
          <a:xfrm xmlns:a="http://schemas.openxmlformats.org/drawingml/2006/main">
            <a:off x="2809875" y="4591050"/>
            <a:ext cx="52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17" name="">
            <a:extLst xmlns:a="http://schemas.openxmlformats.org/drawingml/2006/main">
              <a:ext uri="{FF2B5EF4-FFF2-40B4-BE49-F238E27FC236}">
                <a16:creationId xmlns:a16="http://schemas.microsoft.com/office/drawing/2014/main" id="{378408B1-EDE8-4CBE-9AD6-8246BCE40680}"/>
              </a:ext>
            </a:extLst>
          </p:cNvPr>
          <p:cNvSpPr>
            <a:spLocks xmlns:a="http://schemas.openxmlformats.org/drawingml/2006/main" noGrp="1"/>
          </p:cNvSpPr>
          <p:nvPr/>
        </p:nvSpPr>
        <p:spPr>
          <a:xfrm xmlns:a="http://schemas.openxmlformats.org/drawingml/2006/main">
            <a:off x="2333625" y="5143500"/>
            <a:ext cx="1476375" cy="533400"/>
          </a:xfrm>
          <a:prstGeom xmlns:a="http://schemas.openxmlformats.org/drawingml/2006/main" prst="roundRect">
            <a:avLst>
              <a:gd name="adj" fmla="val 14286"/>
            </a:avLst>
          </a:prstGeom>
          <a:solidFill xmlns:a="http://schemas.openxmlformats.org/drawingml/2006/main">
            <a:srgbClr val="F8F8F8"/>
          </a:solidFill>
          <a:ln xmlns:a="http://schemas.openxmlformats.org/drawingml/2006/main" w="0">
            <a:solidFill>
              <a:srgbClr val="F8F8F8"/>
            </a:solidFill>
            <a:prstDash val="solid"/>
          </a:ln>
        </p:spPr>
      </p:sp>
      <p:sp>
        <p:nvSpPr>
          <p:cNvPr id="18" name="">
            <a:extLst xmlns:a="http://schemas.openxmlformats.org/drawingml/2006/main">
              <a:ext uri="{FF2B5EF4-FFF2-40B4-BE49-F238E27FC236}">
                <a16:creationId xmlns:a16="http://schemas.microsoft.com/office/drawing/2014/main" id="{3637A9F7-5952-4E03-91B5-50849FA40770}"/>
              </a:ext>
            </a:extLst>
          </p:cNvPr>
          <p:cNvSpPr>
            <a:spLocks xmlns:a="http://schemas.openxmlformats.org/drawingml/2006/main" noGrp="1"/>
          </p:cNvSpPr>
          <p:nvPr/>
        </p:nvSpPr>
        <p:spPr>
          <a:xfrm xmlns:a="http://schemas.openxmlformats.org/drawingml/2006/main">
            <a:off x="2486025" y="5238750"/>
            <a:ext cx="117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0">
                <a:solidFill>
                  <a:srgbClr val="000000"/>
                </a:solidFill>
                <a:latin typeface="Roboto Mono"/>
                <a:ea typeface="Roboto Mono"/>
                <a:cs typeface="Roboto Mono"/>
              </a:defRPr>
            </a:pPr>
            <a:r>
              <a:rPr sz="1425" b="0">
                <a:solidFill>
                  <a:srgbClr val="000000"/>
                </a:solidFill>
                <a:latin typeface="Roboto Mono"/>
                <a:ea typeface="Roboto Mono"/>
                <a:cs typeface="Roboto Mono"/>
              </a:rPr>
              <a:t>384</a:t>
            </a:r>
          </a:p>
        </p:txBody>
      </p:sp>
      <p:sp>
        <p:nvSpPr>
          <p:cNvPr id="19" name="">
            <a:extLst xmlns:a="http://schemas.openxmlformats.org/drawingml/2006/main">
              <a:ext uri="{FF2B5EF4-FFF2-40B4-BE49-F238E27FC236}">
                <a16:creationId xmlns:a16="http://schemas.microsoft.com/office/drawing/2014/main" id="{FAD1492A-E37F-4CD0-A08A-4FF8A4F5DA85}"/>
              </a:ext>
            </a:extLst>
          </p:cNvPr>
          <p:cNvSpPr>
            <a:spLocks xmlns:a="http://schemas.openxmlformats.org/drawingml/2006/main" noGrp="1"/>
          </p:cNvSpPr>
          <p:nvPr/>
        </p:nvSpPr>
        <p:spPr>
          <a:xfrm xmlns:a="http://schemas.openxmlformats.org/drawingml/2006/main">
            <a:off x="4286250" y="3905250"/>
            <a:ext cx="1476375" cy="590550"/>
          </a:xfrm>
          <a:prstGeom xmlns:a="http://schemas.openxmlformats.org/drawingml/2006/main" prst="roundRect">
            <a:avLst>
              <a:gd name="adj" fmla="val 12903"/>
            </a:avLst>
          </a:prstGeom>
          <a:solidFill xmlns:a="http://schemas.openxmlformats.org/drawingml/2006/main">
            <a:srgbClr val="FDEFC3"/>
          </a:solidFill>
          <a:ln xmlns:a="http://schemas.openxmlformats.org/drawingml/2006/main" w="0">
            <a:solidFill>
              <a:srgbClr val="FDEFC3"/>
            </a:solidFill>
            <a:prstDash val="solid"/>
          </a:ln>
        </p:spPr>
      </p:sp>
      <p:sp>
        <p:nvSpPr>
          <p:cNvPr id="20" name="">
            <a:extLst xmlns:a="http://schemas.openxmlformats.org/drawingml/2006/main">
              <a:ext uri="{FF2B5EF4-FFF2-40B4-BE49-F238E27FC236}">
                <a16:creationId xmlns:a16="http://schemas.microsoft.com/office/drawing/2014/main" id="{250A004F-B62F-4E14-BFFD-47D400E16939}"/>
              </a:ext>
            </a:extLst>
          </p:cNvPr>
          <p:cNvSpPr>
            <a:spLocks xmlns:a="http://schemas.openxmlformats.org/drawingml/2006/main" noGrp="1"/>
          </p:cNvSpPr>
          <p:nvPr/>
        </p:nvSpPr>
        <p:spPr>
          <a:xfrm xmlns:a="http://schemas.openxmlformats.org/drawingml/2006/main">
            <a:off x="4438650" y="4000500"/>
            <a:ext cx="1171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believ</a:t>
            </a:r>
          </a:p>
        </p:txBody>
      </p:sp>
      <p:sp>
        <p:nvSpPr>
          <p:cNvPr id="21" name="">
            <a:extLst xmlns:a="http://schemas.openxmlformats.org/drawingml/2006/main">
              <a:ext uri="{FF2B5EF4-FFF2-40B4-BE49-F238E27FC236}">
                <a16:creationId xmlns:a16="http://schemas.microsoft.com/office/drawing/2014/main" id="{E76F0BEF-A857-4D04-823E-75552CED3722}"/>
              </a:ext>
            </a:extLst>
          </p:cNvPr>
          <p:cNvSpPr>
            <a:spLocks xmlns:a="http://schemas.openxmlformats.org/drawingml/2006/main" noGrp="1"/>
          </p:cNvSpPr>
          <p:nvPr/>
        </p:nvSpPr>
        <p:spPr>
          <a:xfrm xmlns:a="http://schemas.openxmlformats.org/drawingml/2006/main">
            <a:off x="4762500" y="4591050"/>
            <a:ext cx="52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22" name="">
            <a:extLst xmlns:a="http://schemas.openxmlformats.org/drawingml/2006/main">
              <a:ext uri="{FF2B5EF4-FFF2-40B4-BE49-F238E27FC236}">
                <a16:creationId xmlns:a16="http://schemas.microsoft.com/office/drawing/2014/main" id="{9493D890-BC19-4670-9418-D17FB554952D}"/>
              </a:ext>
            </a:extLst>
          </p:cNvPr>
          <p:cNvSpPr>
            <a:spLocks xmlns:a="http://schemas.openxmlformats.org/drawingml/2006/main" noGrp="1"/>
          </p:cNvSpPr>
          <p:nvPr/>
        </p:nvSpPr>
        <p:spPr>
          <a:xfrm xmlns:a="http://schemas.openxmlformats.org/drawingml/2006/main">
            <a:off x="4286250" y="5143500"/>
            <a:ext cx="1476375" cy="533400"/>
          </a:xfrm>
          <a:prstGeom xmlns:a="http://schemas.openxmlformats.org/drawingml/2006/main" prst="roundRect">
            <a:avLst>
              <a:gd name="adj" fmla="val 14286"/>
            </a:avLst>
          </a:prstGeom>
          <a:solidFill xmlns:a="http://schemas.openxmlformats.org/drawingml/2006/main">
            <a:srgbClr val="F8F8F8"/>
          </a:solidFill>
          <a:ln xmlns:a="http://schemas.openxmlformats.org/drawingml/2006/main" w="0">
            <a:solidFill>
              <a:srgbClr val="F8F8F8"/>
            </a:solidFill>
            <a:prstDash val="solid"/>
          </a:ln>
        </p:spPr>
      </p:sp>
      <p:sp>
        <p:nvSpPr>
          <p:cNvPr id="23" name="">
            <a:extLst xmlns:a="http://schemas.openxmlformats.org/drawingml/2006/main">
              <a:ext uri="{FF2B5EF4-FFF2-40B4-BE49-F238E27FC236}">
                <a16:creationId xmlns:a16="http://schemas.microsoft.com/office/drawing/2014/main" id="{E9F36C8B-767D-4DA1-8D78-0344C9C4A898}"/>
              </a:ext>
            </a:extLst>
          </p:cNvPr>
          <p:cNvSpPr>
            <a:spLocks xmlns:a="http://schemas.openxmlformats.org/drawingml/2006/main" noGrp="1"/>
          </p:cNvSpPr>
          <p:nvPr/>
        </p:nvSpPr>
        <p:spPr>
          <a:xfrm xmlns:a="http://schemas.openxmlformats.org/drawingml/2006/main">
            <a:off x="4438650" y="5238750"/>
            <a:ext cx="117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0">
                <a:solidFill>
                  <a:srgbClr val="000000"/>
                </a:solidFill>
                <a:latin typeface="Roboto Mono"/>
                <a:ea typeface="Roboto Mono"/>
                <a:cs typeface="Roboto Mono"/>
              </a:defRPr>
            </a:pPr>
            <a:r>
              <a:rPr sz="1425" b="0">
                <a:solidFill>
                  <a:srgbClr val="000000"/>
                </a:solidFill>
                <a:latin typeface="Roboto Mono"/>
                <a:ea typeface="Roboto Mono"/>
                <a:cs typeface="Roboto Mono"/>
              </a:rPr>
              <a:t>9217</a:t>
            </a:r>
          </a:p>
        </p:txBody>
      </p:sp>
      <p:sp>
        <p:nvSpPr>
          <p:cNvPr id="24" name="">
            <a:extLst xmlns:a="http://schemas.openxmlformats.org/drawingml/2006/main">
              <a:ext uri="{FF2B5EF4-FFF2-40B4-BE49-F238E27FC236}">
                <a16:creationId xmlns:a16="http://schemas.microsoft.com/office/drawing/2014/main" id="{B8B82509-0770-41F5-925D-280F59C21B63}"/>
              </a:ext>
            </a:extLst>
          </p:cNvPr>
          <p:cNvSpPr>
            <a:spLocks xmlns:a="http://schemas.openxmlformats.org/drawingml/2006/main" noGrp="1"/>
          </p:cNvSpPr>
          <p:nvPr/>
        </p:nvSpPr>
        <p:spPr>
          <a:xfrm xmlns:a="http://schemas.openxmlformats.org/drawingml/2006/main">
            <a:off x="6238875" y="3905250"/>
            <a:ext cx="1476375" cy="590550"/>
          </a:xfrm>
          <a:prstGeom xmlns:a="http://schemas.openxmlformats.org/drawingml/2006/main" prst="roundRect">
            <a:avLst>
              <a:gd name="adj" fmla="val 12903"/>
            </a:avLst>
          </a:prstGeom>
          <a:solidFill xmlns:a="http://schemas.openxmlformats.org/drawingml/2006/main">
            <a:srgbClr val="F5C7C9"/>
          </a:solidFill>
          <a:ln xmlns:a="http://schemas.openxmlformats.org/drawingml/2006/main" w="0">
            <a:solidFill>
              <a:srgbClr val="F5C7C9"/>
            </a:solidFill>
            <a:prstDash val="solid"/>
          </a:ln>
        </p:spPr>
      </p:sp>
      <p:sp>
        <p:nvSpPr>
          <p:cNvPr id="25" name="">
            <a:extLst xmlns:a="http://schemas.openxmlformats.org/drawingml/2006/main">
              <a:ext uri="{FF2B5EF4-FFF2-40B4-BE49-F238E27FC236}">
                <a16:creationId xmlns:a16="http://schemas.microsoft.com/office/drawing/2014/main" id="{C3C15572-B117-4985-AE39-F9CD2DF49DDB}"/>
              </a:ext>
            </a:extLst>
          </p:cNvPr>
          <p:cNvSpPr>
            <a:spLocks xmlns:a="http://schemas.openxmlformats.org/drawingml/2006/main" noGrp="1"/>
          </p:cNvSpPr>
          <p:nvPr/>
        </p:nvSpPr>
        <p:spPr>
          <a:xfrm xmlns:a="http://schemas.openxmlformats.org/drawingml/2006/main">
            <a:off x="6391275" y="4000500"/>
            <a:ext cx="1171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able</a:t>
            </a:r>
          </a:p>
        </p:txBody>
      </p:sp>
      <p:sp>
        <p:nvSpPr>
          <p:cNvPr id="26" name="">
            <a:extLst xmlns:a="http://schemas.openxmlformats.org/drawingml/2006/main">
              <a:ext uri="{FF2B5EF4-FFF2-40B4-BE49-F238E27FC236}">
                <a16:creationId xmlns:a16="http://schemas.microsoft.com/office/drawing/2014/main" id="{BD526961-3E8B-40C3-9386-0C03413DECBF}"/>
              </a:ext>
            </a:extLst>
          </p:cNvPr>
          <p:cNvSpPr>
            <a:spLocks xmlns:a="http://schemas.openxmlformats.org/drawingml/2006/main" noGrp="1"/>
          </p:cNvSpPr>
          <p:nvPr/>
        </p:nvSpPr>
        <p:spPr>
          <a:xfrm xmlns:a="http://schemas.openxmlformats.org/drawingml/2006/main">
            <a:off x="6715125" y="4591050"/>
            <a:ext cx="52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27" name="">
            <a:extLst xmlns:a="http://schemas.openxmlformats.org/drawingml/2006/main">
              <a:ext uri="{FF2B5EF4-FFF2-40B4-BE49-F238E27FC236}">
                <a16:creationId xmlns:a16="http://schemas.microsoft.com/office/drawing/2014/main" id="{BEE8B583-6EAF-4326-AEED-A8A91A4B6856}"/>
              </a:ext>
            </a:extLst>
          </p:cNvPr>
          <p:cNvSpPr>
            <a:spLocks xmlns:a="http://schemas.openxmlformats.org/drawingml/2006/main" noGrp="1"/>
          </p:cNvSpPr>
          <p:nvPr/>
        </p:nvSpPr>
        <p:spPr>
          <a:xfrm xmlns:a="http://schemas.openxmlformats.org/drawingml/2006/main">
            <a:off x="6238875" y="5143500"/>
            <a:ext cx="1476375" cy="533400"/>
          </a:xfrm>
          <a:prstGeom xmlns:a="http://schemas.openxmlformats.org/drawingml/2006/main" prst="roundRect">
            <a:avLst>
              <a:gd name="adj" fmla="val 14286"/>
            </a:avLst>
          </a:prstGeom>
          <a:solidFill xmlns:a="http://schemas.openxmlformats.org/drawingml/2006/main">
            <a:srgbClr val="F8F8F8"/>
          </a:solidFill>
          <a:ln xmlns:a="http://schemas.openxmlformats.org/drawingml/2006/main" w="0">
            <a:solidFill>
              <a:srgbClr val="F8F8F8"/>
            </a:solidFill>
            <a:prstDash val="solid"/>
          </a:ln>
        </p:spPr>
      </p:sp>
      <p:sp>
        <p:nvSpPr>
          <p:cNvPr id="28" name="">
            <a:extLst xmlns:a="http://schemas.openxmlformats.org/drawingml/2006/main">
              <a:ext uri="{FF2B5EF4-FFF2-40B4-BE49-F238E27FC236}">
                <a16:creationId xmlns:a16="http://schemas.microsoft.com/office/drawing/2014/main" id="{771D89E2-9B6C-4350-9F5F-7871A1624BBE}"/>
              </a:ext>
            </a:extLst>
          </p:cNvPr>
          <p:cNvSpPr>
            <a:spLocks xmlns:a="http://schemas.openxmlformats.org/drawingml/2006/main" noGrp="1"/>
          </p:cNvSpPr>
          <p:nvPr/>
        </p:nvSpPr>
        <p:spPr>
          <a:xfrm xmlns:a="http://schemas.openxmlformats.org/drawingml/2006/main">
            <a:off x="6391275" y="5238750"/>
            <a:ext cx="117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0">
                <a:solidFill>
                  <a:srgbClr val="000000"/>
                </a:solidFill>
                <a:latin typeface="Roboto Mono"/>
                <a:ea typeface="Roboto Mono"/>
                <a:cs typeface="Roboto Mono"/>
              </a:defRPr>
            </a:pPr>
            <a:r>
              <a:rPr sz="1425" b="0">
                <a:solidFill>
                  <a:srgbClr val="000000"/>
                </a:solidFill>
                <a:latin typeface="Roboto Mono"/>
                <a:ea typeface="Roboto Mono"/>
                <a:cs typeface="Roboto Mono"/>
              </a:rPr>
              <a:t>443</a:t>
            </a:r>
          </a:p>
        </p:txBody>
      </p:sp>
      <p:sp>
        <p:nvSpPr>
          <p:cNvPr id="29" name="">
            <a:extLst xmlns:a="http://schemas.openxmlformats.org/drawingml/2006/main">
              <a:ext uri="{FF2B5EF4-FFF2-40B4-BE49-F238E27FC236}">
                <a16:creationId xmlns:a16="http://schemas.microsoft.com/office/drawing/2014/main" id="{5074ADB0-A2D4-45A5-8581-0FD171434972}"/>
              </a:ext>
            </a:extLst>
          </p:cNvPr>
          <p:cNvSpPr>
            <a:spLocks xmlns:a="http://schemas.openxmlformats.org/drawingml/2006/main" noGrp="1"/>
          </p:cNvSpPr>
          <p:nvPr/>
        </p:nvSpPr>
        <p:spPr>
          <a:xfrm xmlns:a="http://schemas.openxmlformats.org/drawingml/2006/main">
            <a:off x="8191500" y="3905250"/>
            <a:ext cx="1476375" cy="590550"/>
          </a:xfrm>
          <a:prstGeom xmlns:a="http://schemas.openxmlformats.org/drawingml/2006/main" prst="roundRect">
            <a:avLst>
              <a:gd name="adj" fmla="val 12903"/>
            </a:avLst>
          </a:prstGeom>
          <a:solidFill xmlns:a="http://schemas.openxmlformats.org/drawingml/2006/main">
            <a:srgbClr val="D0E1E5"/>
          </a:solidFill>
          <a:ln xmlns:a="http://schemas.openxmlformats.org/drawingml/2006/main" w="0">
            <a:solidFill>
              <a:srgbClr val="D0E1E5"/>
            </a:solidFill>
            <a:prstDash val="solid"/>
          </a:ln>
        </p:spPr>
      </p:sp>
      <p:sp>
        <p:nvSpPr>
          <p:cNvPr id="30" name="">
            <a:extLst xmlns:a="http://schemas.openxmlformats.org/drawingml/2006/main">
              <a:ext uri="{FF2B5EF4-FFF2-40B4-BE49-F238E27FC236}">
                <a16:creationId xmlns:a16="http://schemas.microsoft.com/office/drawing/2014/main" id="{6E0A021E-0F22-4FDD-B82D-15CC63EF0049}"/>
              </a:ext>
            </a:extLst>
          </p:cNvPr>
          <p:cNvSpPr>
            <a:spLocks xmlns:a="http://schemas.openxmlformats.org/drawingml/2006/main" noGrp="1"/>
          </p:cNvSpPr>
          <p:nvPr/>
        </p:nvSpPr>
        <p:spPr>
          <a:xfrm xmlns:a="http://schemas.openxmlformats.org/drawingml/2006/main">
            <a:off x="8343900" y="4000500"/>
            <a:ext cx="11715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answers</a:t>
            </a:r>
          </a:p>
        </p:txBody>
      </p:sp>
      <p:sp>
        <p:nvSpPr>
          <p:cNvPr id="31" name="">
            <a:extLst xmlns:a="http://schemas.openxmlformats.org/drawingml/2006/main">
              <a:ext uri="{FF2B5EF4-FFF2-40B4-BE49-F238E27FC236}">
                <a16:creationId xmlns:a16="http://schemas.microsoft.com/office/drawing/2014/main" id="{D122F55F-9BEA-4B0F-A41D-0A2E1C0B5411}"/>
              </a:ext>
            </a:extLst>
          </p:cNvPr>
          <p:cNvSpPr>
            <a:spLocks xmlns:a="http://schemas.openxmlformats.org/drawingml/2006/main" noGrp="1"/>
          </p:cNvSpPr>
          <p:nvPr/>
        </p:nvSpPr>
        <p:spPr>
          <a:xfrm xmlns:a="http://schemas.openxmlformats.org/drawingml/2006/main">
            <a:off x="8667750" y="4591050"/>
            <a:ext cx="523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32" name="">
            <a:extLst xmlns:a="http://schemas.openxmlformats.org/drawingml/2006/main">
              <a:ext uri="{FF2B5EF4-FFF2-40B4-BE49-F238E27FC236}">
                <a16:creationId xmlns:a16="http://schemas.microsoft.com/office/drawing/2014/main" id="{DBF4AF2F-EE72-407C-928F-D601B9CE07D4}"/>
              </a:ext>
            </a:extLst>
          </p:cNvPr>
          <p:cNvSpPr>
            <a:spLocks xmlns:a="http://schemas.openxmlformats.org/drawingml/2006/main" noGrp="1"/>
          </p:cNvSpPr>
          <p:nvPr/>
        </p:nvSpPr>
        <p:spPr>
          <a:xfrm xmlns:a="http://schemas.openxmlformats.org/drawingml/2006/main">
            <a:off x="8191500" y="5143500"/>
            <a:ext cx="1476375" cy="533400"/>
          </a:xfrm>
          <a:prstGeom xmlns:a="http://schemas.openxmlformats.org/drawingml/2006/main" prst="roundRect">
            <a:avLst>
              <a:gd name="adj" fmla="val 14286"/>
            </a:avLst>
          </a:prstGeom>
          <a:solidFill xmlns:a="http://schemas.openxmlformats.org/drawingml/2006/main">
            <a:srgbClr val="F8F8F8"/>
          </a:solidFill>
          <a:ln xmlns:a="http://schemas.openxmlformats.org/drawingml/2006/main" w="0">
            <a:solidFill>
              <a:srgbClr val="F8F8F8"/>
            </a:solidFill>
            <a:prstDash val="solid"/>
          </a:ln>
        </p:spPr>
      </p:sp>
      <p:sp>
        <p:nvSpPr>
          <p:cNvPr id="33" name="">
            <a:extLst xmlns:a="http://schemas.openxmlformats.org/drawingml/2006/main">
              <a:ext uri="{FF2B5EF4-FFF2-40B4-BE49-F238E27FC236}">
                <a16:creationId xmlns:a16="http://schemas.microsoft.com/office/drawing/2014/main" id="{414FDA93-682D-47D4-AF44-EE7DD14834D6}"/>
              </a:ext>
            </a:extLst>
          </p:cNvPr>
          <p:cNvSpPr>
            <a:spLocks xmlns:a="http://schemas.openxmlformats.org/drawingml/2006/main" noGrp="1"/>
          </p:cNvSpPr>
          <p:nvPr/>
        </p:nvSpPr>
        <p:spPr>
          <a:xfrm xmlns:a="http://schemas.openxmlformats.org/drawingml/2006/main">
            <a:off x="8343900" y="5238750"/>
            <a:ext cx="11715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0">
                <a:solidFill>
                  <a:srgbClr val="000000"/>
                </a:solidFill>
                <a:latin typeface="Roboto Mono"/>
                <a:ea typeface="Roboto Mono"/>
                <a:cs typeface="Roboto Mono"/>
              </a:defRPr>
            </a:pPr>
            <a:r>
              <a:rPr sz="1425" b="0">
                <a:solidFill>
                  <a:srgbClr val="000000"/>
                </a:solidFill>
                <a:latin typeface="Roboto Mono"/>
                <a:ea typeface="Roboto Mono"/>
                <a:cs typeface="Roboto Mono"/>
              </a:rPr>
              <a:t>1268</a:t>
            </a:r>
          </a:p>
        </p:txBody>
      </p:sp>
      <p:sp>
        <p:nvSpPr>
          <p:cNvPr id="34" name="">
            <a:extLst xmlns:a="http://schemas.openxmlformats.org/drawingml/2006/main">
              <a:ext uri="{FF2B5EF4-FFF2-40B4-BE49-F238E27FC236}">
                <a16:creationId xmlns:a16="http://schemas.microsoft.com/office/drawing/2014/main" id="{EECC4F60-DECD-4404-B39E-D86C4AF58937}"/>
              </a:ext>
            </a:extLst>
          </p:cNvPr>
          <p:cNvSpPr>
            <a:spLocks xmlns:a="http://schemas.openxmlformats.org/drawingml/2006/main" noGrp="1"/>
          </p:cNvSpPr>
          <p:nvPr/>
        </p:nvSpPr>
        <p:spPr>
          <a:xfrm xmlns:a="http://schemas.openxmlformats.org/drawingml/2006/main">
            <a:off x="2952750" y="5953125"/>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Token IDs are tokenizer-specific catalog numbers—not meanings.</a:t>
            </a:r>
          </a:p>
        </p:txBody>
      </p:sp>
    </p:spTree>
    <p:extLst>
      <p:ext uri="{BB962C8B-B14F-4D97-AF65-F5344CB8AC3E}">
        <p14:creationId xmlns:p14="http://schemas.microsoft.com/office/powerpoint/2010/main" val="983792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44C6CB6-121F-4F36-9E1A-F095160006DE}"/>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Embeddings place tokens in a learned numerical space</a:t>
            </a:r>
          </a:p>
        </p:txBody>
      </p:sp>
      <p:sp>
        <p:nvSpPr>
          <p:cNvPr id="2" name="">
            <a:extLst xmlns:a="http://schemas.openxmlformats.org/drawingml/2006/main">
              <a:ext uri="{FF2B5EF4-FFF2-40B4-BE49-F238E27FC236}">
                <a16:creationId xmlns:a16="http://schemas.microsoft.com/office/drawing/2014/main" id="{5C050E4D-50D0-42FC-81BA-3A848BD3F109}"/>
              </a:ext>
            </a:extLst>
          </p:cNvPr>
          <p:cNvSpPr>
            <a:spLocks xmlns:a="http://schemas.openxmlformats.org/drawingml/2006/main" noGrp="1"/>
          </p:cNvSpPr>
          <p:nvPr/>
        </p:nvSpPr>
        <p:spPr>
          <a:xfrm xmlns:a="http://schemas.openxmlformats.org/drawingml/2006/main">
            <a:off x="666750" y="1238250"/>
            <a:ext cx="5238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An embedding is a vector: a list of numbers that represents a token or input for the model.</a:t>
            </a:r>
          </a:p>
        </p:txBody>
      </p:sp>
      <p:sp>
        <p:nvSpPr>
          <p:cNvPr id="3" name="">
            <a:extLst xmlns:a="http://schemas.openxmlformats.org/drawingml/2006/main">
              <a:ext uri="{FF2B5EF4-FFF2-40B4-BE49-F238E27FC236}">
                <a16:creationId xmlns:a16="http://schemas.microsoft.com/office/drawing/2014/main" id="{94C8E584-1A9C-4F13-A37A-5B7486AFA5EF}"/>
              </a:ext>
            </a:extLst>
          </p:cNvPr>
          <p:cNvSpPr>
            <a:spLocks xmlns:a="http://schemas.openxmlformats.org/drawingml/2006/main" noGrp="1"/>
          </p:cNvSpPr>
          <p:nvPr/>
        </p:nvSpPr>
        <p:spPr>
          <a:xfrm xmlns:a="http://schemas.openxmlformats.org/drawingml/2006/main">
            <a:off x="781050" y="24669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4" name="">
            <a:extLst xmlns:a="http://schemas.openxmlformats.org/drawingml/2006/main">
              <a:ext uri="{FF2B5EF4-FFF2-40B4-BE49-F238E27FC236}">
                <a16:creationId xmlns:a16="http://schemas.microsoft.com/office/drawing/2014/main" id="{211BFA94-85B4-4D3B-9668-B893C47AB31A}"/>
              </a:ext>
            </a:extLst>
          </p:cNvPr>
          <p:cNvSpPr>
            <a:spLocks xmlns:a="http://schemas.openxmlformats.org/drawingml/2006/main" noGrp="1"/>
          </p:cNvSpPr>
          <p:nvPr/>
        </p:nvSpPr>
        <p:spPr>
          <a:xfrm xmlns:a="http://schemas.openxmlformats.org/drawingml/2006/main">
            <a:off x="1009650" y="238125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Tokens used in similar contexts often receive related representations.</a:t>
            </a:r>
          </a:p>
        </p:txBody>
      </p:sp>
      <p:sp>
        <p:nvSpPr>
          <p:cNvPr id="5" name="">
            <a:extLst xmlns:a="http://schemas.openxmlformats.org/drawingml/2006/main">
              <a:ext uri="{FF2B5EF4-FFF2-40B4-BE49-F238E27FC236}">
                <a16:creationId xmlns:a16="http://schemas.microsoft.com/office/drawing/2014/main" id="{BA78C9F5-FB12-4395-8863-619E742B405B}"/>
              </a:ext>
            </a:extLst>
          </p:cNvPr>
          <p:cNvSpPr>
            <a:spLocks xmlns:a="http://schemas.openxmlformats.org/drawingml/2006/main" noGrp="1"/>
          </p:cNvSpPr>
          <p:nvPr/>
        </p:nvSpPr>
        <p:spPr>
          <a:xfrm xmlns:a="http://schemas.openxmlformats.org/drawingml/2006/main">
            <a:off x="781050" y="31908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6" name="">
            <a:extLst xmlns:a="http://schemas.openxmlformats.org/drawingml/2006/main">
              <a:ext uri="{FF2B5EF4-FFF2-40B4-BE49-F238E27FC236}">
                <a16:creationId xmlns:a16="http://schemas.microsoft.com/office/drawing/2014/main" id="{04DFCB7A-148A-4F58-80D7-11A75736B59A}"/>
              </a:ext>
            </a:extLst>
          </p:cNvPr>
          <p:cNvSpPr>
            <a:spLocks xmlns:a="http://schemas.openxmlformats.org/drawingml/2006/main" noGrp="1"/>
          </p:cNvSpPr>
          <p:nvPr/>
        </p:nvSpPr>
        <p:spPr>
          <a:xfrm xmlns:a="http://schemas.openxmlformats.org/drawingml/2006/main">
            <a:off x="1009650" y="310515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Modern models update representations as context moves through the layers.</a:t>
            </a:r>
          </a:p>
        </p:txBody>
      </p:sp>
      <p:sp>
        <p:nvSpPr>
          <p:cNvPr id="7" name="">
            <a:extLst xmlns:a="http://schemas.openxmlformats.org/drawingml/2006/main">
              <a:ext uri="{FF2B5EF4-FFF2-40B4-BE49-F238E27FC236}">
                <a16:creationId xmlns:a16="http://schemas.microsoft.com/office/drawing/2014/main" id="{23C4208F-5FEA-44DA-A278-A421C401A041}"/>
              </a:ext>
            </a:extLst>
          </p:cNvPr>
          <p:cNvSpPr>
            <a:spLocks xmlns:a="http://schemas.openxmlformats.org/drawingml/2006/main" noGrp="1"/>
          </p:cNvSpPr>
          <p:nvPr/>
        </p:nvSpPr>
        <p:spPr>
          <a:xfrm xmlns:a="http://schemas.openxmlformats.org/drawingml/2006/main">
            <a:off x="781050" y="39147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8" name="">
            <a:extLst xmlns:a="http://schemas.openxmlformats.org/drawingml/2006/main">
              <a:ext uri="{FF2B5EF4-FFF2-40B4-BE49-F238E27FC236}">
                <a16:creationId xmlns:a16="http://schemas.microsoft.com/office/drawing/2014/main" id="{4EBF5362-E4AA-4ADA-BC79-8AF5052B123B}"/>
              </a:ext>
            </a:extLst>
          </p:cNvPr>
          <p:cNvSpPr>
            <a:spLocks xmlns:a="http://schemas.openxmlformats.org/drawingml/2006/main" noGrp="1"/>
          </p:cNvSpPr>
          <p:nvPr/>
        </p:nvSpPr>
        <p:spPr>
          <a:xfrm xmlns:a="http://schemas.openxmlformats.org/drawingml/2006/main">
            <a:off x="1009650" y="382905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The two-dimensional picture is only an analogy; real embeddings use many dimensions.</a:t>
            </a:r>
          </a:p>
        </p:txBody>
      </p:sp>
      <p:sp>
        <p:nvSpPr>
          <p:cNvPr id="9" name="">
            <a:extLst xmlns:a="http://schemas.openxmlformats.org/drawingml/2006/main">
              <a:ext uri="{FF2B5EF4-FFF2-40B4-BE49-F238E27FC236}">
                <a16:creationId xmlns:a16="http://schemas.microsoft.com/office/drawing/2014/main" id="{8DE81822-1980-401A-859F-E39E629C970D}"/>
              </a:ext>
            </a:extLst>
          </p:cNvPr>
          <p:cNvSpPr>
            <a:spLocks xmlns:a="http://schemas.openxmlformats.org/drawingml/2006/main" noGrp="1"/>
          </p:cNvSpPr>
          <p:nvPr/>
        </p:nvSpPr>
        <p:spPr>
          <a:xfrm xmlns:a="http://schemas.openxmlformats.org/drawingml/2006/main">
            <a:off x="6572250" y="1238250"/>
            <a:ext cx="4572000" cy="4476750"/>
          </a:xfrm>
          <a:prstGeom xmlns:a="http://schemas.openxmlformats.org/drawingml/2006/main" prst="roundRect">
            <a:avLst>
              <a:gd name="adj" fmla="val 1702"/>
            </a:avLst>
          </a:prstGeom>
          <a:solidFill xmlns:a="http://schemas.openxmlformats.org/drawingml/2006/main">
            <a:srgbClr val="F8F8F8"/>
          </a:solidFill>
          <a:ln xmlns:a="http://schemas.openxmlformats.org/drawingml/2006/main" w="9525">
            <a:solidFill>
              <a:srgbClr val="DADCE0"/>
            </a:solidFill>
            <a:prstDash val="solid"/>
          </a:ln>
        </p:spPr>
      </p:sp>
      <p:sp>
        <p:nvSpPr>
          <p:cNvPr id="10" name="">
            <a:extLst xmlns:a="http://schemas.openxmlformats.org/drawingml/2006/main">
              <a:ext uri="{FF2B5EF4-FFF2-40B4-BE49-F238E27FC236}">
                <a16:creationId xmlns:a16="http://schemas.microsoft.com/office/drawing/2014/main" id="{72E36DA0-50BD-465E-ABB3-CAA2D3A27586}"/>
              </a:ext>
            </a:extLst>
          </p:cNvPr>
          <p:cNvSpPr>
            <a:spLocks xmlns:a="http://schemas.openxmlformats.org/drawingml/2006/main" noGrp="1"/>
          </p:cNvSpPr>
          <p:nvPr/>
        </p:nvSpPr>
        <p:spPr>
          <a:xfrm xmlns:a="http://schemas.openxmlformats.org/drawingml/2006/main">
            <a:off x="7000875" y="15240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Conceptual embedding map</a:t>
            </a:r>
          </a:p>
        </p:txBody>
      </p:sp>
      <p:sp>
        <p:nvSpPr>
          <p:cNvPr id="11" name="">
            <a:extLst xmlns:a="http://schemas.openxmlformats.org/drawingml/2006/main">
              <a:ext uri="{FF2B5EF4-FFF2-40B4-BE49-F238E27FC236}">
                <a16:creationId xmlns:a16="http://schemas.microsoft.com/office/drawing/2014/main" id="{96A0DE25-8AB3-4246-877F-11514FE76A89}"/>
              </a:ext>
            </a:extLst>
          </p:cNvPr>
          <p:cNvSpPr>
            <a:spLocks xmlns:a="http://schemas.openxmlformats.org/drawingml/2006/main" noGrp="1"/>
          </p:cNvSpPr>
          <p:nvPr/>
        </p:nvSpPr>
        <p:spPr>
          <a:xfrm xmlns:a="http://schemas.openxmlformats.org/drawingml/2006/main">
            <a:off x="7334250" y="2667000"/>
            <a:ext cx="209550" cy="209550"/>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2" name="">
            <a:extLst xmlns:a="http://schemas.openxmlformats.org/drawingml/2006/main">
              <a:ext uri="{FF2B5EF4-FFF2-40B4-BE49-F238E27FC236}">
                <a16:creationId xmlns:a16="http://schemas.microsoft.com/office/drawing/2014/main" id="{D8AAFAEA-FBD6-43CD-8C4B-611711AAC67E}"/>
              </a:ext>
            </a:extLst>
          </p:cNvPr>
          <p:cNvSpPr>
            <a:spLocks xmlns:a="http://schemas.openxmlformats.org/drawingml/2006/main" noGrp="1"/>
          </p:cNvSpPr>
          <p:nvPr/>
        </p:nvSpPr>
        <p:spPr>
          <a:xfrm xmlns:a="http://schemas.openxmlformats.org/drawingml/2006/main">
            <a:off x="7600950" y="261937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cat</a:t>
            </a:r>
          </a:p>
        </p:txBody>
      </p:sp>
      <p:sp>
        <p:nvSpPr>
          <p:cNvPr id="13" name="">
            <a:extLst xmlns:a="http://schemas.openxmlformats.org/drawingml/2006/main">
              <a:ext uri="{FF2B5EF4-FFF2-40B4-BE49-F238E27FC236}">
                <a16:creationId xmlns:a16="http://schemas.microsoft.com/office/drawing/2014/main" id="{347A6859-FD77-4CCF-9DCC-677C166D6277}"/>
              </a:ext>
            </a:extLst>
          </p:cNvPr>
          <p:cNvSpPr>
            <a:spLocks xmlns:a="http://schemas.openxmlformats.org/drawingml/2006/main" noGrp="1"/>
          </p:cNvSpPr>
          <p:nvPr/>
        </p:nvSpPr>
        <p:spPr>
          <a:xfrm xmlns:a="http://schemas.openxmlformats.org/drawingml/2006/main">
            <a:off x="8191500" y="3143250"/>
            <a:ext cx="209550" cy="209550"/>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4" name="">
            <a:extLst xmlns:a="http://schemas.openxmlformats.org/drawingml/2006/main">
              <a:ext uri="{FF2B5EF4-FFF2-40B4-BE49-F238E27FC236}">
                <a16:creationId xmlns:a16="http://schemas.microsoft.com/office/drawing/2014/main" id="{AF732496-F313-4B8D-824A-1FCE014EA35A}"/>
              </a:ext>
            </a:extLst>
          </p:cNvPr>
          <p:cNvSpPr>
            <a:spLocks xmlns:a="http://schemas.openxmlformats.org/drawingml/2006/main" noGrp="1"/>
          </p:cNvSpPr>
          <p:nvPr/>
        </p:nvSpPr>
        <p:spPr>
          <a:xfrm xmlns:a="http://schemas.openxmlformats.org/drawingml/2006/main">
            <a:off x="8458200" y="30956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dog</a:t>
            </a:r>
          </a:p>
        </p:txBody>
      </p:sp>
      <p:sp>
        <p:nvSpPr>
          <p:cNvPr id="15" name="">
            <a:extLst xmlns:a="http://schemas.openxmlformats.org/drawingml/2006/main">
              <a:ext uri="{FF2B5EF4-FFF2-40B4-BE49-F238E27FC236}">
                <a16:creationId xmlns:a16="http://schemas.microsoft.com/office/drawing/2014/main" id="{DB995B4A-835C-41E7-AD7A-6345FE144D16}"/>
              </a:ext>
            </a:extLst>
          </p:cNvPr>
          <p:cNvSpPr>
            <a:spLocks xmlns:a="http://schemas.openxmlformats.org/drawingml/2006/main" noGrp="1"/>
          </p:cNvSpPr>
          <p:nvPr/>
        </p:nvSpPr>
        <p:spPr>
          <a:xfrm xmlns:a="http://schemas.openxmlformats.org/drawingml/2006/main">
            <a:off x="7620000" y="3714750"/>
            <a:ext cx="209550" cy="209550"/>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6" name="">
            <a:extLst xmlns:a="http://schemas.openxmlformats.org/drawingml/2006/main">
              <a:ext uri="{FF2B5EF4-FFF2-40B4-BE49-F238E27FC236}">
                <a16:creationId xmlns:a16="http://schemas.microsoft.com/office/drawing/2014/main" id="{92D21E0D-35CC-4A9D-B3EB-7BFDAA432AD1}"/>
              </a:ext>
            </a:extLst>
          </p:cNvPr>
          <p:cNvSpPr>
            <a:spLocks xmlns:a="http://schemas.openxmlformats.org/drawingml/2006/main" noGrp="1"/>
          </p:cNvSpPr>
          <p:nvPr/>
        </p:nvSpPr>
        <p:spPr>
          <a:xfrm xmlns:a="http://schemas.openxmlformats.org/drawingml/2006/main">
            <a:off x="7886700" y="36671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kitten</a:t>
            </a:r>
          </a:p>
        </p:txBody>
      </p:sp>
      <p:sp>
        <p:nvSpPr>
          <p:cNvPr id="17" name="">
            <a:extLst xmlns:a="http://schemas.openxmlformats.org/drawingml/2006/main">
              <a:ext uri="{FF2B5EF4-FFF2-40B4-BE49-F238E27FC236}">
                <a16:creationId xmlns:a16="http://schemas.microsoft.com/office/drawing/2014/main" id="{2220595B-7759-4EC7-B24D-71E2466F34E2}"/>
              </a:ext>
            </a:extLst>
          </p:cNvPr>
          <p:cNvSpPr>
            <a:spLocks xmlns:a="http://schemas.openxmlformats.org/drawingml/2006/main" noGrp="1"/>
          </p:cNvSpPr>
          <p:nvPr/>
        </p:nvSpPr>
        <p:spPr>
          <a:xfrm xmlns:a="http://schemas.openxmlformats.org/drawingml/2006/main">
            <a:off x="9477375" y="2571750"/>
            <a:ext cx="209550" cy="209550"/>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18" name="">
            <a:extLst xmlns:a="http://schemas.openxmlformats.org/drawingml/2006/main">
              <a:ext uri="{FF2B5EF4-FFF2-40B4-BE49-F238E27FC236}">
                <a16:creationId xmlns:a16="http://schemas.microsoft.com/office/drawing/2014/main" id="{BEBC695D-702D-46BB-81D3-E4C20CC48760}"/>
              </a:ext>
            </a:extLst>
          </p:cNvPr>
          <p:cNvSpPr>
            <a:spLocks xmlns:a="http://schemas.openxmlformats.org/drawingml/2006/main" noGrp="1"/>
          </p:cNvSpPr>
          <p:nvPr/>
        </p:nvSpPr>
        <p:spPr>
          <a:xfrm xmlns:a="http://schemas.openxmlformats.org/drawingml/2006/main">
            <a:off x="9744075" y="25241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car</a:t>
            </a:r>
          </a:p>
        </p:txBody>
      </p:sp>
      <p:sp>
        <p:nvSpPr>
          <p:cNvPr id="19" name="">
            <a:extLst xmlns:a="http://schemas.openxmlformats.org/drawingml/2006/main">
              <a:ext uri="{FF2B5EF4-FFF2-40B4-BE49-F238E27FC236}">
                <a16:creationId xmlns:a16="http://schemas.microsoft.com/office/drawing/2014/main" id="{D4632EAF-8E9C-407B-9C6C-211A274B09DD}"/>
              </a:ext>
            </a:extLst>
          </p:cNvPr>
          <p:cNvSpPr>
            <a:spLocks xmlns:a="http://schemas.openxmlformats.org/drawingml/2006/main" noGrp="1"/>
          </p:cNvSpPr>
          <p:nvPr/>
        </p:nvSpPr>
        <p:spPr>
          <a:xfrm xmlns:a="http://schemas.openxmlformats.org/drawingml/2006/main">
            <a:off x="10096500" y="3333750"/>
            <a:ext cx="209550" cy="209550"/>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20" name="">
            <a:extLst xmlns:a="http://schemas.openxmlformats.org/drawingml/2006/main">
              <a:ext uri="{FF2B5EF4-FFF2-40B4-BE49-F238E27FC236}">
                <a16:creationId xmlns:a16="http://schemas.microsoft.com/office/drawing/2014/main" id="{74B0F82C-E34E-4E76-9AC6-94DB1F0F24D2}"/>
              </a:ext>
            </a:extLst>
          </p:cNvPr>
          <p:cNvSpPr>
            <a:spLocks xmlns:a="http://schemas.openxmlformats.org/drawingml/2006/main" noGrp="1"/>
          </p:cNvSpPr>
          <p:nvPr/>
        </p:nvSpPr>
        <p:spPr>
          <a:xfrm xmlns:a="http://schemas.openxmlformats.org/drawingml/2006/main">
            <a:off x="10363200" y="32861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bus</a:t>
            </a:r>
          </a:p>
        </p:txBody>
      </p:sp>
      <p:sp>
        <p:nvSpPr>
          <p:cNvPr id="21" name="">
            <a:extLst xmlns:a="http://schemas.openxmlformats.org/drawingml/2006/main">
              <a:ext uri="{FF2B5EF4-FFF2-40B4-BE49-F238E27FC236}">
                <a16:creationId xmlns:a16="http://schemas.microsoft.com/office/drawing/2014/main" id="{C0955AB1-CA55-4928-83C4-A5EE811E9FAF}"/>
              </a:ext>
            </a:extLst>
          </p:cNvPr>
          <p:cNvSpPr>
            <a:spLocks xmlns:a="http://schemas.openxmlformats.org/drawingml/2006/main" noGrp="1"/>
          </p:cNvSpPr>
          <p:nvPr/>
        </p:nvSpPr>
        <p:spPr>
          <a:xfrm xmlns:a="http://schemas.openxmlformats.org/drawingml/2006/main">
            <a:off x="9239250" y="4048125"/>
            <a:ext cx="209550" cy="209550"/>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22" name="">
            <a:extLst xmlns:a="http://schemas.openxmlformats.org/drawingml/2006/main">
              <a:ext uri="{FF2B5EF4-FFF2-40B4-BE49-F238E27FC236}">
                <a16:creationId xmlns:a16="http://schemas.microsoft.com/office/drawing/2014/main" id="{6D762F16-40D2-4F5D-A18D-F281BBAC56D4}"/>
              </a:ext>
            </a:extLst>
          </p:cNvPr>
          <p:cNvSpPr>
            <a:spLocks xmlns:a="http://schemas.openxmlformats.org/drawingml/2006/main" noGrp="1"/>
          </p:cNvSpPr>
          <p:nvPr/>
        </p:nvSpPr>
        <p:spPr>
          <a:xfrm xmlns:a="http://schemas.openxmlformats.org/drawingml/2006/main">
            <a:off x="9505950" y="4000500"/>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truck</a:t>
            </a:r>
          </a:p>
        </p:txBody>
      </p:sp>
      <p:sp>
        <p:nvSpPr>
          <p:cNvPr id="23" name="">
            <a:extLst xmlns:a="http://schemas.openxmlformats.org/drawingml/2006/main">
              <a:ext uri="{FF2B5EF4-FFF2-40B4-BE49-F238E27FC236}">
                <a16:creationId xmlns:a16="http://schemas.microsoft.com/office/drawing/2014/main" id="{1438FCCB-A32A-44A5-85B7-60AC7DC27771}"/>
              </a:ext>
            </a:extLst>
          </p:cNvPr>
          <p:cNvSpPr>
            <a:spLocks xmlns:a="http://schemas.openxmlformats.org/drawingml/2006/main" noGrp="1"/>
          </p:cNvSpPr>
          <p:nvPr/>
        </p:nvSpPr>
        <p:spPr>
          <a:xfrm xmlns:a="http://schemas.openxmlformats.org/drawingml/2006/main">
            <a:off x="7239000" y="4857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254A89"/>
                </a:solidFill>
                <a:latin typeface="Google Sans Text"/>
                <a:ea typeface="Google Sans Text"/>
                <a:cs typeface="Google Sans Text"/>
              </a:defRPr>
            </a:pPr>
            <a:r>
              <a:rPr sz="1350" b="0">
                <a:solidFill>
                  <a:srgbClr val="254A89"/>
                </a:solidFill>
                <a:latin typeface="Google Sans Text"/>
                <a:ea typeface="Google Sans Text"/>
                <a:cs typeface="Google Sans Text"/>
              </a:rPr>
              <a:t>animals</a:t>
            </a:r>
          </a:p>
        </p:txBody>
      </p:sp>
      <p:sp>
        <p:nvSpPr>
          <p:cNvPr id="24" name="">
            <a:extLst xmlns:a="http://schemas.openxmlformats.org/drawingml/2006/main">
              <a:ext uri="{FF2B5EF4-FFF2-40B4-BE49-F238E27FC236}">
                <a16:creationId xmlns:a16="http://schemas.microsoft.com/office/drawing/2014/main" id="{A4E2659A-CEFA-41FB-A170-C01FC169E6FF}"/>
              </a:ext>
            </a:extLst>
          </p:cNvPr>
          <p:cNvSpPr>
            <a:spLocks xmlns:a="http://schemas.openxmlformats.org/drawingml/2006/main" noGrp="1"/>
          </p:cNvSpPr>
          <p:nvPr/>
        </p:nvSpPr>
        <p:spPr>
          <a:xfrm xmlns:a="http://schemas.openxmlformats.org/drawingml/2006/main">
            <a:off x="9334500" y="48577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D34836"/>
                </a:solidFill>
                <a:latin typeface="Google Sans Text"/>
                <a:ea typeface="Google Sans Text"/>
                <a:cs typeface="Google Sans Text"/>
              </a:defRPr>
            </a:pPr>
            <a:r>
              <a:rPr sz="1350" b="0">
                <a:solidFill>
                  <a:srgbClr val="D34836"/>
                </a:solidFill>
                <a:latin typeface="Google Sans Text"/>
                <a:ea typeface="Google Sans Text"/>
                <a:cs typeface="Google Sans Text"/>
              </a:rPr>
              <a:t>vehicles</a:t>
            </a:r>
          </a:p>
        </p:txBody>
      </p:sp>
    </p:spTree>
    <p:extLst>
      <p:ext uri="{BB962C8B-B14F-4D97-AF65-F5344CB8AC3E}">
        <p14:creationId xmlns:p14="http://schemas.microsoft.com/office/powerpoint/2010/main" val="2001214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CB4D369-6E04-4093-8DDB-FD42ECBAC688}"/>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Transformers combine token meaning with position and context</a:t>
            </a:r>
          </a:p>
        </p:txBody>
      </p:sp>
      <p:sp>
        <p:nvSpPr>
          <p:cNvPr id="2" name="">
            <a:extLst xmlns:a="http://schemas.openxmlformats.org/drawingml/2006/main">
              <a:ext uri="{FF2B5EF4-FFF2-40B4-BE49-F238E27FC236}">
                <a16:creationId xmlns:a16="http://schemas.microsoft.com/office/drawing/2014/main" id="{3BAA2FF8-9516-4BCA-823E-9D108FA459BF}"/>
              </a:ext>
            </a:extLst>
          </p:cNvPr>
          <p:cNvSpPr>
            <a:spLocks xmlns:a="http://schemas.openxmlformats.org/drawingml/2006/main" noGrp="1"/>
          </p:cNvSpPr>
          <p:nvPr/>
        </p:nvSpPr>
        <p:spPr>
          <a:xfrm xmlns:a="http://schemas.openxmlformats.org/drawingml/2006/main">
            <a:off x="666750" y="2857500"/>
            <a:ext cx="2190750" cy="781050"/>
          </a:xfrm>
          <a:prstGeom xmlns:a="http://schemas.openxmlformats.org/drawingml/2006/main" prst="roundRect">
            <a:avLst>
              <a:gd name="adj" fmla="val 9756"/>
            </a:avLst>
          </a:prstGeom>
          <a:solidFill xmlns:a="http://schemas.openxmlformats.org/drawingml/2006/main">
            <a:srgbClr val="D0E1E5"/>
          </a:solidFill>
          <a:ln xmlns:a="http://schemas.openxmlformats.org/drawingml/2006/main" w="0">
            <a:solidFill>
              <a:srgbClr val="D0E1E5"/>
            </a:solidFill>
            <a:prstDash val="solid"/>
          </a:ln>
        </p:spPr>
      </p:sp>
      <p:sp>
        <p:nvSpPr>
          <p:cNvPr id="3" name="">
            <a:extLst xmlns:a="http://schemas.openxmlformats.org/drawingml/2006/main">
              <a:ext uri="{FF2B5EF4-FFF2-40B4-BE49-F238E27FC236}">
                <a16:creationId xmlns:a16="http://schemas.microsoft.com/office/drawing/2014/main" id="{2BE5D518-90E5-4CCF-A5F2-65C9E040EC0D}"/>
              </a:ext>
            </a:extLst>
          </p:cNvPr>
          <p:cNvSpPr>
            <a:spLocks xmlns:a="http://schemas.openxmlformats.org/drawingml/2006/main" noGrp="1"/>
          </p:cNvSpPr>
          <p:nvPr/>
        </p:nvSpPr>
        <p:spPr>
          <a:xfrm xmlns:a="http://schemas.openxmlformats.org/drawingml/2006/main">
            <a:off x="819150" y="29527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00000"/>
                </a:solidFill>
                <a:latin typeface="Google Sans Text"/>
                <a:ea typeface="Google Sans Text"/>
                <a:cs typeface="Google Sans Text"/>
              </a:defRPr>
            </a:pPr>
            <a:r>
              <a:rPr sz="1575" b="1">
                <a:solidFill>
                  <a:srgbClr val="000000"/>
                </a:solidFill>
                <a:latin typeface="Google Sans Text"/>
                <a:ea typeface="Google Sans Text"/>
                <a:cs typeface="Google Sans Text"/>
              </a:rPr>
              <a:t>Text</a:t>
            </a:r>
          </a:p>
        </p:txBody>
      </p:sp>
      <p:sp>
        <p:nvSpPr>
          <p:cNvPr id="4" name="">
            <a:extLst xmlns:a="http://schemas.openxmlformats.org/drawingml/2006/main">
              <a:ext uri="{FF2B5EF4-FFF2-40B4-BE49-F238E27FC236}">
                <a16:creationId xmlns:a16="http://schemas.microsoft.com/office/drawing/2014/main" id="{3D62634F-F39E-4F9F-9832-B1AE125400CC}"/>
              </a:ext>
            </a:extLst>
          </p:cNvPr>
          <p:cNvSpPr>
            <a:spLocks xmlns:a="http://schemas.openxmlformats.org/drawingml/2006/main" noGrp="1"/>
          </p:cNvSpPr>
          <p:nvPr/>
        </p:nvSpPr>
        <p:spPr>
          <a:xfrm xmlns:a="http://schemas.openxmlformats.org/drawingml/2006/main">
            <a:off x="2886075" y="2952750"/>
            <a:ext cx="438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5" name="">
            <a:extLst xmlns:a="http://schemas.openxmlformats.org/drawingml/2006/main">
              <a:ext uri="{FF2B5EF4-FFF2-40B4-BE49-F238E27FC236}">
                <a16:creationId xmlns:a16="http://schemas.microsoft.com/office/drawing/2014/main" id="{16AA0A14-96B2-454A-904B-B9C3D03D0E2C}"/>
              </a:ext>
            </a:extLst>
          </p:cNvPr>
          <p:cNvSpPr>
            <a:spLocks xmlns:a="http://schemas.openxmlformats.org/drawingml/2006/main" noGrp="1"/>
          </p:cNvSpPr>
          <p:nvPr/>
        </p:nvSpPr>
        <p:spPr>
          <a:xfrm xmlns:a="http://schemas.openxmlformats.org/drawingml/2006/main">
            <a:off x="3476625" y="2857500"/>
            <a:ext cx="2190750" cy="781050"/>
          </a:xfrm>
          <a:prstGeom xmlns:a="http://schemas.openxmlformats.org/drawingml/2006/main" prst="roundRect">
            <a:avLst>
              <a:gd name="adj" fmla="val 9756"/>
            </a:avLst>
          </a:prstGeom>
          <a:solidFill xmlns:a="http://schemas.openxmlformats.org/drawingml/2006/main">
            <a:srgbClr val="FDEFC3"/>
          </a:solidFill>
          <a:ln xmlns:a="http://schemas.openxmlformats.org/drawingml/2006/main" w="0">
            <a:solidFill>
              <a:srgbClr val="FDEFC3"/>
            </a:solidFill>
            <a:prstDash val="solid"/>
          </a:ln>
        </p:spPr>
      </p:sp>
      <p:sp>
        <p:nvSpPr>
          <p:cNvPr id="6" name="">
            <a:extLst xmlns:a="http://schemas.openxmlformats.org/drawingml/2006/main">
              <a:ext uri="{FF2B5EF4-FFF2-40B4-BE49-F238E27FC236}">
                <a16:creationId xmlns:a16="http://schemas.microsoft.com/office/drawing/2014/main" id="{AD18632D-ABD7-4557-AD23-7124AA9CB8EE}"/>
              </a:ext>
            </a:extLst>
          </p:cNvPr>
          <p:cNvSpPr>
            <a:spLocks xmlns:a="http://schemas.openxmlformats.org/drawingml/2006/main" noGrp="1"/>
          </p:cNvSpPr>
          <p:nvPr/>
        </p:nvSpPr>
        <p:spPr>
          <a:xfrm xmlns:a="http://schemas.openxmlformats.org/drawingml/2006/main">
            <a:off x="3629025" y="29527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00000"/>
                </a:solidFill>
                <a:latin typeface="Google Sans Text"/>
                <a:ea typeface="Google Sans Text"/>
                <a:cs typeface="Google Sans Text"/>
              </a:defRPr>
            </a:pPr>
            <a:r>
              <a:rPr sz="1575" b="1">
                <a:solidFill>
                  <a:srgbClr val="000000"/>
                </a:solidFill>
                <a:latin typeface="Google Sans Text"/>
                <a:ea typeface="Google Sans Text"/>
                <a:cs typeface="Google Sans Text"/>
              </a:rPr>
              <a:t>Tokens + positions</a:t>
            </a:r>
          </a:p>
        </p:txBody>
      </p:sp>
      <p:sp>
        <p:nvSpPr>
          <p:cNvPr id="7" name="">
            <a:extLst xmlns:a="http://schemas.openxmlformats.org/drawingml/2006/main">
              <a:ext uri="{FF2B5EF4-FFF2-40B4-BE49-F238E27FC236}">
                <a16:creationId xmlns:a16="http://schemas.microsoft.com/office/drawing/2014/main" id="{D4C4851C-7940-4C3A-885A-442132256683}"/>
              </a:ext>
            </a:extLst>
          </p:cNvPr>
          <p:cNvSpPr>
            <a:spLocks xmlns:a="http://schemas.openxmlformats.org/drawingml/2006/main" noGrp="1"/>
          </p:cNvSpPr>
          <p:nvPr/>
        </p:nvSpPr>
        <p:spPr>
          <a:xfrm xmlns:a="http://schemas.openxmlformats.org/drawingml/2006/main">
            <a:off x="5695950" y="2952750"/>
            <a:ext cx="438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8" name="">
            <a:extLst xmlns:a="http://schemas.openxmlformats.org/drawingml/2006/main">
              <a:ext uri="{FF2B5EF4-FFF2-40B4-BE49-F238E27FC236}">
                <a16:creationId xmlns:a16="http://schemas.microsoft.com/office/drawing/2014/main" id="{EB0F5D0D-DA81-4443-8754-CE2569996CC0}"/>
              </a:ext>
            </a:extLst>
          </p:cNvPr>
          <p:cNvSpPr>
            <a:spLocks xmlns:a="http://schemas.openxmlformats.org/drawingml/2006/main" noGrp="1"/>
          </p:cNvSpPr>
          <p:nvPr/>
        </p:nvSpPr>
        <p:spPr>
          <a:xfrm xmlns:a="http://schemas.openxmlformats.org/drawingml/2006/main">
            <a:off x="6286500" y="2857500"/>
            <a:ext cx="2190750" cy="781050"/>
          </a:xfrm>
          <a:prstGeom xmlns:a="http://schemas.openxmlformats.org/drawingml/2006/main" prst="roundRect">
            <a:avLst>
              <a:gd name="adj" fmla="val 9756"/>
            </a:avLst>
          </a:prstGeom>
          <a:solidFill xmlns:a="http://schemas.openxmlformats.org/drawingml/2006/main">
            <a:srgbClr val="F5C7C9"/>
          </a:solidFill>
          <a:ln xmlns:a="http://schemas.openxmlformats.org/drawingml/2006/main" w="0">
            <a:solidFill>
              <a:srgbClr val="F5C7C9"/>
            </a:solidFill>
            <a:prstDash val="solid"/>
          </a:ln>
        </p:spPr>
      </p:sp>
      <p:sp>
        <p:nvSpPr>
          <p:cNvPr id="9" name="">
            <a:extLst xmlns:a="http://schemas.openxmlformats.org/drawingml/2006/main">
              <a:ext uri="{FF2B5EF4-FFF2-40B4-BE49-F238E27FC236}">
                <a16:creationId xmlns:a16="http://schemas.microsoft.com/office/drawing/2014/main" id="{2B7AC142-4E1B-46E7-83EE-9035F07612C4}"/>
              </a:ext>
            </a:extLst>
          </p:cNvPr>
          <p:cNvSpPr>
            <a:spLocks xmlns:a="http://schemas.openxmlformats.org/drawingml/2006/main" noGrp="1"/>
          </p:cNvSpPr>
          <p:nvPr/>
        </p:nvSpPr>
        <p:spPr>
          <a:xfrm xmlns:a="http://schemas.openxmlformats.org/drawingml/2006/main">
            <a:off x="6438900" y="29527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00000"/>
                </a:solidFill>
                <a:latin typeface="Google Sans Text"/>
                <a:ea typeface="Google Sans Text"/>
                <a:cs typeface="Google Sans Text"/>
              </a:defRPr>
            </a:pPr>
            <a:r>
              <a:rPr sz="1575" b="1">
                <a:solidFill>
                  <a:srgbClr val="000000"/>
                </a:solidFill>
                <a:latin typeface="Google Sans Text"/>
                <a:ea typeface="Google Sans Text"/>
                <a:cs typeface="Google Sans Text"/>
              </a:rPr>
              <a:t>Transformer blocks</a:t>
            </a:r>
          </a:p>
        </p:txBody>
      </p:sp>
      <p:sp>
        <p:nvSpPr>
          <p:cNvPr id="10" name="">
            <a:extLst xmlns:a="http://schemas.openxmlformats.org/drawingml/2006/main">
              <a:ext uri="{FF2B5EF4-FFF2-40B4-BE49-F238E27FC236}">
                <a16:creationId xmlns:a16="http://schemas.microsoft.com/office/drawing/2014/main" id="{4EFED9CA-554E-4A2A-8FEB-2A0F1E920106}"/>
              </a:ext>
            </a:extLst>
          </p:cNvPr>
          <p:cNvSpPr>
            <a:spLocks xmlns:a="http://schemas.openxmlformats.org/drawingml/2006/main" noGrp="1"/>
          </p:cNvSpPr>
          <p:nvPr/>
        </p:nvSpPr>
        <p:spPr>
          <a:xfrm xmlns:a="http://schemas.openxmlformats.org/drawingml/2006/main">
            <a:off x="8505825" y="2952750"/>
            <a:ext cx="4381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1" name="">
            <a:extLst xmlns:a="http://schemas.openxmlformats.org/drawingml/2006/main">
              <a:ext uri="{FF2B5EF4-FFF2-40B4-BE49-F238E27FC236}">
                <a16:creationId xmlns:a16="http://schemas.microsoft.com/office/drawing/2014/main" id="{51F4D708-3C45-4F14-A877-D8BD7D1C2A3C}"/>
              </a:ext>
            </a:extLst>
          </p:cNvPr>
          <p:cNvSpPr>
            <a:spLocks xmlns:a="http://schemas.openxmlformats.org/drawingml/2006/main" noGrp="1"/>
          </p:cNvSpPr>
          <p:nvPr/>
        </p:nvSpPr>
        <p:spPr>
          <a:xfrm xmlns:a="http://schemas.openxmlformats.org/drawingml/2006/main">
            <a:off x="9096375" y="2857500"/>
            <a:ext cx="2190750" cy="781050"/>
          </a:xfrm>
          <a:prstGeom xmlns:a="http://schemas.openxmlformats.org/drawingml/2006/main" prst="roundRect">
            <a:avLst>
              <a:gd name="adj" fmla="val 9756"/>
            </a:avLst>
          </a:prstGeom>
          <a:solidFill xmlns:a="http://schemas.openxmlformats.org/drawingml/2006/main">
            <a:srgbClr val="C6DAFC"/>
          </a:solidFill>
          <a:ln xmlns:a="http://schemas.openxmlformats.org/drawingml/2006/main" w="0">
            <a:solidFill>
              <a:srgbClr val="C6DAFC"/>
            </a:solidFill>
            <a:prstDash val="solid"/>
          </a:ln>
        </p:spPr>
      </p:sp>
      <p:sp>
        <p:nvSpPr>
          <p:cNvPr id="12" name="">
            <a:extLst xmlns:a="http://schemas.openxmlformats.org/drawingml/2006/main">
              <a:ext uri="{FF2B5EF4-FFF2-40B4-BE49-F238E27FC236}">
                <a16:creationId xmlns:a16="http://schemas.microsoft.com/office/drawing/2014/main" id="{B56436D2-E05E-44A3-A225-4947CB508F61}"/>
              </a:ext>
            </a:extLst>
          </p:cNvPr>
          <p:cNvSpPr>
            <a:spLocks xmlns:a="http://schemas.openxmlformats.org/drawingml/2006/main" noGrp="1"/>
          </p:cNvSpPr>
          <p:nvPr/>
        </p:nvSpPr>
        <p:spPr>
          <a:xfrm xmlns:a="http://schemas.openxmlformats.org/drawingml/2006/main">
            <a:off x="9248775" y="2952750"/>
            <a:ext cx="1885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00000"/>
                </a:solidFill>
                <a:latin typeface="Google Sans Text"/>
                <a:ea typeface="Google Sans Text"/>
                <a:cs typeface="Google Sans Text"/>
              </a:defRPr>
            </a:pPr>
            <a:r>
              <a:rPr sz="1575" b="1">
                <a:solidFill>
                  <a:srgbClr val="000000"/>
                </a:solidFill>
                <a:latin typeface="Google Sans Text"/>
                <a:ea typeface="Google Sans Text"/>
                <a:cs typeface="Google Sans Text"/>
              </a:rPr>
              <a:t>Next-token scores</a:t>
            </a:r>
          </a:p>
        </p:txBody>
      </p:sp>
      <p:sp>
        <p:nvSpPr>
          <p:cNvPr id="13" name="">
            <a:extLst xmlns:a="http://schemas.openxmlformats.org/drawingml/2006/main">
              <a:ext uri="{FF2B5EF4-FFF2-40B4-BE49-F238E27FC236}">
                <a16:creationId xmlns:a16="http://schemas.microsoft.com/office/drawing/2014/main" id="{A3EE1F68-C023-45C4-8F8E-53FD0E0137A5}"/>
              </a:ext>
            </a:extLst>
          </p:cNvPr>
          <p:cNvSpPr>
            <a:spLocks xmlns:a="http://schemas.openxmlformats.org/drawingml/2006/main" noGrp="1"/>
          </p:cNvSpPr>
          <p:nvPr/>
        </p:nvSpPr>
        <p:spPr>
          <a:xfrm xmlns:a="http://schemas.openxmlformats.org/drawingml/2006/main">
            <a:off x="1285875" y="1571625"/>
            <a:ext cx="9620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000000"/>
                </a:solidFill>
                <a:latin typeface="Google Sans Medium"/>
                <a:ea typeface="Google Sans Medium"/>
                <a:cs typeface="Google Sans Medium"/>
              </a:defRPr>
            </a:pPr>
            <a:r>
              <a:rPr sz="1800" b="1">
                <a:solidFill>
                  <a:srgbClr val="000000"/>
                </a:solidFill>
                <a:latin typeface="Google Sans Medium"/>
                <a:ea typeface="Google Sans Medium"/>
                <a:cs typeface="Google Sans Medium"/>
              </a:rPr>
              <a:t>“dog bites person” and “person bites dog” contain similar tokens—but position changes the meaning.</a:t>
            </a:r>
          </a:p>
        </p:txBody>
      </p:sp>
      <p:sp>
        <p:nvSpPr>
          <p:cNvPr id="14" name="">
            <a:extLst xmlns:a="http://schemas.openxmlformats.org/drawingml/2006/main">
              <a:ext uri="{FF2B5EF4-FFF2-40B4-BE49-F238E27FC236}">
                <a16:creationId xmlns:a16="http://schemas.microsoft.com/office/drawing/2014/main" id="{98183CD4-AD7E-478B-8382-DE11DD17C940}"/>
              </a:ext>
            </a:extLst>
          </p:cNvPr>
          <p:cNvSpPr>
            <a:spLocks xmlns:a="http://schemas.openxmlformats.org/drawingml/2006/main" noGrp="1"/>
          </p:cNvSpPr>
          <p:nvPr/>
        </p:nvSpPr>
        <p:spPr>
          <a:xfrm xmlns:a="http://schemas.openxmlformats.org/drawingml/2006/main">
            <a:off x="4429125" y="423862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Inside each block</a:t>
            </a:r>
          </a:p>
        </p:txBody>
      </p:sp>
      <p:sp>
        <p:nvSpPr>
          <p:cNvPr id="15" name="">
            <a:extLst xmlns:a="http://schemas.openxmlformats.org/drawingml/2006/main">
              <a:ext uri="{FF2B5EF4-FFF2-40B4-BE49-F238E27FC236}">
                <a16:creationId xmlns:a16="http://schemas.microsoft.com/office/drawing/2014/main" id="{E554C54D-6BA0-4F45-911B-5C0D3867F0C8}"/>
              </a:ext>
            </a:extLst>
          </p:cNvPr>
          <p:cNvSpPr>
            <a:spLocks xmlns:a="http://schemas.openxmlformats.org/drawingml/2006/main" noGrp="1"/>
          </p:cNvSpPr>
          <p:nvPr/>
        </p:nvSpPr>
        <p:spPr>
          <a:xfrm xmlns:a="http://schemas.openxmlformats.org/drawingml/2006/main">
            <a:off x="2381250" y="4953000"/>
            <a:ext cx="2190750" cy="590550"/>
          </a:xfrm>
          <a:prstGeom xmlns:a="http://schemas.openxmlformats.org/drawingml/2006/main" prst="roundRect">
            <a:avLst>
              <a:gd name="adj" fmla="val 12903"/>
            </a:avLst>
          </a:prstGeom>
          <a:solidFill xmlns:a="http://schemas.openxmlformats.org/drawingml/2006/main">
            <a:srgbClr val="C6DAFC"/>
          </a:solidFill>
          <a:ln xmlns:a="http://schemas.openxmlformats.org/drawingml/2006/main" w="0">
            <a:solidFill>
              <a:srgbClr val="C6DAFC"/>
            </a:solidFill>
            <a:prstDash val="solid"/>
          </a:ln>
        </p:spPr>
      </p:sp>
      <p:sp>
        <p:nvSpPr>
          <p:cNvPr id="16" name="">
            <a:extLst xmlns:a="http://schemas.openxmlformats.org/drawingml/2006/main">
              <a:ext uri="{FF2B5EF4-FFF2-40B4-BE49-F238E27FC236}">
                <a16:creationId xmlns:a16="http://schemas.microsoft.com/office/drawing/2014/main" id="{4D15BF57-D7B4-4692-852A-A006D7C57B86}"/>
              </a:ext>
            </a:extLst>
          </p:cNvPr>
          <p:cNvSpPr>
            <a:spLocks xmlns:a="http://schemas.openxmlformats.org/drawingml/2006/main" noGrp="1"/>
          </p:cNvSpPr>
          <p:nvPr/>
        </p:nvSpPr>
        <p:spPr>
          <a:xfrm xmlns:a="http://schemas.openxmlformats.org/drawingml/2006/main">
            <a:off x="2533650" y="504825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Self-attention</a:t>
            </a:r>
          </a:p>
        </p:txBody>
      </p:sp>
      <p:sp>
        <p:nvSpPr>
          <p:cNvPr id="17" name="">
            <a:extLst xmlns:a="http://schemas.openxmlformats.org/drawingml/2006/main">
              <a:ext uri="{FF2B5EF4-FFF2-40B4-BE49-F238E27FC236}">
                <a16:creationId xmlns:a16="http://schemas.microsoft.com/office/drawing/2014/main" id="{D72BBE48-6EEA-4B43-9113-EA85C22F6E69}"/>
              </a:ext>
            </a:extLst>
          </p:cNvPr>
          <p:cNvSpPr>
            <a:spLocks xmlns:a="http://schemas.openxmlformats.org/drawingml/2006/main" noGrp="1"/>
          </p:cNvSpPr>
          <p:nvPr/>
        </p:nvSpPr>
        <p:spPr>
          <a:xfrm xmlns:a="http://schemas.openxmlformats.org/drawingml/2006/main">
            <a:off x="5000625" y="4953000"/>
            <a:ext cx="2190750" cy="590550"/>
          </a:xfrm>
          <a:prstGeom xmlns:a="http://schemas.openxmlformats.org/drawingml/2006/main" prst="roundRect">
            <a:avLst>
              <a:gd name="adj" fmla="val 12903"/>
            </a:avLst>
          </a:prstGeom>
          <a:solidFill xmlns:a="http://schemas.openxmlformats.org/drawingml/2006/main">
            <a:srgbClr val="FDEFC3"/>
          </a:solidFill>
          <a:ln xmlns:a="http://schemas.openxmlformats.org/drawingml/2006/main" w="0">
            <a:solidFill>
              <a:srgbClr val="FDEFC3"/>
            </a:solidFill>
            <a:prstDash val="solid"/>
          </a:ln>
        </p:spPr>
      </p:sp>
      <p:sp>
        <p:nvSpPr>
          <p:cNvPr id="18" name="">
            <a:extLst xmlns:a="http://schemas.openxmlformats.org/drawingml/2006/main">
              <a:ext uri="{FF2B5EF4-FFF2-40B4-BE49-F238E27FC236}">
                <a16:creationId xmlns:a16="http://schemas.microsoft.com/office/drawing/2014/main" id="{3DF2BD14-FE25-48A1-A03A-3D91AE3A354C}"/>
              </a:ext>
            </a:extLst>
          </p:cNvPr>
          <p:cNvSpPr>
            <a:spLocks xmlns:a="http://schemas.openxmlformats.org/drawingml/2006/main" noGrp="1"/>
          </p:cNvSpPr>
          <p:nvPr/>
        </p:nvSpPr>
        <p:spPr>
          <a:xfrm xmlns:a="http://schemas.openxmlformats.org/drawingml/2006/main">
            <a:off x="5153025" y="504825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Feed-forward network</a:t>
            </a:r>
          </a:p>
        </p:txBody>
      </p:sp>
      <p:sp>
        <p:nvSpPr>
          <p:cNvPr id="19" name="">
            <a:extLst xmlns:a="http://schemas.openxmlformats.org/drawingml/2006/main">
              <a:ext uri="{FF2B5EF4-FFF2-40B4-BE49-F238E27FC236}">
                <a16:creationId xmlns:a16="http://schemas.microsoft.com/office/drawing/2014/main" id="{5F81E7EC-F192-4417-8C48-413D44778E85}"/>
              </a:ext>
            </a:extLst>
          </p:cNvPr>
          <p:cNvSpPr>
            <a:spLocks xmlns:a="http://schemas.openxmlformats.org/drawingml/2006/main" noGrp="1"/>
          </p:cNvSpPr>
          <p:nvPr/>
        </p:nvSpPr>
        <p:spPr>
          <a:xfrm xmlns:a="http://schemas.openxmlformats.org/drawingml/2006/main">
            <a:off x="7620000" y="4953000"/>
            <a:ext cx="2190750" cy="590550"/>
          </a:xfrm>
          <a:prstGeom xmlns:a="http://schemas.openxmlformats.org/drawingml/2006/main" prst="roundRect">
            <a:avLst>
              <a:gd name="adj" fmla="val 12903"/>
            </a:avLst>
          </a:prstGeom>
          <a:solidFill xmlns:a="http://schemas.openxmlformats.org/drawingml/2006/main">
            <a:srgbClr val="D0E1E5"/>
          </a:solidFill>
          <a:ln xmlns:a="http://schemas.openxmlformats.org/drawingml/2006/main" w="0">
            <a:solidFill>
              <a:srgbClr val="D0E1E5"/>
            </a:solidFill>
            <a:prstDash val="solid"/>
          </a:ln>
        </p:spPr>
      </p:sp>
      <p:sp>
        <p:nvSpPr>
          <p:cNvPr id="20" name="">
            <a:extLst xmlns:a="http://schemas.openxmlformats.org/drawingml/2006/main">
              <a:ext uri="{FF2B5EF4-FFF2-40B4-BE49-F238E27FC236}">
                <a16:creationId xmlns:a16="http://schemas.microsoft.com/office/drawing/2014/main" id="{E953997C-EAF4-45E3-BBD3-07A560D2B2F5}"/>
              </a:ext>
            </a:extLst>
          </p:cNvPr>
          <p:cNvSpPr>
            <a:spLocks xmlns:a="http://schemas.openxmlformats.org/drawingml/2006/main" noGrp="1"/>
          </p:cNvSpPr>
          <p:nvPr/>
        </p:nvSpPr>
        <p:spPr>
          <a:xfrm xmlns:a="http://schemas.openxmlformats.org/drawingml/2006/main">
            <a:off x="7772400" y="5048250"/>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22"/>
          </a:bodyPr>
          <a:lstStyle xmlns:a="http://schemas.openxmlformats.org/drawingml/2006/main"/>
          <a:p xmlns:a="http://schemas.openxmlformats.org/drawingml/2006/main">
            <a:pPr algn="ctr">
              <a:buNone/>
              <a:defRPr sz="1350" b="1">
                <a:solidFill>
                  <a:srgbClr val="000000"/>
                </a:solidFill>
                <a:latin typeface="Google Sans Text"/>
                <a:ea typeface="Google Sans Text"/>
                <a:cs typeface="Google Sans Text"/>
              </a:defRPr>
            </a:pPr>
            <a:r>
              <a:rPr sz="1350" b="1">
                <a:solidFill>
                  <a:srgbClr val="000000"/>
                </a:solidFill>
                <a:latin typeface="Google Sans Text"/>
                <a:ea typeface="Google Sans Text"/>
                <a:cs typeface="Google Sans Text"/>
              </a:rPr>
              <a:t>Normalization + residuals</a:t>
            </a:r>
          </a:p>
        </p:txBody>
      </p:sp>
    </p:spTree>
    <p:extLst>
      <p:ext uri="{BB962C8B-B14F-4D97-AF65-F5344CB8AC3E}">
        <p14:creationId xmlns:p14="http://schemas.microsoft.com/office/powerpoint/2010/main" val="6056826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6419AA0-2149-4358-8B8D-CD74168B5B60}"/>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Self-attention asks which earlier tokens matter for this token</a:t>
            </a:r>
          </a:p>
        </p:txBody>
      </p:sp>
      <p:sp>
        <p:nvSpPr>
          <p:cNvPr id="2" name="">
            <a:extLst xmlns:a="http://schemas.openxmlformats.org/drawingml/2006/main">
              <a:ext uri="{FF2B5EF4-FFF2-40B4-BE49-F238E27FC236}">
                <a16:creationId xmlns:a16="http://schemas.microsoft.com/office/drawing/2014/main" id="{56371F5A-740C-4B46-9B45-7710AA92BC35}"/>
              </a:ext>
            </a:extLst>
          </p:cNvPr>
          <p:cNvSpPr>
            <a:spLocks xmlns:a="http://schemas.openxmlformats.org/drawingml/2006/main" noGrp="1"/>
          </p:cNvSpPr>
          <p:nvPr/>
        </p:nvSpPr>
        <p:spPr>
          <a:xfrm xmlns:a="http://schemas.openxmlformats.org/drawingml/2006/main">
            <a:off x="1066800" y="1524000"/>
            <a:ext cx="1005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025" b="1">
                <a:solidFill>
                  <a:srgbClr val="000000"/>
                </a:solidFill>
                <a:latin typeface="Google Sans Medium"/>
                <a:ea typeface="Google Sans Medium"/>
                <a:cs typeface="Google Sans Medium"/>
              </a:defRPr>
            </a:pPr>
            <a:r>
              <a:rPr sz="2025" b="1">
                <a:solidFill>
                  <a:srgbClr val="000000"/>
                </a:solidFill>
                <a:latin typeface="Google Sans Medium"/>
                <a:ea typeface="Google Sans Medium"/>
                <a:cs typeface="Google Sans Medium"/>
              </a:rPr>
              <a:t>The student submitted the assignment because she finished early.</a:t>
            </a:r>
          </a:p>
        </p:txBody>
      </p:sp>
      <p:sp>
        <p:nvSpPr>
          <p:cNvPr id="3" name="">
            <a:extLst xmlns:a="http://schemas.openxmlformats.org/drawingml/2006/main">
              <a:ext uri="{FF2B5EF4-FFF2-40B4-BE49-F238E27FC236}">
                <a16:creationId xmlns:a16="http://schemas.microsoft.com/office/drawing/2014/main" id="{72C9D1ED-9B3F-48B2-BBE6-5456A3D28821}"/>
              </a:ext>
            </a:extLst>
          </p:cNvPr>
          <p:cNvSpPr>
            <a:spLocks xmlns:a="http://schemas.openxmlformats.org/drawingml/2006/main" noGrp="1"/>
          </p:cNvSpPr>
          <p:nvPr/>
        </p:nvSpPr>
        <p:spPr>
          <a:xfrm xmlns:a="http://schemas.openxmlformats.org/drawingml/2006/main">
            <a:off x="2181225" y="2781300"/>
            <a:ext cx="6972300" cy="285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4" name="">
            <a:extLst xmlns:a="http://schemas.openxmlformats.org/drawingml/2006/main">
              <a:ext uri="{FF2B5EF4-FFF2-40B4-BE49-F238E27FC236}">
                <a16:creationId xmlns:a16="http://schemas.microsoft.com/office/drawing/2014/main" id="{702F6754-B8A8-4133-8658-203193C81682}"/>
              </a:ext>
            </a:extLst>
          </p:cNvPr>
          <p:cNvSpPr>
            <a:spLocks xmlns:a="http://schemas.openxmlformats.org/drawingml/2006/main" noGrp="1"/>
          </p:cNvSpPr>
          <p:nvPr/>
        </p:nvSpPr>
        <p:spPr>
          <a:xfrm xmlns:a="http://schemas.openxmlformats.org/drawingml/2006/main">
            <a:off x="2238375" y="3505200"/>
            <a:ext cx="7000875"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5" name="">
            <a:extLst xmlns:a="http://schemas.openxmlformats.org/drawingml/2006/main">
              <a:ext uri="{FF2B5EF4-FFF2-40B4-BE49-F238E27FC236}">
                <a16:creationId xmlns:a16="http://schemas.microsoft.com/office/drawing/2014/main" id="{D993B2BF-9917-40C1-B005-55C224705227}"/>
              </a:ext>
            </a:extLst>
          </p:cNvPr>
          <p:cNvSpPr>
            <a:spLocks xmlns:a="http://schemas.openxmlformats.org/drawingml/2006/main" noGrp="1"/>
          </p:cNvSpPr>
          <p:nvPr/>
        </p:nvSpPr>
        <p:spPr>
          <a:xfrm xmlns:a="http://schemas.openxmlformats.org/drawingml/2006/main">
            <a:off x="1524000" y="321945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6" name="">
            <a:extLst xmlns:a="http://schemas.openxmlformats.org/drawingml/2006/main">
              <a:ext uri="{FF2B5EF4-FFF2-40B4-BE49-F238E27FC236}">
                <a16:creationId xmlns:a16="http://schemas.microsoft.com/office/drawing/2014/main" id="{F5D2C891-ABEE-4283-AD31-869767DED0E8}"/>
              </a:ext>
            </a:extLst>
          </p:cNvPr>
          <p:cNvSpPr>
            <a:spLocks xmlns:a="http://schemas.openxmlformats.org/drawingml/2006/main" noGrp="1"/>
          </p:cNvSpPr>
          <p:nvPr/>
        </p:nvSpPr>
        <p:spPr>
          <a:xfrm xmlns:a="http://schemas.openxmlformats.org/drawingml/2006/main">
            <a:off x="1524000"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1</a:t>
            </a:r>
          </a:p>
        </p:txBody>
      </p:sp>
      <p:sp>
        <p:nvSpPr>
          <p:cNvPr id="7" name="">
            <a:extLst xmlns:a="http://schemas.openxmlformats.org/drawingml/2006/main">
              <a:ext uri="{FF2B5EF4-FFF2-40B4-BE49-F238E27FC236}">
                <a16:creationId xmlns:a16="http://schemas.microsoft.com/office/drawing/2014/main" id="{6E94DC30-4B31-48E0-A510-3ED341A73D96}"/>
              </a:ext>
            </a:extLst>
          </p:cNvPr>
          <p:cNvSpPr>
            <a:spLocks xmlns:a="http://schemas.openxmlformats.org/drawingml/2006/main" noGrp="1"/>
          </p:cNvSpPr>
          <p:nvPr/>
        </p:nvSpPr>
        <p:spPr>
          <a:xfrm xmlns:a="http://schemas.openxmlformats.org/drawingml/2006/main">
            <a:off x="1162050" y="40005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student</a:t>
            </a:r>
          </a:p>
        </p:txBody>
      </p:sp>
      <p:sp>
        <p:nvSpPr>
          <p:cNvPr id="8" name="">
            <a:extLst xmlns:a="http://schemas.openxmlformats.org/drawingml/2006/main">
              <a:ext uri="{FF2B5EF4-FFF2-40B4-BE49-F238E27FC236}">
                <a16:creationId xmlns:a16="http://schemas.microsoft.com/office/drawing/2014/main" id="{3C5459AE-819C-4708-87E2-031C3215A4EC}"/>
              </a:ext>
            </a:extLst>
          </p:cNvPr>
          <p:cNvSpPr>
            <a:spLocks xmlns:a="http://schemas.openxmlformats.org/drawingml/2006/main" noGrp="1"/>
          </p:cNvSpPr>
          <p:nvPr/>
        </p:nvSpPr>
        <p:spPr>
          <a:xfrm xmlns:a="http://schemas.openxmlformats.org/drawingml/2006/main">
            <a:off x="3238500" y="321945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9" name="">
            <a:extLst xmlns:a="http://schemas.openxmlformats.org/drawingml/2006/main">
              <a:ext uri="{FF2B5EF4-FFF2-40B4-BE49-F238E27FC236}">
                <a16:creationId xmlns:a16="http://schemas.microsoft.com/office/drawing/2014/main" id="{CE726B61-F1D2-4CE6-8225-AE7CC89C931C}"/>
              </a:ext>
            </a:extLst>
          </p:cNvPr>
          <p:cNvSpPr>
            <a:spLocks xmlns:a="http://schemas.openxmlformats.org/drawingml/2006/main" noGrp="1"/>
          </p:cNvSpPr>
          <p:nvPr/>
        </p:nvSpPr>
        <p:spPr>
          <a:xfrm xmlns:a="http://schemas.openxmlformats.org/drawingml/2006/main">
            <a:off x="3238500"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2</a:t>
            </a:r>
          </a:p>
        </p:txBody>
      </p:sp>
      <p:sp>
        <p:nvSpPr>
          <p:cNvPr id="10" name="">
            <a:extLst xmlns:a="http://schemas.openxmlformats.org/drawingml/2006/main">
              <a:ext uri="{FF2B5EF4-FFF2-40B4-BE49-F238E27FC236}">
                <a16:creationId xmlns:a16="http://schemas.microsoft.com/office/drawing/2014/main" id="{7F92B76F-24CF-4F88-95AD-FCF3863CBA73}"/>
              </a:ext>
            </a:extLst>
          </p:cNvPr>
          <p:cNvSpPr>
            <a:spLocks xmlns:a="http://schemas.openxmlformats.org/drawingml/2006/main" noGrp="1"/>
          </p:cNvSpPr>
          <p:nvPr/>
        </p:nvSpPr>
        <p:spPr>
          <a:xfrm xmlns:a="http://schemas.openxmlformats.org/drawingml/2006/main">
            <a:off x="2876550" y="40005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submitted</a:t>
            </a:r>
          </a:p>
        </p:txBody>
      </p:sp>
      <p:sp>
        <p:nvSpPr>
          <p:cNvPr id="11" name="">
            <a:extLst xmlns:a="http://schemas.openxmlformats.org/drawingml/2006/main">
              <a:ext uri="{FF2B5EF4-FFF2-40B4-BE49-F238E27FC236}">
                <a16:creationId xmlns:a16="http://schemas.microsoft.com/office/drawing/2014/main" id="{4A7C7054-3B50-47EA-ACD6-63C73BF5404F}"/>
              </a:ext>
            </a:extLst>
          </p:cNvPr>
          <p:cNvSpPr>
            <a:spLocks xmlns:a="http://schemas.openxmlformats.org/drawingml/2006/main" noGrp="1"/>
          </p:cNvSpPr>
          <p:nvPr/>
        </p:nvSpPr>
        <p:spPr>
          <a:xfrm xmlns:a="http://schemas.openxmlformats.org/drawingml/2006/main">
            <a:off x="5191125" y="321945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2" name="">
            <a:extLst xmlns:a="http://schemas.openxmlformats.org/drawingml/2006/main">
              <a:ext uri="{FF2B5EF4-FFF2-40B4-BE49-F238E27FC236}">
                <a16:creationId xmlns:a16="http://schemas.microsoft.com/office/drawing/2014/main" id="{D3186A56-156B-4F2F-B653-36224A42334B}"/>
              </a:ext>
            </a:extLst>
          </p:cNvPr>
          <p:cNvSpPr>
            <a:spLocks xmlns:a="http://schemas.openxmlformats.org/drawingml/2006/main" noGrp="1"/>
          </p:cNvSpPr>
          <p:nvPr/>
        </p:nvSpPr>
        <p:spPr>
          <a:xfrm xmlns:a="http://schemas.openxmlformats.org/drawingml/2006/main">
            <a:off x="5191125"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3</a:t>
            </a:r>
          </a:p>
        </p:txBody>
      </p:sp>
      <p:sp>
        <p:nvSpPr>
          <p:cNvPr id="13" name="">
            <a:extLst xmlns:a="http://schemas.openxmlformats.org/drawingml/2006/main">
              <a:ext uri="{FF2B5EF4-FFF2-40B4-BE49-F238E27FC236}">
                <a16:creationId xmlns:a16="http://schemas.microsoft.com/office/drawing/2014/main" id="{F00FC03B-6EC0-4E39-B9D7-D2ECC2C8BB38}"/>
              </a:ext>
            </a:extLst>
          </p:cNvPr>
          <p:cNvSpPr>
            <a:spLocks xmlns:a="http://schemas.openxmlformats.org/drawingml/2006/main" noGrp="1"/>
          </p:cNvSpPr>
          <p:nvPr/>
        </p:nvSpPr>
        <p:spPr>
          <a:xfrm xmlns:a="http://schemas.openxmlformats.org/drawingml/2006/main">
            <a:off x="4829175" y="40005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assignment</a:t>
            </a:r>
          </a:p>
        </p:txBody>
      </p:sp>
      <p:sp>
        <p:nvSpPr>
          <p:cNvPr id="14" name="">
            <a:extLst xmlns:a="http://schemas.openxmlformats.org/drawingml/2006/main">
              <a:ext uri="{FF2B5EF4-FFF2-40B4-BE49-F238E27FC236}">
                <a16:creationId xmlns:a16="http://schemas.microsoft.com/office/drawing/2014/main" id="{1E8B23D2-A63C-4245-A402-39BB131463A3}"/>
              </a:ext>
            </a:extLst>
          </p:cNvPr>
          <p:cNvSpPr>
            <a:spLocks xmlns:a="http://schemas.openxmlformats.org/drawingml/2006/main" noGrp="1"/>
          </p:cNvSpPr>
          <p:nvPr/>
        </p:nvSpPr>
        <p:spPr>
          <a:xfrm xmlns:a="http://schemas.openxmlformats.org/drawingml/2006/main">
            <a:off x="7239000" y="321945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5" name="">
            <a:extLst xmlns:a="http://schemas.openxmlformats.org/drawingml/2006/main">
              <a:ext uri="{FF2B5EF4-FFF2-40B4-BE49-F238E27FC236}">
                <a16:creationId xmlns:a16="http://schemas.microsoft.com/office/drawing/2014/main" id="{5866D777-7EEE-4329-8B93-22CBF72F30D4}"/>
              </a:ext>
            </a:extLst>
          </p:cNvPr>
          <p:cNvSpPr>
            <a:spLocks xmlns:a="http://schemas.openxmlformats.org/drawingml/2006/main" noGrp="1"/>
          </p:cNvSpPr>
          <p:nvPr/>
        </p:nvSpPr>
        <p:spPr>
          <a:xfrm xmlns:a="http://schemas.openxmlformats.org/drawingml/2006/main">
            <a:off x="7239000"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4</a:t>
            </a:r>
          </a:p>
        </p:txBody>
      </p:sp>
      <p:sp>
        <p:nvSpPr>
          <p:cNvPr id="16" name="">
            <a:extLst xmlns:a="http://schemas.openxmlformats.org/drawingml/2006/main">
              <a:ext uri="{FF2B5EF4-FFF2-40B4-BE49-F238E27FC236}">
                <a16:creationId xmlns:a16="http://schemas.microsoft.com/office/drawing/2014/main" id="{22075EE6-1162-4236-B34C-39D6FCFBD11C}"/>
              </a:ext>
            </a:extLst>
          </p:cNvPr>
          <p:cNvSpPr>
            <a:spLocks xmlns:a="http://schemas.openxmlformats.org/drawingml/2006/main" noGrp="1"/>
          </p:cNvSpPr>
          <p:nvPr/>
        </p:nvSpPr>
        <p:spPr>
          <a:xfrm xmlns:a="http://schemas.openxmlformats.org/drawingml/2006/main">
            <a:off x="6877050" y="40005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because</a:t>
            </a:r>
          </a:p>
        </p:txBody>
      </p:sp>
      <p:sp>
        <p:nvSpPr>
          <p:cNvPr id="17" name="">
            <a:extLst xmlns:a="http://schemas.openxmlformats.org/drawingml/2006/main">
              <a:ext uri="{FF2B5EF4-FFF2-40B4-BE49-F238E27FC236}">
                <a16:creationId xmlns:a16="http://schemas.microsoft.com/office/drawing/2014/main" id="{A94EAF85-90DB-46C1-BC77-F4A5E9D14373}"/>
              </a:ext>
            </a:extLst>
          </p:cNvPr>
          <p:cNvSpPr>
            <a:spLocks xmlns:a="http://schemas.openxmlformats.org/drawingml/2006/main" noGrp="1"/>
          </p:cNvSpPr>
          <p:nvPr/>
        </p:nvSpPr>
        <p:spPr>
          <a:xfrm xmlns:a="http://schemas.openxmlformats.org/drawingml/2006/main">
            <a:off x="8858250" y="3219450"/>
            <a:ext cx="609600" cy="609600"/>
          </a:xfrm>
          <a:prstGeom xmlns:a="http://schemas.openxmlformats.org/drawingml/2006/main" prst="ellipse">
            <a:avLst/>
          </a:prstGeom>
          <a:solidFill xmlns:a="http://schemas.openxmlformats.org/drawingml/2006/main">
            <a:srgbClr val="4285F4"/>
          </a:solidFill>
          <a:ln xmlns:a="http://schemas.openxmlformats.org/drawingml/2006/main" w="19050">
            <a:solidFill>
              <a:srgbClr val="4285F4"/>
            </a:solidFill>
            <a:prstDash val="solid"/>
          </a:ln>
        </p:spPr>
      </p:sp>
      <p:sp>
        <p:nvSpPr>
          <p:cNvPr id="18" name="">
            <a:extLst xmlns:a="http://schemas.openxmlformats.org/drawingml/2006/main">
              <a:ext uri="{FF2B5EF4-FFF2-40B4-BE49-F238E27FC236}">
                <a16:creationId xmlns:a16="http://schemas.microsoft.com/office/drawing/2014/main" id="{DAD73C0B-F0A7-4710-9E3B-315C9BA7485A}"/>
              </a:ext>
            </a:extLst>
          </p:cNvPr>
          <p:cNvSpPr>
            <a:spLocks xmlns:a="http://schemas.openxmlformats.org/drawingml/2006/main" noGrp="1"/>
          </p:cNvSpPr>
          <p:nvPr/>
        </p:nvSpPr>
        <p:spPr>
          <a:xfrm xmlns:a="http://schemas.openxmlformats.org/drawingml/2006/main">
            <a:off x="8858250"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5</a:t>
            </a:r>
          </a:p>
        </p:txBody>
      </p:sp>
      <p:sp>
        <p:nvSpPr>
          <p:cNvPr id="19" name="">
            <a:extLst xmlns:a="http://schemas.openxmlformats.org/drawingml/2006/main">
              <a:ext uri="{FF2B5EF4-FFF2-40B4-BE49-F238E27FC236}">
                <a16:creationId xmlns:a16="http://schemas.microsoft.com/office/drawing/2014/main" id="{6E51C2F2-D5AB-49AD-8F46-3B67ED0DE4F2}"/>
              </a:ext>
            </a:extLst>
          </p:cNvPr>
          <p:cNvSpPr>
            <a:spLocks xmlns:a="http://schemas.openxmlformats.org/drawingml/2006/main" noGrp="1"/>
          </p:cNvSpPr>
          <p:nvPr/>
        </p:nvSpPr>
        <p:spPr>
          <a:xfrm xmlns:a="http://schemas.openxmlformats.org/drawingml/2006/main">
            <a:off x="8496300" y="40005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she</a:t>
            </a:r>
          </a:p>
        </p:txBody>
      </p:sp>
      <p:sp>
        <p:nvSpPr>
          <p:cNvPr id="20" name="">
            <a:extLst xmlns:a="http://schemas.openxmlformats.org/drawingml/2006/main">
              <a:ext uri="{FF2B5EF4-FFF2-40B4-BE49-F238E27FC236}">
                <a16:creationId xmlns:a16="http://schemas.microsoft.com/office/drawing/2014/main" id="{4504433D-607E-4B9D-A096-1CF20044E2C8}"/>
              </a:ext>
            </a:extLst>
          </p:cNvPr>
          <p:cNvSpPr>
            <a:spLocks xmlns:a="http://schemas.openxmlformats.org/drawingml/2006/main" noGrp="1"/>
          </p:cNvSpPr>
          <p:nvPr/>
        </p:nvSpPr>
        <p:spPr>
          <a:xfrm xmlns:a="http://schemas.openxmlformats.org/drawingml/2006/main">
            <a:off x="2162175" y="2781300"/>
            <a:ext cx="28575" cy="45720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1" name="">
            <a:extLst xmlns:a="http://schemas.openxmlformats.org/drawingml/2006/main">
              <a:ext uri="{FF2B5EF4-FFF2-40B4-BE49-F238E27FC236}">
                <a16:creationId xmlns:a16="http://schemas.microsoft.com/office/drawing/2014/main" id="{5C0DDC6F-FEBD-46BD-B314-46170C92C4D2}"/>
              </a:ext>
            </a:extLst>
          </p:cNvPr>
          <p:cNvSpPr>
            <a:spLocks xmlns:a="http://schemas.openxmlformats.org/drawingml/2006/main" noGrp="1"/>
          </p:cNvSpPr>
          <p:nvPr/>
        </p:nvSpPr>
        <p:spPr>
          <a:xfrm xmlns:a="http://schemas.openxmlformats.org/drawingml/2006/main">
            <a:off x="9124950" y="2781300"/>
            <a:ext cx="28575" cy="45720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2" name="">
            <a:extLst xmlns:a="http://schemas.openxmlformats.org/drawingml/2006/main">
              <a:ext uri="{FF2B5EF4-FFF2-40B4-BE49-F238E27FC236}">
                <a16:creationId xmlns:a16="http://schemas.microsoft.com/office/drawing/2014/main" id="{6BA583C8-3123-48BA-98C3-1D87EA3098F2}"/>
              </a:ext>
            </a:extLst>
          </p:cNvPr>
          <p:cNvSpPr>
            <a:spLocks xmlns:a="http://schemas.openxmlformats.org/drawingml/2006/main" noGrp="1"/>
          </p:cNvSpPr>
          <p:nvPr/>
        </p:nvSpPr>
        <p:spPr>
          <a:xfrm xmlns:a="http://schemas.openxmlformats.org/drawingml/2006/main">
            <a:off x="1524000" y="5000625"/>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0">
                <a:solidFill>
                  <a:srgbClr val="000000"/>
                </a:solidFill>
                <a:latin typeface="Google Sans Text"/>
                <a:ea typeface="Google Sans Text"/>
                <a:cs typeface="Google Sans Text"/>
              </a:defRPr>
            </a:pPr>
            <a:r>
              <a:rPr sz="1725" b="0">
                <a:solidFill>
                  <a:srgbClr val="000000"/>
                </a:solidFill>
                <a:latin typeface="Google Sans Text"/>
                <a:ea typeface="Google Sans Text"/>
                <a:cs typeface="Google Sans Text"/>
              </a:rPr>
              <a:t>The representation for “she” can give more weight to “student” than to unrelated tokens.</a:t>
            </a:r>
          </a:p>
        </p:txBody>
      </p:sp>
      <p:sp>
        <p:nvSpPr>
          <p:cNvPr id="23" name="">
            <a:extLst xmlns:a="http://schemas.openxmlformats.org/drawingml/2006/main">
              <a:ext uri="{FF2B5EF4-FFF2-40B4-BE49-F238E27FC236}">
                <a16:creationId xmlns:a16="http://schemas.microsoft.com/office/drawing/2014/main" id="{4AC03F21-D452-4B39-B4E2-B2F7002D194D}"/>
              </a:ext>
            </a:extLst>
          </p:cNvPr>
          <p:cNvSpPr>
            <a:spLocks xmlns:a="http://schemas.openxmlformats.org/drawingml/2006/main" noGrp="1"/>
          </p:cNvSpPr>
          <p:nvPr/>
        </p:nvSpPr>
        <p:spPr>
          <a:xfrm xmlns:a="http://schemas.openxmlformats.org/drawingml/2006/main">
            <a:off x="1809750" y="58293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F6368"/>
                </a:solidFill>
                <a:latin typeface="Google Sans Text"/>
                <a:ea typeface="Google Sans Text"/>
                <a:cs typeface="Google Sans Text"/>
              </a:defRPr>
            </a:pPr>
            <a:r>
              <a:rPr sz="1275" b="0">
                <a:solidFill>
                  <a:srgbClr val="5F6368"/>
                </a:solidFill>
                <a:latin typeface="Google Sans Text"/>
                <a:ea typeface="Google Sans Text"/>
                <a:cs typeface="Google Sans Text"/>
              </a:rPr>
              <a:t>Attention weights are learned and context-dependent; they are not a human explanation of every decision.</a:t>
            </a:r>
          </a:p>
        </p:txBody>
      </p:sp>
    </p:spTree>
    <p:extLst>
      <p:ext uri="{BB962C8B-B14F-4D97-AF65-F5344CB8AC3E}">
        <p14:creationId xmlns:p14="http://schemas.microsoft.com/office/powerpoint/2010/main" val="18721928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402D6ED-41DC-4258-9B4F-F0F8F1663092}"/>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Transformer families arrange encoders and decoders differently</a:t>
            </a:r>
          </a:p>
        </p:txBody>
      </p:sp>
      <p:sp>
        <p:nvSpPr>
          <p:cNvPr id="2" name="">
            <a:extLst xmlns:a="http://schemas.openxmlformats.org/drawingml/2006/main">
              <a:ext uri="{FF2B5EF4-FFF2-40B4-BE49-F238E27FC236}">
                <a16:creationId xmlns:a16="http://schemas.microsoft.com/office/drawing/2014/main" id="{D8122787-4830-4299-A503-FC83E292033E}"/>
              </a:ext>
            </a:extLst>
          </p:cNvPr>
          <p:cNvSpPr>
            <a:spLocks xmlns:a="http://schemas.openxmlformats.org/drawingml/2006/main" noGrp="1"/>
          </p:cNvSpPr>
          <p:nvPr/>
        </p:nvSpPr>
        <p:spPr>
          <a:xfrm xmlns:a="http://schemas.openxmlformats.org/drawingml/2006/main">
            <a:off x="666750" y="1381125"/>
            <a:ext cx="3286125" cy="6667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6CF1F2A0-9C48-4627-A121-7312A6627087}"/>
              </a:ext>
            </a:extLst>
          </p:cNvPr>
          <p:cNvSpPr>
            <a:spLocks xmlns:a="http://schemas.openxmlformats.org/drawingml/2006/main" noGrp="1"/>
          </p:cNvSpPr>
          <p:nvPr/>
        </p:nvSpPr>
        <p:spPr>
          <a:xfrm xmlns:a="http://schemas.openxmlformats.org/drawingml/2006/main">
            <a:off x="838200" y="1543050"/>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Encoder-only</a:t>
            </a:r>
          </a:p>
        </p:txBody>
      </p:sp>
      <p:sp>
        <p:nvSpPr>
          <p:cNvPr id="4" name="">
            <a:extLst xmlns:a="http://schemas.openxmlformats.org/drawingml/2006/main">
              <a:ext uri="{FF2B5EF4-FFF2-40B4-BE49-F238E27FC236}">
                <a16:creationId xmlns:a16="http://schemas.microsoft.com/office/drawing/2014/main" id="{A79A77AE-5E80-4A63-A511-1EC004B02819}"/>
              </a:ext>
            </a:extLst>
          </p:cNvPr>
          <p:cNvSpPr>
            <a:spLocks xmlns:a="http://schemas.openxmlformats.org/drawingml/2006/main" noGrp="1"/>
          </p:cNvSpPr>
          <p:nvPr/>
        </p:nvSpPr>
        <p:spPr>
          <a:xfrm xmlns:a="http://schemas.openxmlformats.org/drawingml/2006/main">
            <a:off x="895350" y="2381250"/>
            <a:ext cx="2828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Reads the full input</a:t>
            </a:r>
          </a:p>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and builds representations</a:t>
            </a:r>
          </a:p>
        </p:txBody>
      </p:sp>
      <p:sp>
        <p:nvSpPr>
          <p:cNvPr id="5" name="">
            <a:extLst xmlns:a="http://schemas.openxmlformats.org/drawingml/2006/main">
              <a:ext uri="{FF2B5EF4-FFF2-40B4-BE49-F238E27FC236}">
                <a16:creationId xmlns:a16="http://schemas.microsoft.com/office/drawing/2014/main" id="{072DACE6-D719-45D3-A763-8CEFA73B4A16}"/>
              </a:ext>
            </a:extLst>
          </p:cNvPr>
          <p:cNvSpPr>
            <a:spLocks xmlns:a="http://schemas.openxmlformats.org/drawingml/2006/main" noGrp="1"/>
          </p:cNvSpPr>
          <p:nvPr/>
        </p:nvSpPr>
        <p:spPr>
          <a:xfrm xmlns:a="http://schemas.openxmlformats.org/drawingml/2006/main">
            <a:off x="1238250" y="3381375"/>
            <a:ext cx="2143125" cy="190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6" name="">
            <a:extLst xmlns:a="http://schemas.openxmlformats.org/drawingml/2006/main">
              <a:ext uri="{FF2B5EF4-FFF2-40B4-BE49-F238E27FC236}">
                <a16:creationId xmlns:a16="http://schemas.microsoft.com/office/drawing/2014/main" id="{CD04099E-952F-4C90-9C98-CC27B8156D76}"/>
              </a:ext>
            </a:extLst>
          </p:cNvPr>
          <p:cNvSpPr>
            <a:spLocks xmlns:a="http://schemas.openxmlformats.org/drawingml/2006/main" noGrp="1"/>
          </p:cNvSpPr>
          <p:nvPr/>
        </p:nvSpPr>
        <p:spPr>
          <a:xfrm xmlns:a="http://schemas.openxmlformats.org/drawingml/2006/main">
            <a:off x="895350" y="3638550"/>
            <a:ext cx="2828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Typical tasks</a:t>
            </a:r>
          </a:p>
        </p:txBody>
      </p:sp>
      <p:sp>
        <p:nvSpPr>
          <p:cNvPr id="7" name="">
            <a:extLst xmlns:a="http://schemas.openxmlformats.org/drawingml/2006/main">
              <a:ext uri="{FF2B5EF4-FFF2-40B4-BE49-F238E27FC236}">
                <a16:creationId xmlns:a16="http://schemas.microsoft.com/office/drawing/2014/main" id="{9A1D55B7-E468-476D-9168-E38257239947}"/>
              </a:ext>
            </a:extLst>
          </p:cNvPr>
          <p:cNvSpPr>
            <a:spLocks xmlns:a="http://schemas.openxmlformats.org/drawingml/2006/main" noGrp="1"/>
          </p:cNvSpPr>
          <p:nvPr/>
        </p:nvSpPr>
        <p:spPr>
          <a:xfrm xmlns:a="http://schemas.openxmlformats.org/drawingml/2006/main">
            <a:off x="895350" y="4048125"/>
            <a:ext cx="28289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Classification, search, extraction</a:t>
            </a:r>
          </a:p>
        </p:txBody>
      </p:sp>
      <p:sp>
        <p:nvSpPr>
          <p:cNvPr id="8" name="">
            <a:extLst xmlns:a="http://schemas.openxmlformats.org/drawingml/2006/main">
              <a:ext uri="{FF2B5EF4-FFF2-40B4-BE49-F238E27FC236}">
                <a16:creationId xmlns:a16="http://schemas.microsoft.com/office/drawing/2014/main" id="{A2061ED7-9E8A-4412-A232-854D67C771E5}"/>
              </a:ext>
            </a:extLst>
          </p:cNvPr>
          <p:cNvSpPr>
            <a:spLocks xmlns:a="http://schemas.openxmlformats.org/drawingml/2006/main" noGrp="1"/>
          </p:cNvSpPr>
          <p:nvPr/>
        </p:nvSpPr>
        <p:spPr>
          <a:xfrm xmlns:a="http://schemas.openxmlformats.org/drawingml/2006/main">
            <a:off x="1390650" y="5191125"/>
            <a:ext cx="1838325" cy="514350"/>
          </a:xfrm>
          <a:prstGeom xmlns:a="http://schemas.openxmlformats.org/drawingml/2006/main" prst="roundRect">
            <a:avLst>
              <a:gd name="adj" fmla="val 14815"/>
            </a:avLst>
          </a:prstGeom>
          <a:solidFill xmlns:a="http://schemas.openxmlformats.org/drawingml/2006/main">
            <a:srgbClr val="F8F8F8"/>
          </a:solidFill>
          <a:ln xmlns:a="http://schemas.openxmlformats.org/drawingml/2006/main" w="0">
            <a:solidFill>
              <a:srgbClr val="F8F8F8"/>
            </a:solidFill>
            <a:prstDash val="solid"/>
          </a:ln>
        </p:spPr>
      </p:sp>
      <p:sp>
        <p:nvSpPr>
          <p:cNvPr id="9" name="">
            <a:extLst xmlns:a="http://schemas.openxmlformats.org/drawingml/2006/main">
              <a:ext uri="{FF2B5EF4-FFF2-40B4-BE49-F238E27FC236}">
                <a16:creationId xmlns:a16="http://schemas.microsoft.com/office/drawing/2014/main" id="{4649D103-F6AB-4757-9CBB-34872F16E227}"/>
              </a:ext>
            </a:extLst>
          </p:cNvPr>
          <p:cNvSpPr>
            <a:spLocks xmlns:a="http://schemas.openxmlformats.org/drawingml/2006/main" noGrp="1"/>
          </p:cNvSpPr>
          <p:nvPr/>
        </p:nvSpPr>
        <p:spPr>
          <a:xfrm xmlns:a="http://schemas.openxmlformats.org/drawingml/2006/main">
            <a:off x="1543050" y="5286375"/>
            <a:ext cx="1533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Google Sans Text"/>
                <a:ea typeface="Google Sans Text"/>
                <a:cs typeface="Google Sans Text"/>
              </a:defRPr>
            </a:pPr>
            <a:r>
              <a:rPr sz="1275" b="1">
                <a:solidFill>
                  <a:srgbClr val="000000"/>
                </a:solidFill>
                <a:latin typeface="Google Sans Text"/>
                <a:ea typeface="Google Sans Text"/>
                <a:cs typeface="Google Sans Text"/>
              </a:rPr>
              <a:t>BERT-style</a:t>
            </a:r>
          </a:p>
        </p:txBody>
      </p:sp>
      <p:sp>
        <p:nvSpPr>
          <p:cNvPr id="10" name="">
            <a:extLst xmlns:a="http://schemas.openxmlformats.org/drawingml/2006/main">
              <a:ext uri="{FF2B5EF4-FFF2-40B4-BE49-F238E27FC236}">
                <a16:creationId xmlns:a16="http://schemas.microsoft.com/office/drawing/2014/main" id="{C2DEED5A-58D8-460F-AD23-E14CBBE43FFC}"/>
              </a:ext>
            </a:extLst>
          </p:cNvPr>
          <p:cNvSpPr>
            <a:spLocks xmlns:a="http://schemas.openxmlformats.org/drawingml/2006/main" noGrp="1"/>
          </p:cNvSpPr>
          <p:nvPr/>
        </p:nvSpPr>
        <p:spPr>
          <a:xfrm xmlns:a="http://schemas.openxmlformats.org/drawingml/2006/main">
            <a:off x="4429125" y="1381125"/>
            <a:ext cx="3286125" cy="66675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11" name="">
            <a:extLst xmlns:a="http://schemas.openxmlformats.org/drawingml/2006/main">
              <a:ext uri="{FF2B5EF4-FFF2-40B4-BE49-F238E27FC236}">
                <a16:creationId xmlns:a16="http://schemas.microsoft.com/office/drawing/2014/main" id="{A07B8B79-01DF-4D4A-830A-6C35F11493B3}"/>
              </a:ext>
            </a:extLst>
          </p:cNvPr>
          <p:cNvSpPr>
            <a:spLocks xmlns:a="http://schemas.openxmlformats.org/drawingml/2006/main" noGrp="1"/>
          </p:cNvSpPr>
          <p:nvPr/>
        </p:nvSpPr>
        <p:spPr>
          <a:xfrm xmlns:a="http://schemas.openxmlformats.org/drawingml/2006/main">
            <a:off x="4600575" y="1543050"/>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Encoder–decoder</a:t>
            </a:r>
          </a:p>
        </p:txBody>
      </p:sp>
      <p:sp>
        <p:nvSpPr>
          <p:cNvPr id="12" name="">
            <a:extLst xmlns:a="http://schemas.openxmlformats.org/drawingml/2006/main">
              <a:ext uri="{FF2B5EF4-FFF2-40B4-BE49-F238E27FC236}">
                <a16:creationId xmlns:a16="http://schemas.microsoft.com/office/drawing/2014/main" id="{C5AA14CB-B137-4164-BD7A-888D89BB86DB}"/>
              </a:ext>
            </a:extLst>
          </p:cNvPr>
          <p:cNvSpPr>
            <a:spLocks xmlns:a="http://schemas.openxmlformats.org/drawingml/2006/main" noGrp="1"/>
          </p:cNvSpPr>
          <p:nvPr/>
        </p:nvSpPr>
        <p:spPr>
          <a:xfrm xmlns:a="http://schemas.openxmlformats.org/drawingml/2006/main">
            <a:off x="4657725" y="2381250"/>
            <a:ext cx="2828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Encoder reads; decoder</a:t>
            </a:r>
          </a:p>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generates an output</a:t>
            </a:r>
          </a:p>
        </p:txBody>
      </p:sp>
      <p:sp>
        <p:nvSpPr>
          <p:cNvPr id="13" name="">
            <a:extLst xmlns:a="http://schemas.openxmlformats.org/drawingml/2006/main">
              <a:ext uri="{FF2B5EF4-FFF2-40B4-BE49-F238E27FC236}">
                <a16:creationId xmlns:a16="http://schemas.microsoft.com/office/drawing/2014/main" id="{633DEF2D-14CF-4959-9938-B9959016E7E6}"/>
              </a:ext>
            </a:extLst>
          </p:cNvPr>
          <p:cNvSpPr>
            <a:spLocks xmlns:a="http://schemas.openxmlformats.org/drawingml/2006/main" noGrp="1"/>
          </p:cNvSpPr>
          <p:nvPr/>
        </p:nvSpPr>
        <p:spPr>
          <a:xfrm xmlns:a="http://schemas.openxmlformats.org/drawingml/2006/main">
            <a:off x="5000625" y="3381375"/>
            <a:ext cx="2143125" cy="190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14" name="">
            <a:extLst xmlns:a="http://schemas.openxmlformats.org/drawingml/2006/main">
              <a:ext uri="{FF2B5EF4-FFF2-40B4-BE49-F238E27FC236}">
                <a16:creationId xmlns:a16="http://schemas.microsoft.com/office/drawing/2014/main" id="{D0645E24-EC86-4A06-8722-7EEA0964F8DA}"/>
              </a:ext>
            </a:extLst>
          </p:cNvPr>
          <p:cNvSpPr>
            <a:spLocks xmlns:a="http://schemas.openxmlformats.org/drawingml/2006/main" noGrp="1"/>
          </p:cNvSpPr>
          <p:nvPr/>
        </p:nvSpPr>
        <p:spPr>
          <a:xfrm xmlns:a="http://schemas.openxmlformats.org/drawingml/2006/main">
            <a:off x="4657725" y="3638550"/>
            <a:ext cx="2828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Typical tasks</a:t>
            </a:r>
          </a:p>
        </p:txBody>
      </p:sp>
      <p:sp>
        <p:nvSpPr>
          <p:cNvPr id="15" name="">
            <a:extLst xmlns:a="http://schemas.openxmlformats.org/drawingml/2006/main">
              <a:ext uri="{FF2B5EF4-FFF2-40B4-BE49-F238E27FC236}">
                <a16:creationId xmlns:a16="http://schemas.microsoft.com/office/drawing/2014/main" id="{9A718A76-9958-41CC-BB24-010E5BF0FDCF}"/>
              </a:ext>
            </a:extLst>
          </p:cNvPr>
          <p:cNvSpPr>
            <a:spLocks xmlns:a="http://schemas.openxmlformats.org/drawingml/2006/main" noGrp="1"/>
          </p:cNvSpPr>
          <p:nvPr/>
        </p:nvSpPr>
        <p:spPr>
          <a:xfrm xmlns:a="http://schemas.openxmlformats.org/drawingml/2006/main">
            <a:off x="4657725" y="4048125"/>
            <a:ext cx="28289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Translation, summarization</a:t>
            </a:r>
          </a:p>
        </p:txBody>
      </p:sp>
      <p:sp>
        <p:nvSpPr>
          <p:cNvPr id="16" name="">
            <a:extLst xmlns:a="http://schemas.openxmlformats.org/drawingml/2006/main">
              <a:ext uri="{FF2B5EF4-FFF2-40B4-BE49-F238E27FC236}">
                <a16:creationId xmlns:a16="http://schemas.microsoft.com/office/drawing/2014/main" id="{DA2FDE64-8FB4-47B5-A7AF-BC2A2C7B6754}"/>
              </a:ext>
            </a:extLst>
          </p:cNvPr>
          <p:cNvSpPr>
            <a:spLocks xmlns:a="http://schemas.openxmlformats.org/drawingml/2006/main" noGrp="1"/>
          </p:cNvSpPr>
          <p:nvPr/>
        </p:nvSpPr>
        <p:spPr>
          <a:xfrm xmlns:a="http://schemas.openxmlformats.org/drawingml/2006/main">
            <a:off x="5153025" y="5191125"/>
            <a:ext cx="1838325" cy="514350"/>
          </a:xfrm>
          <a:prstGeom xmlns:a="http://schemas.openxmlformats.org/drawingml/2006/main" prst="roundRect">
            <a:avLst>
              <a:gd name="adj" fmla="val 14815"/>
            </a:avLst>
          </a:prstGeom>
          <a:solidFill xmlns:a="http://schemas.openxmlformats.org/drawingml/2006/main">
            <a:srgbClr val="F8F8F8"/>
          </a:solidFill>
          <a:ln xmlns:a="http://schemas.openxmlformats.org/drawingml/2006/main" w="0">
            <a:solidFill>
              <a:srgbClr val="F8F8F8"/>
            </a:solidFill>
            <a:prstDash val="solid"/>
          </a:ln>
        </p:spPr>
      </p:sp>
      <p:sp>
        <p:nvSpPr>
          <p:cNvPr id="17" name="">
            <a:extLst xmlns:a="http://schemas.openxmlformats.org/drawingml/2006/main">
              <a:ext uri="{FF2B5EF4-FFF2-40B4-BE49-F238E27FC236}">
                <a16:creationId xmlns:a16="http://schemas.microsoft.com/office/drawing/2014/main" id="{E201680A-1253-47E9-B5B7-992C7D466F8E}"/>
              </a:ext>
            </a:extLst>
          </p:cNvPr>
          <p:cNvSpPr>
            <a:spLocks xmlns:a="http://schemas.openxmlformats.org/drawingml/2006/main" noGrp="1"/>
          </p:cNvSpPr>
          <p:nvPr/>
        </p:nvSpPr>
        <p:spPr>
          <a:xfrm xmlns:a="http://schemas.openxmlformats.org/drawingml/2006/main">
            <a:off x="5305425" y="5286375"/>
            <a:ext cx="1533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Google Sans Text"/>
                <a:ea typeface="Google Sans Text"/>
                <a:cs typeface="Google Sans Text"/>
              </a:defRPr>
            </a:pPr>
            <a:r>
              <a:rPr sz="1275" b="1">
                <a:solidFill>
                  <a:srgbClr val="000000"/>
                </a:solidFill>
                <a:latin typeface="Google Sans Text"/>
                <a:ea typeface="Google Sans Text"/>
                <a:cs typeface="Google Sans Text"/>
              </a:rPr>
              <a:t>T5-style</a:t>
            </a:r>
          </a:p>
        </p:txBody>
      </p:sp>
      <p:sp>
        <p:nvSpPr>
          <p:cNvPr id="18" name="">
            <a:extLst xmlns:a="http://schemas.openxmlformats.org/drawingml/2006/main">
              <a:ext uri="{FF2B5EF4-FFF2-40B4-BE49-F238E27FC236}">
                <a16:creationId xmlns:a16="http://schemas.microsoft.com/office/drawing/2014/main" id="{322AFC2A-9A07-4E85-9B15-37C57C6547E2}"/>
              </a:ext>
            </a:extLst>
          </p:cNvPr>
          <p:cNvSpPr>
            <a:spLocks xmlns:a="http://schemas.openxmlformats.org/drawingml/2006/main" noGrp="1"/>
          </p:cNvSpPr>
          <p:nvPr/>
        </p:nvSpPr>
        <p:spPr>
          <a:xfrm xmlns:a="http://schemas.openxmlformats.org/drawingml/2006/main">
            <a:off x="8191500" y="1381125"/>
            <a:ext cx="3286125" cy="666750"/>
          </a:xfrm>
          <a:prstGeom xmlns:a="http://schemas.openxmlformats.org/drawingml/2006/main" prst="rect">
            <a:avLst/>
          </a:prstGeom>
          <a:solidFill xmlns:a="http://schemas.openxmlformats.org/drawingml/2006/main">
            <a:srgbClr val="F5C7C9"/>
          </a:solidFill>
          <a:ln xmlns:a="http://schemas.openxmlformats.org/drawingml/2006/main" w="0">
            <a:solidFill>
              <a:srgbClr val="F5C7C9"/>
            </a:solidFill>
            <a:prstDash val="solid"/>
          </a:ln>
        </p:spPr>
      </p:sp>
      <p:sp>
        <p:nvSpPr>
          <p:cNvPr id="19" name="">
            <a:extLst xmlns:a="http://schemas.openxmlformats.org/drawingml/2006/main">
              <a:ext uri="{FF2B5EF4-FFF2-40B4-BE49-F238E27FC236}">
                <a16:creationId xmlns:a16="http://schemas.microsoft.com/office/drawing/2014/main" id="{6D34D767-6989-47C6-B4F3-6C836569CBFD}"/>
              </a:ext>
            </a:extLst>
          </p:cNvPr>
          <p:cNvSpPr>
            <a:spLocks xmlns:a="http://schemas.openxmlformats.org/drawingml/2006/main" noGrp="1"/>
          </p:cNvSpPr>
          <p:nvPr/>
        </p:nvSpPr>
        <p:spPr>
          <a:xfrm xmlns:a="http://schemas.openxmlformats.org/drawingml/2006/main">
            <a:off x="8362950" y="1543050"/>
            <a:ext cx="29432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Decoder-only</a:t>
            </a:r>
          </a:p>
        </p:txBody>
      </p:sp>
      <p:sp>
        <p:nvSpPr>
          <p:cNvPr id="20" name="">
            <a:extLst xmlns:a="http://schemas.openxmlformats.org/drawingml/2006/main">
              <a:ext uri="{FF2B5EF4-FFF2-40B4-BE49-F238E27FC236}">
                <a16:creationId xmlns:a16="http://schemas.microsoft.com/office/drawing/2014/main" id="{788E720F-EA3C-47DF-96DB-B37E0C34F2C9}"/>
              </a:ext>
            </a:extLst>
          </p:cNvPr>
          <p:cNvSpPr>
            <a:spLocks xmlns:a="http://schemas.openxmlformats.org/drawingml/2006/main" noGrp="1"/>
          </p:cNvSpPr>
          <p:nvPr/>
        </p:nvSpPr>
        <p:spPr>
          <a:xfrm xmlns:a="http://schemas.openxmlformats.org/drawingml/2006/main">
            <a:off x="8420100" y="2381250"/>
            <a:ext cx="28289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Predicts the next token</a:t>
            </a:r>
          </a:p>
          <a:p xmlns:a="http://schemas.openxmlformats.org/drawingml/2006/main">
            <a:pPr algn="ctr">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autoregressively</a:t>
            </a:r>
          </a:p>
        </p:txBody>
      </p:sp>
      <p:sp>
        <p:nvSpPr>
          <p:cNvPr id="21" name="">
            <a:extLst xmlns:a="http://schemas.openxmlformats.org/drawingml/2006/main">
              <a:ext uri="{FF2B5EF4-FFF2-40B4-BE49-F238E27FC236}">
                <a16:creationId xmlns:a16="http://schemas.microsoft.com/office/drawing/2014/main" id="{B7D6D8AC-3806-49BF-896F-11A31788BB8A}"/>
              </a:ext>
            </a:extLst>
          </p:cNvPr>
          <p:cNvSpPr>
            <a:spLocks xmlns:a="http://schemas.openxmlformats.org/drawingml/2006/main" noGrp="1"/>
          </p:cNvSpPr>
          <p:nvPr/>
        </p:nvSpPr>
        <p:spPr>
          <a:xfrm xmlns:a="http://schemas.openxmlformats.org/drawingml/2006/main">
            <a:off x="8763000" y="3381375"/>
            <a:ext cx="2143125" cy="190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22" name="">
            <a:extLst xmlns:a="http://schemas.openxmlformats.org/drawingml/2006/main">
              <a:ext uri="{FF2B5EF4-FFF2-40B4-BE49-F238E27FC236}">
                <a16:creationId xmlns:a16="http://schemas.microsoft.com/office/drawing/2014/main" id="{26015ABE-D107-43BE-BCDF-04C9D87D3597}"/>
              </a:ext>
            </a:extLst>
          </p:cNvPr>
          <p:cNvSpPr>
            <a:spLocks xmlns:a="http://schemas.openxmlformats.org/drawingml/2006/main" noGrp="1"/>
          </p:cNvSpPr>
          <p:nvPr/>
        </p:nvSpPr>
        <p:spPr>
          <a:xfrm xmlns:a="http://schemas.openxmlformats.org/drawingml/2006/main">
            <a:off x="8420100" y="3638550"/>
            <a:ext cx="28289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Typical tasks</a:t>
            </a:r>
          </a:p>
        </p:txBody>
      </p:sp>
      <p:sp>
        <p:nvSpPr>
          <p:cNvPr id="23" name="">
            <a:extLst xmlns:a="http://schemas.openxmlformats.org/drawingml/2006/main">
              <a:ext uri="{FF2B5EF4-FFF2-40B4-BE49-F238E27FC236}">
                <a16:creationId xmlns:a16="http://schemas.microsoft.com/office/drawing/2014/main" id="{E1A67128-0AED-428E-8001-69248650EB42}"/>
              </a:ext>
            </a:extLst>
          </p:cNvPr>
          <p:cNvSpPr>
            <a:spLocks xmlns:a="http://schemas.openxmlformats.org/drawingml/2006/main" noGrp="1"/>
          </p:cNvSpPr>
          <p:nvPr/>
        </p:nvSpPr>
        <p:spPr>
          <a:xfrm xmlns:a="http://schemas.openxmlformats.org/drawingml/2006/main">
            <a:off x="8420100" y="4048125"/>
            <a:ext cx="28289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Chat, writing, code generation</a:t>
            </a:r>
          </a:p>
        </p:txBody>
      </p:sp>
      <p:sp>
        <p:nvSpPr>
          <p:cNvPr id="24" name="">
            <a:extLst xmlns:a="http://schemas.openxmlformats.org/drawingml/2006/main">
              <a:ext uri="{FF2B5EF4-FFF2-40B4-BE49-F238E27FC236}">
                <a16:creationId xmlns:a16="http://schemas.microsoft.com/office/drawing/2014/main" id="{2A093996-1397-47BF-A008-85C4E1F5540A}"/>
              </a:ext>
            </a:extLst>
          </p:cNvPr>
          <p:cNvSpPr>
            <a:spLocks xmlns:a="http://schemas.openxmlformats.org/drawingml/2006/main" noGrp="1"/>
          </p:cNvSpPr>
          <p:nvPr/>
        </p:nvSpPr>
        <p:spPr>
          <a:xfrm xmlns:a="http://schemas.openxmlformats.org/drawingml/2006/main">
            <a:off x="8915400" y="5191125"/>
            <a:ext cx="1838325" cy="514350"/>
          </a:xfrm>
          <a:prstGeom xmlns:a="http://schemas.openxmlformats.org/drawingml/2006/main" prst="roundRect">
            <a:avLst>
              <a:gd name="adj" fmla="val 14815"/>
            </a:avLst>
          </a:prstGeom>
          <a:solidFill xmlns:a="http://schemas.openxmlformats.org/drawingml/2006/main">
            <a:srgbClr val="F8F8F8"/>
          </a:solidFill>
          <a:ln xmlns:a="http://schemas.openxmlformats.org/drawingml/2006/main" w="0">
            <a:solidFill>
              <a:srgbClr val="F8F8F8"/>
            </a:solidFill>
            <a:prstDash val="solid"/>
          </a:ln>
        </p:spPr>
      </p:sp>
      <p:sp>
        <p:nvSpPr>
          <p:cNvPr id="25" name="">
            <a:extLst xmlns:a="http://schemas.openxmlformats.org/drawingml/2006/main">
              <a:ext uri="{FF2B5EF4-FFF2-40B4-BE49-F238E27FC236}">
                <a16:creationId xmlns:a16="http://schemas.microsoft.com/office/drawing/2014/main" id="{BD66C74B-10AB-4113-B3DF-9966ACA62E48}"/>
              </a:ext>
            </a:extLst>
          </p:cNvPr>
          <p:cNvSpPr>
            <a:spLocks xmlns:a="http://schemas.openxmlformats.org/drawingml/2006/main" noGrp="1"/>
          </p:cNvSpPr>
          <p:nvPr/>
        </p:nvSpPr>
        <p:spPr>
          <a:xfrm xmlns:a="http://schemas.openxmlformats.org/drawingml/2006/main">
            <a:off x="9067800" y="5286375"/>
            <a:ext cx="15335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75" b="1">
                <a:solidFill>
                  <a:srgbClr val="000000"/>
                </a:solidFill>
                <a:latin typeface="Google Sans Text"/>
                <a:ea typeface="Google Sans Text"/>
                <a:cs typeface="Google Sans Text"/>
              </a:defRPr>
            </a:pPr>
            <a:r>
              <a:rPr sz="1275" b="1">
                <a:solidFill>
                  <a:srgbClr val="000000"/>
                </a:solidFill>
                <a:latin typeface="Google Sans Text"/>
                <a:ea typeface="Google Sans Text"/>
                <a:cs typeface="Google Sans Text"/>
              </a:rPr>
              <a:t>GPT-style LLMs</a:t>
            </a:r>
          </a:p>
        </p:txBody>
      </p:sp>
      <p:sp>
        <p:nvSpPr>
          <p:cNvPr id="26" name="">
            <a:extLst xmlns:a="http://schemas.openxmlformats.org/drawingml/2006/main">
              <a:ext uri="{FF2B5EF4-FFF2-40B4-BE49-F238E27FC236}">
                <a16:creationId xmlns:a16="http://schemas.microsoft.com/office/drawing/2014/main" id="{E901B799-B852-4B32-8D02-543D7EE73FE9}"/>
              </a:ext>
            </a:extLst>
          </p:cNvPr>
          <p:cNvSpPr>
            <a:spLocks xmlns:a="http://schemas.openxmlformats.org/drawingml/2006/main" noGrp="1"/>
          </p:cNvSpPr>
          <p:nvPr/>
        </p:nvSpPr>
        <p:spPr>
          <a:xfrm xmlns:a="http://schemas.openxmlformats.org/drawingml/2006/main">
            <a:off x="1476375" y="600075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F6368"/>
                </a:solidFill>
                <a:latin typeface="Google Sans Text"/>
                <a:ea typeface="Google Sans Text"/>
                <a:cs typeface="Google Sans Text"/>
              </a:defRPr>
            </a:pPr>
            <a:r>
              <a:rPr sz="1275" b="0">
                <a:solidFill>
                  <a:srgbClr val="5F6368"/>
                </a:solidFill>
                <a:latin typeface="Google Sans Text"/>
                <a:ea typeface="Google Sans Text"/>
                <a:cs typeface="Google Sans Text"/>
              </a:rPr>
              <a:t>Commercial model details may be partly unpublished; classify by observed behavior and official documentation.</a:t>
            </a:r>
          </a:p>
        </p:txBody>
      </p:sp>
    </p:spTree>
    <p:extLst>
      <p:ext uri="{BB962C8B-B14F-4D97-AF65-F5344CB8AC3E}">
        <p14:creationId xmlns:p14="http://schemas.microsoft.com/office/powerpoint/2010/main" val="909837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51D26C8-2E6C-4AFC-A620-E72350561D37}"/>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 decoder-only Transformer repeats the same block across many layers</a:t>
            </a:r>
          </a:p>
        </p:txBody>
      </p:sp>
      <p:sp>
        <p:nvSpPr>
          <p:cNvPr id="2" name="">
            <a:extLst xmlns:a="http://schemas.openxmlformats.org/drawingml/2006/main">
              <a:ext uri="{FF2B5EF4-FFF2-40B4-BE49-F238E27FC236}">
                <a16:creationId xmlns:a16="http://schemas.microsoft.com/office/drawing/2014/main" id="{5CA02032-FF1B-4358-9CAD-DEE1C58720E2}"/>
              </a:ext>
            </a:extLst>
          </p:cNvPr>
          <p:cNvSpPr>
            <a:spLocks xmlns:a="http://schemas.openxmlformats.org/drawingml/2006/main" noGrp="1"/>
          </p:cNvSpPr>
          <p:nvPr/>
        </p:nvSpPr>
        <p:spPr>
          <a:xfrm xmlns:a="http://schemas.openxmlformats.org/drawingml/2006/main">
            <a:off x="666750" y="128587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Input preparation</a:t>
            </a:r>
          </a:p>
        </p:txBody>
      </p:sp>
      <p:sp>
        <p:nvSpPr>
          <p:cNvPr id="3" name="">
            <a:extLst xmlns:a="http://schemas.openxmlformats.org/drawingml/2006/main">
              <a:ext uri="{FF2B5EF4-FFF2-40B4-BE49-F238E27FC236}">
                <a16:creationId xmlns:a16="http://schemas.microsoft.com/office/drawing/2014/main" id="{E6F4C80B-8D74-4147-ADE6-91D21C2FA0FE}"/>
              </a:ext>
            </a:extLst>
          </p:cNvPr>
          <p:cNvSpPr>
            <a:spLocks xmlns:a="http://schemas.openxmlformats.org/drawingml/2006/main" noGrp="1"/>
          </p:cNvSpPr>
          <p:nvPr/>
        </p:nvSpPr>
        <p:spPr>
          <a:xfrm xmlns:a="http://schemas.openxmlformats.org/drawingml/2006/main">
            <a:off x="666750" y="1857375"/>
            <a:ext cx="2333625" cy="609600"/>
          </a:xfrm>
          <a:prstGeom xmlns:a="http://schemas.openxmlformats.org/drawingml/2006/main" prst="roundRect">
            <a:avLst>
              <a:gd name="adj" fmla="val 12500"/>
            </a:avLst>
          </a:prstGeom>
          <a:solidFill xmlns:a="http://schemas.openxmlformats.org/drawingml/2006/main">
            <a:srgbClr val="D0E1E5"/>
          </a:solidFill>
          <a:ln xmlns:a="http://schemas.openxmlformats.org/drawingml/2006/main" w="0">
            <a:solidFill>
              <a:srgbClr val="D0E1E5"/>
            </a:solidFill>
            <a:prstDash val="solid"/>
          </a:ln>
        </p:spPr>
      </p:sp>
      <p:sp>
        <p:nvSpPr>
          <p:cNvPr id="4" name="">
            <a:extLst xmlns:a="http://schemas.openxmlformats.org/drawingml/2006/main">
              <a:ext uri="{FF2B5EF4-FFF2-40B4-BE49-F238E27FC236}">
                <a16:creationId xmlns:a16="http://schemas.microsoft.com/office/drawing/2014/main" id="{530D4C42-6BCC-4A29-8622-B228FC340A9A}"/>
              </a:ext>
            </a:extLst>
          </p:cNvPr>
          <p:cNvSpPr>
            <a:spLocks xmlns:a="http://schemas.openxmlformats.org/drawingml/2006/main" noGrp="1"/>
          </p:cNvSpPr>
          <p:nvPr/>
        </p:nvSpPr>
        <p:spPr>
          <a:xfrm xmlns:a="http://schemas.openxmlformats.org/drawingml/2006/main">
            <a:off x="819150" y="1952625"/>
            <a:ext cx="2028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Text"/>
                <a:ea typeface="Google Sans Text"/>
                <a:cs typeface="Google Sans Text"/>
              </a:defRPr>
            </a:pPr>
            <a:r>
              <a:rPr sz="1500" b="1">
                <a:solidFill>
                  <a:srgbClr val="000000"/>
                </a:solidFill>
                <a:latin typeface="Google Sans Text"/>
                <a:ea typeface="Google Sans Text"/>
                <a:cs typeface="Google Sans Text"/>
              </a:rPr>
              <a:t>Prompt tokens</a:t>
            </a:r>
          </a:p>
        </p:txBody>
      </p:sp>
      <p:sp>
        <p:nvSpPr>
          <p:cNvPr id="5" name="">
            <a:extLst xmlns:a="http://schemas.openxmlformats.org/drawingml/2006/main">
              <a:ext uri="{FF2B5EF4-FFF2-40B4-BE49-F238E27FC236}">
                <a16:creationId xmlns:a16="http://schemas.microsoft.com/office/drawing/2014/main" id="{C400ECCE-4161-4FCE-9705-E6B645CF8309}"/>
              </a:ext>
            </a:extLst>
          </p:cNvPr>
          <p:cNvSpPr>
            <a:spLocks xmlns:a="http://schemas.openxmlformats.org/drawingml/2006/main" noGrp="1"/>
          </p:cNvSpPr>
          <p:nvPr/>
        </p:nvSpPr>
        <p:spPr>
          <a:xfrm xmlns:a="http://schemas.openxmlformats.org/drawingml/2006/main">
            <a:off x="1571625" y="25431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0">
                <a:solidFill>
                  <a:srgbClr val="9AA0A6"/>
                </a:solidFill>
                <a:latin typeface="Google Sans Text"/>
                <a:ea typeface="Google Sans Text"/>
                <a:cs typeface="Google Sans Text"/>
              </a:defRPr>
            </a:pPr>
            <a:r>
              <a:rPr sz="2100" b="0">
                <a:solidFill>
                  <a:srgbClr val="9AA0A6"/>
                </a:solidFill>
                <a:latin typeface="Google Sans Text"/>
                <a:ea typeface="Google Sans Text"/>
                <a:cs typeface="Google Sans Text"/>
              </a:rPr>
              <a:t>↓</a:t>
            </a:r>
          </a:p>
        </p:txBody>
      </p:sp>
      <p:sp>
        <p:nvSpPr>
          <p:cNvPr id="6" name="">
            <a:extLst xmlns:a="http://schemas.openxmlformats.org/drawingml/2006/main">
              <a:ext uri="{FF2B5EF4-FFF2-40B4-BE49-F238E27FC236}">
                <a16:creationId xmlns:a16="http://schemas.microsoft.com/office/drawing/2014/main" id="{A3EFA743-B134-4FE6-A40E-98370052DA87}"/>
              </a:ext>
            </a:extLst>
          </p:cNvPr>
          <p:cNvSpPr>
            <a:spLocks xmlns:a="http://schemas.openxmlformats.org/drawingml/2006/main" noGrp="1"/>
          </p:cNvSpPr>
          <p:nvPr/>
        </p:nvSpPr>
        <p:spPr>
          <a:xfrm xmlns:a="http://schemas.openxmlformats.org/drawingml/2006/main">
            <a:off x="666750" y="3000375"/>
            <a:ext cx="2333625" cy="609600"/>
          </a:xfrm>
          <a:prstGeom xmlns:a="http://schemas.openxmlformats.org/drawingml/2006/main" prst="roundRect">
            <a:avLst>
              <a:gd name="adj" fmla="val 12500"/>
            </a:avLst>
          </a:prstGeom>
          <a:solidFill xmlns:a="http://schemas.openxmlformats.org/drawingml/2006/main">
            <a:srgbClr val="C6DAFC"/>
          </a:solidFill>
          <a:ln xmlns:a="http://schemas.openxmlformats.org/drawingml/2006/main" w="0">
            <a:solidFill>
              <a:srgbClr val="C6DAFC"/>
            </a:solidFill>
            <a:prstDash val="solid"/>
          </a:ln>
        </p:spPr>
      </p:sp>
      <p:sp>
        <p:nvSpPr>
          <p:cNvPr id="7" name="">
            <a:extLst xmlns:a="http://schemas.openxmlformats.org/drawingml/2006/main">
              <a:ext uri="{FF2B5EF4-FFF2-40B4-BE49-F238E27FC236}">
                <a16:creationId xmlns:a16="http://schemas.microsoft.com/office/drawing/2014/main" id="{6E8AC981-CB10-4439-834B-1723704EC7F8}"/>
              </a:ext>
            </a:extLst>
          </p:cNvPr>
          <p:cNvSpPr>
            <a:spLocks xmlns:a="http://schemas.openxmlformats.org/drawingml/2006/main" noGrp="1"/>
          </p:cNvSpPr>
          <p:nvPr/>
        </p:nvSpPr>
        <p:spPr>
          <a:xfrm xmlns:a="http://schemas.openxmlformats.org/drawingml/2006/main">
            <a:off x="819150" y="3095625"/>
            <a:ext cx="2028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Token embeddings</a:t>
            </a:r>
          </a:p>
        </p:txBody>
      </p:sp>
      <p:sp>
        <p:nvSpPr>
          <p:cNvPr id="8" name="">
            <a:extLst xmlns:a="http://schemas.openxmlformats.org/drawingml/2006/main">
              <a:ext uri="{FF2B5EF4-FFF2-40B4-BE49-F238E27FC236}">
                <a16:creationId xmlns:a16="http://schemas.microsoft.com/office/drawing/2014/main" id="{CBA72C4D-D5B4-4504-B1BB-0DEE04E3CC20}"/>
              </a:ext>
            </a:extLst>
          </p:cNvPr>
          <p:cNvSpPr>
            <a:spLocks xmlns:a="http://schemas.openxmlformats.org/drawingml/2006/main" noGrp="1"/>
          </p:cNvSpPr>
          <p:nvPr/>
        </p:nvSpPr>
        <p:spPr>
          <a:xfrm xmlns:a="http://schemas.openxmlformats.org/drawingml/2006/main">
            <a:off x="1571625" y="3676650"/>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0">
                <a:solidFill>
                  <a:srgbClr val="9AA0A6"/>
                </a:solidFill>
                <a:latin typeface="Google Sans Text"/>
                <a:ea typeface="Google Sans Text"/>
                <a:cs typeface="Google Sans Text"/>
              </a:defRPr>
            </a:pPr>
            <a:r>
              <a:rPr sz="2100" b="0">
                <a:solidFill>
                  <a:srgbClr val="9AA0A6"/>
                </a:solidFill>
                <a:latin typeface="Google Sans Text"/>
                <a:ea typeface="Google Sans Text"/>
                <a:cs typeface="Google Sans Text"/>
              </a:rPr>
              <a:t>+</a:t>
            </a:r>
          </a:p>
        </p:txBody>
      </p:sp>
      <p:sp>
        <p:nvSpPr>
          <p:cNvPr id="9" name="">
            <a:extLst xmlns:a="http://schemas.openxmlformats.org/drawingml/2006/main">
              <a:ext uri="{FF2B5EF4-FFF2-40B4-BE49-F238E27FC236}">
                <a16:creationId xmlns:a16="http://schemas.microsoft.com/office/drawing/2014/main" id="{24608525-90DC-4039-935D-D08A2A18FC73}"/>
              </a:ext>
            </a:extLst>
          </p:cNvPr>
          <p:cNvSpPr>
            <a:spLocks xmlns:a="http://schemas.openxmlformats.org/drawingml/2006/main" noGrp="1"/>
          </p:cNvSpPr>
          <p:nvPr/>
        </p:nvSpPr>
        <p:spPr>
          <a:xfrm xmlns:a="http://schemas.openxmlformats.org/drawingml/2006/main">
            <a:off x="666750" y="4143375"/>
            <a:ext cx="2333625" cy="609600"/>
          </a:xfrm>
          <a:prstGeom xmlns:a="http://schemas.openxmlformats.org/drawingml/2006/main" prst="roundRect">
            <a:avLst>
              <a:gd name="adj" fmla="val 12500"/>
            </a:avLst>
          </a:prstGeom>
          <a:solidFill xmlns:a="http://schemas.openxmlformats.org/drawingml/2006/main">
            <a:srgbClr val="FDEFC3"/>
          </a:solidFill>
          <a:ln xmlns:a="http://schemas.openxmlformats.org/drawingml/2006/main" w="0">
            <a:solidFill>
              <a:srgbClr val="FDEFC3"/>
            </a:solidFill>
            <a:prstDash val="solid"/>
          </a:ln>
        </p:spPr>
      </p:sp>
      <p:sp>
        <p:nvSpPr>
          <p:cNvPr id="10" name="">
            <a:extLst xmlns:a="http://schemas.openxmlformats.org/drawingml/2006/main">
              <a:ext uri="{FF2B5EF4-FFF2-40B4-BE49-F238E27FC236}">
                <a16:creationId xmlns:a16="http://schemas.microsoft.com/office/drawing/2014/main" id="{D749BF1D-F6A2-4B4B-B623-1143C3B79626}"/>
              </a:ext>
            </a:extLst>
          </p:cNvPr>
          <p:cNvSpPr>
            <a:spLocks xmlns:a="http://schemas.openxmlformats.org/drawingml/2006/main" noGrp="1"/>
          </p:cNvSpPr>
          <p:nvPr/>
        </p:nvSpPr>
        <p:spPr>
          <a:xfrm xmlns:a="http://schemas.openxmlformats.org/drawingml/2006/main">
            <a:off x="819150" y="4238625"/>
            <a:ext cx="20288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Position information</a:t>
            </a:r>
          </a:p>
        </p:txBody>
      </p:sp>
      <p:sp>
        <p:nvSpPr>
          <p:cNvPr id="11" name="">
            <a:extLst xmlns:a="http://schemas.openxmlformats.org/drawingml/2006/main">
              <a:ext uri="{FF2B5EF4-FFF2-40B4-BE49-F238E27FC236}">
                <a16:creationId xmlns:a16="http://schemas.microsoft.com/office/drawing/2014/main" id="{FE070BFD-6C8F-42E2-BB80-4B629F26DE65}"/>
              </a:ext>
            </a:extLst>
          </p:cNvPr>
          <p:cNvSpPr>
            <a:spLocks xmlns:a="http://schemas.openxmlformats.org/drawingml/2006/main" noGrp="1"/>
          </p:cNvSpPr>
          <p:nvPr/>
        </p:nvSpPr>
        <p:spPr>
          <a:xfrm xmlns:a="http://schemas.openxmlformats.org/drawingml/2006/main">
            <a:off x="762000" y="5095875"/>
            <a:ext cx="2143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5F6368"/>
                </a:solidFill>
                <a:latin typeface="Google Sans Text"/>
                <a:ea typeface="Google Sans Text"/>
                <a:cs typeface="Google Sans Text"/>
              </a:defRPr>
            </a:pPr>
            <a:r>
              <a:rPr sz="1313" b="0">
                <a:solidFill>
                  <a:srgbClr val="5F6368"/>
                </a:solidFill>
                <a:latin typeface="Google Sans Text"/>
                <a:ea typeface="Google Sans Text"/>
                <a:cs typeface="Google Sans Text"/>
              </a:rPr>
              <a:t>The model now has token meaning and order.</a:t>
            </a:r>
          </a:p>
        </p:txBody>
      </p:sp>
      <p:sp>
        <p:nvSpPr>
          <p:cNvPr id="12" name="">
            <a:extLst xmlns:a="http://schemas.openxmlformats.org/drawingml/2006/main">
              <a:ext uri="{FF2B5EF4-FFF2-40B4-BE49-F238E27FC236}">
                <a16:creationId xmlns:a16="http://schemas.microsoft.com/office/drawing/2014/main" id="{4D693814-4118-4B24-875F-6C135C2567F2}"/>
              </a:ext>
            </a:extLst>
          </p:cNvPr>
          <p:cNvSpPr>
            <a:spLocks xmlns:a="http://schemas.openxmlformats.org/drawingml/2006/main" noGrp="1"/>
          </p:cNvSpPr>
          <p:nvPr/>
        </p:nvSpPr>
        <p:spPr>
          <a:xfrm xmlns:a="http://schemas.openxmlformats.org/drawingml/2006/main">
            <a:off x="3476625" y="1190625"/>
            <a:ext cx="4905375" cy="4762500"/>
          </a:xfrm>
          <a:prstGeom xmlns:a="http://schemas.openxmlformats.org/drawingml/2006/main" prst="roundRect">
            <a:avLst>
              <a:gd name="adj" fmla="val 1600"/>
            </a:avLst>
          </a:prstGeom>
          <a:solidFill xmlns:a="http://schemas.openxmlformats.org/drawingml/2006/main">
            <a:srgbClr val="F8F8F8"/>
          </a:solidFill>
          <a:ln xmlns:a="http://schemas.openxmlformats.org/drawingml/2006/main" w="9525">
            <a:solidFill>
              <a:srgbClr val="DADCE0"/>
            </a:solidFill>
            <a:prstDash val="solid"/>
          </a:ln>
        </p:spPr>
      </p:sp>
      <p:sp>
        <p:nvSpPr>
          <p:cNvPr id="13" name="">
            <a:extLst xmlns:a="http://schemas.openxmlformats.org/drawingml/2006/main">
              <a:ext uri="{FF2B5EF4-FFF2-40B4-BE49-F238E27FC236}">
                <a16:creationId xmlns:a16="http://schemas.microsoft.com/office/drawing/2014/main" id="{FA5AEAF0-2938-4AED-8E9B-392DD242C4AB}"/>
              </a:ext>
            </a:extLst>
          </p:cNvPr>
          <p:cNvSpPr>
            <a:spLocks xmlns:a="http://schemas.openxmlformats.org/drawingml/2006/main" noGrp="1"/>
          </p:cNvSpPr>
          <p:nvPr/>
        </p:nvSpPr>
        <p:spPr>
          <a:xfrm xmlns:a="http://schemas.openxmlformats.org/drawingml/2006/main">
            <a:off x="3857625" y="1428750"/>
            <a:ext cx="4143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000000"/>
                </a:solidFill>
                <a:latin typeface="Google Sans Medium"/>
                <a:ea typeface="Google Sans Medium"/>
                <a:cs typeface="Google Sans Medium"/>
              </a:defRPr>
            </a:pPr>
            <a:r>
              <a:rPr sz="1875" b="1">
                <a:solidFill>
                  <a:srgbClr val="000000"/>
                </a:solidFill>
                <a:latin typeface="Google Sans Medium"/>
                <a:ea typeface="Google Sans Medium"/>
                <a:cs typeface="Google Sans Medium"/>
              </a:rPr>
              <a:t>Decoder block × many layers</a:t>
            </a:r>
          </a:p>
        </p:txBody>
      </p:sp>
      <p:sp>
        <p:nvSpPr>
          <p:cNvPr id="14" name="">
            <a:extLst xmlns:a="http://schemas.openxmlformats.org/drawingml/2006/main">
              <a:ext uri="{FF2B5EF4-FFF2-40B4-BE49-F238E27FC236}">
                <a16:creationId xmlns:a16="http://schemas.microsoft.com/office/drawing/2014/main" id="{8A7D1997-33C5-4362-B493-8717679ABE5E}"/>
              </a:ext>
            </a:extLst>
          </p:cNvPr>
          <p:cNvSpPr>
            <a:spLocks xmlns:a="http://schemas.openxmlformats.org/drawingml/2006/main" noGrp="1"/>
          </p:cNvSpPr>
          <p:nvPr/>
        </p:nvSpPr>
        <p:spPr>
          <a:xfrm xmlns:a="http://schemas.openxmlformats.org/drawingml/2006/main">
            <a:off x="3762375" y="2095500"/>
            <a:ext cx="4333875" cy="7810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15" name="">
            <a:extLst xmlns:a="http://schemas.openxmlformats.org/drawingml/2006/main">
              <a:ext uri="{FF2B5EF4-FFF2-40B4-BE49-F238E27FC236}">
                <a16:creationId xmlns:a16="http://schemas.microsoft.com/office/drawing/2014/main" id="{121D68C0-957E-40DD-B213-2AAE841967F4}"/>
              </a:ext>
            </a:extLst>
          </p:cNvPr>
          <p:cNvSpPr>
            <a:spLocks xmlns:a="http://schemas.openxmlformats.org/drawingml/2006/main" noGrp="1"/>
          </p:cNvSpPr>
          <p:nvPr/>
        </p:nvSpPr>
        <p:spPr>
          <a:xfrm xmlns:a="http://schemas.openxmlformats.org/drawingml/2006/main">
            <a:off x="4000500" y="2266950"/>
            <a:ext cx="3857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Masked multi-head self-attention</a:t>
            </a:r>
          </a:p>
        </p:txBody>
      </p:sp>
      <p:sp>
        <p:nvSpPr>
          <p:cNvPr id="16" name="">
            <a:extLst xmlns:a="http://schemas.openxmlformats.org/drawingml/2006/main">
              <a:ext uri="{FF2B5EF4-FFF2-40B4-BE49-F238E27FC236}">
                <a16:creationId xmlns:a16="http://schemas.microsoft.com/office/drawing/2014/main" id="{2BB6BFBC-2DFF-43B4-8658-BFED99C106B2}"/>
              </a:ext>
            </a:extLst>
          </p:cNvPr>
          <p:cNvSpPr>
            <a:spLocks xmlns:a="http://schemas.openxmlformats.org/drawingml/2006/main" noGrp="1"/>
          </p:cNvSpPr>
          <p:nvPr/>
        </p:nvSpPr>
        <p:spPr>
          <a:xfrm xmlns:a="http://schemas.openxmlformats.org/drawingml/2006/main">
            <a:off x="4048125" y="2609850"/>
            <a:ext cx="3762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09"/>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Each position can use earlier context—not future generated tokens.</a:t>
            </a:r>
          </a:p>
        </p:txBody>
      </p:sp>
      <p:sp>
        <p:nvSpPr>
          <p:cNvPr id="17" name="">
            <a:extLst xmlns:a="http://schemas.openxmlformats.org/drawingml/2006/main">
              <a:ext uri="{FF2B5EF4-FFF2-40B4-BE49-F238E27FC236}">
                <a16:creationId xmlns:a16="http://schemas.microsoft.com/office/drawing/2014/main" id="{AE2846E5-129A-423F-8E6A-673AEB2874CD}"/>
              </a:ext>
            </a:extLst>
          </p:cNvPr>
          <p:cNvSpPr>
            <a:spLocks xmlns:a="http://schemas.openxmlformats.org/drawingml/2006/main" noGrp="1"/>
          </p:cNvSpPr>
          <p:nvPr/>
        </p:nvSpPr>
        <p:spPr>
          <a:xfrm xmlns:a="http://schemas.openxmlformats.org/drawingml/2006/main">
            <a:off x="5667375" y="293370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025" b="0">
                <a:solidFill>
                  <a:srgbClr val="9AA0A6"/>
                </a:solidFill>
                <a:latin typeface="Google Sans Text"/>
                <a:ea typeface="Google Sans Text"/>
                <a:cs typeface="Google Sans Text"/>
              </a:defRPr>
            </a:pPr>
            <a:r>
              <a:rPr sz="2025" b="0">
                <a:solidFill>
                  <a:srgbClr val="9AA0A6"/>
                </a:solidFill>
                <a:latin typeface="Google Sans Text"/>
                <a:ea typeface="Google Sans Text"/>
                <a:cs typeface="Google Sans Text"/>
              </a:rPr>
              <a:t>↓</a:t>
            </a:r>
          </a:p>
        </p:txBody>
      </p:sp>
      <p:sp>
        <p:nvSpPr>
          <p:cNvPr id="18" name="">
            <a:extLst xmlns:a="http://schemas.openxmlformats.org/drawingml/2006/main">
              <a:ext uri="{FF2B5EF4-FFF2-40B4-BE49-F238E27FC236}">
                <a16:creationId xmlns:a16="http://schemas.microsoft.com/office/drawing/2014/main" id="{5AF7E69D-14AC-4E27-A0A8-B5F5D0E325AC}"/>
              </a:ext>
            </a:extLst>
          </p:cNvPr>
          <p:cNvSpPr>
            <a:spLocks xmlns:a="http://schemas.openxmlformats.org/drawingml/2006/main" noGrp="1"/>
          </p:cNvSpPr>
          <p:nvPr/>
        </p:nvSpPr>
        <p:spPr>
          <a:xfrm xmlns:a="http://schemas.openxmlformats.org/drawingml/2006/main">
            <a:off x="4333875" y="3333750"/>
            <a:ext cx="3190875"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9" name="">
            <a:extLst xmlns:a="http://schemas.openxmlformats.org/drawingml/2006/main">
              <a:ext uri="{FF2B5EF4-FFF2-40B4-BE49-F238E27FC236}">
                <a16:creationId xmlns:a16="http://schemas.microsoft.com/office/drawing/2014/main" id="{665EE888-6C28-4C3B-9ABF-065DFEFF0521}"/>
              </a:ext>
            </a:extLst>
          </p:cNvPr>
          <p:cNvSpPr>
            <a:spLocks xmlns:a="http://schemas.openxmlformats.org/drawingml/2006/main" noGrp="1"/>
          </p:cNvSpPr>
          <p:nvPr/>
        </p:nvSpPr>
        <p:spPr>
          <a:xfrm xmlns:a="http://schemas.openxmlformats.org/drawingml/2006/main">
            <a:off x="4524375" y="3457575"/>
            <a:ext cx="2809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88" b="1">
                <a:solidFill>
                  <a:srgbClr val="000000"/>
                </a:solidFill>
                <a:latin typeface="Google Sans Medium"/>
                <a:ea typeface="Google Sans Medium"/>
                <a:cs typeface="Google Sans Medium"/>
              </a:defRPr>
            </a:pPr>
            <a:r>
              <a:rPr sz="1388" b="1">
                <a:solidFill>
                  <a:srgbClr val="000000"/>
                </a:solidFill>
                <a:latin typeface="Google Sans Medium"/>
                <a:ea typeface="Google Sans Medium"/>
                <a:cs typeface="Google Sans Medium"/>
              </a:rPr>
              <a:t>Add residual + normalize</a:t>
            </a:r>
          </a:p>
        </p:txBody>
      </p:sp>
      <p:sp>
        <p:nvSpPr>
          <p:cNvPr id="20" name="">
            <a:extLst xmlns:a="http://schemas.openxmlformats.org/drawingml/2006/main">
              <a:ext uri="{FF2B5EF4-FFF2-40B4-BE49-F238E27FC236}">
                <a16:creationId xmlns:a16="http://schemas.microsoft.com/office/drawing/2014/main" id="{B28241F6-E874-4036-9DD0-6D40B61F8ACC}"/>
              </a:ext>
            </a:extLst>
          </p:cNvPr>
          <p:cNvSpPr>
            <a:spLocks xmlns:a="http://schemas.openxmlformats.org/drawingml/2006/main" noGrp="1"/>
          </p:cNvSpPr>
          <p:nvPr/>
        </p:nvSpPr>
        <p:spPr>
          <a:xfrm xmlns:a="http://schemas.openxmlformats.org/drawingml/2006/main">
            <a:off x="5667375" y="3905250"/>
            <a:ext cx="52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025" b="0">
                <a:solidFill>
                  <a:srgbClr val="9AA0A6"/>
                </a:solidFill>
                <a:latin typeface="Google Sans Text"/>
                <a:ea typeface="Google Sans Text"/>
                <a:cs typeface="Google Sans Text"/>
              </a:defRPr>
            </a:pPr>
            <a:r>
              <a:rPr sz="2025" b="0">
                <a:solidFill>
                  <a:srgbClr val="9AA0A6"/>
                </a:solidFill>
                <a:latin typeface="Google Sans Text"/>
                <a:ea typeface="Google Sans Text"/>
                <a:cs typeface="Google Sans Text"/>
              </a:rPr>
              <a:t>↓</a:t>
            </a:r>
          </a:p>
        </p:txBody>
      </p:sp>
      <p:sp>
        <p:nvSpPr>
          <p:cNvPr id="21" name="">
            <a:extLst xmlns:a="http://schemas.openxmlformats.org/drawingml/2006/main">
              <a:ext uri="{FF2B5EF4-FFF2-40B4-BE49-F238E27FC236}">
                <a16:creationId xmlns:a16="http://schemas.microsoft.com/office/drawing/2014/main" id="{1D68CF58-96BE-4431-B897-8ECDBCD26A4F}"/>
              </a:ext>
            </a:extLst>
          </p:cNvPr>
          <p:cNvSpPr>
            <a:spLocks xmlns:a="http://schemas.openxmlformats.org/drawingml/2006/main" noGrp="1"/>
          </p:cNvSpPr>
          <p:nvPr/>
        </p:nvSpPr>
        <p:spPr>
          <a:xfrm xmlns:a="http://schemas.openxmlformats.org/drawingml/2006/main">
            <a:off x="3762375" y="4305300"/>
            <a:ext cx="4333875" cy="68580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22" name="">
            <a:extLst xmlns:a="http://schemas.openxmlformats.org/drawingml/2006/main">
              <a:ext uri="{FF2B5EF4-FFF2-40B4-BE49-F238E27FC236}">
                <a16:creationId xmlns:a16="http://schemas.microsoft.com/office/drawing/2014/main" id="{E257F52A-2847-46AA-809D-523E05B739C9}"/>
              </a:ext>
            </a:extLst>
          </p:cNvPr>
          <p:cNvSpPr>
            <a:spLocks xmlns:a="http://schemas.openxmlformats.org/drawingml/2006/main" noGrp="1"/>
          </p:cNvSpPr>
          <p:nvPr/>
        </p:nvSpPr>
        <p:spPr>
          <a:xfrm xmlns:a="http://schemas.openxmlformats.org/drawingml/2006/main">
            <a:off x="4000500" y="4486275"/>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Feed-forward network</a:t>
            </a:r>
          </a:p>
        </p:txBody>
      </p:sp>
      <p:sp>
        <p:nvSpPr>
          <p:cNvPr id="23" name="">
            <a:extLst xmlns:a="http://schemas.openxmlformats.org/drawingml/2006/main">
              <a:ext uri="{FF2B5EF4-FFF2-40B4-BE49-F238E27FC236}">
                <a16:creationId xmlns:a16="http://schemas.microsoft.com/office/drawing/2014/main" id="{74854CF2-CB1A-4509-A78C-511F65300CF2}"/>
              </a:ext>
            </a:extLst>
          </p:cNvPr>
          <p:cNvSpPr>
            <a:spLocks xmlns:a="http://schemas.openxmlformats.org/drawingml/2006/main" noGrp="1"/>
          </p:cNvSpPr>
          <p:nvPr/>
        </p:nvSpPr>
        <p:spPr>
          <a:xfrm xmlns:a="http://schemas.openxmlformats.org/drawingml/2006/main">
            <a:off x="5667375" y="50482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025" b="0">
                <a:solidFill>
                  <a:srgbClr val="9AA0A6"/>
                </a:solidFill>
                <a:latin typeface="Google Sans Text"/>
                <a:ea typeface="Google Sans Text"/>
                <a:cs typeface="Google Sans Text"/>
              </a:defRPr>
            </a:pPr>
            <a:r>
              <a:rPr sz="2025" b="0">
                <a:solidFill>
                  <a:srgbClr val="9AA0A6"/>
                </a:solidFill>
                <a:latin typeface="Google Sans Text"/>
                <a:ea typeface="Google Sans Text"/>
                <a:cs typeface="Google Sans Text"/>
              </a:rPr>
              <a:t>↓</a:t>
            </a:r>
          </a:p>
        </p:txBody>
      </p:sp>
      <p:sp>
        <p:nvSpPr>
          <p:cNvPr id="24" name="">
            <a:extLst xmlns:a="http://schemas.openxmlformats.org/drawingml/2006/main">
              <a:ext uri="{FF2B5EF4-FFF2-40B4-BE49-F238E27FC236}">
                <a16:creationId xmlns:a16="http://schemas.microsoft.com/office/drawing/2014/main" id="{DB1C48AD-3ECE-4520-AB0F-F0108EA3198C}"/>
              </a:ext>
            </a:extLst>
          </p:cNvPr>
          <p:cNvSpPr>
            <a:spLocks xmlns:a="http://schemas.openxmlformats.org/drawingml/2006/main" noGrp="1"/>
          </p:cNvSpPr>
          <p:nvPr/>
        </p:nvSpPr>
        <p:spPr>
          <a:xfrm xmlns:a="http://schemas.openxmlformats.org/drawingml/2006/main">
            <a:off x="4333875" y="5410200"/>
            <a:ext cx="3190875" cy="3619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5" name="">
            <a:extLst xmlns:a="http://schemas.openxmlformats.org/drawingml/2006/main">
              <a:ext uri="{FF2B5EF4-FFF2-40B4-BE49-F238E27FC236}">
                <a16:creationId xmlns:a16="http://schemas.microsoft.com/office/drawing/2014/main" id="{9CB96AF6-2BC0-4466-B35A-BF66B0BE6F91}"/>
              </a:ext>
            </a:extLst>
          </p:cNvPr>
          <p:cNvSpPr>
            <a:spLocks xmlns:a="http://schemas.openxmlformats.org/drawingml/2006/main" noGrp="1"/>
          </p:cNvSpPr>
          <p:nvPr/>
        </p:nvSpPr>
        <p:spPr>
          <a:xfrm xmlns:a="http://schemas.openxmlformats.org/drawingml/2006/main">
            <a:off x="4524375" y="5476875"/>
            <a:ext cx="2809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Add residual + normalize</a:t>
            </a:r>
          </a:p>
        </p:txBody>
      </p:sp>
      <p:sp>
        <p:nvSpPr>
          <p:cNvPr id="26" name="">
            <a:extLst xmlns:a="http://schemas.openxmlformats.org/drawingml/2006/main">
              <a:ext uri="{FF2B5EF4-FFF2-40B4-BE49-F238E27FC236}">
                <a16:creationId xmlns:a16="http://schemas.microsoft.com/office/drawing/2014/main" id="{9F0E2E08-4EA7-4F38-BD01-4B1B58AC0E8A}"/>
              </a:ext>
            </a:extLst>
          </p:cNvPr>
          <p:cNvSpPr>
            <a:spLocks xmlns:a="http://schemas.openxmlformats.org/drawingml/2006/main" noGrp="1"/>
          </p:cNvSpPr>
          <p:nvPr/>
        </p:nvSpPr>
        <p:spPr>
          <a:xfrm xmlns:a="http://schemas.openxmlformats.org/drawingml/2006/main">
            <a:off x="8953500" y="12858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Output preparation</a:t>
            </a:r>
          </a:p>
        </p:txBody>
      </p:sp>
      <p:sp>
        <p:nvSpPr>
          <p:cNvPr id="27" name="">
            <a:extLst xmlns:a="http://schemas.openxmlformats.org/drawingml/2006/main">
              <a:ext uri="{FF2B5EF4-FFF2-40B4-BE49-F238E27FC236}">
                <a16:creationId xmlns:a16="http://schemas.microsoft.com/office/drawing/2014/main" id="{BD4AE7BC-08A7-424B-B173-C13231174AF2}"/>
              </a:ext>
            </a:extLst>
          </p:cNvPr>
          <p:cNvSpPr>
            <a:spLocks xmlns:a="http://schemas.openxmlformats.org/drawingml/2006/main" noGrp="1"/>
          </p:cNvSpPr>
          <p:nvPr/>
        </p:nvSpPr>
        <p:spPr>
          <a:xfrm xmlns:a="http://schemas.openxmlformats.org/drawingml/2006/main">
            <a:off x="8953500" y="1952625"/>
            <a:ext cx="2571750" cy="838200"/>
          </a:xfrm>
          <a:prstGeom xmlns:a="http://schemas.openxmlformats.org/drawingml/2006/main" prst="roundRect">
            <a:avLst>
              <a:gd name="adj" fmla="val 9091"/>
            </a:avLst>
          </a:prstGeom>
          <a:solidFill xmlns:a="http://schemas.openxmlformats.org/drawingml/2006/main">
            <a:srgbClr val="F5C7C9"/>
          </a:solidFill>
          <a:ln xmlns:a="http://schemas.openxmlformats.org/drawingml/2006/main" w="0">
            <a:solidFill>
              <a:srgbClr val="F5C7C9"/>
            </a:solidFill>
            <a:prstDash val="solid"/>
          </a:ln>
        </p:spPr>
      </p:sp>
      <p:sp>
        <p:nvSpPr>
          <p:cNvPr id="28" name="">
            <a:extLst xmlns:a="http://schemas.openxmlformats.org/drawingml/2006/main">
              <a:ext uri="{FF2B5EF4-FFF2-40B4-BE49-F238E27FC236}">
                <a16:creationId xmlns:a16="http://schemas.microsoft.com/office/drawing/2014/main" id="{7E830D84-F1E4-44F5-B56B-65E1D3584DCA}"/>
              </a:ext>
            </a:extLst>
          </p:cNvPr>
          <p:cNvSpPr>
            <a:spLocks xmlns:a="http://schemas.openxmlformats.org/drawingml/2006/main" noGrp="1"/>
          </p:cNvSpPr>
          <p:nvPr/>
        </p:nvSpPr>
        <p:spPr>
          <a:xfrm xmlns:a="http://schemas.openxmlformats.org/drawingml/2006/main">
            <a:off x="9105900" y="2047875"/>
            <a:ext cx="2266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Contextual token</a:t>
            </a:r>
          </a:p>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representations</a:t>
            </a:r>
          </a:p>
        </p:txBody>
      </p:sp>
      <p:sp>
        <p:nvSpPr>
          <p:cNvPr id="29" name="">
            <a:extLst xmlns:a="http://schemas.openxmlformats.org/drawingml/2006/main">
              <a:ext uri="{FF2B5EF4-FFF2-40B4-BE49-F238E27FC236}">
                <a16:creationId xmlns:a16="http://schemas.microsoft.com/office/drawing/2014/main" id="{7EE110BF-4946-4CA8-9F53-35DE35776FF9}"/>
              </a:ext>
            </a:extLst>
          </p:cNvPr>
          <p:cNvSpPr>
            <a:spLocks xmlns:a="http://schemas.openxmlformats.org/drawingml/2006/main" noGrp="1"/>
          </p:cNvSpPr>
          <p:nvPr/>
        </p:nvSpPr>
        <p:spPr>
          <a:xfrm xmlns:a="http://schemas.openxmlformats.org/drawingml/2006/main">
            <a:off x="9982200" y="28860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0">
                <a:solidFill>
                  <a:srgbClr val="9AA0A6"/>
                </a:solidFill>
                <a:latin typeface="Google Sans Text"/>
                <a:ea typeface="Google Sans Text"/>
                <a:cs typeface="Google Sans Text"/>
              </a:defRPr>
            </a:pPr>
            <a:r>
              <a:rPr sz="2100" b="0">
                <a:solidFill>
                  <a:srgbClr val="9AA0A6"/>
                </a:solidFill>
                <a:latin typeface="Google Sans Text"/>
                <a:ea typeface="Google Sans Text"/>
                <a:cs typeface="Google Sans Text"/>
              </a:rPr>
              <a:t>↓</a:t>
            </a:r>
          </a:p>
        </p:txBody>
      </p:sp>
      <p:sp>
        <p:nvSpPr>
          <p:cNvPr id="30" name="">
            <a:extLst xmlns:a="http://schemas.openxmlformats.org/drawingml/2006/main">
              <a:ext uri="{FF2B5EF4-FFF2-40B4-BE49-F238E27FC236}">
                <a16:creationId xmlns:a16="http://schemas.microsoft.com/office/drawing/2014/main" id="{3E29D996-4485-4465-BF17-90CB7E92075A}"/>
              </a:ext>
            </a:extLst>
          </p:cNvPr>
          <p:cNvSpPr>
            <a:spLocks xmlns:a="http://schemas.openxmlformats.org/drawingml/2006/main" noGrp="1"/>
          </p:cNvSpPr>
          <p:nvPr/>
        </p:nvSpPr>
        <p:spPr>
          <a:xfrm xmlns:a="http://schemas.openxmlformats.org/drawingml/2006/main">
            <a:off x="8953500" y="3333750"/>
            <a:ext cx="2571750" cy="647700"/>
          </a:xfrm>
          <a:prstGeom xmlns:a="http://schemas.openxmlformats.org/drawingml/2006/main" prst="roundRect">
            <a:avLst>
              <a:gd name="adj" fmla="val 11765"/>
            </a:avLst>
          </a:prstGeom>
          <a:solidFill xmlns:a="http://schemas.openxmlformats.org/drawingml/2006/main">
            <a:srgbClr val="D0E1E5"/>
          </a:solidFill>
          <a:ln xmlns:a="http://schemas.openxmlformats.org/drawingml/2006/main" w="0">
            <a:solidFill>
              <a:srgbClr val="D0E1E5"/>
            </a:solidFill>
            <a:prstDash val="solid"/>
          </a:ln>
        </p:spPr>
      </p:sp>
      <p:sp>
        <p:nvSpPr>
          <p:cNvPr id="31" name="">
            <a:extLst xmlns:a="http://schemas.openxmlformats.org/drawingml/2006/main">
              <a:ext uri="{FF2B5EF4-FFF2-40B4-BE49-F238E27FC236}">
                <a16:creationId xmlns:a16="http://schemas.microsoft.com/office/drawing/2014/main" id="{25A8BD49-B468-471C-BFD6-6FE39C9F1CF0}"/>
              </a:ext>
            </a:extLst>
          </p:cNvPr>
          <p:cNvSpPr>
            <a:spLocks xmlns:a="http://schemas.openxmlformats.org/drawingml/2006/main" noGrp="1"/>
          </p:cNvSpPr>
          <p:nvPr/>
        </p:nvSpPr>
        <p:spPr>
          <a:xfrm xmlns:a="http://schemas.openxmlformats.org/drawingml/2006/main">
            <a:off x="9105900" y="342900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Vocabulary scores</a:t>
            </a:r>
          </a:p>
        </p:txBody>
      </p:sp>
      <p:sp>
        <p:nvSpPr>
          <p:cNvPr id="32" name="">
            <a:extLst xmlns:a="http://schemas.openxmlformats.org/drawingml/2006/main">
              <a:ext uri="{FF2B5EF4-FFF2-40B4-BE49-F238E27FC236}">
                <a16:creationId xmlns:a16="http://schemas.microsoft.com/office/drawing/2014/main" id="{B084DADF-2CC8-43B3-B525-EC2A7F725AD9}"/>
              </a:ext>
            </a:extLst>
          </p:cNvPr>
          <p:cNvSpPr>
            <a:spLocks xmlns:a="http://schemas.openxmlformats.org/drawingml/2006/main" noGrp="1"/>
          </p:cNvSpPr>
          <p:nvPr/>
        </p:nvSpPr>
        <p:spPr>
          <a:xfrm xmlns:a="http://schemas.openxmlformats.org/drawingml/2006/main">
            <a:off x="9982200" y="4076700"/>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0">
                <a:solidFill>
                  <a:srgbClr val="9AA0A6"/>
                </a:solidFill>
                <a:latin typeface="Google Sans Text"/>
                <a:ea typeface="Google Sans Text"/>
                <a:cs typeface="Google Sans Text"/>
              </a:defRPr>
            </a:pPr>
            <a:r>
              <a:rPr sz="2100" b="0">
                <a:solidFill>
                  <a:srgbClr val="9AA0A6"/>
                </a:solidFill>
                <a:latin typeface="Google Sans Text"/>
                <a:ea typeface="Google Sans Text"/>
                <a:cs typeface="Google Sans Text"/>
              </a:rPr>
              <a:t>↓</a:t>
            </a:r>
          </a:p>
        </p:txBody>
      </p:sp>
      <p:sp>
        <p:nvSpPr>
          <p:cNvPr id="33" name="">
            <a:extLst xmlns:a="http://schemas.openxmlformats.org/drawingml/2006/main">
              <a:ext uri="{FF2B5EF4-FFF2-40B4-BE49-F238E27FC236}">
                <a16:creationId xmlns:a16="http://schemas.microsoft.com/office/drawing/2014/main" id="{1B05C924-1623-48C8-81AA-F95FA1E3BC3E}"/>
              </a:ext>
            </a:extLst>
          </p:cNvPr>
          <p:cNvSpPr>
            <a:spLocks xmlns:a="http://schemas.openxmlformats.org/drawingml/2006/main" noGrp="1"/>
          </p:cNvSpPr>
          <p:nvPr/>
        </p:nvSpPr>
        <p:spPr>
          <a:xfrm xmlns:a="http://schemas.openxmlformats.org/drawingml/2006/main">
            <a:off x="8953500" y="4524375"/>
            <a:ext cx="2571750" cy="647700"/>
          </a:xfrm>
          <a:prstGeom xmlns:a="http://schemas.openxmlformats.org/drawingml/2006/main" prst="roundRect">
            <a:avLst>
              <a:gd name="adj" fmla="val 11765"/>
            </a:avLst>
          </a:prstGeom>
          <a:solidFill xmlns:a="http://schemas.openxmlformats.org/drawingml/2006/main">
            <a:srgbClr val="C6DAFC"/>
          </a:solidFill>
          <a:ln xmlns:a="http://schemas.openxmlformats.org/drawingml/2006/main" w="0">
            <a:solidFill>
              <a:srgbClr val="C6DAFC"/>
            </a:solidFill>
            <a:prstDash val="solid"/>
          </a:ln>
        </p:spPr>
      </p:sp>
      <p:sp>
        <p:nvSpPr>
          <p:cNvPr id="34" name="">
            <a:extLst xmlns:a="http://schemas.openxmlformats.org/drawingml/2006/main">
              <a:ext uri="{FF2B5EF4-FFF2-40B4-BE49-F238E27FC236}">
                <a16:creationId xmlns:a16="http://schemas.microsoft.com/office/drawing/2014/main" id="{F99EDCA5-FD6B-4ABE-B025-AA997F1B0A43}"/>
              </a:ext>
            </a:extLst>
          </p:cNvPr>
          <p:cNvSpPr>
            <a:spLocks xmlns:a="http://schemas.openxmlformats.org/drawingml/2006/main" noGrp="1"/>
          </p:cNvSpPr>
          <p:nvPr/>
        </p:nvSpPr>
        <p:spPr>
          <a:xfrm xmlns:a="http://schemas.openxmlformats.org/drawingml/2006/main">
            <a:off x="9105900" y="4619625"/>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Softmax probabilities</a:t>
            </a:r>
          </a:p>
        </p:txBody>
      </p:sp>
      <p:sp>
        <p:nvSpPr>
          <p:cNvPr id="35" name="">
            <a:extLst xmlns:a="http://schemas.openxmlformats.org/drawingml/2006/main">
              <a:ext uri="{FF2B5EF4-FFF2-40B4-BE49-F238E27FC236}">
                <a16:creationId xmlns:a16="http://schemas.microsoft.com/office/drawing/2014/main" id="{4F27DE2F-692D-4F9B-B133-0BC9191D1A15}"/>
              </a:ext>
            </a:extLst>
          </p:cNvPr>
          <p:cNvSpPr>
            <a:spLocks xmlns:a="http://schemas.openxmlformats.org/drawingml/2006/main" noGrp="1"/>
          </p:cNvSpPr>
          <p:nvPr/>
        </p:nvSpPr>
        <p:spPr>
          <a:xfrm xmlns:a="http://schemas.openxmlformats.org/drawingml/2006/main">
            <a:off x="9096375" y="5476875"/>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Select one token, append it, and run the block again.</a:t>
            </a:r>
          </a:p>
        </p:txBody>
      </p:sp>
    </p:spTree>
    <p:extLst>
      <p:ext uri="{BB962C8B-B14F-4D97-AF65-F5344CB8AC3E}">
        <p14:creationId xmlns:p14="http://schemas.microsoft.com/office/powerpoint/2010/main" val="19913398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17EB110-A1FA-4968-848B-FA53D884EBA0}"/>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 user prompt becomes one generated token at a time</a:t>
            </a:r>
          </a:p>
        </p:txBody>
      </p:sp>
      <p:sp>
        <p:nvSpPr>
          <p:cNvPr id="2" name="">
            <a:extLst xmlns:a="http://schemas.openxmlformats.org/drawingml/2006/main">
              <a:ext uri="{FF2B5EF4-FFF2-40B4-BE49-F238E27FC236}">
                <a16:creationId xmlns:a16="http://schemas.microsoft.com/office/drawing/2014/main" id="{C0456680-DE32-4B2B-AA20-C4D21FFC1220}"/>
              </a:ext>
            </a:extLst>
          </p:cNvPr>
          <p:cNvSpPr>
            <a:spLocks xmlns:a="http://schemas.openxmlformats.org/drawingml/2006/main" noGrp="1"/>
          </p:cNvSpPr>
          <p:nvPr/>
        </p:nvSpPr>
        <p:spPr>
          <a:xfrm xmlns:a="http://schemas.openxmlformats.org/drawingml/2006/main">
            <a:off x="1000125" y="1190625"/>
            <a:ext cx="10191750" cy="781050"/>
          </a:xfrm>
          <a:prstGeom xmlns:a="http://schemas.openxmlformats.org/drawingml/2006/main" prst="roundRect">
            <a:avLst>
              <a:gd name="adj" fmla="val 9756"/>
            </a:avLst>
          </a:prstGeom>
          <a:solidFill xmlns:a="http://schemas.openxmlformats.org/drawingml/2006/main">
            <a:srgbClr val="F8F8F8"/>
          </a:solidFill>
          <a:ln xmlns:a="http://schemas.openxmlformats.org/drawingml/2006/main" w="9525">
            <a:solidFill>
              <a:srgbClr val="DADCE0"/>
            </a:solidFill>
            <a:prstDash val="solid"/>
          </a:ln>
        </p:spPr>
      </p:sp>
      <p:sp>
        <p:nvSpPr>
          <p:cNvPr id="3" name="">
            <a:extLst xmlns:a="http://schemas.openxmlformats.org/drawingml/2006/main">
              <a:ext uri="{FF2B5EF4-FFF2-40B4-BE49-F238E27FC236}">
                <a16:creationId xmlns:a16="http://schemas.microsoft.com/office/drawing/2014/main" id="{C3CB8FEF-B6AB-4B39-9B29-EB0FECF4AF60}"/>
              </a:ext>
            </a:extLst>
          </p:cNvPr>
          <p:cNvSpPr>
            <a:spLocks xmlns:a="http://schemas.openxmlformats.org/drawingml/2006/main" noGrp="1"/>
          </p:cNvSpPr>
          <p:nvPr/>
        </p:nvSpPr>
        <p:spPr>
          <a:xfrm xmlns:a="http://schemas.openxmlformats.org/drawingml/2006/main">
            <a:off x="1381125" y="14097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User prompt: “Summarize: The campus library will close at 8 PM during exams.”</a:t>
            </a:r>
          </a:p>
        </p:txBody>
      </p:sp>
      <p:sp>
        <p:nvSpPr>
          <p:cNvPr id="4" name="">
            <a:extLst xmlns:a="http://schemas.openxmlformats.org/drawingml/2006/main">
              <a:ext uri="{FF2B5EF4-FFF2-40B4-BE49-F238E27FC236}">
                <a16:creationId xmlns:a16="http://schemas.microsoft.com/office/drawing/2014/main" id="{0EB3355F-CD96-4DE8-959E-0B2CDF9C743C}"/>
              </a:ext>
            </a:extLst>
          </p:cNvPr>
          <p:cNvSpPr>
            <a:spLocks xmlns:a="http://schemas.openxmlformats.org/drawingml/2006/main" noGrp="1"/>
          </p:cNvSpPr>
          <p:nvPr/>
        </p:nvSpPr>
        <p:spPr>
          <a:xfrm xmlns:a="http://schemas.openxmlformats.org/drawingml/2006/main">
            <a:off x="457200" y="2476500"/>
            <a:ext cx="2000250" cy="1905000"/>
          </a:xfrm>
          <a:prstGeom xmlns:a="http://schemas.openxmlformats.org/drawingml/2006/main" prst="roundRect">
            <a:avLst>
              <a:gd name="adj" fmla="val 4000"/>
            </a:avLst>
          </a:prstGeom>
          <a:solidFill xmlns:a="http://schemas.openxmlformats.org/drawingml/2006/main">
            <a:srgbClr val="C6DAFC"/>
          </a:solidFill>
          <a:ln xmlns:a="http://schemas.openxmlformats.org/drawingml/2006/main" w="0">
            <a:solidFill>
              <a:srgbClr val="C6DAFC"/>
            </a:solidFill>
            <a:prstDash val="solid"/>
          </a:ln>
        </p:spPr>
      </p:sp>
      <p:sp>
        <p:nvSpPr>
          <p:cNvPr id="5" name="">
            <a:extLst xmlns:a="http://schemas.openxmlformats.org/drawingml/2006/main">
              <a:ext uri="{FF2B5EF4-FFF2-40B4-BE49-F238E27FC236}">
                <a16:creationId xmlns:a16="http://schemas.microsoft.com/office/drawing/2014/main" id="{CBB961B3-1946-4A9D-8BC2-6498CE67FEEE}"/>
              </a:ext>
            </a:extLst>
          </p:cNvPr>
          <p:cNvSpPr>
            <a:spLocks xmlns:a="http://schemas.openxmlformats.org/drawingml/2006/main" noGrp="1"/>
          </p:cNvSpPr>
          <p:nvPr/>
        </p:nvSpPr>
        <p:spPr>
          <a:xfrm xmlns:a="http://schemas.openxmlformats.org/drawingml/2006/main">
            <a:off x="1200150" y="2657475"/>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1</a:t>
            </a:r>
          </a:p>
        </p:txBody>
      </p:sp>
      <p:sp>
        <p:nvSpPr>
          <p:cNvPr id="6" name="">
            <a:extLst xmlns:a="http://schemas.openxmlformats.org/drawingml/2006/main">
              <a:ext uri="{FF2B5EF4-FFF2-40B4-BE49-F238E27FC236}">
                <a16:creationId xmlns:a16="http://schemas.microsoft.com/office/drawing/2014/main" id="{2456BF09-F1E5-4AD0-8323-EE742C2792FD}"/>
              </a:ext>
            </a:extLst>
          </p:cNvPr>
          <p:cNvSpPr>
            <a:spLocks xmlns:a="http://schemas.openxmlformats.org/drawingml/2006/main" noGrp="1"/>
          </p:cNvSpPr>
          <p:nvPr/>
        </p:nvSpPr>
        <p:spPr>
          <a:xfrm xmlns:a="http://schemas.openxmlformats.org/drawingml/2006/main">
            <a:off x="600075" y="3333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Tokenize</a:t>
            </a:r>
          </a:p>
        </p:txBody>
      </p:sp>
      <p:sp>
        <p:nvSpPr>
          <p:cNvPr id="7" name="">
            <a:extLst xmlns:a="http://schemas.openxmlformats.org/drawingml/2006/main">
              <a:ext uri="{FF2B5EF4-FFF2-40B4-BE49-F238E27FC236}">
                <a16:creationId xmlns:a16="http://schemas.microsoft.com/office/drawing/2014/main" id="{06C37818-2914-423D-AAE7-2018EAF15E93}"/>
              </a:ext>
            </a:extLst>
          </p:cNvPr>
          <p:cNvSpPr>
            <a:spLocks xmlns:a="http://schemas.openxmlformats.org/drawingml/2006/main" noGrp="1"/>
          </p:cNvSpPr>
          <p:nvPr/>
        </p:nvSpPr>
        <p:spPr>
          <a:xfrm xmlns:a="http://schemas.openxmlformats.org/drawingml/2006/main">
            <a:off x="628650" y="385762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Split the prompt into token IDs</a:t>
            </a:r>
          </a:p>
        </p:txBody>
      </p:sp>
      <p:sp>
        <p:nvSpPr>
          <p:cNvPr id="8" name="">
            <a:extLst xmlns:a="http://schemas.openxmlformats.org/drawingml/2006/main">
              <a:ext uri="{FF2B5EF4-FFF2-40B4-BE49-F238E27FC236}">
                <a16:creationId xmlns:a16="http://schemas.microsoft.com/office/drawing/2014/main" id="{63D0ACCA-1C0D-4693-855C-406390EE9009}"/>
              </a:ext>
            </a:extLst>
          </p:cNvPr>
          <p:cNvSpPr>
            <a:spLocks xmlns:a="http://schemas.openxmlformats.org/drawingml/2006/main" noGrp="1"/>
          </p:cNvSpPr>
          <p:nvPr/>
        </p:nvSpPr>
        <p:spPr>
          <a:xfrm xmlns:a="http://schemas.openxmlformats.org/drawingml/2006/main">
            <a:off x="2457450" y="3190875"/>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625" b="0">
                <a:solidFill>
                  <a:srgbClr val="9AA0A6"/>
                </a:solidFill>
                <a:latin typeface="Google Sans Text"/>
                <a:ea typeface="Google Sans Text"/>
                <a:cs typeface="Google Sans Text"/>
              </a:defRPr>
            </a:pPr>
            <a:r>
              <a:rPr sz="2625" b="0">
                <a:solidFill>
                  <a:srgbClr val="9AA0A6"/>
                </a:solidFill>
                <a:latin typeface="Google Sans Text"/>
                <a:ea typeface="Google Sans Text"/>
                <a:cs typeface="Google Sans Text"/>
              </a:rPr>
              <a:t>›</a:t>
            </a:r>
          </a:p>
        </p:txBody>
      </p:sp>
      <p:sp>
        <p:nvSpPr>
          <p:cNvPr id="9" name="">
            <a:extLst xmlns:a="http://schemas.openxmlformats.org/drawingml/2006/main">
              <a:ext uri="{FF2B5EF4-FFF2-40B4-BE49-F238E27FC236}">
                <a16:creationId xmlns:a16="http://schemas.microsoft.com/office/drawing/2014/main" id="{5B3A7853-892A-49BF-92C7-CCB766A8984E}"/>
              </a:ext>
            </a:extLst>
          </p:cNvPr>
          <p:cNvSpPr>
            <a:spLocks xmlns:a="http://schemas.openxmlformats.org/drawingml/2006/main" noGrp="1"/>
          </p:cNvSpPr>
          <p:nvPr/>
        </p:nvSpPr>
        <p:spPr>
          <a:xfrm xmlns:a="http://schemas.openxmlformats.org/drawingml/2006/main">
            <a:off x="2800350" y="2476500"/>
            <a:ext cx="2000250" cy="1905000"/>
          </a:xfrm>
          <a:prstGeom xmlns:a="http://schemas.openxmlformats.org/drawingml/2006/main" prst="roundRect">
            <a:avLst>
              <a:gd name="adj" fmla="val 4000"/>
            </a:avLst>
          </a:prstGeom>
          <a:solidFill xmlns:a="http://schemas.openxmlformats.org/drawingml/2006/main">
            <a:srgbClr val="FDEFC3"/>
          </a:solidFill>
          <a:ln xmlns:a="http://schemas.openxmlformats.org/drawingml/2006/main" w="0">
            <a:solidFill>
              <a:srgbClr val="FDEFC3"/>
            </a:solidFill>
            <a:prstDash val="solid"/>
          </a:ln>
        </p:spPr>
      </p:sp>
      <p:sp>
        <p:nvSpPr>
          <p:cNvPr id="10" name="">
            <a:extLst xmlns:a="http://schemas.openxmlformats.org/drawingml/2006/main">
              <a:ext uri="{FF2B5EF4-FFF2-40B4-BE49-F238E27FC236}">
                <a16:creationId xmlns:a16="http://schemas.microsoft.com/office/drawing/2014/main" id="{184F84FC-FBC5-4938-A2B4-81732C30F9BE}"/>
              </a:ext>
            </a:extLst>
          </p:cNvPr>
          <p:cNvSpPr>
            <a:spLocks xmlns:a="http://schemas.openxmlformats.org/drawingml/2006/main" noGrp="1"/>
          </p:cNvSpPr>
          <p:nvPr/>
        </p:nvSpPr>
        <p:spPr>
          <a:xfrm xmlns:a="http://schemas.openxmlformats.org/drawingml/2006/main">
            <a:off x="3543300" y="2657475"/>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2</a:t>
            </a:r>
          </a:p>
        </p:txBody>
      </p:sp>
      <p:sp>
        <p:nvSpPr>
          <p:cNvPr id="11" name="">
            <a:extLst xmlns:a="http://schemas.openxmlformats.org/drawingml/2006/main">
              <a:ext uri="{FF2B5EF4-FFF2-40B4-BE49-F238E27FC236}">
                <a16:creationId xmlns:a16="http://schemas.microsoft.com/office/drawing/2014/main" id="{548443C1-20AF-4F85-8FCE-1866E61937F2}"/>
              </a:ext>
            </a:extLst>
          </p:cNvPr>
          <p:cNvSpPr>
            <a:spLocks xmlns:a="http://schemas.openxmlformats.org/drawingml/2006/main" noGrp="1"/>
          </p:cNvSpPr>
          <p:nvPr/>
        </p:nvSpPr>
        <p:spPr>
          <a:xfrm xmlns:a="http://schemas.openxmlformats.org/drawingml/2006/main">
            <a:off x="2943225" y="3333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Embed + position</a:t>
            </a:r>
          </a:p>
        </p:txBody>
      </p:sp>
      <p:sp>
        <p:nvSpPr>
          <p:cNvPr id="12" name="">
            <a:extLst xmlns:a="http://schemas.openxmlformats.org/drawingml/2006/main">
              <a:ext uri="{FF2B5EF4-FFF2-40B4-BE49-F238E27FC236}">
                <a16:creationId xmlns:a16="http://schemas.microsoft.com/office/drawing/2014/main" id="{DB7AF702-9FEC-48BA-ADAE-6421B12012AD}"/>
              </a:ext>
            </a:extLst>
          </p:cNvPr>
          <p:cNvSpPr>
            <a:spLocks xmlns:a="http://schemas.openxmlformats.org/drawingml/2006/main" noGrp="1"/>
          </p:cNvSpPr>
          <p:nvPr/>
        </p:nvSpPr>
        <p:spPr>
          <a:xfrm xmlns:a="http://schemas.openxmlformats.org/drawingml/2006/main">
            <a:off x="2971800" y="385762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Represent meaning and order</a:t>
            </a:r>
          </a:p>
        </p:txBody>
      </p:sp>
      <p:sp>
        <p:nvSpPr>
          <p:cNvPr id="13" name="">
            <a:extLst xmlns:a="http://schemas.openxmlformats.org/drawingml/2006/main">
              <a:ext uri="{FF2B5EF4-FFF2-40B4-BE49-F238E27FC236}">
                <a16:creationId xmlns:a16="http://schemas.microsoft.com/office/drawing/2014/main" id="{1FB8564F-A794-4774-BEE1-978F017E8C64}"/>
              </a:ext>
            </a:extLst>
          </p:cNvPr>
          <p:cNvSpPr>
            <a:spLocks xmlns:a="http://schemas.openxmlformats.org/drawingml/2006/main" noGrp="1"/>
          </p:cNvSpPr>
          <p:nvPr/>
        </p:nvSpPr>
        <p:spPr>
          <a:xfrm xmlns:a="http://schemas.openxmlformats.org/drawingml/2006/main">
            <a:off x="4800600" y="3190875"/>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625" b="0">
                <a:solidFill>
                  <a:srgbClr val="9AA0A6"/>
                </a:solidFill>
                <a:latin typeface="Google Sans Text"/>
                <a:ea typeface="Google Sans Text"/>
                <a:cs typeface="Google Sans Text"/>
              </a:defRPr>
            </a:pPr>
            <a:r>
              <a:rPr sz="2625" b="0">
                <a:solidFill>
                  <a:srgbClr val="9AA0A6"/>
                </a:solidFill>
                <a:latin typeface="Google Sans Text"/>
                <a:ea typeface="Google Sans Text"/>
                <a:cs typeface="Google Sans Text"/>
              </a:rPr>
              <a:t>›</a:t>
            </a:r>
          </a:p>
        </p:txBody>
      </p:sp>
      <p:sp>
        <p:nvSpPr>
          <p:cNvPr id="14" name="">
            <a:extLst xmlns:a="http://schemas.openxmlformats.org/drawingml/2006/main">
              <a:ext uri="{FF2B5EF4-FFF2-40B4-BE49-F238E27FC236}">
                <a16:creationId xmlns:a16="http://schemas.microsoft.com/office/drawing/2014/main" id="{5A9CABAD-AB01-433E-B6A7-3AF93A46E33D}"/>
              </a:ext>
            </a:extLst>
          </p:cNvPr>
          <p:cNvSpPr>
            <a:spLocks xmlns:a="http://schemas.openxmlformats.org/drawingml/2006/main" noGrp="1"/>
          </p:cNvSpPr>
          <p:nvPr/>
        </p:nvSpPr>
        <p:spPr>
          <a:xfrm xmlns:a="http://schemas.openxmlformats.org/drawingml/2006/main">
            <a:off x="5143500" y="2476500"/>
            <a:ext cx="2000250" cy="1905000"/>
          </a:xfrm>
          <a:prstGeom xmlns:a="http://schemas.openxmlformats.org/drawingml/2006/main" prst="roundRect">
            <a:avLst>
              <a:gd name="adj" fmla="val 4000"/>
            </a:avLst>
          </a:prstGeom>
          <a:solidFill xmlns:a="http://schemas.openxmlformats.org/drawingml/2006/main">
            <a:srgbClr val="F5C7C9"/>
          </a:solidFill>
          <a:ln xmlns:a="http://schemas.openxmlformats.org/drawingml/2006/main" w="0">
            <a:solidFill>
              <a:srgbClr val="F5C7C9"/>
            </a:solidFill>
            <a:prstDash val="solid"/>
          </a:ln>
        </p:spPr>
      </p:sp>
      <p:sp>
        <p:nvSpPr>
          <p:cNvPr id="15" name="">
            <a:extLst xmlns:a="http://schemas.openxmlformats.org/drawingml/2006/main">
              <a:ext uri="{FF2B5EF4-FFF2-40B4-BE49-F238E27FC236}">
                <a16:creationId xmlns:a16="http://schemas.microsoft.com/office/drawing/2014/main" id="{461A2127-9DC7-4C46-9E08-9B15090D5467}"/>
              </a:ext>
            </a:extLst>
          </p:cNvPr>
          <p:cNvSpPr>
            <a:spLocks xmlns:a="http://schemas.openxmlformats.org/drawingml/2006/main" noGrp="1"/>
          </p:cNvSpPr>
          <p:nvPr/>
        </p:nvSpPr>
        <p:spPr>
          <a:xfrm xmlns:a="http://schemas.openxmlformats.org/drawingml/2006/main">
            <a:off x="5886450" y="2657475"/>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3</a:t>
            </a:r>
          </a:p>
        </p:txBody>
      </p:sp>
      <p:sp>
        <p:nvSpPr>
          <p:cNvPr id="16" name="">
            <a:extLst xmlns:a="http://schemas.openxmlformats.org/drawingml/2006/main">
              <a:ext uri="{FF2B5EF4-FFF2-40B4-BE49-F238E27FC236}">
                <a16:creationId xmlns:a16="http://schemas.microsoft.com/office/drawing/2014/main" id="{8463488E-3908-4470-80C1-BE61DB55E6C3}"/>
              </a:ext>
            </a:extLst>
          </p:cNvPr>
          <p:cNvSpPr>
            <a:spLocks xmlns:a="http://schemas.openxmlformats.org/drawingml/2006/main" noGrp="1"/>
          </p:cNvSpPr>
          <p:nvPr/>
        </p:nvSpPr>
        <p:spPr>
          <a:xfrm xmlns:a="http://schemas.openxmlformats.org/drawingml/2006/main">
            <a:off x="5286375" y="3333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Run decoder layers</a:t>
            </a:r>
          </a:p>
        </p:txBody>
      </p:sp>
      <p:sp>
        <p:nvSpPr>
          <p:cNvPr id="17" name="">
            <a:extLst xmlns:a="http://schemas.openxmlformats.org/drawingml/2006/main">
              <a:ext uri="{FF2B5EF4-FFF2-40B4-BE49-F238E27FC236}">
                <a16:creationId xmlns:a16="http://schemas.microsoft.com/office/drawing/2014/main" id="{B7AE6C7C-890A-4141-B94D-10D55FBAC7D3}"/>
              </a:ext>
            </a:extLst>
          </p:cNvPr>
          <p:cNvSpPr>
            <a:spLocks xmlns:a="http://schemas.openxmlformats.org/drawingml/2006/main" noGrp="1"/>
          </p:cNvSpPr>
          <p:nvPr/>
        </p:nvSpPr>
        <p:spPr>
          <a:xfrm xmlns:a="http://schemas.openxmlformats.org/drawingml/2006/main">
            <a:off x="5314950" y="385762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Attention mixes relevant earlier context</a:t>
            </a:r>
          </a:p>
        </p:txBody>
      </p:sp>
      <p:sp>
        <p:nvSpPr>
          <p:cNvPr id="18" name="">
            <a:extLst xmlns:a="http://schemas.openxmlformats.org/drawingml/2006/main">
              <a:ext uri="{FF2B5EF4-FFF2-40B4-BE49-F238E27FC236}">
                <a16:creationId xmlns:a16="http://schemas.microsoft.com/office/drawing/2014/main" id="{D7C7A180-B147-4B1B-A3CB-23EA2DE733B1}"/>
              </a:ext>
            </a:extLst>
          </p:cNvPr>
          <p:cNvSpPr>
            <a:spLocks xmlns:a="http://schemas.openxmlformats.org/drawingml/2006/main" noGrp="1"/>
          </p:cNvSpPr>
          <p:nvPr/>
        </p:nvSpPr>
        <p:spPr>
          <a:xfrm xmlns:a="http://schemas.openxmlformats.org/drawingml/2006/main">
            <a:off x="7143750" y="3190875"/>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625" b="0">
                <a:solidFill>
                  <a:srgbClr val="9AA0A6"/>
                </a:solidFill>
                <a:latin typeface="Google Sans Text"/>
                <a:ea typeface="Google Sans Text"/>
                <a:cs typeface="Google Sans Text"/>
              </a:defRPr>
            </a:pPr>
            <a:r>
              <a:rPr sz="2625" b="0">
                <a:solidFill>
                  <a:srgbClr val="9AA0A6"/>
                </a:solidFill>
                <a:latin typeface="Google Sans Text"/>
                <a:ea typeface="Google Sans Text"/>
                <a:cs typeface="Google Sans Text"/>
              </a:rPr>
              <a:t>›</a:t>
            </a:r>
          </a:p>
        </p:txBody>
      </p:sp>
      <p:sp>
        <p:nvSpPr>
          <p:cNvPr id="19" name="">
            <a:extLst xmlns:a="http://schemas.openxmlformats.org/drawingml/2006/main">
              <a:ext uri="{FF2B5EF4-FFF2-40B4-BE49-F238E27FC236}">
                <a16:creationId xmlns:a16="http://schemas.microsoft.com/office/drawing/2014/main" id="{FFADA187-6B9D-446E-B7AC-53CEE94137E2}"/>
              </a:ext>
            </a:extLst>
          </p:cNvPr>
          <p:cNvSpPr>
            <a:spLocks xmlns:a="http://schemas.openxmlformats.org/drawingml/2006/main" noGrp="1"/>
          </p:cNvSpPr>
          <p:nvPr/>
        </p:nvSpPr>
        <p:spPr>
          <a:xfrm xmlns:a="http://schemas.openxmlformats.org/drawingml/2006/main">
            <a:off x="7486650" y="2476500"/>
            <a:ext cx="2000250" cy="1905000"/>
          </a:xfrm>
          <a:prstGeom xmlns:a="http://schemas.openxmlformats.org/drawingml/2006/main" prst="roundRect">
            <a:avLst>
              <a:gd name="adj" fmla="val 4000"/>
            </a:avLst>
          </a:prstGeom>
          <a:solidFill xmlns:a="http://schemas.openxmlformats.org/drawingml/2006/main">
            <a:srgbClr val="D0E1E5"/>
          </a:solidFill>
          <a:ln xmlns:a="http://schemas.openxmlformats.org/drawingml/2006/main" w="0">
            <a:solidFill>
              <a:srgbClr val="D0E1E5"/>
            </a:solidFill>
            <a:prstDash val="solid"/>
          </a:ln>
        </p:spPr>
      </p:sp>
      <p:sp>
        <p:nvSpPr>
          <p:cNvPr id="20" name="">
            <a:extLst xmlns:a="http://schemas.openxmlformats.org/drawingml/2006/main">
              <a:ext uri="{FF2B5EF4-FFF2-40B4-BE49-F238E27FC236}">
                <a16:creationId xmlns:a16="http://schemas.microsoft.com/office/drawing/2014/main" id="{05786146-2617-4603-9FD0-6C934C36D0C7}"/>
              </a:ext>
            </a:extLst>
          </p:cNvPr>
          <p:cNvSpPr>
            <a:spLocks xmlns:a="http://schemas.openxmlformats.org/drawingml/2006/main" noGrp="1"/>
          </p:cNvSpPr>
          <p:nvPr/>
        </p:nvSpPr>
        <p:spPr>
          <a:xfrm xmlns:a="http://schemas.openxmlformats.org/drawingml/2006/main">
            <a:off x="8229600" y="2657475"/>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4</a:t>
            </a:r>
          </a:p>
        </p:txBody>
      </p:sp>
      <p:sp>
        <p:nvSpPr>
          <p:cNvPr id="21" name="">
            <a:extLst xmlns:a="http://schemas.openxmlformats.org/drawingml/2006/main">
              <a:ext uri="{FF2B5EF4-FFF2-40B4-BE49-F238E27FC236}">
                <a16:creationId xmlns:a16="http://schemas.microsoft.com/office/drawing/2014/main" id="{2C98AC14-DE33-47DA-8CFF-F9506C1B339A}"/>
              </a:ext>
            </a:extLst>
          </p:cNvPr>
          <p:cNvSpPr>
            <a:spLocks xmlns:a="http://schemas.openxmlformats.org/drawingml/2006/main" noGrp="1"/>
          </p:cNvSpPr>
          <p:nvPr/>
        </p:nvSpPr>
        <p:spPr>
          <a:xfrm xmlns:a="http://schemas.openxmlformats.org/drawingml/2006/main">
            <a:off x="7629525" y="3333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Rank next tokens</a:t>
            </a:r>
          </a:p>
        </p:txBody>
      </p:sp>
      <p:sp>
        <p:nvSpPr>
          <p:cNvPr id="22" name="">
            <a:extLst xmlns:a="http://schemas.openxmlformats.org/drawingml/2006/main">
              <a:ext uri="{FF2B5EF4-FFF2-40B4-BE49-F238E27FC236}">
                <a16:creationId xmlns:a16="http://schemas.microsoft.com/office/drawing/2014/main" id="{FA23720A-E073-48A1-99CA-316A46431AAF}"/>
              </a:ext>
            </a:extLst>
          </p:cNvPr>
          <p:cNvSpPr>
            <a:spLocks xmlns:a="http://schemas.openxmlformats.org/drawingml/2006/main" noGrp="1"/>
          </p:cNvSpPr>
          <p:nvPr/>
        </p:nvSpPr>
        <p:spPr>
          <a:xfrm xmlns:a="http://schemas.openxmlformats.org/drawingml/2006/main">
            <a:off x="7658100" y="385762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Projection + softmax create probabilities</a:t>
            </a:r>
          </a:p>
        </p:txBody>
      </p:sp>
      <p:sp>
        <p:nvSpPr>
          <p:cNvPr id="23" name="">
            <a:extLst xmlns:a="http://schemas.openxmlformats.org/drawingml/2006/main">
              <a:ext uri="{FF2B5EF4-FFF2-40B4-BE49-F238E27FC236}">
                <a16:creationId xmlns:a16="http://schemas.microsoft.com/office/drawing/2014/main" id="{8A5D1FB2-C3F6-4361-A053-9B7B26CE020C}"/>
              </a:ext>
            </a:extLst>
          </p:cNvPr>
          <p:cNvSpPr>
            <a:spLocks xmlns:a="http://schemas.openxmlformats.org/drawingml/2006/main" noGrp="1"/>
          </p:cNvSpPr>
          <p:nvPr/>
        </p:nvSpPr>
        <p:spPr>
          <a:xfrm xmlns:a="http://schemas.openxmlformats.org/drawingml/2006/main">
            <a:off x="9486900" y="3190875"/>
            <a:ext cx="323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625" b="0">
                <a:solidFill>
                  <a:srgbClr val="9AA0A6"/>
                </a:solidFill>
                <a:latin typeface="Google Sans Text"/>
                <a:ea typeface="Google Sans Text"/>
                <a:cs typeface="Google Sans Text"/>
              </a:defRPr>
            </a:pPr>
            <a:r>
              <a:rPr sz="2625" b="0">
                <a:solidFill>
                  <a:srgbClr val="9AA0A6"/>
                </a:solidFill>
                <a:latin typeface="Google Sans Text"/>
                <a:ea typeface="Google Sans Text"/>
                <a:cs typeface="Google Sans Text"/>
              </a:rPr>
              <a:t>›</a:t>
            </a:r>
          </a:p>
        </p:txBody>
      </p:sp>
      <p:sp>
        <p:nvSpPr>
          <p:cNvPr id="24" name="">
            <a:extLst xmlns:a="http://schemas.openxmlformats.org/drawingml/2006/main">
              <a:ext uri="{FF2B5EF4-FFF2-40B4-BE49-F238E27FC236}">
                <a16:creationId xmlns:a16="http://schemas.microsoft.com/office/drawing/2014/main" id="{C8323F76-EFBE-4814-8100-01B739816687}"/>
              </a:ext>
            </a:extLst>
          </p:cNvPr>
          <p:cNvSpPr>
            <a:spLocks xmlns:a="http://schemas.openxmlformats.org/drawingml/2006/main" noGrp="1"/>
          </p:cNvSpPr>
          <p:nvPr/>
        </p:nvSpPr>
        <p:spPr>
          <a:xfrm xmlns:a="http://schemas.openxmlformats.org/drawingml/2006/main">
            <a:off x="9829800" y="2476500"/>
            <a:ext cx="2000250" cy="1905000"/>
          </a:xfrm>
          <a:prstGeom xmlns:a="http://schemas.openxmlformats.org/drawingml/2006/main" prst="roundRect">
            <a:avLst>
              <a:gd name="adj" fmla="val 4000"/>
            </a:avLst>
          </a:prstGeom>
          <a:solidFill xmlns:a="http://schemas.openxmlformats.org/drawingml/2006/main">
            <a:srgbClr val="C6DAFC"/>
          </a:solidFill>
          <a:ln xmlns:a="http://schemas.openxmlformats.org/drawingml/2006/main" w="0">
            <a:solidFill>
              <a:srgbClr val="C6DAFC"/>
            </a:solidFill>
            <a:prstDash val="solid"/>
          </a:ln>
        </p:spPr>
      </p:sp>
      <p:sp>
        <p:nvSpPr>
          <p:cNvPr id="25" name="">
            <a:extLst xmlns:a="http://schemas.openxmlformats.org/drawingml/2006/main">
              <a:ext uri="{FF2B5EF4-FFF2-40B4-BE49-F238E27FC236}">
                <a16:creationId xmlns:a16="http://schemas.microsoft.com/office/drawing/2014/main" id="{13DA7D9D-75CF-4CB6-AA17-334F437C5561}"/>
              </a:ext>
            </a:extLst>
          </p:cNvPr>
          <p:cNvSpPr>
            <a:spLocks xmlns:a="http://schemas.openxmlformats.org/drawingml/2006/main" noGrp="1"/>
          </p:cNvSpPr>
          <p:nvPr/>
        </p:nvSpPr>
        <p:spPr>
          <a:xfrm xmlns:a="http://schemas.openxmlformats.org/drawingml/2006/main">
            <a:off x="10572750" y="2657475"/>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5</a:t>
            </a:r>
          </a:p>
        </p:txBody>
      </p:sp>
      <p:sp>
        <p:nvSpPr>
          <p:cNvPr id="26" name="">
            <a:extLst xmlns:a="http://schemas.openxmlformats.org/drawingml/2006/main">
              <a:ext uri="{FF2B5EF4-FFF2-40B4-BE49-F238E27FC236}">
                <a16:creationId xmlns:a16="http://schemas.microsoft.com/office/drawing/2014/main" id="{406ABF51-4230-46EF-A88F-7FB1D4631F22}"/>
              </a:ext>
            </a:extLst>
          </p:cNvPr>
          <p:cNvSpPr>
            <a:spLocks xmlns:a="http://schemas.openxmlformats.org/drawingml/2006/main" noGrp="1"/>
          </p:cNvSpPr>
          <p:nvPr/>
        </p:nvSpPr>
        <p:spPr>
          <a:xfrm xmlns:a="http://schemas.openxmlformats.org/drawingml/2006/main">
            <a:off x="9972675" y="3333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Select + append</a:t>
            </a:r>
          </a:p>
        </p:txBody>
      </p:sp>
      <p:sp>
        <p:nvSpPr>
          <p:cNvPr id="27" name="">
            <a:extLst xmlns:a="http://schemas.openxmlformats.org/drawingml/2006/main">
              <a:ext uri="{FF2B5EF4-FFF2-40B4-BE49-F238E27FC236}">
                <a16:creationId xmlns:a16="http://schemas.microsoft.com/office/drawing/2014/main" id="{AFC211E2-CCAD-44C1-B530-AE194BF56B1E}"/>
              </a:ext>
            </a:extLst>
          </p:cNvPr>
          <p:cNvSpPr>
            <a:spLocks xmlns:a="http://schemas.openxmlformats.org/drawingml/2006/main" noGrp="1"/>
          </p:cNvSpPr>
          <p:nvPr/>
        </p:nvSpPr>
        <p:spPr>
          <a:xfrm xmlns:a="http://schemas.openxmlformats.org/drawingml/2006/main">
            <a:off x="10001250" y="3857625"/>
            <a:ext cx="1657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163" b="0">
                <a:solidFill>
                  <a:srgbClr val="000000"/>
                </a:solidFill>
                <a:latin typeface="Google Sans Text"/>
                <a:ea typeface="Google Sans Text"/>
                <a:cs typeface="Google Sans Text"/>
              </a:defRPr>
            </a:pPr>
            <a:r>
              <a:rPr sz="1163" b="0">
                <a:solidFill>
                  <a:srgbClr val="000000"/>
                </a:solidFill>
                <a:latin typeface="Google Sans Text"/>
                <a:ea typeface="Google Sans Text"/>
                <a:cs typeface="Google Sans Text"/>
              </a:rPr>
              <a:t>Add one token and repeat</a:t>
            </a:r>
          </a:p>
        </p:txBody>
      </p:sp>
      <p:sp>
        <p:nvSpPr>
          <p:cNvPr id="28" name="">
            <a:extLst xmlns:a="http://schemas.openxmlformats.org/drawingml/2006/main">
              <a:ext uri="{FF2B5EF4-FFF2-40B4-BE49-F238E27FC236}">
                <a16:creationId xmlns:a16="http://schemas.microsoft.com/office/drawing/2014/main" id="{C069F5BC-3F59-4189-B2E7-8F0075D6BFCB}"/>
              </a:ext>
            </a:extLst>
          </p:cNvPr>
          <p:cNvSpPr>
            <a:spLocks xmlns:a="http://schemas.openxmlformats.org/drawingml/2006/main" noGrp="1"/>
          </p:cNvSpPr>
          <p:nvPr/>
        </p:nvSpPr>
        <p:spPr>
          <a:xfrm xmlns:a="http://schemas.openxmlformats.org/drawingml/2006/main">
            <a:off x="1190625" y="5000625"/>
            <a:ext cx="9810750" cy="1028700"/>
          </a:xfrm>
          <a:prstGeom xmlns:a="http://schemas.openxmlformats.org/drawingml/2006/main" prst="roundRect">
            <a:avLst>
              <a:gd name="adj" fmla="val 7407"/>
            </a:avLst>
          </a:prstGeom>
          <a:solidFill xmlns:a="http://schemas.openxmlformats.org/drawingml/2006/main">
            <a:srgbClr val="F8F8F8"/>
          </a:solidFill>
          <a:ln xmlns:a="http://schemas.openxmlformats.org/drawingml/2006/main" w="9525">
            <a:solidFill>
              <a:srgbClr val="DADCE0"/>
            </a:solidFill>
            <a:prstDash val="solid"/>
          </a:ln>
        </p:spPr>
      </p:sp>
      <p:sp>
        <p:nvSpPr>
          <p:cNvPr id="29" name="">
            <a:extLst xmlns:a="http://schemas.openxmlformats.org/drawingml/2006/main">
              <a:ext uri="{FF2B5EF4-FFF2-40B4-BE49-F238E27FC236}">
                <a16:creationId xmlns:a16="http://schemas.microsoft.com/office/drawing/2014/main" id="{6E40F3E3-DDA8-4A6B-A65D-AFF34DE00B73}"/>
              </a:ext>
            </a:extLst>
          </p:cNvPr>
          <p:cNvSpPr>
            <a:spLocks xmlns:a="http://schemas.openxmlformats.org/drawingml/2006/main" noGrp="1"/>
          </p:cNvSpPr>
          <p:nvPr/>
        </p:nvSpPr>
        <p:spPr>
          <a:xfrm xmlns:a="http://schemas.openxmlformats.org/drawingml/2006/main">
            <a:off x="1571625" y="519112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98"/>
          </a:bodyPr>
          <a:lstStyle xmlns:a="http://schemas.openxmlformats.org/drawingml/2006/main"/>
          <a:p xmlns:a="http://schemas.openxmlformats.org/drawingml/2006/main">
            <a:pPr algn="ctr">
              <a:buNone/>
              <a:defRPr sz="1463" b="1">
                <a:solidFill>
                  <a:srgbClr val="000000"/>
                </a:solidFill>
                <a:latin typeface="Google Sans Medium"/>
                <a:ea typeface="Google Sans Medium"/>
                <a:cs typeface="Google Sans Medium"/>
              </a:defRPr>
            </a:pPr>
            <a:r>
              <a:rPr sz="1463" b="1">
                <a:solidFill>
                  <a:srgbClr val="000000"/>
                </a:solidFill>
                <a:latin typeface="Google Sans Medium"/>
                <a:ea typeface="Google Sans Medium"/>
                <a:cs typeface="Google Sans Medium"/>
              </a:rPr>
              <a:t>While producing “8”, masked self-attention can emphasize earlier tokens such as “library”, “close”, and “8 PM”.</a:t>
            </a:r>
          </a:p>
        </p:txBody>
      </p:sp>
      <p:sp>
        <p:nvSpPr>
          <p:cNvPr id="30" name="">
            <a:extLst xmlns:a="http://schemas.openxmlformats.org/drawingml/2006/main">
              <a:ext uri="{FF2B5EF4-FFF2-40B4-BE49-F238E27FC236}">
                <a16:creationId xmlns:a16="http://schemas.microsoft.com/office/drawing/2014/main" id="{5388A350-4230-4845-91C3-5AF610C4C299}"/>
              </a:ext>
            </a:extLst>
          </p:cNvPr>
          <p:cNvSpPr>
            <a:spLocks xmlns:a="http://schemas.openxmlformats.org/drawingml/2006/main" noGrp="1"/>
          </p:cNvSpPr>
          <p:nvPr/>
        </p:nvSpPr>
        <p:spPr>
          <a:xfrm xmlns:a="http://schemas.openxmlformats.org/drawingml/2006/main">
            <a:off x="1571625" y="55816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Illustrative next-token ranking:  8  (highest)   ·   eight  (possible)   ·   9  (unlikely)   → append “8” and repeat</a:t>
            </a:r>
          </a:p>
        </p:txBody>
      </p:sp>
      <p:sp>
        <p:nvSpPr>
          <p:cNvPr id="31" name="">
            <a:extLst xmlns:a="http://schemas.openxmlformats.org/drawingml/2006/main">
              <a:ext uri="{FF2B5EF4-FFF2-40B4-BE49-F238E27FC236}">
                <a16:creationId xmlns:a16="http://schemas.microsoft.com/office/drawing/2014/main" id="{0EE460CE-B051-4B83-A498-A9F3433AFB9B}"/>
              </a:ext>
            </a:extLst>
          </p:cNvPr>
          <p:cNvSpPr>
            <a:spLocks xmlns:a="http://schemas.openxmlformats.org/drawingml/2006/main" noGrp="1"/>
          </p:cNvSpPr>
          <p:nvPr/>
        </p:nvSpPr>
        <p:spPr>
          <a:xfrm xmlns:a="http://schemas.openxmlformats.org/drawingml/2006/main">
            <a:off x="1381125" y="6238875"/>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48"/>
          </a:bodyPr>
          <a:lstStyle xmlns:a="http://schemas.openxmlformats.org/drawingml/2006/main"/>
          <a:p xmlns:a="http://schemas.openxmlformats.org/drawingml/2006/main">
            <a:pPr algn="ctr">
              <a:buNone/>
              <a:defRPr sz="1238" b="0">
                <a:solidFill>
                  <a:srgbClr val="5F6368"/>
                </a:solidFill>
                <a:latin typeface="Google Sans Text"/>
                <a:ea typeface="Google Sans Text"/>
                <a:cs typeface="Google Sans Text"/>
              </a:defRPr>
            </a:pPr>
            <a:r>
              <a:rPr sz="1238" b="0">
                <a:solidFill>
                  <a:srgbClr val="5F6368"/>
                </a:solidFill>
                <a:latin typeface="Google Sans Text"/>
                <a:ea typeface="Google Sans Text"/>
                <a:cs typeface="Google Sans Text"/>
              </a:rPr>
              <a:t>The model recomputes context for every new token; it does not retrieve facts unless the application supplies a search or retrieval tool.</a:t>
            </a:r>
          </a:p>
        </p:txBody>
      </p:sp>
    </p:spTree>
    <p:extLst>
      <p:ext uri="{BB962C8B-B14F-4D97-AF65-F5344CB8AC3E}">
        <p14:creationId xmlns:p14="http://schemas.microsoft.com/office/powerpoint/2010/main" val="1782347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4092E85-5585-47A1-BF9C-655B7A0B2A3F}"/>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Pretraining teaches a base model by repeated prediction</a:t>
            </a:r>
          </a:p>
        </p:txBody>
      </p:sp>
      <p:sp>
        <p:nvSpPr>
          <p:cNvPr id="2" name="">
            <a:extLst xmlns:a="http://schemas.openxmlformats.org/drawingml/2006/main">
              <a:ext uri="{FF2B5EF4-FFF2-40B4-BE49-F238E27FC236}">
                <a16:creationId xmlns:a16="http://schemas.microsoft.com/office/drawing/2014/main" id="{39DE2DF7-D2AE-4673-9B3F-4A13FDE4DF7E}"/>
              </a:ext>
            </a:extLst>
          </p:cNvPr>
          <p:cNvSpPr>
            <a:spLocks xmlns:a="http://schemas.openxmlformats.org/drawingml/2006/main" noGrp="1"/>
          </p:cNvSpPr>
          <p:nvPr/>
        </p:nvSpPr>
        <p:spPr>
          <a:xfrm xmlns:a="http://schemas.openxmlformats.org/drawingml/2006/main">
            <a:off x="1095375" y="3086100"/>
            <a:ext cx="9620250"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3" name="">
            <a:extLst xmlns:a="http://schemas.openxmlformats.org/drawingml/2006/main">
              <a:ext uri="{FF2B5EF4-FFF2-40B4-BE49-F238E27FC236}">
                <a16:creationId xmlns:a16="http://schemas.microsoft.com/office/drawing/2014/main" id="{04775378-56C9-4DD0-BC81-B97A6DC47E8A}"/>
              </a:ext>
            </a:extLst>
          </p:cNvPr>
          <p:cNvSpPr>
            <a:spLocks xmlns:a="http://schemas.openxmlformats.org/drawingml/2006/main" noGrp="1"/>
          </p:cNvSpPr>
          <p:nvPr/>
        </p:nvSpPr>
        <p:spPr>
          <a:xfrm xmlns:a="http://schemas.openxmlformats.org/drawingml/2006/main">
            <a:off x="1333500" y="27813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4" name="">
            <a:extLst xmlns:a="http://schemas.openxmlformats.org/drawingml/2006/main">
              <a:ext uri="{FF2B5EF4-FFF2-40B4-BE49-F238E27FC236}">
                <a16:creationId xmlns:a16="http://schemas.microsoft.com/office/drawing/2014/main" id="{36FD3355-E342-4F9D-A0D4-EDB5EB1BCF4F}"/>
              </a:ext>
            </a:extLst>
          </p:cNvPr>
          <p:cNvSpPr>
            <a:spLocks xmlns:a="http://schemas.openxmlformats.org/drawingml/2006/main" noGrp="1"/>
          </p:cNvSpPr>
          <p:nvPr/>
        </p:nvSpPr>
        <p:spPr>
          <a:xfrm xmlns:a="http://schemas.openxmlformats.org/drawingml/2006/main">
            <a:off x="1333500" y="289560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1</a:t>
            </a:r>
          </a:p>
        </p:txBody>
      </p:sp>
      <p:sp>
        <p:nvSpPr>
          <p:cNvPr id="5" name="">
            <a:extLst xmlns:a="http://schemas.openxmlformats.org/drawingml/2006/main">
              <a:ext uri="{FF2B5EF4-FFF2-40B4-BE49-F238E27FC236}">
                <a16:creationId xmlns:a16="http://schemas.microsoft.com/office/drawing/2014/main" id="{DDBB9EEF-9188-49EF-AB6A-4549200EBCA4}"/>
              </a:ext>
            </a:extLst>
          </p:cNvPr>
          <p:cNvSpPr>
            <a:spLocks xmlns:a="http://schemas.openxmlformats.org/drawingml/2006/main" noGrp="1"/>
          </p:cNvSpPr>
          <p:nvPr/>
        </p:nvSpPr>
        <p:spPr>
          <a:xfrm xmlns:a="http://schemas.openxmlformats.org/drawingml/2006/main">
            <a:off x="666750" y="195262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Training data</a:t>
            </a:r>
          </a:p>
        </p:txBody>
      </p:sp>
      <p:sp>
        <p:nvSpPr>
          <p:cNvPr id="6" name="">
            <a:extLst xmlns:a="http://schemas.openxmlformats.org/drawingml/2006/main">
              <a:ext uri="{FF2B5EF4-FFF2-40B4-BE49-F238E27FC236}">
                <a16:creationId xmlns:a16="http://schemas.microsoft.com/office/drawing/2014/main" id="{869FFAA8-B61B-49C3-B9F2-1321F6EFB4D2}"/>
              </a:ext>
            </a:extLst>
          </p:cNvPr>
          <p:cNvSpPr>
            <a:spLocks xmlns:a="http://schemas.openxmlformats.org/drawingml/2006/main" noGrp="1"/>
          </p:cNvSpPr>
          <p:nvPr/>
        </p:nvSpPr>
        <p:spPr>
          <a:xfrm xmlns:a="http://schemas.openxmlformats.org/drawingml/2006/main">
            <a:off x="666750" y="371475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Large collections of text and code</a:t>
            </a:r>
          </a:p>
        </p:txBody>
      </p:sp>
      <p:sp>
        <p:nvSpPr>
          <p:cNvPr id="7" name="">
            <a:extLst xmlns:a="http://schemas.openxmlformats.org/drawingml/2006/main">
              <a:ext uri="{FF2B5EF4-FFF2-40B4-BE49-F238E27FC236}">
                <a16:creationId xmlns:a16="http://schemas.microsoft.com/office/drawing/2014/main" id="{C8FCBC0D-5D4F-436A-B20B-2732D4BE7510}"/>
              </a:ext>
            </a:extLst>
          </p:cNvPr>
          <p:cNvSpPr>
            <a:spLocks xmlns:a="http://schemas.openxmlformats.org/drawingml/2006/main" noGrp="1"/>
          </p:cNvSpPr>
          <p:nvPr/>
        </p:nvSpPr>
        <p:spPr>
          <a:xfrm xmlns:a="http://schemas.openxmlformats.org/drawingml/2006/main">
            <a:off x="3600450" y="27813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8" name="">
            <a:extLst xmlns:a="http://schemas.openxmlformats.org/drawingml/2006/main">
              <a:ext uri="{FF2B5EF4-FFF2-40B4-BE49-F238E27FC236}">
                <a16:creationId xmlns:a16="http://schemas.microsoft.com/office/drawing/2014/main" id="{DCC39505-A7DA-4F89-9203-475D5C09DCC6}"/>
              </a:ext>
            </a:extLst>
          </p:cNvPr>
          <p:cNvSpPr>
            <a:spLocks xmlns:a="http://schemas.openxmlformats.org/drawingml/2006/main" noGrp="1"/>
          </p:cNvSpPr>
          <p:nvPr/>
        </p:nvSpPr>
        <p:spPr>
          <a:xfrm xmlns:a="http://schemas.openxmlformats.org/drawingml/2006/main">
            <a:off x="3600450" y="289560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A6036F44-F22B-42C2-8467-69C142098C07}"/>
              </a:ext>
            </a:extLst>
          </p:cNvPr>
          <p:cNvSpPr>
            <a:spLocks xmlns:a="http://schemas.openxmlformats.org/drawingml/2006/main" noGrp="1"/>
          </p:cNvSpPr>
          <p:nvPr/>
        </p:nvSpPr>
        <p:spPr>
          <a:xfrm xmlns:a="http://schemas.openxmlformats.org/drawingml/2006/main">
            <a:off x="2933700" y="195262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Prediction</a:t>
            </a:r>
          </a:p>
        </p:txBody>
      </p:sp>
      <p:sp>
        <p:nvSpPr>
          <p:cNvPr id="10" name="">
            <a:extLst xmlns:a="http://schemas.openxmlformats.org/drawingml/2006/main">
              <a:ext uri="{FF2B5EF4-FFF2-40B4-BE49-F238E27FC236}">
                <a16:creationId xmlns:a16="http://schemas.microsoft.com/office/drawing/2014/main" id="{417E2C25-F95C-4707-B539-F35F109AB60A}"/>
              </a:ext>
            </a:extLst>
          </p:cNvPr>
          <p:cNvSpPr>
            <a:spLocks xmlns:a="http://schemas.openxmlformats.org/drawingml/2006/main" noGrp="1"/>
          </p:cNvSpPr>
          <p:nvPr/>
        </p:nvSpPr>
        <p:spPr>
          <a:xfrm xmlns:a="http://schemas.openxmlformats.org/drawingml/2006/main">
            <a:off x="2933700" y="371475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Hide or shift a token and predict it</a:t>
            </a:r>
          </a:p>
        </p:txBody>
      </p:sp>
      <p:sp>
        <p:nvSpPr>
          <p:cNvPr id="11" name="">
            <a:extLst xmlns:a="http://schemas.openxmlformats.org/drawingml/2006/main">
              <a:ext uri="{FF2B5EF4-FFF2-40B4-BE49-F238E27FC236}">
                <a16:creationId xmlns:a16="http://schemas.microsoft.com/office/drawing/2014/main" id="{07332D07-B09D-4ED4-9F7A-C43371E2C936}"/>
              </a:ext>
            </a:extLst>
          </p:cNvPr>
          <p:cNvSpPr>
            <a:spLocks xmlns:a="http://schemas.openxmlformats.org/drawingml/2006/main" noGrp="1"/>
          </p:cNvSpPr>
          <p:nvPr/>
        </p:nvSpPr>
        <p:spPr>
          <a:xfrm xmlns:a="http://schemas.openxmlformats.org/drawingml/2006/main">
            <a:off x="5867400" y="27813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2" name="">
            <a:extLst xmlns:a="http://schemas.openxmlformats.org/drawingml/2006/main">
              <a:ext uri="{FF2B5EF4-FFF2-40B4-BE49-F238E27FC236}">
                <a16:creationId xmlns:a16="http://schemas.microsoft.com/office/drawing/2014/main" id="{DDE4640A-EECA-4112-8E57-46D79DB32EB9}"/>
              </a:ext>
            </a:extLst>
          </p:cNvPr>
          <p:cNvSpPr>
            <a:spLocks xmlns:a="http://schemas.openxmlformats.org/drawingml/2006/main" noGrp="1"/>
          </p:cNvSpPr>
          <p:nvPr/>
        </p:nvSpPr>
        <p:spPr>
          <a:xfrm xmlns:a="http://schemas.openxmlformats.org/drawingml/2006/main">
            <a:off x="5867400" y="289560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3</a:t>
            </a:r>
          </a:p>
        </p:txBody>
      </p:sp>
      <p:sp>
        <p:nvSpPr>
          <p:cNvPr id="13" name="">
            <a:extLst xmlns:a="http://schemas.openxmlformats.org/drawingml/2006/main">
              <a:ext uri="{FF2B5EF4-FFF2-40B4-BE49-F238E27FC236}">
                <a16:creationId xmlns:a16="http://schemas.microsoft.com/office/drawing/2014/main" id="{C6446F05-B623-43A2-88D0-24E64386A62F}"/>
              </a:ext>
            </a:extLst>
          </p:cNvPr>
          <p:cNvSpPr>
            <a:spLocks xmlns:a="http://schemas.openxmlformats.org/drawingml/2006/main" noGrp="1"/>
          </p:cNvSpPr>
          <p:nvPr/>
        </p:nvSpPr>
        <p:spPr>
          <a:xfrm xmlns:a="http://schemas.openxmlformats.org/drawingml/2006/main">
            <a:off x="5200650" y="195262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Error signal</a:t>
            </a:r>
          </a:p>
        </p:txBody>
      </p:sp>
      <p:sp>
        <p:nvSpPr>
          <p:cNvPr id="14" name="">
            <a:extLst xmlns:a="http://schemas.openxmlformats.org/drawingml/2006/main">
              <a:ext uri="{FF2B5EF4-FFF2-40B4-BE49-F238E27FC236}">
                <a16:creationId xmlns:a16="http://schemas.microsoft.com/office/drawing/2014/main" id="{08E1DE0F-6CAC-44D0-93CD-517C2B5A1E0F}"/>
              </a:ext>
            </a:extLst>
          </p:cNvPr>
          <p:cNvSpPr>
            <a:spLocks xmlns:a="http://schemas.openxmlformats.org/drawingml/2006/main" noGrp="1"/>
          </p:cNvSpPr>
          <p:nvPr/>
        </p:nvSpPr>
        <p:spPr>
          <a:xfrm xmlns:a="http://schemas.openxmlformats.org/drawingml/2006/main">
            <a:off x="5200650" y="371475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Compare prediction with target</a:t>
            </a:r>
          </a:p>
        </p:txBody>
      </p:sp>
      <p:sp>
        <p:nvSpPr>
          <p:cNvPr id="15" name="">
            <a:extLst xmlns:a="http://schemas.openxmlformats.org/drawingml/2006/main">
              <a:ext uri="{FF2B5EF4-FFF2-40B4-BE49-F238E27FC236}">
                <a16:creationId xmlns:a16="http://schemas.microsoft.com/office/drawing/2014/main" id="{DACDD73F-C5BF-4DCC-8B06-22FCB49C09C9}"/>
              </a:ext>
            </a:extLst>
          </p:cNvPr>
          <p:cNvSpPr>
            <a:spLocks xmlns:a="http://schemas.openxmlformats.org/drawingml/2006/main" noGrp="1"/>
          </p:cNvSpPr>
          <p:nvPr/>
        </p:nvSpPr>
        <p:spPr>
          <a:xfrm xmlns:a="http://schemas.openxmlformats.org/drawingml/2006/main">
            <a:off x="8134350" y="27813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6" name="">
            <a:extLst xmlns:a="http://schemas.openxmlformats.org/drawingml/2006/main">
              <a:ext uri="{FF2B5EF4-FFF2-40B4-BE49-F238E27FC236}">
                <a16:creationId xmlns:a16="http://schemas.microsoft.com/office/drawing/2014/main" id="{63168506-A2A9-4A73-B0A7-66B188F5396B}"/>
              </a:ext>
            </a:extLst>
          </p:cNvPr>
          <p:cNvSpPr>
            <a:spLocks xmlns:a="http://schemas.openxmlformats.org/drawingml/2006/main" noGrp="1"/>
          </p:cNvSpPr>
          <p:nvPr/>
        </p:nvSpPr>
        <p:spPr>
          <a:xfrm xmlns:a="http://schemas.openxmlformats.org/drawingml/2006/main">
            <a:off x="8134350" y="289560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4</a:t>
            </a:r>
          </a:p>
        </p:txBody>
      </p:sp>
      <p:sp>
        <p:nvSpPr>
          <p:cNvPr id="17" name="">
            <a:extLst xmlns:a="http://schemas.openxmlformats.org/drawingml/2006/main">
              <a:ext uri="{FF2B5EF4-FFF2-40B4-BE49-F238E27FC236}">
                <a16:creationId xmlns:a16="http://schemas.microsoft.com/office/drawing/2014/main" id="{8A712C27-08F1-4CED-9EE5-E132019D5D20}"/>
              </a:ext>
            </a:extLst>
          </p:cNvPr>
          <p:cNvSpPr>
            <a:spLocks xmlns:a="http://schemas.openxmlformats.org/drawingml/2006/main" noGrp="1"/>
          </p:cNvSpPr>
          <p:nvPr/>
        </p:nvSpPr>
        <p:spPr>
          <a:xfrm xmlns:a="http://schemas.openxmlformats.org/drawingml/2006/main">
            <a:off x="7467600" y="195262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Update</a:t>
            </a:r>
          </a:p>
        </p:txBody>
      </p:sp>
      <p:sp>
        <p:nvSpPr>
          <p:cNvPr id="18" name="">
            <a:extLst xmlns:a="http://schemas.openxmlformats.org/drawingml/2006/main">
              <a:ext uri="{FF2B5EF4-FFF2-40B4-BE49-F238E27FC236}">
                <a16:creationId xmlns:a16="http://schemas.microsoft.com/office/drawing/2014/main" id="{E2949DD4-7812-493D-9A6E-6DC7C4D00D43}"/>
              </a:ext>
            </a:extLst>
          </p:cNvPr>
          <p:cNvSpPr>
            <a:spLocks xmlns:a="http://schemas.openxmlformats.org/drawingml/2006/main" noGrp="1"/>
          </p:cNvSpPr>
          <p:nvPr/>
        </p:nvSpPr>
        <p:spPr>
          <a:xfrm xmlns:a="http://schemas.openxmlformats.org/drawingml/2006/main">
            <a:off x="7467600" y="371475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Adjust learned parameters</a:t>
            </a:r>
          </a:p>
        </p:txBody>
      </p:sp>
      <p:sp>
        <p:nvSpPr>
          <p:cNvPr id="19" name="">
            <a:extLst xmlns:a="http://schemas.openxmlformats.org/drawingml/2006/main">
              <a:ext uri="{FF2B5EF4-FFF2-40B4-BE49-F238E27FC236}">
                <a16:creationId xmlns:a16="http://schemas.microsoft.com/office/drawing/2014/main" id="{D00E9ADD-D03E-423A-9EB6-A5B92F78706F}"/>
              </a:ext>
            </a:extLst>
          </p:cNvPr>
          <p:cNvSpPr>
            <a:spLocks xmlns:a="http://schemas.openxmlformats.org/drawingml/2006/main" noGrp="1"/>
          </p:cNvSpPr>
          <p:nvPr/>
        </p:nvSpPr>
        <p:spPr>
          <a:xfrm xmlns:a="http://schemas.openxmlformats.org/drawingml/2006/main">
            <a:off x="10401300" y="2781300"/>
            <a:ext cx="609600" cy="609600"/>
          </a:xfrm>
          <a:prstGeom xmlns:a="http://schemas.openxmlformats.org/drawingml/2006/main" prst="ellipse">
            <a:avLst/>
          </a:prstGeom>
          <a:solidFill xmlns:a="http://schemas.openxmlformats.org/drawingml/2006/main">
            <a:srgbClr val="4285F4"/>
          </a:solidFill>
          <a:ln xmlns:a="http://schemas.openxmlformats.org/drawingml/2006/main" w="19050">
            <a:solidFill>
              <a:srgbClr val="4285F4"/>
            </a:solidFill>
            <a:prstDash val="solid"/>
          </a:ln>
        </p:spPr>
      </p:sp>
      <p:sp>
        <p:nvSpPr>
          <p:cNvPr id="20" name="">
            <a:extLst xmlns:a="http://schemas.openxmlformats.org/drawingml/2006/main">
              <a:ext uri="{FF2B5EF4-FFF2-40B4-BE49-F238E27FC236}">
                <a16:creationId xmlns:a16="http://schemas.microsoft.com/office/drawing/2014/main" id="{40FAA94C-2915-4999-BE68-5FB62428EC33}"/>
              </a:ext>
            </a:extLst>
          </p:cNvPr>
          <p:cNvSpPr>
            <a:spLocks xmlns:a="http://schemas.openxmlformats.org/drawingml/2006/main" noGrp="1"/>
          </p:cNvSpPr>
          <p:nvPr/>
        </p:nvSpPr>
        <p:spPr>
          <a:xfrm xmlns:a="http://schemas.openxmlformats.org/drawingml/2006/main">
            <a:off x="10401300" y="289560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5</a:t>
            </a:r>
          </a:p>
        </p:txBody>
      </p:sp>
      <p:sp>
        <p:nvSpPr>
          <p:cNvPr id="21" name="">
            <a:extLst xmlns:a="http://schemas.openxmlformats.org/drawingml/2006/main">
              <a:ext uri="{FF2B5EF4-FFF2-40B4-BE49-F238E27FC236}">
                <a16:creationId xmlns:a16="http://schemas.microsoft.com/office/drawing/2014/main" id="{B2AF44E4-742F-4389-869C-B3FDA050E5BE}"/>
              </a:ext>
            </a:extLst>
          </p:cNvPr>
          <p:cNvSpPr>
            <a:spLocks xmlns:a="http://schemas.openxmlformats.org/drawingml/2006/main" noGrp="1"/>
          </p:cNvSpPr>
          <p:nvPr/>
        </p:nvSpPr>
        <p:spPr>
          <a:xfrm xmlns:a="http://schemas.openxmlformats.org/drawingml/2006/main">
            <a:off x="9734550" y="1952625"/>
            <a:ext cx="1943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Repeat</a:t>
            </a:r>
          </a:p>
        </p:txBody>
      </p:sp>
      <p:sp>
        <p:nvSpPr>
          <p:cNvPr id="22" name="">
            <a:extLst xmlns:a="http://schemas.openxmlformats.org/drawingml/2006/main">
              <a:ext uri="{FF2B5EF4-FFF2-40B4-BE49-F238E27FC236}">
                <a16:creationId xmlns:a16="http://schemas.microsoft.com/office/drawing/2014/main" id="{CAD87144-54E7-4CFF-87D5-20AE8824B7AA}"/>
              </a:ext>
            </a:extLst>
          </p:cNvPr>
          <p:cNvSpPr>
            <a:spLocks xmlns:a="http://schemas.openxmlformats.org/drawingml/2006/main" noGrp="1"/>
          </p:cNvSpPr>
          <p:nvPr/>
        </p:nvSpPr>
        <p:spPr>
          <a:xfrm xmlns:a="http://schemas.openxmlformats.org/drawingml/2006/main">
            <a:off x="9734550" y="3714750"/>
            <a:ext cx="19431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Build a reusable base model</a:t>
            </a:r>
          </a:p>
        </p:txBody>
      </p:sp>
      <p:sp>
        <p:nvSpPr>
          <p:cNvPr id="23" name="">
            <a:extLst xmlns:a="http://schemas.openxmlformats.org/drawingml/2006/main">
              <a:ext uri="{FF2B5EF4-FFF2-40B4-BE49-F238E27FC236}">
                <a16:creationId xmlns:a16="http://schemas.microsoft.com/office/drawing/2014/main" id="{6BF2488A-243D-4F1E-B6FF-0219FBC87595}"/>
              </a:ext>
            </a:extLst>
          </p:cNvPr>
          <p:cNvSpPr>
            <a:spLocks xmlns:a="http://schemas.openxmlformats.org/drawingml/2006/main" noGrp="1"/>
          </p:cNvSpPr>
          <p:nvPr/>
        </p:nvSpPr>
        <p:spPr>
          <a:xfrm xmlns:a="http://schemas.openxmlformats.org/drawingml/2006/main">
            <a:off x="2095500" y="5191125"/>
            <a:ext cx="8001000" cy="685800"/>
          </a:xfrm>
          <a:prstGeom xmlns:a="http://schemas.openxmlformats.org/drawingml/2006/main" prst="roundRect">
            <a:avLst>
              <a:gd name="adj" fmla="val 11111"/>
            </a:avLst>
          </a:prstGeom>
          <a:solidFill xmlns:a="http://schemas.openxmlformats.org/drawingml/2006/main">
            <a:srgbClr val="C6DAFC"/>
          </a:solidFill>
          <a:ln xmlns:a="http://schemas.openxmlformats.org/drawingml/2006/main" w="0">
            <a:solidFill>
              <a:srgbClr val="C6DAFC"/>
            </a:solidFill>
            <a:prstDash val="solid"/>
          </a:ln>
        </p:spPr>
      </p:sp>
      <p:sp>
        <p:nvSpPr>
          <p:cNvPr id="24" name="">
            <a:extLst xmlns:a="http://schemas.openxmlformats.org/drawingml/2006/main">
              <a:ext uri="{FF2B5EF4-FFF2-40B4-BE49-F238E27FC236}">
                <a16:creationId xmlns:a16="http://schemas.microsoft.com/office/drawing/2014/main" id="{AF0BD31F-19D0-45CF-87F9-1C21D46E6084}"/>
              </a:ext>
            </a:extLst>
          </p:cNvPr>
          <p:cNvSpPr>
            <a:spLocks xmlns:a="http://schemas.openxmlformats.org/drawingml/2006/main" noGrp="1"/>
          </p:cNvSpPr>
          <p:nvPr/>
        </p:nvSpPr>
        <p:spPr>
          <a:xfrm xmlns:a="http://schemas.openxmlformats.org/drawingml/2006/main">
            <a:off x="2333625" y="5362575"/>
            <a:ext cx="752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The result is a general model—not yet a safe, reliable application.</a:t>
            </a:r>
          </a:p>
        </p:txBody>
      </p:sp>
    </p:spTree>
    <p:extLst>
      <p:ext uri="{BB962C8B-B14F-4D97-AF65-F5344CB8AC3E}">
        <p14:creationId xmlns:p14="http://schemas.microsoft.com/office/powerpoint/2010/main" val="719738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AFCD33-DE2A-4B2C-BE0A-25AC28EB409E}"/>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Training learns parameters; inference uses them</a:t>
            </a:r>
          </a:p>
        </p:txBody>
      </p:sp>
      <p:sp>
        <p:nvSpPr>
          <p:cNvPr id="2" name="">
            <a:extLst xmlns:a="http://schemas.openxmlformats.org/drawingml/2006/main">
              <a:ext uri="{FF2B5EF4-FFF2-40B4-BE49-F238E27FC236}">
                <a16:creationId xmlns:a16="http://schemas.microsoft.com/office/drawing/2014/main" id="{B1F286EB-CC5C-47A4-8F95-95C16698DF23}"/>
              </a:ext>
            </a:extLst>
          </p:cNvPr>
          <p:cNvSpPr>
            <a:spLocks xmlns:a="http://schemas.openxmlformats.org/drawingml/2006/main" noGrp="1"/>
          </p:cNvSpPr>
          <p:nvPr/>
        </p:nvSpPr>
        <p:spPr>
          <a:xfrm xmlns:a="http://schemas.openxmlformats.org/drawingml/2006/main">
            <a:off x="666750" y="1428750"/>
            <a:ext cx="5143500" cy="419100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3" name="">
            <a:extLst xmlns:a="http://schemas.openxmlformats.org/drawingml/2006/main">
              <a:ext uri="{FF2B5EF4-FFF2-40B4-BE49-F238E27FC236}">
                <a16:creationId xmlns:a16="http://schemas.microsoft.com/office/drawing/2014/main" id="{3A9D6E40-A71F-4B09-BB81-06CCB252B4EC}"/>
              </a:ext>
            </a:extLst>
          </p:cNvPr>
          <p:cNvSpPr>
            <a:spLocks xmlns:a="http://schemas.openxmlformats.org/drawingml/2006/main" noGrp="1"/>
          </p:cNvSpPr>
          <p:nvPr/>
        </p:nvSpPr>
        <p:spPr>
          <a:xfrm xmlns:a="http://schemas.openxmlformats.org/drawingml/2006/main">
            <a:off x="6381750" y="1428750"/>
            <a:ext cx="5143500" cy="419100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4" name="">
            <a:extLst xmlns:a="http://schemas.openxmlformats.org/drawingml/2006/main">
              <a:ext uri="{FF2B5EF4-FFF2-40B4-BE49-F238E27FC236}">
                <a16:creationId xmlns:a16="http://schemas.microsoft.com/office/drawing/2014/main" id="{E27CB1A8-41CA-449A-B702-22BA97F9BDA7}"/>
              </a:ext>
            </a:extLst>
          </p:cNvPr>
          <p:cNvSpPr>
            <a:spLocks xmlns:a="http://schemas.openxmlformats.org/drawingml/2006/main" noGrp="1"/>
          </p:cNvSpPr>
          <p:nvPr/>
        </p:nvSpPr>
        <p:spPr>
          <a:xfrm xmlns:a="http://schemas.openxmlformats.org/drawingml/2006/main">
            <a:off x="952500" y="17335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Medium"/>
                <a:ea typeface="Google Sans Medium"/>
                <a:cs typeface="Google Sans Medium"/>
              </a:defRPr>
            </a:pPr>
            <a:r>
              <a:rPr sz="2100" b="1">
                <a:solidFill>
                  <a:srgbClr val="000000"/>
                </a:solidFill>
                <a:latin typeface="Google Sans Medium"/>
                <a:ea typeface="Google Sans Medium"/>
                <a:cs typeface="Google Sans Medium"/>
              </a:rPr>
              <a:t>Training</a:t>
            </a:r>
          </a:p>
        </p:txBody>
      </p:sp>
      <p:sp>
        <p:nvSpPr>
          <p:cNvPr id="5" name="">
            <a:extLst xmlns:a="http://schemas.openxmlformats.org/drawingml/2006/main">
              <a:ext uri="{FF2B5EF4-FFF2-40B4-BE49-F238E27FC236}">
                <a16:creationId xmlns:a16="http://schemas.microsoft.com/office/drawing/2014/main" id="{4C6540C7-DF82-4C3A-9486-7F3CDAF89576}"/>
              </a:ext>
            </a:extLst>
          </p:cNvPr>
          <p:cNvSpPr>
            <a:spLocks xmlns:a="http://schemas.openxmlformats.org/drawingml/2006/main" noGrp="1"/>
          </p:cNvSpPr>
          <p:nvPr/>
        </p:nvSpPr>
        <p:spPr>
          <a:xfrm xmlns:a="http://schemas.openxmlformats.org/drawingml/2006/main">
            <a:off x="1238250" y="2571750"/>
            <a:ext cx="4000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Many examples</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Predict + measure error</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Update parameters</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High compute and time</a:t>
            </a:r>
          </a:p>
        </p:txBody>
      </p:sp>
      <p:sp>
        <p:nvSpPr>
          <p:cNvPr id="6" name="">
            <a:extLst xmlns:a="http://schemas.openxmlformats.org/drawingml/2006/main">
              <a:ext uri="{FF2B5EF4-FFF2-40B4-BE49-F238E27FC236}">
                <a16:creationId xmlns:a16="http://schemas.microsoft.com/office/drawing/2014/main" id="{56DB09B1-5225-4930-988B-225F652A1141}"/>
              </a:ext>
            </a:extLst>
          </p:cNvPr>
          <p:cNvSpPr>
            <a:spLocks xmlns:a="http://schemas.openxmlformats.org/drawingml/2006/main" noGrp="1"/>
          </p:cNvSpPr>
          <p:nvPr/>
        </p:nvSpPr>
        <p:spPr>
          <a:xfrm xmlns:a="http://schemas.openxmlformats.org/drawingml/2006/main">
            <a:off x="6667500" y="173355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Medium"/>
                <a:ea typeface="Google Sans Medium"/>
                <a:cs typeface="Google Sans Medium"/>
              </a:defRPr>
            </a:pPr>
            <a:r>
              <a:rPr sz="2100" b="1">
                <a:solidFill>
                  <a:srgbClr val="000000"/>
                </a:solidFill>
                <a:latin typeface="Google Sans Medium"/>
                <a:ea typeface="Google Sans Medium"/>
                <a:cs typeface="Google Sans Medium"/>
              </a:rPr>
              <a:t>Inference</a:t>
            </a:r>
          </a:p>
        </p:txBody>
      </p:sp>
      <p:sp>
        <p:nvSpPr>
          <p:cNvPr id="7" name="">
            <a:extLst xmlns:a="http://schemas.openxmlformats.org/drawingml/2006/main">
              <a:ext uri="{FF2B5EF4-FFF2-40B4-BE49-F238E27FC236}">
                <a16:creationId xmlns:a16="http://schemas.microsoft.com/office/drawing/2014/main" id="{AB6FBC71-7ACC-4771-89EA-24FBA7AFED92}"/>
              </a:ext>
            </a:extLst>
          </p:cNvPr>
          <p:cNvSpPr>
            <a:spLocks xmlns:a="http://schemas.openxmlformats.org/drawingml/2006/main" noGrp="1"/>
          </p:cNvSpPr>
          <p:nvPr/>
        </p:nvSpPr>
        <p:spPr>
          <a:xfrm xmlns:a="http://schemas.openxmlformats.org/drawingml/2006/main">
            <a:off x="6953250" y="2571750"/>
            <a:ext cx="4000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One request or batch</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Use stored parameters</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Generate or score output</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Milliseconds to minutes</a:t>
            </a:r>
          </a:p>
        </p:txBody>
      </p:sp>
      <p:sp>
        <p:nvSpPr>
          <p:cNvPr id="8" name="">
            <a:extLst xmlns:a="http://schemas.openxmlformats.org/drawingml/2006/main">
              <a:ext uri="{FF2B5EF4-FFF2-40B4-BE49-F238E27FC236}">
                <a16:creationId xmlns:a16="http://schemas.microsoft.com/office/drawing/2014/main" id="{530C4516-A882-4C5C-B926-8B76F6D4480D}"/>
              </a:ext>
            </a:extLst>
          </p:cNvPr>
          <p:cNvSpPr>
            <a:spLocks xmlns:a="http://schemas.openxmlformats.org/drawingml/2006/main" noGrp="1"/>
          </p:cNvSpPr>
          <p:nvPr/>
        </p:nvSpPr>
        <p:spPr>
          <a:xfrm xmlns:a="http://schemas.openxmlformats.org/drawingml/2006/main">
            <a:off x="2381250" y="59626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Prompting happens during inference; tuning is a training activity.</a:t>
            </a:r>
          </a:p>
        </p:txBody>
      </p:sp>
    </p:spTree>
    <p:extLst>
      <p:ext uri="{BB962C8B-B14F-4D97-AF65-F5344CB8AC3E}">
        <p14:creationId xmlns:p14="http://schemas.microsoft.com/office/powerpoint/2010/main" val="192448050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BD86750-D50E-4A39-87C7-3AC4BF85BA8E}"/>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Text generation repeats one next-token decision</a:t>
            </a:r>
          </a:p>
        </p:txBody>
      </p:sp>
      <p:sp>
        <p:nvSpPr>
          <p:cNvPr id="2" name="">
            <a:extLst xmlns:a="http://schemas.openxmlformats.org/drawingml/2006/main">
              <a:ext uri="{FF2B5EF4-FFF2-40B4-BE49-F238E27FC236}">
                <a16:creationId xmlns:a16="http://schemas.microsoft.com/office/drawing/2014/main" id="{0C1F84FC-6F5B-41FC-A572-5263DE5DC74C}"/>
              </a:ext>
            </a:extLst>
          </p:cNvPr>
          <p:cNvSpPr>
            <a:spLocks xmlns:a="http://schemas.openxmlformats.org/drawingml/2006/main" noGrp="1"/>
          </p:cNvSpPr>
          <p:nvPr/>
        </p:nvSpPr>
        <p:spPr>
          <a:xfrm xmlns:a="http://schemas.openxmlformats.org/drawingml/2006/main">
            <a:off x="1304925" y="20955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3" name="">
            <a:extLst xmlns:a="http://schemas.openxmlformats.org/drawingml/2006/main">
              <a:ext uri="{FF2B5EF4-FFF2-40B4-BE49-F238E27FC236}">
                <a16:creationId xmlns:a16="http://schemas.microsoft.com/office/drawing/2014/main" id="{9CADB474-F1F4-406C-B335-0ABAB489D9A7}"/>
              </a:ext>
            </a:extLst>
          </p:cNvPr>
          <p:cNvSpPr>
            <a:spLocks xmlns:a="http://schemas.openxmlformats.org/drawingml/2006/main" noGrp="1"/>
          </p:cNvSpPr>
          <p:nvPr/>
        </p:nvSpPr>
        <p:spPr>
          <a:xfrm xmlns:a="http://schemas.openxmlformats.org/drawingml/2006/main">
            <a:off x="1457325" y="219075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1</a:t>
            </a:r>
          </a:p>
        </p:txBody>
      </p:sp>
      <p:sp>
        <p:nvSpPr>
          <p:cNvPr id="4" name="">
            <a:extLst xmlns:a="http://schemas.openxmlformats.org/drawingml/2006/main">
              <a:ext uri="{FF2B5EF4-FFF2-40B4-BE49-F238E27FC236}">
                <a16:creationId xmlns:a16="http://schemas.microsoft.com/office/drawing/2014/main" id="{AA68EB93-E1D7-4957-8590-7E280B545E48}"/>
              </a:ext>
            </a:extLst>
          </p:cNvPr>
          <p:cNvSpPr>
            <a:spLocks xmlns:a="http://schemas.openxmlformats.org/drawingml/2006/main" noGrp="1"/>
          </p:cNvSpPr>
          <p:nvPr/>
        </p:nvSpPr>
        <p:spPr>
          <a:xfrm xmlns:a="http://schemas.openxmlformats.org/drawingml/2006/main">
            <a:off x="619125" y="28956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Read prompt</a:t>
            </a:r>
          </a:p>
        </p:txBody>
      </p:sp>
      <p:sp>
        <p:nvSpPr>
          <p:cNvPr id="5" name="">
            <a:extLst xmlns:a="http://schemas.openxmlformats.org/drawingml/2006/main">
              <a:ext uri="{FF2B5EF4-FFF2-40B4-BE49-F238E27FC236}">
                <a16:creationId xmlns:a16="http://schemas.microsoft.com/office/drawing/2014/main" id="{C171DAE7-7653-428A-B35B-471D6381131C}"/>
              </a:ext>
            </a:extLst>
          </p:cNvPr>
          <p:cNvSpPr>
            <a:spLocks xmlns:a="http://schemas.openxmlformats.org/drawingml/2006/main" noGrp="1"/>
          </p:cNvSpPr>
          <p:nvPr/>
        </p:nvSpPr>
        <p:spPr>
          <a:xfrm xmlns:a="http://schemas.openxmlformats.org/drawingml/2006/main">
            <a:off x="2466975" y="20955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6" name="">
            <a:extLst xmlns:a="http://schemas.openxmlformats.org/drawingml/2006/main">
              <a:ext uri="{FF2B5EF4-FFF2-40B4-BE49-F238E27FC236}">
                <a16:creationId xmlns:a16="http://schemas.microsoft.com/office/drawing/2014/main" id="{62C1A65D-A4FC-4A00-9D03-CAF1A0D84C15}"/>
              </a:ext>
            </a:extLst>
          </p:cNvPr>
          <p:cNvSpPr>
            <a:spLocks xmlns:a="http://schemas.openxmlformats.org/drawingml/2006/main" noGrp="1"/>
          </p:cNvSpPr>
          <p:nvPr/>
        </p:nvSpPr>
        <p:spPr>
          <a:xfrm xmlns:a="http://schemas.openxmlformats.org/drawingml/2006/main">
            <a:off x="3629025" y="20955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7" name="">
            <a:extLst xmlns:a="http://schemas.openxmlformats.org/drawingml/2006/main">
              <a:ext uri="{FF2B5EF4-FFF2-40B4-BE49-F238E27FC236}">
                <a16:creationId xmlns:a16="http://schemas.microsoft.com/office/drawing/2014/main" id="{A945AC64-2BC3-46F2-95A9-0A117B53AEE3}"/>
              </a:ext>
            </a:extLst>
          </p:cNvPr>
          <p:cNvSpPr>
            <a:spLocks xmlns:a="http://schemas.openxmlformats.org/drawingml/2006/main" noGrp="1"/>
          </p:cNvSpPr>
          <p:nvPr/>
        </p:nvSpPr>
        <p:spPr>
          <a:xfrm xmlns:a="http://schemas.openxmlformats.org/drawingml/2006/main">
            <a:off x="3781425" y="219075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2</a:t>
            </a:r>
          </a:p>
        </p:txBody>
      </p:sp>
      <p:sp>
        <p:nvSpPr>
          <p:cNvPr id="8" name="">
            <a:extLst xmlns:a="http://schemas.openxmlformats.org/drawingml/2006/main">
              <a:ext uri="{FF2B5EF4-FFF2-40B4-BE49-F238E27FC236}">
                <a16:creationId xmlns:a16="http://schemas.microsoft.com/office/drawing/2014/main" id="{D2E9C20D-1D1D-429C-9EDC-70D090FD6BE4}"/>
              </a:ext>
            </a:extLst>
          </p:cNvPr>
          <p:cNvSpPr>
            <a:spLocks xmlns:a="http://schemas.openxmlformats.org/drawingml/2006/main" noGrp="1"/>
          </p:cNvSpPr>
          <p:nvPr/>
        </p:nvSpPr>
        <p:spPr>
          <a:xfrm xmlns:a="http://schemas.openxmlformats.org/drawingml/2006/main">
            <a:off x="2943225" y="28956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Compute scores</a:t>
            </a:r>
          </a:p>
        </p:txBody>
      </p:sp>
      <p:sp>
        <p:nvSpPr>
          <p:cNvPr id="9" name="">
            <a:extLst xmlns:a="http://schemas.openxmlformats.org/drawingml/2006/main">
              <a:ext uri="{FF2B5EF4-FFF2-40B4-BE49-F238E27FC236}">
                <a16:creationId xmlns:a16="http://schemas.microsoft.com/office/drawing/2014/main" id="{CEA1CBBE-6448-4B82-90F1-4C3433D49ED2}"/>
              </a:ext>
            </a:extLst>
          </p:cNvPr>
          <p:cNvSpPr>
            <a:spLocks xmlns:a="http://schemas.openxmlformats.org/drawingml/2006/main" noGrp="1"/>
          </p:cNvSpPr>
          <p:nvPr/>
        </p:nvSpPr>
        <p:spPr>
          <a:xfrm xmlns:a="http://schemas.openxmlformats.org/drawingml/2006/main">
            <a:off x="4791075" y="20955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10" name="">
            <a:extLst xmlns:a="http://schemas.openxmlformats.org/drawingml/2006/main">
              <a:ext uri="{FF2B5EF4-FFF2-40B4-BE49-F238E27FC236}">
                <a16:creationId xmlns:a16="http://schemas.microsoft.com/office/drawing/2014/main" id="{29F9D7D7-D656-4994-A6F9-146ED78464F1}"/>
              </a:ext>
            </a:extLst>
          </p:cNvPr>
          <p:cNvSpPr>
            <a:spLocks xmlns:a="http://schemas.openxmlformats.org/drawingml/2006/main" noGrp="1"/>
          </p:cNvSpPr>
          <p:nvPr/>
        </p:nvSpPr>
        <p:spPr>
          <a:xfrm xmlns:a="http://schemas.openxmlformats.org/drawingml/2006/main">
            <a:off x="5953125" y="20955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1" name="">
            <a:extLst xmlns:a="http://schemas.openxmlformats.org/drawingml/2006/main">
              <a:ext uri="{FF2B5EF4-FFF2-40B4-BE49-F238E27FC236}">
                <a16:creationId xmlns:a16="http://schemas.microsoft.com/office/drawing/2014/main" id="{43058AC9-2952-4461-AC56-52FB74BF849B}"/>
              </a:ext>
            </a:extLst>
          </p:cNvPr>
          <p:cNvSpPr>
            <a:spLocks xmlns:a="http://schemas.openxmlformats.org/drawingml/2006/main" noGrp="1"/>
          </p:cNvSpPr>
          <p:nvPr/>
        </p:nvSpPr>
        <p:spPr>
          <a:xfrm xmlns:a="http://schemas.openxmlformats.org/drawingml/2006/main">
            <a:off x="6105525" y="219075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3</a:t>
            </a:r>
          </a:p>
        </p:txBody>
      </p:sp>
      <p:sp>
        <p:nvSpPr>
          <p:cNvPr id="12" name="">
            <a:extLst xmlns:a="http://schemas.openxmlformats.org/drawingml/2006/main">
              <a:ext uri="{FF2B5EF4-FFF2-40B4-BE49-F238E27FC236}">
                <a16:creationId xmlns:a16="http://schemas.microsoft.com/office/drawing/2014/main" id="{FDA0819E-C544-4603-BCA9-4F00D95D50C4}"/>
              </a:ext>
            </a:extLst>
          </p:cNvPr>
          <p:cNvSpPr>
            <a:spLocks xmlns:a="http://schemas.openxmlformats.org/drawingml/2006/main" noGrp="1"/>
          </p:cNvSpPr>
          <p:nvPr/>
        </p:nvSpPr>
        <p:spPr>
          <a:xfrm xmlns:a="http://schemas.openxmlformats.org/drawingml/2006/main">
            <a:off x="5267325" y="28956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Convert to probabilities</a:t>
            </a:r>
          </a:p>
        </p:txBody>
      </p:sp>
      <p:sp>
        <p:nvSpPr>
          <p:cNvPr id="13" name="">
            <a:extLst xmlns:a="http://schemas.openxmlformats.org/drawingml/2006/main">
              <a:ext uri="{FF2B5EF4-FFF2-40B4-BE49-F238E27FC236}">
                <a16:creationId xmlns:a16="http://schemas.microsoft.com/office/drawing/2014/main" id="{9583047F-6965-4CAA-9DD6-A044090D4158}"/>
              </a:ext>
            </a:extLst>
          </p:cNvPr>
          <p:cNvSpPr>
            <a:spLocks xmlns:a="http://schemas.openxmlformats.org/drawingml/2006/main" noGrp="1"/>
          </p:cNvSpPr>
          <p:nvPr/>
        </p:nvSpPr>
        <p:spPr>
          <a:xfrm xmlns:a="http://schemas.openxmlformats.org/drawingml/2006/main">
            <a:off x="7115175" y="20955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14" name="">
            <a:extLst xmlns:a="http://schemas.openxmlformats.org/drawingml/2006/main">
              <a:ext uri="{FF2B5EF4-FFF2-40B4-BE49-F238E27FC236}">
                <a16:creationId xmlns:a16="http://schemas.microsoft.com/office/drawing/2014/main" id="{69B4D429-689D-42E0-B101-7ABCD1E57F83}"/>
              </a:ext>
            </a:extLst>
          </p:cNvPr>
          <p:cNvSpPr>
            <a:spLocks xmlns:a="http://schemas.openxmlformats.org/drawingml/2006/main" noGrp="1"/>
          </p:cNvSpPr>
          <p:nvPr/>
        </p:nvSpPr>
        <p:spPr>
          <a:xfrm xmlns:a="http://schemas.openxmlformats.org/drawingml/2006/main">
            <a:off x="8277225" y="20955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5" name="">
            <a:extLst xmlns:a="http://schemas.openxmlformats.org/drawingml/2006/main">
              <a:ext uri="{FF2B5EF4-FFF2-40B4-BE49-F238E27FC236}">
                <a16:creationId xmlns:a16="http://schemas.microsoft.com/office/drawing/2014/main" id="{88B2CC44-EC2E-49E4-9B2C-64F2115090BA}"/>
              </a:ext>
            </a:extLst>
          </p:cNvPr>
          <p:cNvSpPr>
            <a:spLocks xmlns:a="http://schemas.openxmlformats.org/drawingml/2006/main" noGrp="1"/>
          </p:cNvSpPr>
          <p:nvPr/>
        </p:nvSpPr>
        <p:spPr>
          <a:xfrm xmlns:a="http://schemas.openxmlformats.org/drawingml/2006/main">
            <a:off x="8429625" y="219075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000000"/>
                </a:solidFill>
                <a:latin typeface="Google Sans Text"/>
                <a:ea typeface="Google Sans Text"/>
                <a:cs typeface="Google Sans Text"/>
              </a:defRPr>
            </a:pPr>
            <a:r>
              <a:rPr sz="1425" b="1">
                <a:solidFill>
                  <a:srgbClr val="000000"/>
                </a:solidFill>
                <a:latin typeface="Google Sans Text"/>
                <a:ea typeface="Google Sans Text"/>
                <a:cs typeface="Google Sans Text"/>
              </a:rPr>
              <a:t>4</a:t>
            </a:r>
          </a:p>
        </p:txBody>
      </p:sp>
      <p:sp>
        <p:nvSpPr>
          <p:cNvPr id="16" name="">
            <a:extLst xmlns:a="http://schemas.openxmlformats.org/drawingml/2006/main">
              <a:ext uri="{FF2B5EF4-FFF2-40B4-BE49-F238E27FC236}">
                <a16:creationId xmlns:a16="http://schemas.microsoft.com/office/drawing/2014/main" id="{E83A203F-B2A3-4254-9D93-74D196A89C8D}"/>
              </a:ext>
            </a:extLst>
          </p:cNvPr>
          <p:cNvSpPr>
            <a:spLocks xmlns:a="http://schemas.openxmlformats.org/drawingml/2006/main" noGrp="1"/>
          </p:cNvSpPr>
          <p:nvPr/>
        </p:nvSpPr>
        <p:spPr>
          <a:xfrm xmlns:a="http://schemas.openxmlformats.org/drawingml/2006/main">
            <a:off x="7591425" y="28956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Select a token</a:t>
            </a:r>
          </a:p>
        </p:txBody>
      </p:sp>
      <p:sp>
        <p:nvSpPr>
          <p:cNvPr id="17" name="">
            <a:extLst xmlns:a="http://schemas.openxmlformats.org/drawingml/2006/main">
              <a:ext uri="{FF2B5EF4-FFF2-40B4-BE49-F238E27FC236}">
                <a16:creationId xmlns:a16="http://schemas.microsoft.com/office/drawing/2014/main" id="{5DF32BB2-31FB-4880-AC94-58CF991D362B}"/>
              </a:ext>
            </a:extLst>
          </p:cNvPr>
          <p:cNvSpPr>
            <a:spLocks xmlns:a="http://schemas.openxmlformats.org/drawingml/2006/main" noGrp="1"/>
          </p:cNvSpPr>
          <p:nvPr/>
        </p:nvSpPr>
        <p:spPr>
          <a:xfrm xmlns:a="http://schemas.openxmlformats.org/drawingml/2006/main">
            <a:off x="9439275" y="20955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18" name="">
            <a:extLst xmlns:a="http://schemas.openxmlformats.org/drawingml/2006/main">
              <a:ext uri="{FF2B5EF4-FFF2-40B4-BE49-F238E27FC236}">
                <a16:creationId xmlns:a16="http://schemas.microsoft.com/office/drawing/2014/main" id="{E1EC4CBE-20E6-4E78-B310-EBAA5FE2F045}"/>
              </a:ext>
            </a:extLst>
          </p:cNvPr>
          <p:cNvSpPr>
            <a:spLocks xmlns:a="http://schemas.openxmlformats.org/drawingml/2006/main" noGrp="1"/>
          </p:cNvSpPr>
          <p:nvPr/>
        </p:nvSpPr>
        <p:spPr>
          <a:xfrm xmlns:a="http://schemas.openxmlformats.org/drawingml/2006/main">
            <a:off x="10601325" y="2095500"/>
            <a:ext cx="533400" cy="533400"/>
          </a:xfrm>
          <a:prstGeom xmlns:a="http://schemas.openxmlformats.org/drawingml/2006/main" prst="ellipse">
            <a:avLst/>
          </a:prstGeom>
          <a:solidFill xmlns:a="http://schemas.openxmlformats.org/drawingml/2006/main">
            <a:srgbClr val="4285F4"/>
          </a:solidFill>
          <a:ln xmlns:a="http://schemas.openxmlformats.org/drawingml/2006/main" w="19050">
            <a:solidFill>
              <a:srgbClr val="4285F4"/>
            </a:solidFill>
            <a:prstDash val="solid"/>
          </a:ln>
        </p:spPr>
      </p:sp>
      <p:sp>
        <p:nvSpPr>
          <p:cNvPr id="19" name="">
            <a:extLst xmlns:a="http://schemas.openxmlformats.org/drawingml/2006/main">
              <a:ext uri="{FF2B5EF4-FFF2-40B4-BE49-F238E27FC236}">
                <a16:creationId xmlns:a16="http://schemas.microsoft.com/office/drawing/2014/main" id="{60E43083-7EC5-4AAE-934E-0C691D60CAE9}"/>
              </a:ext>
            </a:extLst>
          </p:cNvPr>
          <p:cNvSpPr>
            <a:spLocks xmlns:a="http://schemas.openxmlformats.org/drawingml/2006/main" noGrp="1"/>
          </p:cNvSpPr>
          <p:nvPr/>
        </p:nvSpPr>
        <p:spPr>
          <a:xfrm xmlns:a="http://schemas.openxmlformats.org/drawingml/2006/main">
            <a:off x="10753725" y="219075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Text"/>
                <a:ea typeface="Google Sans Text"/>
                <a:cs typeface="Google Sans Text"/>
              </a:defRPr>
            </a:pPr>
            <a:r>
              <a:rPr sz="1425" b="1">
                <a:solidFill>
                  <a:srgbClr val="FFFFFF"/>
                </a:solidFill>
                <a:latin typeface="Google Sans Text"/>
                <a:ea typeface="Google Sans Text"/>
                <a:cs typeface="Google Sans Text"/>
              </a:rPr>
              <a:t>5</a:t>
            </a:r>
          </a:p>
        </p:txBody>
      </p:sp>
      <p:sp>
        <p:nvSpPr>
          <p:cNvPr id="20" name="">
            <a:extLst xmlns:a="http://schemas.openxmlformats.org/drawingml/2006/main">
              <a:ext uri="{FF2B5EF4-FFF2-40B4-BE49-F238E27FC236}">
                <a16:creationId xmlns:a16="http://schemas.microsoft.com/office/drawing/2014/main" id="{03574A3D-5383-478D-939F-0E096B5B291B}"/>
              </a:ext>
            </a:extLst>
          </p:cNvPr>
          <p:cNvSpPr>
            <a:spLocks xmlns:a="http://schemas.openxmlformats.org/drawingml/2006/main" noGrp="1"/>
          </p:cNvSpPr>
          <p:nvPr/>
        </p:nvSpPr>
        <p:spPr>
          <a:xfrm xmlns:a="http://schemas.openxmlformats.org/drawingml/2006/main">
            <a:off x="9915525" y="28956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Append and repeat</a:t>
            </a:r>
          </a:p>
        </p:txBody>
      </p:sp>
      <p:sp>
        <p:nvSpPr>
          <p:cNvPr id="21" name="">
            <a:extLst xmlns:a="http://schemas.openxmlformats.org/drawingml/2006/main">
              <a:ext uri="{FF2B5EF4-FFF2-40B4-BE49-F238E27FC236}">
                <a16:creationId xmlns:a16="http://schemas.microsoft.com/office/drawing/2014/main" id="{DCD69055-A14E-4ED0-AFA3-7487EAD7AF2B}"/>
              </a:ext>
            </a:extLst>
          </p:cNvPr>
          <p:cNvSpPr>
            <a:spLocks xmlns:a="http://schemas.openxmlformats.org/drawingml/2006/main" noGrp="1"/>
          </p:cNvSpPr>
          <p:nvPr/>
        </p:nvSpPr>
        <p:spPr>
          <a:xfrm xmlns:a="http://schemas.openxmlformats.org/drawingml/2006/main">
            <a:off x="1809750" y="4286250"/>
            <a:ext cx="8572500" cy="1143000"/>
          </a:xfrm>
          <a:prstGeom xmlns:a="http://schemas.openxmlformats.org/drawingml/2006/main" prst="roundRect">
            <a:avLst>
              <a:gd name="adj" fmla="val 6667"/>
            </a:avLst>
          </a:prstGeom>
          <a:solidFill xmlns:a="http://schemas.openxmlformats.org/drawingml/2006/main">
            <a:srgbClr val="F8F8F8"/>
          </a:solidFill>
          <a:ln xmlns:a="http://schemas.openxmlformats.org/drawingml/2006/main" w="9525">
            <a:solidFill>
              <a:srgbClr val="DADCE0"/>
            </a:solidFill>
            <a:prstDash val="solid"/>
          </a:ln>
        </p:spPr>
      </p:sp>
      <p:sp>
        <p:nvSpPr>
          <p:cNvPr id="22" name="">
            <a:extLst xmlns:a="http://schemas.openxmlformats.org/drawingml/2006/main">
              <a:ext uri="{FF2B5EF4-FFF2-40B4-BE49-F238E27FC236}">
                <a16:creationId xmlns:a16="http://schemas.microsoft.com/office/drawing/2014/main" id="{C1C7E6E3-8EDA-4E79-BB35-14734F51FDF1}"/>
              </a:ext>
            </a:extLst>
          </p:cNvPr>
          <p:cNvSpPr>
            <a:spLocks xmlns:a="http://schemas.openxmlformats.org/drawingml/2006/main" noGrp="1"/>
          </p:cNvSpPr>
          <p:nvPr/>
        </p:nvSpPr>
        <p:spPr>
          <a:xfrm xmlns:a="http://schemas.openxmlformats.org/drawingml/2006/main">
            <a:off x="2190750" y="455295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Prompt: “A safe password should…”</a:t>
            </a:r>
          </a:p>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Generated sequence: use → multiple → unique → characters → …</a:t>
            </a:r>
          </a:p>
        </p:txBody>
      </p:sp>
      <p:sp>
        <p:nvSpPr>
          <p:cNvPr id="23" name="">
            <a:extLst xmlns:a="http://schemas.openxmlformats.org/drawingml/2006/main">
              <a:ext uri="{FF2B5EF4-FFF2-40B4-BE49-F238E27FC236}">
                <a16:creationId xmlns:a16="http://schemas.microsoft.com/office/drawing/2014/main" id="{B5C67BD7-33DF-42C4-982B-A96652DDB510}"/>
              </a:ext>
            </a:extLst>
          </p:cNvPr>
          <p:cNvSpPr>
            <a:spLocks xmlns:a="http://schemas.openxmlformats.org/drawingml/2006/main" noGrp="1"/>
          </p:cNvSpPr>
          <p:nvPr/>
        </p:nvSpPr>
        <p:spPr>
          <a:xfrm xmlns:a="http://schemas.openxmlformats.org/drawingml/2006/main">
            <a:off x="2571750" y="5905500"/>
            <a:ext cx="704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The loop stops at a stop sequence, end token, tool call, or output limit.</a:t>
            </a:r>
          </a:p>
        </p:txBody>
      </p:sp>
    </p:spTree>
    <p:extLst>
      <p:ext uri="{BB962C8B-B14F-4D97-AF65-F5344CB8AC3E}">
        <p14:creationId xmlns:p14="http://schemas.microsoft.com/office/powerpoint/2010/main" val="4020827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B7908D95-DD51-45E9-A168-9F4A903ECF9B}"/>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Generation controls shape variation, length, and usable context</a:t>
            </a:r>
          </a:p>
        </p:txBody>
      </p:sp>
      <p:sp>
        <p:nvSpPr>
          <p:cNvPr id="2" name="">
            <a:extLst xmlns:a="http://schemas.openxmlformats.org/drawingml/2006/main">
              <a:ext uri="{FF2B5EF4-FFF2-40B4-BE49-F238E27FC236}">
                <a16:creationId xmlns:a16="http://schemas.microsoft.com/office/drawing/2014/main" id="{60B8CB4A-978A-4E74-A4D8-512A1BC04C29}"/>
              </a:ext>
            </a:extLst>
          </p:cNvPr>
          <p:cNvSpPr>
            <a:spLocks xmlns:a="http://schemas.openxmlformats.org/drawingml/2006/main" noGrp="1"/>
          </p:cNvSpPr>
          <p:nvPr/>
        </p:nvSpPr>
        <p:spPr>
          <a:xfrm xmlns:a="http://schemas.openxmlformats.org/drawingml/2006/main">
            <a:off x="619125" y="1333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Temperature</a:t>
            </a:r>
          </a:p>
        </p:txBody>
      </p:sp>
      <p:sp>
        <p:nvSpPr>
          <p:cNvPr id="3" name="">
            <a:extLst xmlns:a="http://schemas.openxmlformats.org/drawingml/2006/main">
              <a:ext uri="{FF2B5EF4-FFF2-40B4-BE49-F238E27FC236}">
                <a16:creationId xmlns:a16="http://schemas.microsoft.com/office/drawing/2014/main" id="{9F44C2CD-1C6D-4244-A8B8-EECA612F0CCF}"/>
              </a:ext>
            </a:extLst>
          </p:cNvPr>
          <p:cNvSpPr>
            <a:spLocks xmlns:a="http://schemas.openxmlformats.org/drawingml/2006/main" noGrp="1"/>
          </p:cNvSpPr>
          <p:nvPr/>
        </p:nvSpPr>
        <p:spPr>
          <a:xfrm xmlns:a="http://schemas.openxmlformats.org/drawingml/2006/main">
            <a:off x="1076325" y="2324100"/>
            <a:ext cx="2419350" cy="1714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4" name="">
            <a:extLst xmlns:a="http://schemas.openxmlformats.org/drawingml/2006/main">
              <a:ext uri="{FF2B5EF4-FFF2-40B4-BE49-F238E27FC236}">
                <a16:creationId xmlns:a16="http://schemas.microsoft.com/office/drawing/2014/main" id="{1F88F29B-600A-4EF5-A839-C8F9D2CEB1F2}"/>
              </a:ext>
            </a:extLst>
          </p:cNvPr>
          <p:cNvSpPr>
            <a:spLocks xmlns:a="http://schemas.openxmlformats.org/drawingml/2006/main" noGrp="1"/>
          </p:cNvSpPr>
          <p:nvPr/>
        </p:nvSpPr>
        <p:spPr>
          <a:xfrm xmlns:a="http://schemas.openxmlformats.org/drawingml/2006/main">
            <a:off x="2000250" y="2152650"/>
            <a:ext cx="514350" cy="51435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5" name="">
            <a:extLst xmlns:a="http://schemas.openxmlformats.org/drawingml/2006/main">
              <a:ext uri="{FF2B5EF4-FFF2-40B4-BE49-F238E27FC236}">
                <a16:creationId xmlns:a16="http://schemas.microsoft.com/office/drawing/2014/main" id="{52C41704-41B6-4BC0-9218-39BF45D19E20}"/>
              </a:ext>
            </a:extLst>
          </p:cNvPr>
          <p:cNvSpPr>
            <a:spLocks xmlns:a="http://schemas.openxmlformats.org/drawingml/2006/main" noGrp="1"/>
          </p:cNvSpPr>
          <p:nvPr/>
        </p:nvSpPr>
        <p:spPr>
          <a:xfrm xmlns:a="http://schemas.openxmlformats.org/drawingml/2006/main">
            <a:off x="714375"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Lower</a:t>
            </a:r>
          </a:p>
        </p:txBody>
      </p:sp>
      <p:sp>
        <p:nvSpPr>
          <p:cNvPr id="6" name="">
            <a:extLst xmlns:a="http://schemas.openxmlformats.org/drawingml/2006/main">
              <a:ext uri="{FF2B5EF4-FFF2-40B4-BE49-F238E27FC236}">
                <a16:creationId xmlns:a16="http://schemas.microsoft.com/office/drawing/2014/main" id="{21CE413C-761B-45B3-94F7-D81FDF93A839}"/>
              </a:ext>
            </a:extLst>
          </p:cNvPr>
          <p:cNvSpPr>
            <a:spLocks xmlns:a="http://schemas.openxmlformats.org/drawingml/2006/main" noGrp="1"/>
          </p:cNvSpPr>
          <p:nvPr/>
        </p:nvSpPr>
        <p:spPr>
          <a:xfrm xmlns:a="http://schemas.openxmlformats.org/drawingml/2006/main">
            <a:off x="2809875"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Higher</a:t>
            </a:r>
          </a:p>
        </p:txBody>
      </p:sp>
      <p:sp>
        <p:nvSpPr>
          <p:cNvPr id="7" name="">
            <a:extLst xmlns:a="http://schemas.openxmlformats.org/drawingml/2006/main">
              <a:ext uri="{FF2B5EF4-FFF2-40B4-BE49-F238E27FC236}">
                <a16:creationId xmlns:a16="http://schemas.microsoft.com/office/drawing/2014/main" id="{76F7C61C-05BC-48F5-878D-AD3C87B97AD8}"/>
              </a:ext>
            </a:extLst>
          </p:cNvPr>
          <p:cNvSpPr>
            <a:spLocks xmlns:a="http://schemas.openxmlformats.org/drawingml/2006/main" noGrp="1"/>
          </p:cNvSpPr>
          <p:nvPr/>
        </p:nvSpPr>
        <p:spPr>
          <a:xfrm xmlns:a="http://schemas.openxmlformats.org/drawingml/2006/main">
            <a:off x="771525"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More predictable</a:t>
            </a:r>
          </a:p>
        </p:txBody>
      </p:sp>
      <p:sp>
        <p:nvSpPr>
          <p:cNvPr id="8" name="">
            <a:extLst xmlns:a="http://schemas.openxmlformats.org/drawingml/2006/main">
              <a:ext uri="{FF2B5EF4-FFF2-40B4-BE49-F238E27FC236}">
                <a16:creationId xmlns:a16="http://schemas.microsoft.com/office/drawing/2014/main" id="{96ED805B-9F09-40FE-BEFC-1175E40771EE}"/>
              </a:ext>
            </a:extLst>
          </p:cNvPr>
          <p:cNvSpPr>
            <a:spLocks xmlns:a="http://schemas.openxmlformats.org/drawingml/2006/main" noGrp="1"/>
          </p:cNvSpPr>
          <p:nvPr/>
        </p:nvSpPr>
        <p:spPr>
          <a:xfrm xmlns:a="http://schemas.openxmlformats.org/drawingml/2006/main">
            <a:off x="2428875"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More varied</a:t>
            </a:r>
          </a:p>
        </p:txBody>
      </p:sp>
      <p:sp>
        <p:nvSpPr>
          <p:cNvPr id="9" name="">
            <a:extLst xmlns:a="http://schemas.openxmlformats.org/drawingml/2006/main">
              <a:ext uri="{FF2B5EF4-FFF2-40B4-BE49-F238E27FC236}">
                <a16:creationId xmlns:a16="http://schemas.microsoft.com/office/drawing/2014/main" id="{DE2F522E-F89C-4585-901D-55CDB5078FFA}"/>
              </a:ext>
            </a:extLst>
          </p:cNvPr>
          <p:cNvSpPr>
            <a:spLocks xmlns:a="http://schemas.openxmlformats.org/drawingml/2006/main" noGrp="1"/>
          </p:cNvSpPr>
          <p:nvPr/>
        </p:nvSpPr>
        <p:spPr>
          <a:xfrm xmlns:a="http://schemas.openxmlformats.org/drawingml/2006/main">
            <a:off x="4476750" y="1333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Top-p</a:t>
            </a:r>
          </a:p>
        </p:txBody>
      </p:sp>
      <p:sp>
        <p:nvSpPr>
          <p:cNvPr id="10" name="">
            <a:extLst xmlns:a="http://schemas.openxmlformats.org/drawingml/2006/main">
              <a:ext uri="{FF2B5EF4-FFF2-40B4-BE49-F238E27FC236}">
                <a16:creationId xmlns:a16="http://schemas.microsoft.com/office/drawing/2014/main" id="{1E442A10-7BDB-4203-9C29-D209A1D9939D}"/>
              </a:ext>
            </a:extLst>
          </p:cNvPr>
          <p:cNvSpPr>
            <a:spLocks xmlns:a="http://schemas.openxmlformats.org/drawingml/2006/main" noGrp="1"/>
          </p:cNvSpPr>
          <p:nvPr/>
        </p:nvSpPr>
        <p:spPr>
          <a:xfrm xmlns:a="http://schemas.openxmlformats.org/drawingml/2006/main">
            <a:off x="4933950" y="2324100"/>
            <a:ext cx="2419350" cy="17145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11" name="">
            <a:extLst xmlns:a="http://schemas.openxmlformats.org/drawingml/2006/main">
              <a:ext uri="{FF2B5EF4-FFF2-40B4-BE49-F238E27FC236}">
                <a16:creationId xmlns:a16="http://schemas.microsoft.com/office/drawing/2014/main" id="{91D8CA3D-A1C4-48B6-9C04-FB206F076A37}"/>
              </a:ext>
            </a:extLst>
          </p:cNvPr>
          <p:cNvSpPr>
            <a:spLocks xmlns:a="http://schemas.openxmlformats.org/drawingml/2006/main" noGrp="1"/>
          </p:cNvSpPr>
          <p:nvPr/>
        </p:nvSpPr>
        <p:spPr>
          <a:xfrm xmlns:a="http://schemas.openxmlformats.org/drawingml/2006/main">
            <a:off x="5857875" y="2152650"/>
            <a:ext cx="514350" cy="51435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12" name="">
            <a:extLst xmlns:a="http://schemas.openxmlformats.org/drawingml/2006/main">
              <a:ext uri="{FF2B5EF4-FFF2-40B4-BE49-F238E27FC236}">
                <a16:creationId xmlns:a16="http://schemas.microsoft.com/office/drawing/2014/main" id="{45778E10-2728-4E91-ADB5-F14DC08EB1EA}"/>
              </a:ext>
            </a:extLst>
          </p:cNvPr>
          <p:cNvSpPr>
            <a:spLocks xmlns:a="http://schemas.openxmlformats.org/drawingml/2006/main" noGrp="1"/>
          </p:cNvSpPr>
          <p:nvPr/>
        </p:nvSpPr>
        <p:spPr>
          <a:xfrm xmlns:a="http://schemas.openxmlformats.org/drawingml/2006/main">
            <a:off x="4572000"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Smaller set</a:t>
            </a:r>
          </a:p>
        </p:txBody>
      </p:sp>
      <p:sp>
        <p:nvSpPr>
          <p:cNvPr id="13" name="">
            <a:extLst xmlns:a="http://schemas.openxmlformats.org/drawingml/2006/main">
              <a:ext uri="{FF2B5EF4-FFF2-40B4-BE49-F238E27FC236}">
                <a16:creationId xmlns:a16="http://schemas.microsoft.com/office/drawing/2014/main" id="{634B8AC8-D6C1-4AAF-BEFA-CDDE9DA8761C}"/>
              </a:ext>
            </a:extLst>
          </p:cNvPr>
          <p:cNvSpPr>
            <a:spLocks xmlns:a="http://schemas.openxmlformats.org/drawingml/2006/main" noGrp="1"/>
          </p:cNvSpPr>
          <p:nvPr/>
        </p:nvSpPr>
        <p:spPr>
          <a:xfrm xmlns:a="http://schemas.openxmlformats.org/drawingml/2006/main">
            <a:off x="6667500"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Larger set</a:t>
            </a:r>
          </a:p>
        </p:txBody>
      </p:sp>
      <p:sp>
        <p:nvSpPr>
          <p:cNvPr id="14" name="">
            <a:extLst xmlns:a="http://schemas.openxmlformats.org/drawingml/2006/main">
              <a:ext uri="{FF2B5EF4-FFF2-40B4-BE49-F238E27FC236}">
                <a16:creationId xmlns:a16="http://schemas.microsoft.com/office/drawing/2014/main" id="{055BA43A-9D10-4E59-B57C-0AA520272BA4}"/>
              </a:ext>
            </a:extLst>
          </p:cNvPr>
          <p:cNvSpPr>
            <a:spLocks xmlns:a="http://schemas.openxmlformats.org/drawingml/2006/main" noGrp="1"/>
          </p:cNvSpPr>
          <p:nvPr/>
        </p:nvSpPr>
        <p:spPr>
          <a:xfrm xmlns:a="http://schemas.openxmlformats.org/drawingml/2006/main">
            <a:off x="4629150"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Conservative choices</a:t>
            </a:r>
          </a:p>
        </p:txBody>
      </p:sp>
      <p:sp>
        <p:nvSpPr>
          <p:cNvPr id="15" name="">
            <a:extLst xmlns:a="http://schemas.openxmlformats.org/drawingml/2006/main">
              <a:ext uri="{FF2B5EF4-FFF2-40B4-BE49-F238E27FC236}">
                <a16:creationId xmlns:a16="http://schemas.microsoft.com/office/drawing/2014/main" id="{71B34802-6079-4ED2-A750-19F7F8C4CFA1}"/>
              </a:ext>
            </a:extLst>
          </p:cNvPr>
          <p:cNvSpPr>
            <a:spLocks xmlns:a="http://schemas.openxmlformats.org/drawingml/2006/main" noGrp="1"/>
          </p:cNvSpPr>
          <p:nvPr/>
        </p:nvSpPr>
        <p:spPr>
          <a:xfrm xmlns:a="http://schemas.openxmlformats.org/drawingml/2006/main">
            <a:off x="6286500"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More alternatives</a:t>
            </a:r>
          </a:p>
        </p:txBody>
      </p:sp>
      <p:sp>
        <p:nvSpPr>
          <p:cNvPr id="16" name="">
            <a:extLst xmlns:a="http://schemas.openxmlformats.org/drawingml/2006/main">
              <a:ext uri="{FF2B5EF4-FFF2-40B4-BE49-F238E27FC236}">
                <a16:creationId xmlns:a16="http://schemas.microsoft.com/office/drawing/2014/main" id="{A7FCA453-DD3E-4DE6-B7A4-3258883566A6}"/>
              </a:ext>
            </a:extLst>
          </p:cNvPr>
          <p:cNvSpPr>
            <a:spLocks xmlns:a="http://schemas.openxmlformats.org/drawingml/2006/main" noGrp="1"/>
          </p:cNvSpPr>
          <p:nvPr/>
        </p:nvSpPr>
        <p:spPr>
          <a:xfrm xmlns:a="http://schemas.openxmlformats.org/drawingml/2006/main">
            <a:off x="8334375" y="133350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Max output tokens</a:t>
            </a:r>
          </a:p>
        </p:txBody>
      </p:sp>
      <p:sp>
        <p:nvSpPr>
          <p:cNvPr id="17" name="">
            <a:extLst xmlns:a="http://schemas.openxmlformats.org/drawingml/2006/main">
              <a:ext uri="{FF2B5EF4-FFF2-40B4-BE49-F238E27FC236}">
                <a16:creationId xmlns:a16="http://schemas.microsoft.com/office/drawing/2014/main" id="{EC73E287-A337-406D-B2FD-AF0AC74C1F22}"/>
              </a:ext>
            </a:extLst>
          </p:cNvPr>
          <p:cNvSpPr>
            <a:spLocks xmlns:a="http://schemas.openxmlformats.org/drawingml/2006/main" noGrp="1"/>
          </p:cNvSpPr>
          <p:nvPr/>
        </p:nvSpPr>
        <p:spPr>
          <a:xfrm xmlns:a="http://schemas.openxmlformats.org/drawingml/2006/main">
            <a:off x="8791575" y="2324100"/>
            <a:ext cx="2419350" cy="171450"/>
          </a:xfrm>
          <a:prstGeom xmlns:a="http://schemas.openxmlformats.org/drawingml/2006/main" prst="rect">
            <a:avLst/>
          </a:prstGeom>
          <a:solidFill xmlns:a="http://schemas.openxmlformats.org/drawingml/2006/main">
            <a:srgbClr val="F5C7C9"/>
          </a:solidFill>
          <a:ln xmlns:a="http://schemas.openxmlformats.org/drawingml/2006/main" w="0">
            <a:solidFill>
              <a:srgbClr val="F5C7C9"/>
            </a:solidFill>
            <a:prstDash val="solid"/>
          </a:ln>
        </p:spPr>
      </p:sp>
      <p:sp>
        <p:nvSpPr>
          <p:cNvPr id="18" name="">
            <a:extLst xmlns:a="http://schemas.openxmlformats.org/drawingml/2006/main">
              <a:ext uri="{FF2B5EF4-FFF2-40B4-BE49-F238E27FC236}">
                <a16:creationId xmlns:a16="http://schemas.microsoft.com/office/drawing/2014/main" id="{9D51A23A-AAA2-4196-BDA4-79139953796F}"/>
              </a:ext>
            </a:extLst>
          </p:cNvPr>
          <p:cNvSpPr>
            <a:spLocks xmlns:a="http://schemas.openxmlformats.org/drawingml/2006/main" noGrp="1"/>
          </p:cNvSpPr>
          <p:nvPr/>
        </p:nvSpPr>
        <p:spPr>
          <a:xfrm xmlns:a="http://schemas.openxmlformats.org/drawingml/2006/main">
            <a:off x="9715500" y="2152650"/>
            <a:ext cx="514350" cy="514350"/>
          </a:xfrm>
          <a:prstGeom xmlns:a="http://schemas.openxmlformats.org/drawingml/2006/main" prst="ellipse">
            <a:avLst/>
          </a:prstGeom>
          <a:solidFill xmlns:a="http://schemas.openxmlformats.org/drawingml/2006/main">
            <a:srgbClr val="FFFFFF"/>
          </a:solidFill>
          <a:ln xmlns:a="http://schemas.openxmlformats.org/drawingml/2006/main" w="28575">
            <a:solidFill>
              <a:srgbClr val="4285F4"/>
            </a:solidFill>
            <a:prstDash val="solid"/>
          </a:ln>
        </p:spPr>
      </p:sp>
      <p:sp>
        <p:nvSpPr>
          <p:cNvPr id="19" name="">
            <a:extLst xmlns:a="http://schemas.openxmlformats.org/drawingml/2006/main">
              <a:ext uri="{FF2B5EF4-FFF2-40B4-BE49-F238E27FC236}">
                <a16:creationId xmlns:a16="http://schemas.microsoft.com/office/drawing/2014/main" id="{B4EFA9B8-2A35-494C-AC5A-344A08FE9A76}"/>
              </a:ext>
            </a:extLst>
          </p:cNvPr>
          <p:cNvSpPr>
            <a:spLocks xmlns:a="http://schemas.openxmlformats.org/drawingml/2006/main" noGrp="1"/>
          </p:cNvSpPr>
          <p:nvPr/>
        </p:nvSpPr>
        <p:spPr>
          <a:xfrm xmlns:a="http://schemas.openxmlformats.org/drawingml/2006/main">
            <a:off x="8429625"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Short limit</a:t>
            </a:r>
          </a:p>
        </p:txBody>
      </p:sp>
      <p:sp>
        <p:nvSpPr>
          <p:cNvPr id="20" name="">
            <a:extLst xmlns:a="http://schemas.openxmlformats.org/drawingml/2006/main">
              <a:ext uri="{FF2B5EF4-FFF2-40B4-BE49-F238E27FC236}">
                <a16:creationId xmlns:a16="http://schemas.microsoft.com/office/drawing/2014/main" id="{1807BA8B-AAB4-4120-846A-5866EC8F432E}"/>
              </a:ext>
            </a:extLst>
          </p:cNvPr>
          <p:cNvSpPr>
            <a:spLocks xmlns:a="http://schemas.openxmlformats.org/drawingml/2006/main" noGrp="1"/>
          </p:cNvSpPr>
          <p:nvPr/>
        </p:nvSpPr>
        <p:spPr>
          <a:xfrm xmlns:a="http://schemas.openxmlformats.org/drawingml/2006/main">
            <a:off x="10525125" y="1952625"/>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Long limit</a:t>
            </a:r>
          </a:p>
        </p:txBody>
      </p:sp>
      <p:sp>
        <p:nvSpPr>
          <p:cNvPr id="21" name="">
            <a:extLst xmlns:a="http://schemas.openxmlformats.org/drawingml/2006/main">
              <a:ext uri="{FF2B5EF4-FFF2-40B4-BE49-F238E27FC236}">
                <a16:creationId xmlns:a16="http://schemas.microsoft.com/office/drawing/2014/main" id="{5C0CAE61-F21E-4C97-83FB-9BA386B406E1}"/>
              </a:ext>
            </a:extLst>
          </p:cNvPr>
          <p:cNvSpPr>
            <a:spLocks xmlns:a="http://schemas.openxmlformats.org/drawingml/2006/main" noGrp="1"/>
          </p:cNvSpPr>
          <p:nvPr/>
        </p:nvSpPr>
        <p:spPr>
          <a:xfrm xmlns:a="http://schemas.openxmlformats.org/drawingml/2006/main">
            <a:off x="8486775"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Brief response</a:t>
            </a:r>
          </a:p>
        </p:txBody>
      </p:sp>
      <p:sp>
        <p:nvSpPr>
          <p:cNvPr id="22" name="">
            <a:extLst xmlns:a="http://schemas.openxmlformats.org/drawingml/2006/main">
              <a:ext uri="{FF2B5EF4-FFF2-40B4-BE49-F238E27FC236}">
                <a16:creationId xmlns:a16="http://schemas.microsoft.com/office/drawing/2014/main" id="{EB43825C-0EF3-4762-91E5-B46EE8ED9871}"/>
              </a:ext>
            </a:extLst>
          </p:cNvPr>
          <p:cNvSpPr>
            <a:spLocks xmlns:a="http://schemas.openxmlformats.org/drawingml/2006/main" noGrp="1"/>
          </p:cNvSpPr>
          <p:nvPr/>
        </p:nvSpPr>
        <p:spPr>
          <a:xfrm xmlns:a="http://schemas.openxmlformats.org/drawingml/2006/main">
            <a:off x="10144125" y="2876550"/>
            <a:ext cx="1381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More room—not more truth</a:t>
            </a:r>
          </a:p>
        </p:txBody>
      </p:sp>
      <p:sp>
        <p:nvSpPr>
          <p:cNvPr id="23" name="">
            <a:extLst xmlns:a="http://schemas.openxmlformats.org/drawingml/2006/main">
              <a:ext uri="{FF2B5EF4-FFF2-40B4-BE49-F238E27FC236}">
                <a16:creationId xmlns:a16="http://schemas.microsoft.com/office/drawing/2014/main" id="{B71D2968-8EAF-4BF9-A7E2-F1081C0606FE}"/>
              </a:ext>
            </a:extLst>
          </p:cNvPr>
          <p:cNvSpPr>
            <a:spLocks xmlns:a="http://schemas.openxmlformats.org/drawingml/2006/main" noGrp="1"/>
          </p:cNvSpPr>
          <p:nvPr/>
        </p:nvSpPr>
        <p:spPr>
          <a:xfrm xmlns:a="http://schemas.openxmlformats.org/drawingml/2006/main">
            <a:off x="1000125" y="4191000"/>
            <a:ext cx="1019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Context window = instructions + examples + retrieved evidence + conversation + requested output</a:t>
            </a:r>
          </a:p>
        </p:txBody>
      </p:sp>
      <p:sp>
        <p:nvSpPr>
          <p:cNvPr id="24" name="">
            <a:extLst xmlns:a="http://schemas.openxmlformats.org/drawingml/2006/main">
              <a:ext uri="{FF2B5EF4-FFF2-40B4-BE49-F238E27FC236}">
                <a16:creationId xmlns:a16="http://schemas.microsoft.com/office/drawing/2014/main" id="{B35CE680-970A-40F0-91F2-164A2EED1617}"/>
              </a:ext>
            </a:extLst>
          </p:cNvPr>
          <p:cNvSpPr>
            <a:spLocks xmlns:a="http://schemas.openxmlformats.org/drawingml/2006/main" noGrp="1"/>
          </p:cNvSpPr>
          <p:nvPr/>
        </p:nvSpPr>
        <p:spPr>
          <a:xfrm xmlns:a="http://schemas.openxmlformats.org/drawingml/2006/main">
            <a:off x="1571625" y="4905375"/>
            <a:ext cx="1714500" cy="628650"/>
          </a:xfrm>
          <a:prstGeom xmlns:a="http://schemas.openxmlformats.org/drawingml/2006/main" prst="rect">
            <a:avLst/>
          </a:prstGeom>
          <a:solidFill xmlns:a="http://schemas.openxmlformats.org/drawingml/2006/main">
            <a:srgbClr val="C6DAFC"/>
          </a:solidFill>
          <a:ln xmlns:a="http://schemas.openxmlformats.org/drawingml/2006/main" w="19050">
            <a:solidFill>
              <a:srgbClr val="FFFFFF"/>
            </a:solidFill>
            <a:prstDash val="solid"/>
          </a:ln>
        </p:spPr>
      </p:sp>
      <p:sp>
        <p:nvSpPr>
          <p:cNvPr id="25" name="">
            <a:extLst xmlns:a="http://schemas.openxmlformats.org/drawingml/2006/main">
              <a:ext uri="{FF2B5EF4-FFF2-40B4-BE49-F238E27FC236}">
                <a16:creationId xmlns:a16="http://schemas.microsoft.com/office/drawing/2014/main" id="{62559000-1ECD-4AC7-8E24-5E3380D415B7}"/>
              </a:ext>
            </a:extLst>
          </p:cNvPr>
          <p:cNvSpPr>
            <a:spLocks xmlns:a="http://schemas.openxmlformats.org/drawingml/2006/main" noGrp="1"/>
          </p:cNvSpPr>
          <p:nvPr/>
        </p:nvSpPr>
        <p:spPr>
          <a:xfrm xmlns:a="http://schemas.openxmlformats.org/drawingml/2006/main">
            <a:off x="1647825" y="5067300"/>
            <a:ext cx="156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Instructions</a:t>
            </a:r>
          </a:p>
        </p:txBody>
      </p:sp>
      <p:sp>
        <p:nvSpPr>
          <p:cNvPr id="26" name="">
            <a:extLst xmlns:a="http://schemas.openxmlformats.org/drawingml/2006/main">
              <a:ext uri="{FF2B5EF4-FFF2-40B4-BE49-F238E27FC236}">
                <a16:creationId xmlns:a16="http://schemas.microsoft.com/office/drawing/2014/main" id="{5F250DEA-21A4-4D21-AD11-E053FA7E102A}"/>
              </a:ext>
            </a:extLst>
          </p:cNvPr>
          <p:cNvSpPr>
            <a:spLocks xmlns:a="http://schemas.openxmlformats.org/drawingml/2006/main" noGrp="1"/>
          </p:cNvSpPr>
          <p:nvPr/>
        </p:nvSpPr>
        <p:spPr>
          <a:xfrm xmlns:a="http://schemas.openxmlformats.org/drawingml/2006/main">
            <a:off x="3286125" y="4905375"/>
            <a:ext cx="2476500" cy="628650"/>
          </a:xfrm>
          <a:prstGeom xmlns:a="http://schemas.openxmlformats.org/drawingml/2006/main" prst="rect">
            <a:avLst/>
          </a:prstGeom>
          <a:solidFill xmlns:a="http://schemas.openxmlformats.org/drawingml/2006/main">
            <a:srgbClr val="FDEFC3"/>
          </a:solidFill>
          <a:ln xmlns:a="http://schemas.openxmlformats.org/drawingml/2006/main" w="19050">
            <a:solidFill>
              <a:srgbClr val="FFFFFF"/>
            </a:solidFill>
            <a:prstDash val="solid"/>
          </a:ln>
        </p:spPr>
      </p:sp>
      <p:sp>
        <p:nvSpPr>
          <p:cNvPr id="27" name="">
            <a:extLst xmlns:a="http://schemas.openxmlformats.org/drawingml/2006/main">
              <a:ext uri="{FF2B5EF4-FFF2-40B4-BE49-F238E27FC236}">
                <a16:creationId xmlns:a16="http://schemas.microsoft.com/office/drawing/2014/main" id="{12BD0B8E-F3F3-441F-8044-C717C4EF741B}"/>
              </a:ext>
            </a:extLst>
          </p:cNvPr>
          <p:cNvSpPr>
            <a:spLocks xmlns:a="http://schemas.openxmlformats.org/drawingml/2006/main" noGrp="1"/>
          </p:cNvSpPr>
          <p:nvPr/>
        </p:nvSpPr>
        <p:spPr>
          <a:xfrm xmlns:a="http://schemas.openxmlformats.org/drawingml/2006/main">
            <a:off x="3362325" y="50673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Evidence</a:t>
            </a:r>
          </a:p>
        </p:txBody>
      </p:sp>
      <p:sp>
        <p:nvSpPr>
          <p:cNvPr id="28" name="">
            <a:extLst xmlns:a="http://schemas.openxmlformats.org/drawingml/2006/main">
              <a:ext uri="{FF2B5EF4-FFF2-40B4-BE49-F238E27FC236}">
                <a16:creationId xmlns:a16="http://schemas.microsoft.com/office/drawing/2014/main" id="{A03B52F3-2B9A-4103-A9FA-4FBA6640E412}"/>
              </a:ext>
            </a:extLst>
          </p:cNvPr>
          <p:cNvSpPr>
            <a:spLocks xmlns:a="http://schemas.openxmlformats.org/drawingml/2006/main" noGrp="1"/>
          </p:cNvSpPr>
          <p:nvPr/>
        </p:nvSpPr>
        <p:spPr>
          <a:xfrm xmlns:a="http://schemas.openxmlformats.org/drawingml/2006/main">
            <a:off x="5762625" y="4905375"/>
            <a:ext cx="2476500" cy="628650"/>
          </a:xfrm>
          <a:prstGeom xmlns:a="http://schemas.openxmlformats.org/drawingml/2006/main" prst="rect">
            <a:avLst/>
          </a:prstGeom>
          <a:solidFill xmlns:a="http://schemas.openxmlformats.org/drawingml/2006/main">
            <a:srgbClr val="F5C7C9"/>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A7C85C78-E9ED-4363-9CE3-E992A3C68987}"/>
              </a:ext>
            </a:extLst>
          </p:cNvPr>
          <p:cNvSpPr>
            <a:spLocks xmlns:a="http://schemas.openxmlformats.org/drawingml/2006/main" noGrp="1"/>
          </p:cNvSpPr>
          <p:nvPr/>
        </p:nvSpPr>
        <p:spPr>
          <a:xfrm xmlns:a="http://schemas.openxmlformats.org/drawingml/2006/main">
            <a:off x="5838825" y="50673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History</a:t>
            </a:r>
          </a:p>
        </p:txBody>
      </p:sp>
      <p:sp>
        <p:nvSpPr>
          <p:cNvPr id="30" name="">
            <a:extLst xmlns:a="http://schemas.openxmlformats.org/drawingml/2006/main">
              <a:ext uri="{FF2B5EF4-FFF2-40B4-BE49-F238E27FC236}">
                <a16:creationId xmlns:a16="http://schemas.microsoft.com/office/drawing/2014/main" id="{483E6A2B-D929-4ECF-B4A8-539E76D974BE}"/>
              </a:ext>
            </a:extLst>
          </p:cNvPr>
          <p:cNvSpPr>
            <a:spLocks xmlns:a="http://schemas.openxmlformats.org/drawingml/2006/main" noGrp="1"/>
          </p:cNvSpPr>
          <p:nvPr/>
        </p:nvSpPr>
        <p:spPr>
          <a:xfrm xmlns:a="http://schemas.openxmlformats.org/drawingml/2006/main">
            <a:off x="8239125" y="4905375"/>
            <a:ext cx="2000250" cy="628650"/>
          </a:xfrm>
          <a:prstGeom xmlns:a="http://schemas.openxmlformats.org/drawingml/2006/main" prst="rect">
            <a:avLst/>
          </a:prstGeom>
          <a:solidFill xmlns:a="http://schemas.openxmlformats.org/drawingml/2006/main">
            <a:srgbClr val="D0E1E5"/>
          </a:solidFill>
          <a:ln xmlns:a="http://schemas.openxmlformats.org/drawingml/2006/main" w="19050">
            <a:solidFill>
              <a:srgbClr val="FFFFFF"/>
            </a:solidFill>
            <a:prstDash val="solid"/>
          </a:ln>
        </p:spPr>
      </p:sp>
      <p:sp>
        <p:nvSpPr>
          <p:cNvPr id="31" name="">
            <a:extLst xmlns:a="http://schemas.openxmlformats.org/drawingml/2006/main">
              <a:ext uri="{FF2B5EF4-FFF2-40B4-BE49-F238E27FC236}">
                <a16:creationId xmlns:a16="http://schemas.microsoft.com/office/drawing/2014/main" id="{7D7D7EE4-7509-494A-B97E-21FAB42D6239}"/>
              </a:ext>
            </a:extLst>
          </p:cNvPr>
          <p:cNvSpPr>
            <a:spLocks xmlns:a="http://schemas.openxmlformats.org/drawingml/2006/main" noGrp="1"/>
          </p:cNvSpPr>
          <p:nvPr/>
        </p:nvSpPr>
        <p:spPr>
          <a:xfrm xmlns:a="http://schemas.openxmlformats.org/drawingml/2006/main">
            <a:off x="8315325" y="506730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Output room</a:t>
            </a:r>
          </a:p>
        </p:txBody>
      </p:sp>
      <p:sp>
        <p:nvSpPr>
          <p:cNvPr id="32" name="">
            <a:extLst xmlns:a="http://schemas.openxmlformats.org/drawingml/2006/main">
              <a:ext uri="{FF2B5EF4-FFF2-40B4-BE49-F238E27FC236}">
                <a16:creationId xmlns:a16="http://schemas.microsoft.com/office/drawing/2014/main" id="{59B30EEF-337E-43D4-8C3E-DFAC1E01DCEC}"/>
              </a:ext>
            </a:extLst>
          </p:cNvPr>
          <p:cNvSpPr>
            <a:spLocks xmlns:a="http://schemas.openxmlformats.org/drawingml/2006/main" noGrp="1"/>
          </p:cNvSpPr>
          <p:nvPr/>
        </p:nvSpPr>
        <p:spPr>
          <a:xfrm xmlns:a="http://schemas.openxmlformats.org/drawingml/2006/main">
            <a:off x="1714500" y="5953125"/>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A larger context window does not guarantee perfect recall or equal attention to every detail.</a:t>
            </a:r>
          </a:p>
        </p:txBody>
      </p:sp>
    </p:spTree>
    <p:extLst>
      <p:ext uri="{BB962C8B-B14F-4D97-AF65-F5344CB8AC3E}">
        <p14:creationId xmlns:p14="http://schemas.microsoft.com/office/powerpoint/2010/main" val="202637932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FA5251A-3F3A-49D8-9A74-9256AD1F520A}"/>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Base, instruction, and chat models represent stages of adaptation</a:t>
            </a:r>
          </a:p>
        </p:txBody>
      </p:sp>
      <p:sp>
        <p:nvSpPr>
          <p:cNvPr id="2" name="">
            <a:extLst xmlns:a="http://schemas.openxmlformats.org/drawingml/2006/main">
              <a:ext uri="{FF2B5EF4-FFF2-40B4-BE49-F238E27FC236}">
                <a16:creationId xmlns:a16="http://schemas.microsoft.com/office/drawing/2014/main" id="{B85C7A9C-44D5-4FE9-8EA4-A4F4219FF210}"/>
              </a:ext>
            </a:extLst>
          </p:cNvPr>
          <p:cNvSpPr>
            <a:spLocks xmlns:a="http://schemas.openxmlformats.org/drawingml/2006/main" noGrp="1"/>
          </p:cNvSpPr>
          <p:nvPr/>
        </p:nvSpPr>
        <p:spPr>
          <a:xfrm xmlns:a="http://schemas.openxmlformats.org/drawingml/2006/main">
            <a:off x="952500" y="4095750"/>
            <a:ext cx="3048000" cy="1428750"/>
          </a:xfrm>
          <a:prstGeom xmlns:a="http://schemas.openxmlformats.org/drawingml/2006/main" prst="rect">
            <a:avLst/>
          </a:prstGeom>
          <a:solidFill xmlns:a="http://schemas.openxmlformats.org/drawingml/2006/main">
            <a:srgbClr val="D0E1E5"/>
          </a:solidFill>
          <a:ln xmlns:a="http://schemas.openxmlformats.org/drawingml/2006/main" w="0">
            <a:solidFill>
              <a:srgbClr val="D0E1E5"/>
            </a:solidFill>
            <a:prstDash val="solid"/>
          </a:ln>
        </p:spPr>
      </p:sp>
      <p:sp>
        <p:nvSpPr>
          <p:cNvPr id="3" name="">
            <a:extLst xmlns:a="http://schemas.openxmlformats.org/drawingml/2006/main">
              <a:ext uri="{FF2B5EF4-FFF2-40B4-BE49-F238E27FC236}">
                <a16:creationId xmlns:a16="http://schemas.microsoft.com/office/drawing/2014/main" id="{18A5391D-BE75-4EA4-B9D6-F436A8F9B6EB}"/>
              </a:ext>
            </a:extLst>
          </p:cNvPr>
          <p:cNvSpPr>
            <a:spLocks xmlns:a="http://schemas.openxmlformats.org/drawingml/2006/main" noGrp="1"/>
          </p:cNvSpPr>
          <p:nvPr/>
        </p:nvSpPr>
        <p:spPr>
          <a:xfrm xmlns:a="http://schemas.openxmlformats.org/drawingml/2006/main">
            <a:off x="1181100" y="4324350"/>
            <a:ext cx="259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Base model</a:t>
            </a:r>
          </a:p>
        </p:txBody>
      </p:sp>
      <p:sp>
        <p:nvSpPr>
          <p:cNvPr id="4" name="">
            <a:extLst xmlns:a="http://schemas.openxmlformats.org/drawingml/2006/main">
              <a:ext uri="{FF2B5EF4-FFF2-40B4-BE49-F238E27FC236}">
                <a16:creationId xmlns:a16="http://schemas.microsoft.com/office/drawing/2014/main" id="{573E8829-4D48-4859-8BE5-EA72DE7BF53C}"/>
              </a:ext>
            </a:extLst>
          </p:cNvPr>
          <p:cNvSpPr>
            <a:spLocks xmlns:a="http://schemas.openxmlformats.org/drawingml/2006/main" noGrp="1"/>
          </p:cNvSpPr>
          <p:nvPr/>
        </p:nvSpPr>
        <p:spPr>
          <a:xfrm xmlns:a="http://schemas.openxmlformats.org/drawingml/2006/main">
            <a:off x="1219200" y="483870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Learns broad language patterns during pretraining</a:t>
            </a:r>
          </a:p>
        </p:txBody>
      </p:sp>
      <p:sp>
        <p:nvSpPr>
          <p:cNvPr id="5" name="">
            <a:extLst xmlns:a="http://schemas.openxmlformats.org/drawingml/2006/main">
              <a:ext uri="{FF2B5EF4-FFF2-40B4-BE49-F238E27FC236}">
                <a16:creationId xmlns:a16="http://schemas.microsoft.com/office/drawing/2014/main" id="{75853EF3-C68F-43B2-9E29-3D911C3E10C5}"/>
              </a:ext>
            </a:extLst>
          </p:cNvPr>
          <p:cNvSpPr>
            <a:spLocks xmlns:a="http://schemas.openxmlformats.org/drawingml/2006/main" noGrp="1"/>
          </p:cNvSpPr>
          <p:nvPr/>
        </p:nvSpPr>
        <p:spPr>
          <a:xfrm xmlns:a="http://schemas.openxmlformats.org/drawingml/2006/main">
            <a:off x="4572000" y="3095625"/>
            <a:ext cx="3048000" cy="142875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6" name="">
            <a:extLst xmlns:a="http://schemas.openxmlformats.org/drawingml/2006/main">
              <a:ext uri="{FF2B5EF4-FFF2-40B4-BE49-F238E27FC236}">
                <a16:creationId xmlns:a16="http://schemas.microsoft.com/office/drawing/2014/main" id="{959EEA5F-10E1-4486-B67C-C63566B2D11D}"/>
              </a:ext>
            </a:extLst>
          </p:cNvPr>
          <p:cNvSpPr>
            <a:spLocks xmlns:a="http://schemas.openxmlformats.org/drawingml/2006/main" noGrp="1"/>
          </p:cNvSpPr>
          <p:nvPr/>
        </p:nvSpPr>
        <p:spPr>
          <a:xfrm xmlns:a="http://schemas.openxmlformats.org/drawingml/2006/main">
            <a:off x="4800600" y="3324225"/>
            <a:ext cx="259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Instruction-tuned model</a:t>
            </a:r>
          </a:p>
        </p:txBody>
      </p:sp>
      <p:sp>
        <p:nvSpPr>
          <p:cNvPr id="7" name="">
            <a:extLst xmlns:a="http://schemas.openxmlformats.org/drawingml/2006/main">
              <a:ext uri="{FF2B5EF4-FFF2-40B4-BE49-F238E27FC236}">
                <a16:creationId xmlns:a16="http://schemas.microsoft.com/office/drawing/2014/main" id="{F0B74831-2099-4D45-81AB-C58460861E9E}"/>
              </a:ext>
            </a:extLst>
          </p:cNvPr>
          <p:cNvSpPr>
            <a:spLocks xmlns:a="http://schemas.openxmlformats.org/drawingml/2006/main" noGrp="1"/>
          </p:cNvSpPr>
          <p:nvPr/>
        </p:nvSpPr>
        <p:spPr>
          <a:xfrm xmlns:a="http://schemas.openxmlformats.org/drawingml/2006/main">
            <a:off x="4838700" y="3838575"/>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Learns to follow task instructions and demonstrations</a:t>
            </a:r>
          </a:p>
        </p:txBody>
      </p:sp>
      <p:sp>
        <p:nvSpPr>
          <p:cNvPr id="8" name="">
            <a:extLst xmlns:a="http://schemas.openxmlformats.org/drawingml/2006/main">
              <a:ext uri="{FF2B5EF4-FFF2-40B4-BE49-F238E27FC236}">
                <a16:creationId xmlns:a16="http://schemas.microsoft.com/office/drawing/2014/main" id="{F26623AF-304D-4D75-9466-821F7C78A00C}"/>
              </a:ext>
            </a:extLst>
          </p:cNvPr>
          <p:cNvSpPr>
            <a:spLocks xmlns:a="http://schemas.openxmlformats.org/drawingml/2006/main" noGrp="1"/>
          </p:cNvSpPr>
          <p:nvPr/>
        </p:nvSpPr>
        <p:spPr>
          <a:xfrm xmlns:a="http://schemas.openxmlformats.org/drawingml/2006/main">
            <a:off x="8191500" y="2095500"/>
            <a:ext cx="3048000" cy="14287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9" name="">
            <a:extLst xmlns:a="http://schemas.openxmlformats.org/drawingml/2006/main">
              <a:ext uri="{FF2B5EF4-FFF2-40B4-BE49-F238E27FC236}">
                <a16:creationId xmlns:a16="http://schemas.microsoft.com/office/drawing/2014/main" id="{0747F6F0-9328-4E23-A4C9-76F22BDA0F3E}"/>
              </a:ext>
            </a:extLst>
          </p:cNvPr>
          <p:cNvSpPr>
            <a:spLocks xmlns:a="http://schemas.openxmlformats.org/drawingml/2006/main" noGrp="1"/>
          </p:cNvSpPr>
          <p:nvPr/>
        </p:nvSpPr>
        <p:spPr>
          <a:xfrm xmlns:a="http://schemas.openxmlformats.org/drawingml/2006/main">
            <a:off x="8420100" y="2324100"/>
            <a:ext cx="259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Chat-aligned model</a:t>
            </a:r>
          </a:p>
        </p:txBody>
      </p:sp>
      <p:sp>
        <p:nvSpPr>
          <p:cNvPr id="10" name="">
            <a:extLst xmlns:a="http://schemas.openxmlformats.org/drawingml/2006/main">
              <a:ext uri="{FF2B5EF4-FFF2-40B4-BE49-F238E27FC236}">
                <a16:creationId xmlns:a16="http://schemas.microsoft.com/office/drawing/2014/main" id="{B72348E4-E3D5-40DD-8B19-BFF4FCDAE61F}"/>
              </a:ext>
            </a:extLst>
          </p:cNvPr>
          <p:cNvSpPr>
            <a:spLocks xmlns:a="http://schemas.openxmlformats.org/drawingml/2006/main" noGrp="1"/>
          </p:cNvSpPr>
          <p:nvPr/>
        </p:nvSpPr>
        <p:spPr>
          <a:xfrm xmlns:a="http://schemas.openxmlformats.org/drawingml/2006/main">
            <a:off x="8458200" y="28384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Adds multi-turn behavior, preferences, and safety work</a:t>
            </a:r>
          </a:p>
        </p:txBody>
      </p:sp>
      <p:sp>
        <p:nvSpPr>
          <p:cNvPr id="11" name="">
            <a:extLst xmlns:a="http://schemas.openxmlformats.org/drawingml/2006/main">
              <a:ext uri="{FF2B5EF4-FFF2-40B4-BE49-F238E27FC236}">
                <a16:creationId xmlns:a16="http://schemas.microsoft.com/office/drawing/2014/main" id="{8D181813-FF0F-47AC-AF4C-2A41B20A1489}"/>
              </a:ext>
            </a:extLst>
          </p:cNvPr>
          <p:cNvSpPr>
            <a:spLocks xmlns:a="http://schemas.openxmlformats.org/drawingml/2006/main" noGrp="1"/>
          </p:cNvSpPr>
          <p:nvPr/>
        </p:nvSpPr>
        <p:spPr>
          <a:xfrm xmlns:a="http://schemas.openxmlformats.org/drawingml/2006/main">
            <a:off x="4048125" y="4000500"/>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2" name="">
            <a:extLst xmlns:a="http://schemas.openxmlformats.org/drawingml/2006/main">
              <a:ext uri="{FF2B5EF4-FFF2-40B4-BE49-F238E27FC236}">
                <a16:creationId xmlns:a16="http://schemas.microsoft.com/office/drawing/2014/main" id="{B2B0F009-2455-4753-9294-5C248A5977E0}"/>
              </a:ext>
            </a:extLst>
          </p:cNvPr>
          <p:cNvSpPr>
            <a:spLocks xmlns:a="http://schemas.openxmlformats.org/drawingml/2006/main" noGrp="1"/>
          </p:cNvSpPr>
          <p:nvPr/>
        </p:nvSpPr>
        <p:spPr>
          <a:xfrm xmlns:a="http://schemas.openxmlformats.org/drawingml/2006/main">
            <a:off x="7667625" y="3000375"/>
            <a:ext cx="47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3" name="">
            <a:extLst xmlns:a="http://schemas.openxmlformats.org/drawingml/2006/main">
              <a:ext uri="{FF2B5EF4-FFF2-40B4-BE49-F238E27FC236}">
                <a16:creationId xmlns:a16="http://schemas.microsoft.com/office/drawing/2014/main" id="{BA77B27B-2AB6-4659-8D11-5AF3301DB069}"/>
              </a:ext>
            </a:extLst>
          </p:cNvPr>
          <p:cNvSpPr>
            <a:spLocks xmlns:a="http://schemas.openxmlformats.org/drawingml/2006/main" noGrp="1"/>
          </p:cNvSpPr>
          <p:nvPr/>
        </p:nvSpPr>
        <p:spPr>
          <a:xfrm xmlns:a="http://schemas.openxmlformats.org/drawingml/2006/main">
            <a:off x="1619250" y="600075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Alignment improves useful behavior—but it does not remove hallucination, bias, or security risks.</a:t>
            </a:r>
          </a:p>
        </p:txBody>
      </p:sp>
    </p:spTree>
    <p:extLst>
      <p:ext uri="{BB962C8B-B14F-4D97-AF65-F5344CB8AC3E}">
        <p14:creationId xmlns:p14="http://schemas.microsoft.com/office/powerpoint/2010/main" val="11802673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B98F05-01D2-46F2-BB89-2A948F3CE016}"/>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LLM output is useful only when its limitations are managed</a:t>
            </a:r>
          </a:p>
        </p:txBody>
      </p:sp>
      <p:sp>
        <p:nvSpPr>
          <p:cNvPr id="2" name="">
            <a:extLst xmlns:a="http://schemas.openxmlformats.org/drawingml/2006/main">
              <a:ext uri="{FF2B5EF4-FFF2-40B4-BE49-F238E27FC236}">
                <a16:creationId xmlns:a16="http://schemas.microsoft.com/office/drawing/2014/main" id="{1166E114-8DD1-41EB-80FC-784E098E1974}"/>
              </a:ext>
            </a:extLst>
          </p:cNvPr>
          <p:cNvSpPr>
            <a:spLocks xmlns:a="http://schemas.openxmlformats.org/drawingml/2006/main" noGrp="1"/>
          </p:cNvSpPr>
          <p:nvPr/>
        </p:nvSpPr>
        <p:spPr>
          <a:xfrm xmlns:a="http://schemas.openxmlformats.org/drawingml/2006/main">
            <a:off x="4857750" y="2781300"/>
            <a:ext cx="238125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4285F4"/>
            </a:solidFill>
            <a:prstDash val="solid"/>
          </a:ln>
        </p:spPr>
      </p:sp>
      <p:sp>
        <p:nvSpPr>
          <p:cNvPr id="3" name="">
            <a:extLst xmlns:a="http://schemas.openxmlformats.org/drawingml/2006/main">
              <a:ext uri="{FF2B5EF4-FFF2-40B4-BE49-F238E27FC236}">
                <a16:creationId xmlns:a16="http://schemas.microsoft.com/office/drawing/2014/main" id="{0CD85823-C587-435C-87EA-B4946D05ECBA}"/>
              </a:ext>
            </a:extLst>
          </p:cNvPr>
          <p:cNvSpPr>
            <a:spLocks xmlns:a="http://schemas.openxmlformats.org/drawingml/2006/main" noGrp="1"/>
          </p:cNvSpPr>
          <p:nvPr/>
        </p:nvSpPr>
        <p:spPr>
          <a:xfrm xmlns:a="http://schemas.openxmlformats.org/drawingml/2006/main">
            <a:off x="5010150" y="2876550"/>
            <a:ext cx="20764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2025" b="1">
                <a:solidFill>
                  <a:srgbClr val="000000"/>
                </a:solidFill>
                <a:latin typeface="Google Sans Text"/>
                <a:ea typeface="Google Sans Text"/>
                <a:cs typeface="Google Sans Text"/>
              </a:defRPr>
            </a:pPr>
            <a:r>
              <a:rPr sz="2025" b="1">
                <a:solidFill>
                  <a:srgbClr val="000000"/>
                </a:solidFill>
                <a:latin typeface="Google Sans Text"/>
                <a:ea typeface="Google Sans Text"/>
                <a:cs typeface="Google Sans Text"/>
              </a:rPr>
              <a:t>LLM</a:t>
            </a:r>
          </a:p>
          <a:p xmlns:a="http://schemas.openxmlformats.org/drawingml/2006/main">
            <a:pPr algn="ctr">
              <a:buNone/>
              <a:defRPr sz="2025" b="1">
                <a:solidFill>
                  <a:srgbClr val="000000"/>
                </a:solidFill>
                <a:latin typeface="Google Sans Text"/>
                <a:ea typeface="Google Sans Text"/>
                <a:cs typeface="Google Sans Text"/>
              </a:defRPr>
            </a:pPr>
            <a:r>
              <a:rPr sz="2025" b="1">
                <a:solidFill>
                  <a:srgbClr val="000000"/>
                </a:solidFill>
                <a:latin typeface="Google Sans Text"/>
                <a:ea typeface="Google Sans Text"/>
                <a:cs typeface="Google Sans Text"/>
              </a:rPr>
              <a:t>output</a:t>
            </a:r>
          </a:p>
        </p:txBody>
      </p:sp>
      <p:sp>
        <p:nvSpPr>
          <p:cNvPr id="4" name="">
            <a:extLst xmlns:a="http://schemas.openxmlformats.org/drawingml/2006/main">
              <a:ext uri="{FF2B5EF4-FFF2-40B4-BE49-F238E27FC236}">
                <a16:creationId xmlns:a16="http://schemas.microsoft.com/office/drawing/2014/main" id="{A6255FB2-2007-4B1C-9E65-B311E41B45A9}"/>
              </a:ext>
            </a:extLst>
          </p:cNvPr>
          <p:cNvSpPr>
            <a:spLocks xmlns:a="http://schemas.openxmlformats.org/drawingml/2006/main" noGrp="1"/>
          </p:cNvSpPr>
          <p:nvPr/>
        </p:nvSpPr>
        <p:spPr>
          <a:xfrm xmlns:a="http://schemas.openxmlformats.org/drawingml/2006/main">
            <a:off x="3190875" y="2352675"/>
            <a:ext cx="1857375"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5" name="">
            <a:extLst xmlns:a="http://schemas.openxmlformats.org/drawingml/2006/main">
              <a:ext uri="{FF2B5EF4-FFF2-40B4-BE49-F238E27FC236}">
                <a16:creationId xmlns:a16="http://schemas.microsoft.com/office/drawing/2014/main" id="{89DE95AF-0E1A-4A8F-9814-2F4FF07EA0FD}"/>
              </a:ext>
            </a:extLst>
          </p:cNvPr>
          <p:cNvSpPr>
            <a:spLocks xmlns:a="http://schemas.openxmlformats.org/drawingml/2006/main" noGrp="1"/>
          </p:cNvSpPr>
          <p:nvPr/>
        </p:nvSpPr>
        <p:spPr>
          <a:xfrm xmlns:a="http://schemas.openxmlformats.org/drawingml/2006/main">
            <a:off x="7143750" y="2352675"/>
            <a:ext cx="1857375"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6" name="">
            <a:extLst xmlns:a="http://schemas.openxmlformats.org/drawingml/2006/main">
              <a:ext uri="{FF2B5EF4-FFF2-40B4-BE49-F238E27FC236}">
                <a16:creationId xmlns:a16="http://schemas.microsoft.com/office/drawing/2014/main" id="{D70C2E90-39C1-4B84-BDEE-D5D3F4075767}"/>
              </a:ext>
            </a:extLst>
          </p:cNvPr>
          <p:cNvSpPr>
            <a:spLocks xmlns:a="http://schemas.openxmlformats.org/drawingml/2006/main" noGrp="1"/>
          </p:cNvSpPr>
          <p:nvPr/>
        </p:nvSpPr>
        <p:spPr>
          <a:xfrm xmlns:a="http://schemas.openxmlformats.org/drawingml/2006/main">
            <a:off x="3190875" y="4953000"/>
            <a:ext cx="1857375"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7" name="">
            <a:extLst xmlns:a="http://schemas.openxmlformats.org/drawingml/2006/main">
              <a:ext uri="{FF2B5EF4-FFF2-40B4-BE49-F238E27FC236}">
                <a16:creationId xmlns:a16="http://schemas.microsoft.com/office/drawing/2014/main" id="{D16E38C1-429F-4BB9-82C3-F1F54CDCF663}"/>
              </a:ext>
            </a:extLst>
          </p:cNvPr>
          <p:cNvSpPr>
            <a:spLocks xmlns:a="http://schemas.openxmlformats.org/drawingml/2006/main" noGrp="1"/>
          </p:cNvSpPr>
          <p:nvPr/>
        </p:nvSpPr>
        <p:spPr>
          <a:xfrm xmlns:a="http://schemas.openxmlformats.org/drawingml/2006/main">
            <a:off x="7143750" y="4953000"/>
            <a:ext cx="1857375" cy="3810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8" name="">
            <a:extLst xmlns:a="http://schemas.openxmlformats.org/drawingml/2006/main">
              <a:ext uri="{FF2B5EF4-FFF2-40B4-BE49-F238E27FC236}">
                <a16:creationId xmlns:a16="http://schemas.microsoft.com/office/drawing/2014/main" id="{310B51D9-DBF8-400B-BEC7-C615AC90C272}"/>
              </a:ext>
            </a:extLst>
          </p:cNvPr>
          <p:cNvSpPr>
            <a:spLocks xmlns:a="http://schemas.openxmlformats.org/drawingml/2006/main" noGrp="1"/>
          </p:cNvSpPr>
          <p:nvPr/>
        </p:nvSpPr>
        <p:spPr>
          <a:xfrm xmlns:a="http://schemas.openxmlformats.org/drawingml/2006/main">
            <a:off x="857250" y="1428750"/>
            <a:ext cx="2857500" cy="1190625"/>
          </a:xfrm>
          <a:prstGeom xmlns:a="http://schemas.openxmlformats.org/drawingml/2006/main" prst="roundRect">
            <a:avLst>
              <a:gd name="adj" fmla="val 6400"/>
            </a:avLst>
          </a:prstGeom>
          <a:solidFill xmlns:a="http://schemas.openxmlformats.org/drawingml/2006/main">
            <a:srgbClr val="C6DAFC"/>
          </a:solidFill>
          <a:ln xmlns:a="http://schemas.openxmlformats.org/drawingml/2006/main" w="0">
            <a:solidFill>
              <a:srgbClr val="C6DAFC"/>
            </a:solidFill>
            <a:prstDash val="solid"/>
          </a:ln>
        </p:spPr>
      </p:sp>
      <p:sp>
        <p:nvSpPr>
          <p:cNvPr id="9" name="">
            <a:extLst xmlns:a="http://schemas.openxmlformats.org/drawingml/2006/main">
              <a:ext uri="{FF2B5EF4-FFF2-40B4-BE49-F238E27FC236}">
                <a16:creationId xmlns:a16="http://schemas.microsoft.com/office/drawing/2014/main" id="{1576347E-6000-4406-829B-86EBAEA4D792}"/>
              </a:ext>
            </a:extLst>
          </p:cNvPr>
          <p:cNvSpPr>
            <a:spLocks xmlns:a="http://schemas.openxmlformats.org/drawingml/2006/main" noGrp="1"/>
          </p:cNvSpPr>
          <p:nvPr/>
        </p:nvSpPr>
        <p:spPr>
          <a:xfrm xmlns:a="http://schemas.openxmlformats.org/drawingml/2006/main">
            <a:off x="1066800" y="16192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Hallucination</a:t>
            </a:r>
          </a:p>
        </p:txBody>
      </p:sp>
      <p:sp>
        <p:nvSpPr>
          <p:cNvPr id="10" name="">
            <a:extLst xmlns:a="http://schemas.openxmlformats.org/drawingml/2006/main">
              <a:ext uri="{FF2B5EF4-FFF2-40B4-BE49-F238E27FC236}">
                <a16:creationId xmlns:a16="http://schemas.microsoft.com/office/drawing/2014/main" id="{CFB94523-D767-4204-A8A5-5FEC6C454442}"/>
              </a:ext>
            </a:extLst>
          </p:cNvPr>
          <p:cNvSpPr>
            <a:spLocks xmlns:a="http://schemas.openxmlformats.org/drawingml/2006/main" noGrp="1"/>
          </p:cNvSpPr>
          <p:nvPr/>
        </p:nvSpPr>
        <p:spPr>
          <a:xfrm xmlns:a="http://schemas.openxmlformats.org/drawingml/2006/main">
            <a:off x="1066800" y="205740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Fluent but unsupported claims</a:t>
            </a:r>
          </a:p>
        </p:txBody>
      </p:sp>
      <p:sp>
        <p:nvSpPr>
          <p:cNvPr id="11" name="">
            <a:extLst xmlns:a="http://schemas.openxmlformats.org/drawingml/2006/main">
              <a:ext uri="{FF2B5EF4-FFF2-40B4-BE49-F238E27FC236}">
                <a16:creationId xmlns:a16="http://schemas.microsoft.com/office/drawing/2014/main" id="{AD004C31-7D47-442B-A07E-619496B489C7}"/>
              </a:ext>
            </a:extLst>
          </p:cNvPr>
          <p:cNvSpPr>
            <a:spLocks xmlns:a="http://schemas.openxmlformats.org/drawingml/2006/main" noGrp="1"/>
          </p:cNvSpPr>
          <p:nvPr/>
        </p:nvSpPr>
        <p:spPr>
          <a:xfrm xmlns:a="http://schemas.openxmlformats.org/drawingml/2006/main">
            <a:off x="8572500" y="1428750"/>
            <a:ext cx="2857500" cy="1190625"/>
          </a:xfrm>
          <a:prstGeom xmlns:a="http://schemas.openxmlformats.org/drawingml/2006/main" prst="roundRect">
            <a:avLst>
              <a:gd name="adj" fmla="val 6400"/>
            </a:avLst>
          </a:prstGeom>
          <a:solidFill xmlns:a="http://schemas.openxmlformats.org/drawingml/2006/main">
            <a:srgbClr val="FDEFC3"/>
          </a:solidFill>
          <a:ln xmlns:a="http://schemas.openxmlformats.org/drawingml/2006/main" w="0">
            <a:solidFill>
              <a:srgbClr val="FDEFC3"/>
            </a:solidFill>
            <a:prstDash val="solid"/>
          </a:ln>
        </p:spPr>
      </p:sp>
      <p:sp>
        <p:nvSpPr>
          <p:cNvPr id="12" name="">
            <a:extLst xmlns:a="http://schemas.openxmlformats.org/drawingml/2006/main">
              <a:ext uri="{FF2B5EF4-FFF2-40B4-BE49-F238E27FC236}">
                <a16:creationId xmlns:a16="http://schemas.microsoft.com/office/drawing/2014/main" id="{B057DF33-713C-4404-AA80-0BCB7D41BAF5}"/>
              </a:ext>
            </a:extLst>
          </p:cNvPr>
          <p:cNvSpPr>
            <a:spLocks xmlns:a="http://schemas.openxmlformats.org/drawingml/2006/main" noGrp="1"/>
          </p:cNvSpPr>
          <p:nvPr/>
        </p:nvSpPr>
        <p:spPr>
          <a:xfrm xmlns:a="http://schemas.openxmlformats.org/drawingml/2006/main">
            <a:off x="8782050" y="1619250"/>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Bias</a:t>
            </a:r>
          </a:p>
        </p:txBody>
      </p:sp>
      <p:sp>
        <p:nvSpPr>
          <p:cNvPr id="13" name="">
            <a:extLst xmlns:a="http://schemas.openxmlformats.org/drawingml/2006/main">
              <a:ext uri="{FF2B5EF4-FFF2-40B4-BE49-F238E27FC236}">
                <a16:creationId xmlns:a16="http://schemas.microsoft.com/office/drawing/2014/main" id="{0A9FEA9B-869E-4505-A2B8-67755C9A9A8C}"/>
              </a:ext>
            </a:extLst>
          </p:cNvPr>
          <p:cNvSpPr>
            <a:spLocks xmlns:a="http://schemas.openxmlformats.org/drawingml/2006/main" noGrp="1"/>
          </p:cNvSpPr>
          <p:nvPr/>
        </p:nvSpPr>
        <p:spPr>
          <a:xfrm xmlns:a="http://schemas.openxmlformats.org/drawingml/2006/main">
            <a:off x="8782050" y="2057400"/>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Patterns can reflect imbalanced data</a:t>
            </a:r>
          </a:p>
        </p:txBody>
      </p:sp>
      <p:sp>
        <p:nvSpPr>
          <p:cNvPr id="14" name="">
            <a:extLst xmlns:a="http://schemas.openxmlformats.org/drawingml/2006/main">
              <a:ext uri="{FF2B5EF4-FFF2-40B4-BE49-F238E27FC236}">
                <a16:creationId xmlns:a16="http://schemas.microsoft.com/office/drawing/2014/main" id="{32244B5E-69AF-446A-9C5C-FBE40B0C1E80}"/>
              </a:ext>
            </a:extLst>
          </p:cNvPr>
          <p:cNvSpPr>
            <a:spLocks xmlns:a="http://schemas.openxmlformats.org/drawingml/2006/main" noGrp="1"/>
          </p:cNvSpPr>
          <p:nvPr/>
        </p:nvSpPr>
        <p:spPr>
          <a:xfrm xmlns:a="http://schemas.openxmlformats.org/drawingml/2006/main">
            <a:off x="857250" y="4524375"/>
            <a:ext cx="2857500" cy="1190625"/>
          </a:xfrm>
          <a:prstGeom xmlns:a="http://schemas.openxmlformats.org/drawingml/2006/main" prst="roundRect">
            <a:avLst>
              <a:gd name="adj" fmla="val 6400"/>
            </a:avLst>
          </a:prstGeom>
          <a:solidFill xmlns:a="http://schemas.openxmlformats.org/drawingml/2006/main">
            <a:srgbClr val="F5C7C9"/>
          </a:solidFill>
          <a:ln xmlns:a="http://schemas.openxmlformats.org/drawingml/2006/main" w="0">
            <a:solidFill>
              <a:srgbClr val="F5C7C9"/>
            </a:solidFill>
            <a:prstDash val="solid"/>
          </a:ln>
        </p:spPr>
      </p:sp>
      <p:sp>
        <p:nvSpPr>
          <p:cNvPr id="15" name="">
            <a:extLst xmlns:a="http://schemas.openxmlformats.org/drawingml/2006/main">
              <a:ext uri="{FF2B5EF4-FFF2-40B4-BE49-F238E27FC236}">
                <a16:creationId xmlns:a16="http://schemas.microsoft.com/office/drawing/2014/main" id="{72E2E5C6-C329-4A72-B56F-399F099A00B1}"/>
              </a:ext>
            </a:extLst>
          </p:cNvPr>
          <p:cNvSpPr>
            <a:spLocks xmlns:a="http://schemas.openxmlformats.org/drawingml/2006/main" noGrp="1"/>
          </p:cNvSpPr>
          <p:nvPr/>
        </p:nvSpPr>
        <p:spPr>
          <a:xfrm xmlns:a="http://schemas.openxmlformats.org/drawingml/2006/main">
            <a:off x="1066800" y="4714875"/>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Privacy + security</a:t>
            </a:r>
          </a:p>
        </p:txBody>
      </p:sp>
      <p:sp>
        <p:nvSpPr>
          <p:cNvPr id="16" name="">
            <a:extLst xmlns:a="http://schemas.openxmlformats.org/drawingml/2006/main">
              <a:ext uri="{FF2B5EF4-FFF2-40B4-BE49-F238E27FC236}">
                <a16:creationId xmlns:a16="http://schemas.microsoft.com/office/drawing/2014/main" id="{B390F677-718E-412E-A42C-DF19112EB6BE}"/>
              </a:ext>
            </a:extLst>
          </p:cNvPr>
          <p:cNvSpPr>
            <a:spLocks xmlns:a="http://schemas.openxmlformats.org/drawingml/2006/main" noGrp="1"/>
          </p:cNvSpPr>
          <p:nvPr/>
        </p:nvSpPr>
        <p:spPr>
          <a:xfrm xmlns:a="http://schemas.openxmlformats.org/drawingml/2006/main">
            <a:off x="1066800" y="515302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Prompts and tools need data controls</a:t>
            </a:r>
          </a:p>
        </p:txBody>
      </p:sp>
      <p:sp>
        <p:nvSpPr>
          <p:cNvPr id="17" name="">
            <a:extLst xmlns:a="http://schemas.openxmlformats.org/drawingml/2006/main">
              <a:ext uri="{FF2B5EF4-FFF2-40B4-BE49-F238E27FC236}">
                <a16:creationId xmlns:a16="http://schemas.microsoft.com/office/drawing/2014/main" id="{76E93BF4-F5D4-45CF-AFAD-CD689310A2D7}"/>
              </a:ext>
            </a:extLst>
          </p:cNvPr>
          <p:cNvSpPr>
            <a:spLocks xmlns:a="http://schemas.openxmlformats.org/drawingml/2006/main" noGrp="1"/>
          </p:cNvSpPr>
          <p:nvPr/>
        </p:nvSpPr>
        <p:spPr>
          <a:xfrm xmlns:a="http://schemas.openxmlformats.org/drawingml/2006/main">
            <a:off x="8572500" y="4524375"/>
            <a:ext cx="2857500" cy="1190625"/>
          </a:xfrm>
          <a:prstGeom xmlns:a="http://schemas.openxmlformats.org/drawingml/2006/main" prst="roundRect">
            <a:avLst>
              <a:gd name="adj" fmla="val 6400"/>
            </a:avLst>
          </a:prstGeom>
          <a:solidFill xmlns:a="http://schemas.openxmlformats.org/drawingml/2006/main">
            <a:srgbClr val="D0E1E5"/>
          </a:solidFill>
          <a:ln xmlns:a="http://schemas.openxmlformats.org/drawingml/2006/main" w="0">
            <a:solidFill>
              <a:srgbClr val="D0E1E5"/>
            </a:solidFill>
            <a:prstDash val="solid"/>
          </a:ln>
        </p:spPr>
      </p:sp>
      <p:sp>
        <p:nvSpPr>
          <p:cNvPr id="18" name="">
            <a:extLst xmlns:a="http://schemas.openxmlformats.org/drawingml/2006/main">
              <a:ext uri="{FF2B5EF4-FFF2-40B4-BE49-F238E27FC236}">
                <a16:creationId xmlns:a16="http://schemas.microsoft.com/office/drawing/2014/main" id="{805597D7-80DA-4F84-9903-0F92A741FD70}"/>
              </a:ext>
            </a:extLst>
          </p:cNvPr>
          <p:cNvSpPr>
            <a:spLocks xmlns:a="http://schemas.openxmlformats.org/drawingml/2006/main" noGrp="1"/>
          </p:cNvSpPr>
          <p:nvPr/>
        </p:nvSpPr>
        <p:spPr>
          <a:xfrm xmlns:a="http://schemas.openxmlformats.org/drawingml/2006/main">
            <a:off x="8782050" y="4714875"/>
            <a:ext cx="2438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Freshness + grounding</a:t>
            </a:r>
          </a:p>
        </p:txBody>
      </p:sp>
      <p:sp>
        <p:nvSpPr>
          <p:cNvPr id="19" name="">
            <a:extLst xmlns:a="http://schemas.openxmlformats.org/drawingml/2006/main">
              <a:ext uri="{FF2B5EF4-FFF2-40B4-BE49-F238E27FC236}">
                <a16:creationId xmlns:a16="http://schemas.microsoft.com/office/drawing/2014/main" id="{D1D31B8A-CCBF-4D29-B665-7CB00D55609F}"/>
              </a:ext>
            </a:extLst>
          </p:cNvPr>
          <p:cNvSpPr>
            <a:spLocks xmlns:a="http://schemas.openxmlformats.org/drawingml/2006/main" noGrp="1"/>
          </p:cNvSpPr>
          <p:nvPr/>
        </p:nvSpPr>
        <p:spPr>
          <a:xfrm xmlns:a="http://schemas.openxmlformats.org/drawingml/2006/main">
            <a:off x="8782050" y="515302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Internal knowledge may be incomplete</a:t>
            </a:r>
          </a:p>
        </p:txBody>
      </p:sp>
      <p:sp>
        <p:nvSpPr>
          <p:cNvPr id="20" name="">
            <a:extLst xmlns:a="http://schemas.openxmlformats.org/drawingml/2006/main">
              <a:ext uri="{FF2B5EF4-FFF2-40B4-BE49-F238E27FC236}">
                <a16:creationId xmlns:a16="http://schemas.microsoft.com/office/drawing/2014/main" id="{FBDDDBE6-A0EE-4112-8771-158305FBFBDD}"/>
              </a:ext>
            </a:extLst>
          </p:cNvPr>
          <p:cNvSpPr>
            <a:spLocks xmlns:a="http://schemas.openxmlformats.org/drawingml/2006/main" noGrp="1"/>
          </p:cNvSpPr>
          <p:nvPr/>
        </p:nvSpPr>
        <p:spPr>
          <a:xfrm xmlns:a="http://schemas.openxmlformats.org/drawingml/2006/main">
            <a:off x="1714500" y="60007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Verify important claims against trusted evidence and define when a human must review the output.</a:t>
            </a:r>
          </a:p>
        </p:txBody>
      </p:sp>
    </p:spTree>
    <p:extLst>
      <p:ext uri="{BB962C8B-B14F-4D97-AF65-F5344CB8AC3E}">
        <p14:creationId xmlns:p14="http://schemas.microsoft.com/office/powerpoint/2010/main" val="125756157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15B313-8434-46F1-8411-484E71C3DE54}"/>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37D63A8E-B6C6-43A4-A881-ECAD242F65EC}"/>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03</a:t>
            </a:r>
          </a:p>
        </p:txBody>
      </p:sp>
      <p:sp>
        <p:nvSpPr>
          <p:cNvPr id="3" name="">
            <a:extLst xmlns:a="http://schemas.openxmlformats.org/drawingml/2006/main">
              <a:ext uri="{FF2B5EF4-FFF2-40B4-BE49-F238E27FC236}">
                <a16:creationId xmlns:a16="http://schemas.microsoft.com/office/drawing/2014/main" id="{EB6F5EC1-EF2A-42E7-803A-3F8E78E3F181}"/>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5E72D6BB-D368-4F64-AD60-5BA646437212}"/>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LLM use cases</a:t>
            </a:r>
          </a:p>
        </p:txBody>
      </p:sp>
      <p:sp>
        <p:nvSpPr>
          <p:cNvPr id="5" name="">
            <a:extLst xmlns:a="http://schemas.openxmlformats.org/drawingml/2006/main">
              <a:ext uri="{FF2B5EF4-FFF2-40B4-BE49-F238E27FC236}">
                <a16:creationId xmlns:a16="http://schemas.microsoft.com/office/drawing/2014/main" id="{0E7AE4AC-1038-4E1A-96E7-A9BE91250B63}"/>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Match the model to the task, data, risk, and evaluation method</a:t>
            </a:r>
          </a:p>
        </p:txBody>
      </p:sp>
    </p:spTree>
    <p:extLst>
      <p:ext uri="{BB962C8B-B14F-4D97-AF65-F5344CB8AC3E}">
        <p14:creationId xmlns:p14="http://schemas.microsoft.com/office/powerpoint/2010/main" val="4348523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E3CB534-200E-41F5-A516-1777C012314F}"/>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LLM applications range from transforming content to creating it</a:t>
            </a:r>
          </a:p>
        </p:txBody>
      </p:sp>
      <p:sp>
        <p:nvSpPr>
          <p:cNvPr id="2" name="">
            <a:extLst xmlns:a="http://schemas.openxmlformats.org/drawingml/2006/main">
              <a:ext uri="{FF2B5EF4-FFF2-40B4-BE49-F238E27FC236}">
                <a16:creationId xmlns:a16="http://schemas.microsoft.com/office/drawing/2014/main" id="{2E6FFF57-12E1-409B-9215-0412684F08BA}"/>
              </a:ext>
            </a:extLst>
          </p:cNvPr>
          <p:cNvSpPr>
            <a:spLocks xmlns:a="http://schemas.openxmlformats.org/drawingml/2006/main" noGrp="1"/>
          </p:cNvSpPr>
          <p:nvPr/>
        </p:nvSpPr>
        <p:spPr>
          <a:xfrm xmlns:a="http://schemas.openxmlformats.org/drawingml/2006/main">
            <a:off x="1238250" y="3371850"/>
            <a:ext cx="9715500" cy="571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3" name="">
            <a:extLst xmlns:a="http://schemas.openxmlformats.org/drawingml/2006/main">
              <a:ext uri="{FF2B5EF4-FFF2-40B4-BE49-F238E27FC236}">
                <a16:creationId xmlns:a16="http://schemas.microsoft.com/office/drawing/2014/main" id="{9E191B6D-E855-4A53-A63F-0C51857FB03D}"/>
              </a:ext>
            </a:extLst>
          </p:cNvPr>
          <p:cNvSpPr>
            <a:spLocks xmlns:a="http://schemas.openxmlformats.org/drawingml/2006/main" noGrp="1"/>
          </p:cNvSpPr>
          <p:nvPr/>
        </p:nvSpPr>
        <p:spPr>
          <a:xfrm xmlns:a="http://schemas.openxmlformats.org/drawingml/2006/main">
            <a:off x="819150" y="304800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4" name="">
            <a:extLst xmlns:a="http://schemas.openxmlformats.org/drawingml/2006/main">
              <a:ext uri="{FF2B5EF4-FFF2-40B4-BE49-F238E27FC236}">
                <a16:creationId xmlns:a16="http://schemas.microsoft.com/office/drawing/2014/main" id="{B02B73FC-0226-4E54-928B-F9ACCC916949}"/>
              </a:ext>
            </a:extLst>
          </p:cNvPr>
          <p:cNvSpPr>
            <a:spLocks xmlns:a="http://schemas.openxmlformats.org/drawingml/2006/main" noGrp="1"/>
          </p:cNvSpPr>
          <p:nvPr/>
        </p:nvSpPr>
        <p:spPr>
          <a:xfrm xmlns:a="http://schemas.openxmlformats.org/drawingml/2006/main">
            <a:off x="819150" y="317182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1</a:t>
            </a:r>
          </a:p>
        </p:txBody>
      </p:sp>
      <p:sp>
        <p:nvSpPr>
          <p:cNvPr id="5" name="">
            <a:extLst xmlns:a="http://schemas.openxmlformats.org/drawingml/2006/main">
              <a:ext uri="{FF2B5EF4-FFF2-40B4-BE49-F238E27FC236}">
                <a16:creationId xmlns:a16="http://schemas.microsoft.com/office/drawing/2014/main" id="{CA417FDC-9AE5-4C5E-B260-ACA3D452279D}"/>
              </a:ext>
            </a:extLst>
          </p:cNvPr>
          <p:cNvSpPr>
            <a:spLocks xmlns:a="http://schemas.openxmlformats.org/drawingml/2006/main" noGrp="1"/>
          </p:cNvSpPr>
          <p:nvPr/>
        </p:nvSpPr>
        <p:spPr>
          <a:xfrm xmlns:a="http://schemas.openxmlformats.org/drawingml/2006/main">
            <a:off x="285750" y="20574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Understand</a:t>
            </a:r>
          </a:p>
        </p:txBody>
      </p:sp>
      <p:sp>
        <p:nvSpPr>
          <p:cNvPr id="6" name="">
            <a:extLst xmlns:a="http://schemas.openxmlformats.org/drawingml/2006/main">
              <a:ext uri="{FF2B5EF4-FFF2-40B4-BE49-F238E27FC236}">
                <a16:creationId xmlns:a16="http://schemas.microsoft.com/office/drawing/2014/main" id="{2C56DD56-4502-4795-95A2-73E2D7B098C7}"/>
              </a:ext>
            </a:extLst>
          </p:cNvPr>
          <p:cNvSpPr>
            <a:spLocks xmlns:a="http://schemas.openxmlformats.org/drawingml/2006/main" noGrp="1"/>
          </p:cNvSpPr>
          <p:nvPr/>
        </p:nvSpPr>
        <p:spPr>
          <a:xfrm xmlns:a="http://schemas.openxmlformats.org/drawingml/2006/main">
            <a:off x="247650" y="39624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classify · extract</a:t>
            </a:r>
          </a:p>
        </p:txBody>
      </p:sp>
      <p:sp>
        <p:nvSpPr>
          <p:cNvPr id="7" name="">
            <a:extLst xmlns:a="http://schemas.openxmlformats.org/drawingml/2006/main">
              <a:ext uri="{FF2B5EF4-FFF2-40B4-BE49-F238E27FC236}">
                <a16:creationId xmlns:a16="http://schemas.microsoft.com/office/drawing/2014/main" id="{130CBD61-8D9F-486B-B6C2-36D3DBEBE57D}"/>
              </a:ext>
            </a:extLst>
          </p:cNvPr>
          <p:cNvSpPr>
            <a:spLocks xmlns:a="http://schemas.openxmlformats.org/drawingml/2006/main" noGrp="1"/>
          </p:cNvSpPr>
          <p:nvPr/>
        </p:nvSpPr>
        <p:spPr>
          <a:xfrm xmlns:a="http://schemas.openxmlformats.org/drawingml/2006/main">
            <a:off x="3105150" y="304800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8" name="">
            <a:extLst xmlns:a="http://schemas.openxmlformats.org/drawingml/2006/main">
              <a:ext uri="{FF2B5EF4-FFF2-40B4-BE49-F238E27FC236}">
                <a16:creationId xmlns:a16="http://schemas.microsoft.com/office/drawing/2014/main" id="{8414FF76-0A69-4A4B-8C0C-8DA01F593919}"/>
              </a:ext>
            </a:extLst>
          </p:cNvPr>
          <p:cNvSpPr>
            <a:spLocks xmlns:a="http://schemas.openxmlformats.org/drawingml/2006/main" noGrp="1"/>
          </p:cNvSpPr>
          <p:nvPr/>
        </p:nvSpPr>
        <p:spPr>
          <a:xfrm xmlns:a="http://schemas.openxmlformats.org/drawingml/2006/main">
            <a:off x="3105150" y="317182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C6EF5FCD-C7D5-439B-9B0C-2B64BDBEC73C}"/>
              </a:ext>
            </a:extLst>
          </p:cNvPr>
          <p:cNvSpPr>
            <a:spLocks xmlns:a="http://schemas.openxmlformats.org/drawingml/2006/main" noGrp="1"/>
          </p:cNvSpPr>
          <p:nvPr/>
        </p:nvSpPr>
        <p:spPr>
          <a:xfrm xmlns:a="http://schemas.openxmlformats.org/drawingml/2006/main">
            <a:off x="2571750" y="20574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Condense</a:t>
            </a:r>
          </a:p>
        </p:txBody>
      </p:sp>
      <p:sp>
        <p:nvSpPr>
          <p:cNvPr id="10" name="">
            <a:extLst xmlns:a="http://schemas.openxmlformats.org/drawingml/2006/main">
              <a:ext uri="{FF2B5EF4-FFF2-40B4-BE49-F238E27FC236}">
                <a16:creationId xmlns:a16="http://schemas.microsoft.com/office/drawing/2014/main" id="{340ED40A-8789-4E81-B43E-37EEA41C2251}"/>
              </a:ext>
            </a:extLst>
          </p:cNvPr>
          <p:cNvSpPr>
            <a:spLocks xmlns:a="http://schemas.openxmlformats.org/drawingml/2006/main" noGrp="1"/>
          </p:cNvSpPr>
          <p:nvPr/>
        </p:nvSpPr>
        <p:spPr>
          <a:xfrm xmlns:a="http://schemas.openxmlformats.org/drawingml/2006/main">
            <a:off x="2533650" y="39624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summarize</a:t>
            </a:r>
          </a:p>
        </p:txBody>
      </p:sp>
      <p:sp>
        <p:nvSpPr>
          <p:cNvPr id="11" name="">
            <a:extLst xmlns:a="http://schemas.openxmlformats.org/drawingml/2006/main">
              <a:ext uri="{FF2B5EF4-FFF2-40B4-BE49-F238E27FC236}">
                <a16:creationId xmlns:a16="http://schemas.microsoft.com/office/drawing/2014/main" id="{6EC71D68-9471-484A-9BDF-53C121B5B887}"/>
              </a:ext>
            </a:extLst>
          </p:cNvPr>
          <p:cNvSpPr>
            <a:spLocks xmlns:a="http://schemas.openxmlformats.org/drawingml/2006/main" noGrp="1"/>
          </p:cNvSpPr>
          <p:nvPr/>
        </p:nvSpPr>
        <p:spPr>
          <a:xfrm xmlns:a="http://schemas.openxmlformats.org/drawingml/2006/main">
            <a:off x="5391150" y="304800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2" name="">
            <a:extLst xmlns:a="http://schemas.openxmlformats.org/drawingml/2006/main">
              <a:ext uri="{FF2B5EF4-FFF2-40B4-BE49-F238E27FC236}">
                <a16:creationId xmlns:a16="http://schemas.microsoft.com/office/drawing/2014/main" id="{247853CA-E3C1-4F9E-87DA-0228BEA5F67A}"/>
              </a:ext>
            </a:extLst>
          </p:cNvPr>
          <p:cNvSpPr>
            <a:spLocks xmlns:a="http://schemas.openxmlformats.org/drawingml/2006/main" noGrp="1"/>
          </p:cNvSpPr>
          <p:nvPr/>
        </p:nvSpPr>
        <p:spPr>
          <a:xfrm xmlns:a="http://schemas.openxmlformats.org/drawingml/2006/main">
            <a:off x="5391150" y="317182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3</a:t>
            </a:r>
          </a:p>
        </p:txBody>
      </p:sp>
      <p:sp>
        <p:nvSpPr>
          <p:cNvPr id="13" name="">
            <a:extLst xmlns:a="http://schemas.openxmlformats.org/drawingml/2006/main">
              <a:ext uri="{FF2B5EF4-FFF2-40B4-BE49-F238E27FC236}">
                <a16:creationId xmlns:a16="http://schemas.microsoft.com/office/drawing/2014/main" id="{93A576C1-4D89-4B80-A074-12E9C144C452}"/>
              </a:ext>
            </a:extLst>
          </p:cNvPr>
          <p:cNvSpPr>
            <a:spLocks xmlns:a="http://schemas.openxmlformats.org/drawingml/2006/main" noGrp="1"/>
          </p:cNvSpPr>
          <p:nvPr/>
        </p:nvSpPr>
        <p:spPr>
          <a:xfrm xmlns:a="http://schemas.openxmlformats.org/drawingml/2006/main">
            <a:off x="4857750" y="20574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Convert</a:t>
            </a:r>
          </a:p>
        </p:txBody>
      </p:sp>
      <p:sp>
        <p:nvSpPr>
          <p:cNvPr id="14" name="">
            <a:extLst xmlns:a="http://schemas.openxmlformats.org/drawingml/2006/main">
              <a:ext uri="{FF2B5EF4-FFF2-40B4-BE49-F238E27FC236}">
                <a16:creationId xmlns:a16="http://schemas.microsoft.com/office/drawing/2014/main" id="{0DD79E50-3967-458D-9736-D4D008CB54EE}"/>
              </a:ext>
            </a:extLst>
          </p:cNvPr>
          <p:cNvSpPr>
            <a:spLocks xmlns:a="http://schemas.openxmlformats.org/drawingml/2006/main" noGrp="1"/>
          </p:cNvSpPr>
          <p:nvPr/>
        </p:nvSpPr>
        <p:spPr>
          <a:xfrm xmlns:a="http://schemas.openxmlformats.org/drawingml/2006/main">
            <a:off x="4819650" y="39624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translate · reformat</a:t>
            </a:r>
          </a:p>
        </p:txBody>
      </p:sp>
      <p:sp>
        <p:nvSpPr>
          <p:cNvPr id="15" name="">
            <a:extLst xmlns:a="http://schemas.openxmlformats.org/drawingml/2006/main">
              <a:ext uri="{FF2B5EF4-FFF2-40B4-BE49-F238E27FC236}">
                <a16:creationId xmlns:a16="http://schemas.microsoft.com/office/drawing/2014/main" id="{7EAFEBE8-D10C-4CCD-9699-CF928F31CF61}"/>
              </a:ext>
            </a:extLst>
          </p:cNvPr>
          <p:cNvSpPr>
            <a:spLocks xmlns:a="http://schemas.openxmlformats.org/drawingml/2006/main" noGrp="1"/>
          </p:cNvSpPr>
          <p:nvPr/>
        </p:nvSpPr>
        <p:spPr>
          <a:xfrm xmlns:a="http://schemas.openxmlformats.org/drawingml/2006/main">
            <a:off x="7677150" y="304800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9AA0A6"/>
            </a:solidFill>
            <a:prstDash val="solid"/>
          </a:ln>
        </p:spPr>
      </p:sp>
      <p:sp>
        <p:nvSpPr>
          <p:cNvPr id="16" name="">
            <a:extLst xmlns:a="http://schemas.openxmlformats.org/drawingml/2006/main">
              <a:ext uri="{FF2B5EF4-FFF2-40B4-BE49-F238E27FC236}">
                <a16:creationId xmlns:a16="http://schemas.microsoft.com/office/drawing/2014/main" id="{3D999AC3-968A-44B3-83B3-92C82F1A28A4}"/>
              </a:ext>
            </a:extLst>
          </p:cNvPr>
          <p:cNvSpPr>
            <a:spLocks xmlns:a="http://schemas.openxmlformats.org/drawingml/2006/main" noGrp="1"/>
          </p:cNvSpPr>
          <p:nvPr/>
        </p:nvSpPr>
        <p:spPr>
          <a:xfrm xmlns:a="http://schemas.openxmlformats.org/drawingml/2006/main">
            <a:off x="7677150" y="317182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4</a:t>
            </a:r>
          </a:p>
        </p:txBody>
      </p:sp>
      <p:sp>
        <p:nvSpPr>
          <p:cNvPr id="17" name="">
            <a:extLst xmlns:a="http://schemas.openxmlformats.org/drawingml/2006/main">
              <a:ext uri="{FF2B5EF4-FFF2-40B4-BE49-F238E27FC236}">
                <a16:creationId xmlns:a16="http://schemas.microsoft.com/office/drawing/2014/main" id="{33035BF2-7082-46D2-85D2-D4A36976B0C1}"/>
              </a:ext>
            </a:extLst>
          </p:cNvPr>
          <p:cNvSpPr>
            <a:spLocks xmlns:a="http://schemas.openxmlformats.org/drawingml/2006/main" noGrp="1"/>
          </p:cNvSpPr>
          <p:nvPr/>
        </p:nvSpPr>
        <p:spPr>
          <a:xfrm xmlns:a="http://schemas.openxmlformats.org/drawingml/2006/main">
            <a:off x="7143750" y="20574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Interact</a:t>
            </a:r>
          </a:p>
        </p:txBody>
      </p:sp>
      <p:sp>
        <p:nvSpPr>
          <p:cNvPr id="18" name="">
            <a:extLst xmlns:a="http://schemas.openxmlformats.org/drawingml/2006/main">
              <a:ext uri="{FF2B5EF4-FFF2-40B4-BE49-F238E27FC236}">
                <a16:creationId xmlns:a16="http://schemas.microsoft.com/office/drawing/2014/main" id="{89736B7A-133C-43AF-A1DE-AA8AC5940ADB}"/>
              </a:ext>
            </a:extLst>
          </p:cNvPr>
          <p:cNvSpPr>
            <a:spLocks xmlns:a="http://schemas.openxmlformats.org/drawingml/2006/main" noGrp="1"/>
          </p:cNvSpPr>
          <p:nvPr/>
        </p:nvSpPr>
        <p:spPr>
          <a:xfrm xmlns:a="http://schemas.openxmlformats.org/drawingml/2006/main">
            <a:off x="7105650" y="39624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answer · tutor</a:t>
            </a:r>
          </a:p>
        </p:txBody>
      </p:sp>
      <p:sp>
        <p:nvSpPr>
          <p:cNvPr id="19" name="">
            <a:extLst xmlns:a="http://schemas.openxmlformats.org/drawingml/2006/main">
              <a:ext uri="{FF2B5EF4-FFF2-40B4-BE49-F238E27FC236}">
                <a16:creationId xmlns:a16="http://schemas.microsoft.com/office/drawing/2014/main" id="{9228252C-8F5E-4FCD-A0AC-B083786E8075}"/>
              </a:ext>
            </a:extLst>
          </p:cNvPr>
          <p:cNvSpPr>
            <a:spLocks xmlns:a="http://schemas.openxmlformats.org/drawingml/2006/main" noGrp="1"/>
          </p:cNvSpPr>
          <p:nvPr/>
        </p:nvSpPr>
        <p:spPr>
          <a:xfrm xmlns:a="http://schemas.openxmlformats.org/drawingml/2006/main">
            <a:off x="9963150" y="3048000"/>
            <a:ext cx="647700" cy="647700"/>
          </a:xfrm>
          <a:prstGeom xmlns:a="http://schemas.openxmlformats.org/drawingml/2006/main" prst="ellipse">
            <a:avLst/>
          </a:prstGeom>
          <a:solidFill xmlns:a="http://schemas.openxmlformats.org/drawingml/2006/main">
            <a:srgbClr val="4285F4"/>
          </a:solidFill>
          <a:ln xmlns:a="http://schemas.openxmlformats.org/drawingml/2006/main" w="19050">
            <a:solidFill>
              <a:srgbClr val="4285F4"/>
            </a:solidFill>
            <a:prstDash val="solid"/>
          </a:ln>
        </p:spPr>
      </p:sp>
      <p:sp>
        <p:nvSpPr>
          <p:cNvPr id="20" name="">
            <a:extLst xmlns:a="http://schemas.openxmlformats.org/drawingml/2006/main">
              <a:ext uri="{FF2B5EF4-FFF2-40B4-BE49-F238E27FC236}">
                <a16:creationId xmlns:a16="http://schemas.microsoft.com/office/drawing/2014/main" id="{41E9D322-EF40-4C9E-B949-CA5526D565E1}"/>
              </a:ext>
            </a:extLst>
          </p:cNvPr>
          <p:cNvSpPr>
            <a:spLocks xmlns:a="http://schemas.openxmlformats.org/drawingml/2006/main" noGrp="1"/>
          </p:cNvSpPr>
          <p:nvPr/>
        </p:nvSpPr>
        <p:spPr>
          <a:xfrm xmlns:a="http://schemas.openxmlformats.org/drawingml/2006/main">
            <a:off x="9963150" y="317182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5</a:t>
            </a:r>
          </a:p>
        </p:txBody>
      </p:sp>
      <p:sp>
        <p:nvSpPr>
          <p:cNvPr id="21" name="">
            <a:extLst xmlns:a="http://schemas.openxmlformats.org/drawingml/2006/main">
              <a:ext uri="{FF2B5EF4-FFF2-40B4-BE49-F238E27FC236}">
                <a16:creationId xmlns:a16="http://schemas.microsoft.com/office/drawing/2014/main" id="{40A2448A-9548-4BBD-9918-D9969D1ADB96}"/>
              </a:ext>
            </a:extLst>
          </p:cNvPr>
          <p:cNvSpPr>
            <a:spLocks xmlns:a="http://schemas.openxmlformats.org/drawingml/2006/main" noGrp="1"/>
          </p:cNvSpPr>
          <p:nvPr/>
        </p:nvSpPr>
        <p:spPr>
          <a:xfrm xmlns:a="http://schemas.openxmlformats.org/drawingml/2006/main">
            <a:off x="9429750" y="205740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Create</a:t>
            </a:r>
          </a:p>
        </p:txBody>
      </p:sp>
      <p:sp>
        <p:nvSpPr>
          <p:cNvPr id="22" name="">
            <a:extLst xmlns:a="http://schemas.openxmlformats.org/drawingml/2006/main">
              <a:ext uri="{FF2B5EF4-FFF2-40B4-BE49-F238E27FC236}">
                <a16:creationId xmlns:a16="http://schemas.microsoft.com/office/drawing/2014/main" id="{DF863645-C942-46E6-9281-7F16C793E123}"/>
              </a:ext>
            </a:extLst>
          </p:cNvPr>
          <p:cNvSpPr>
            <a:spLocks xmlns:a="http://schemas.openxmlformats.org/drawingml/2006/main" noGrp="1"/>
          </p:cNvSpPr>
          <p:nvPr/>
        </p:nvSpPr>
        <p:spPr>
          <a:xfrm xmlns:a="http://schemas.openxmlformats.org/drawingml/2006/main">
            <a:off x="9391650" y="3962400"/>
            <a:ext cx="1790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draft · code · ideate</a:t>
            </a:r>
          </a:p>
        </p:txBody>
      </p:sp>
      <p:sp>
        <p:nvSpPr>
          <p:cNvPr id="23" name="">
            <a:extLst xmlns:a="http://schemas.openxmlformats.org/drawingml/2006/main">
              <a:ext uri="{FF2B5EF4-FFF2-40B4-BE49-F238E27FC236}">
                <a16:creationId xmlns:a16="http://schemas.microsoft.com/office/drawing/2014/main" id="{4CCED69D-00D6-4190-AB6D-775ED77D85F0}"/>
              </a:ext>
            </a:extLst>
          </p:cNvPr>
          <p:cNvSpPr>
            <a:spLocks xmlns:a="http://schemas.openxmlformats.org/drawingml/2006/main" noGrp="1"/>
          </p:cNvSpPr>
          <p:nvPr/>
        </p:nvSpPr>
        <p:spPr>
          <a:xfrm xmlns:a="http://schemas.openxmlformats.org/drawingml/2006/main">
            <a:off x="1333500" y="5429250"/>
            <a:ext cx="9525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The same LLM can support several tasks; the prompt, evidence, controls, and evaluation define the application.</a:t>
            </a:r>
          </a:p>
        </p:txBody>
      </p:sp>
    </p:spTree>
    <p:extLst>
      <p:ext uri="{BB962C8B-B14F-4D97-AF65-F5344CB8AC3E}">
        <p14:creationId xmlns:p14="http://schemas.microsoft.com/office/powerpoint/2010/main" val="8013777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B031CF16-574D-4B0B-A1ED-C97C008CA823}"/>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Four core use cases connect an input to a useful output</a:t>
            </a:r>
          </a:p>
        </p:txBody>
      </p:sp>
      <p:sp>
        <p:nvSpPr>
          <p:cNvPr id="2" name="">
            <a:extLst xmlns:a="http://schemas.openxmlformats.org/drawingml/2006/main">
              <a:ext uri="{FF2B5EF4-FFF2-40B4-BE49-F238E27FC236}">
                <a16:creationId xmlns:a16="http://schemas.microsoft.com/office/drawing/2014/main" id="{E831B8D0-A5A4-482F-B8DB-E3A458022939}"/>
              </a:ext>
            </a:extLst>
          </p:cNvPr>
          <p:cNvSpPr>
            <a:spLocks xmlns:a="http://schemas.openxmlformats.org/drawingml/2006/main" noGrp="1"/>
          </p:cNvSpPr>
          <p:nvPr/>
        </p:nvSpPr>
        <p:spPr>
          <a:xfrm xmlns:a="http://schemas.openxmlformats.org/drawingml/2006/main">
            <a:off x="1762125" y="1428750"/>
            <a:ext cx="514350" cy="514350"/>
          </a:xfrm>
          <a:prstGeom xmlns:a="http://schemas.openxmlformats.org/drawingml/2006/main" prst="ellipse">
            <a:avLst/>
          </a:prstGeom>
          <a:solidFill xmlns:a="http://schemas.openxmlformats.org/drawingml/2006/main">
            <a:srgbClr val="4285F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CD764F-17E2-408B-B52C-0B5511F4F8EC}"/>
              </a:ext>
            </a:extLst>
          </p:cNvPr>
          <p:cNvSpPr>
            <a:spLocks xmlns:a="http://schemas.openxmlformats.org/drawingml/2006/main" noGrp="1"/>
          </p:cNvSpPr>
          <p:nvPr/>
        </p:nvSpPr>
        <p:spPr>
          <a:xfrm xmlns:a="http://schemas.openxmlformats.org/drawingml/2006/main">
            <a:off x="1762125" y="1524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1</a:t>
            </a:r>
          </a:p>
        </p:txBody>
      </p:sp>
      <p:sp>
        <p:nvSpPr>
          <p:cNvPr id="4" name="">
            <a:extLst xmlns:a="http://schemas.openxmlformats.org/drawingml/2006/main">
              <a:ext uri="{FF2B5EF4-FFF2-40B4-BE49-F238E27FC236}">
                <a16:creationId xmlns:a16="http://schemas.microsoft.com/office/drawing/2014/main" id="{CE730898-852F-4F56-81F9-A421F49FB3EB}"/>
              </a:ext>
            </a:extLst>
          </p:cNvPr>
          <p:cNvSpPr>
            <a:spLocks xmlns:a="http://schemas.openxmlformats.org/drawingml/2006/main" noGrp="1"/>
          </p:cNvSpPr>
          <p:nvPr/>
        </p:nvSpPr>
        <p:spPr>
          <a:xfrm xmlns:a="http://schemas.openxmlformats.org/drawingml/2006/main">
            <a:off x="666750" y="21717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Summarization</a:t>
            </a:r>
          </a:p>
        </p:txBody>
      </p:sp>
      <p:sp>
        <p:nvSpPr>
          <p:cNvPr id="5" name="">
            <a:extLst xmlns:a="http://schemas.openxmlformats.org/drawingml/2006/main">
              <a:ext uri="{FF2B5EF4-FFF2-40B4-BE49-F238E27FC236}">
                <a16:creationId xmlns:a16="http://schemas.microsoft.com/office/drawing/2014/main" id="{0B66C678-E9D8-42D2-AEB7-CC0B4AA927AE}"/>
              </a:ext>
            </a:extLst>
          </p:cNvPr>
          <p:cNvSpPr>
            <a:spLocks xmlns:a="http://schemas.openxmlformats.org/drawingml/2006/main" noGrp="1"/>
          </p:cNvSpPr>
          <p:nvPr/>
        </p:nvSpPr>
        <p:spPr>
          <a:xfrm xmlns:a="http://schemas.openxmlformats.org/drawingml/2006/main">
            <a:off x="800100" y="30480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Input</a:t>
            </a:r>
          </a:p>
        </p:txBody>
      </p:sp>
      <p:sp>
        <p:nvSpPr>
          <p:cNvPr id="6" name="">
            <a:extLst xmlns:a="http://schemas.openxmlformats.org/drawingml/2006/main">
              <a:ext uri="{FF2B5EF4-FFF2-40B4-BE49-F238E27FC236}">
                <a16:creationId xmlns:a16="http://schemas.microsoft.com/office/drawing/2014/main" id="{74C6A906-DBF1-4BA1-8AED-5FAD633A7FA4}"/>
              </a:ext>
            </a:extLst>
          </p:cNvPr>
          <p:cNvSpPr>
            <a:spLocks xmlns:a="http://schemas.openxmlformats.org/drawingml/2006/main" noGrp="1"/>
          </p:cNvSpPr>
          <p:nvPr/>
        </p:nvSpPr>
        <p:spPr>
          <a:xfrm xmlns:a="http://schemas.openxmlformats.org/drawingml/2006/main">
            <a:off x="800100" y="33718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10-page paper</a:t>
            </a:r>
          </a:p>
        </p:txBody>
      </p:sp>
      <p:sp>
        <p:nvSpPr>
          <p:cNvPr id="7" name="">
            <a:extLst xmlns:a="http://schemas.openxmlformats.org/drawingml/2006/main">
              <a:ext uri="{FF2B5EF4-FFF2-40B4-BE49-F238E27FC236}">
                <a16:creationId xmlns:a16="http://schemas.microsoft.com/office/drawing/2014/main" id="{63FE8D6C-7013-4B34-95AD-CFF58BE7831E}"/>
              </a:ext>
            </a:extLst>
          </p:cNvPr>
          <p:cNvSpPr>
            <a:spLocks xmlns:a="http://schemas.openxmlformats.org/drawingml/2006/main" noGrp="1"/>
          </p:cNvSpPr>
          <p:nvPr/>
        </p:nvSpPr>
        <p:spPr>
          <a:xfrm xmlns:a="http://schemas.openxmlformats.org/drawingml/2006/main">
            <a:off x="1733550" y="40195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8" name="">
            <a:extLst xmlns:a="http://schemas.openxmlformats.org/drawingml/2006/main">
              <a:ext uri="{FF2B5EF4-FFF2-40B4-BE49-F238E27FC236}">
                <a16:creationId xmlns:a16="http://schemas.microsoft.com/office/drawing/2014/main" id="{5D1678C2-9627-4397-9F4E-CBF0A3F68B71}"/>
              </a:ext>
            </a:extLst>
          </p:cNvPr>
          <p:cNvSpPr>
            <a:spLocks xmlns:a="http://schemas.openxmlformats.org/drawingml/2006/main" noGrp="1"/>
          </p:cNvSpPr>
          <p:nvPr/>
        </p:nvSpPr>
        <p:spPr>
          <a:xfrm xmlns:a="http://schemas.openxmlformats.org/drawingml/2006/main">
            <a:off x="742950" y="4591050"/>
            <a:ext cx="2552700" cy="933450"/>
          </a:xfrm>
          <a:prstGeom xmlns:a="http://schemas.openxmlformats.org/drawingml/2006/main" prst="roundRect">
            <a:avLst>
              <a:gd name="adj" fmla="val 8163"/>
            </a:avLst>
          </a:prstGeom>
          <a:solidFill xmlns:a="http://schemas.openxmlformats.org/drawingml/2006/main">
            <a:srgbClr val="C6DAFC"/>
          </a:solidFill>
          <a:ln xmlns:a="http://schemas.openxmlformats.org/drawingml/2006/main" w="0">
            <a:solidFill>
              <a:srgbClr val="C6DAFC"/>
            </a:solidFill>
            <a:prstDash val="solid"/>
          </a:ln>
        </p:spPr>
      </p:sp>
      <p:sp>
        <p:nvSpPr>
          <p:cNvPr id="9" name="">
            <a:extLst xmlns:a="http://schemas.openxmlformats.org/drawingml/2006/main">
              <a:ext uri="{FF2B5EF4-FFF2-40B4-BE49-F238E27FC236}">
                <a16:creationId xmlns:a16="http://schemas.microsoft.com/office/drawing/2014/main" id="{1A387101-EC8B-4673-9A1B-E608F7679F10}"/>
              </a:ext>
            </a:extLst>
          </p:cNvPr>
          <p:cNvSpPr>
            <a:spLocks xmlns:a="http://schemas.openxmlformats.org/drawingml/2006/main" noGrp="1"/>
          </p:cNvSpPr>
          <p:nvPr/>
        </p:nvSpPr>
        <p:spPr>
          <a:xfrm xmlns:a="http://schemas.openxmlformats.org/drawingml/2006/main">
            <a:off x="876300" y="47053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Output</a:t>
            </a:r>
          </a:p>
        </p:txBody>
      </p:sp>
      <p:sp>
        <p:nvSpPr>
          <p:cNvPr id="10" name="">
            <a:extLst xmlns:a="http://schemas.openxmlformats.org/drawingml/2006/main">
              <a:ext uri="{FF2B5EF4-FFF2-40B4-BE49-F238E27FC236}">
                <a16:creationId xmlns:a16="http://schemas.microsoft.com/office/drawing/2014/main" id="{375A7301-C512-46D7-B1F1-C7AC0CE1642A}"/>
              </a:ext>
            </a:extLst>
          </p:cNvPr>
          <p:cNvSpPr>
            <a:spLocks xmlns:a="http://schemas.openxmlformats.org/drawingml/2006/main" noGrp="1"/>
          </p:cNvSpPr>
          <p:nvPr/>
        </p:nvSpPr>
        <p:spPr>
          <a:xfrm xmlns:a="http://schemas.openxmlformats.org/drawingml/2006/main">
            <a:off x="876300" y="50101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3-sentence abstract</a:t>
            </a:r>
          </a:p>
        </p:txBody>
      </p:sp>
      <p:sp>
        <p:nvSpPr>
          <p:cNvPr id="11" name="">
            <a:extLst xmlns:a="http://schemas.openxmlformats.org/drawingml/2006/main">
              <a:ext uri="{FF2B5EF4-FFF2-40B4-BE49-F238E27FC236}">
                <a16:creationId xmlns:a16="http://schemas.microsoft.com/office/drawing/2014/main" id="{D6972A63-9535-4CBA-9AC6-6DD71E763A1F}"/>
              </a:ext>
            </a:extLst>
          </p:cNvPr>
          <p:cNvSpPr>
            <a:spLocks xmlns:a="http://schemas.openxmlformats.org/drawingml/2006/main" noGrp="1"/>
          </p:cNvSpPr>
          <p:nvPr/>
        </p:nvSpPr>
        <p:spPr>
          <a:xfrm xmlns:a="http://schemas.openxmlformats.org/drawingml/2006/main">
            <a:off x="4572000" y="1428750"/>
            <a:ext cx="514350" cy="514350"/>
          </a:xfrm>
          <a:prstGeom xmlns:a="http://schemas.openxmlformats.org/drawingml/2006/main" prst="ellipse">
            <a:avLst/>
          </a:prstGeom>
          <a:solidFill xmlns:a="http://schemas.openxmlformats.org/drawingml/2006/main">
            <a:srgbClr val="F0A60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DE85A5E-3950-4DE5-9D26-0FBC78939FD0}"/>
              </a:ext>
            </a:extLst>
          </p:cNvPr>
          <p:cNvSpPr>
            <a:spLocks xmlns:a="http://schemas.openxmlformats.org/drawingml/2006/main" noGrp="1"/>
          </p:cNvSpPr>
          <p:nvPr/>
        </p:nvSpPr>
        <p:spPr>
          <a:xfrm xmlns:a="http://schemas.openxmlformats.org/drawingml/2006/main">
            <a:off x="4572000" y="1524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2</a:t>
            </a:r>
          </a:p>
        </p:txBody>
      </p:sp>
      <p:sp>
        <p:nvSpPr>
          <p:cNvPr id="13" name="">
            <a:extLst xmlns:a="http://schemas.openxmlformats.org/drawingml/2006/main">
              <a:ext uri="{FF2B5EF4-FFF2-40B4-BE49-F238E27FC236}">
                <a16:creationId xmlns:a16="http://schemas.microsoft.com/office/drawing/2014/main" id="{5EDE09E7-B871-4E8A-B011-A4AAB90DF76B}"/>
              </a:ext>
            </a:extLst>
          </p:cNvPr>
          <p:cNvSpPr>
            <a:spLocks xmlns:a="http://schemas.openxmlformats.org/drawingml/2006/main" noGrp="1"/>
          </p:cNvSpPr>
          <p:nvPr/>
        </p:nvSpPr>
        <p:spPr>
          <a:xfrm xmlns:a="http://schemas.openxmlformats.org/drawingml/2006/main">
            <a:off x="3476625" y="21717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Translation</a:t>
            </a:r>
          </a:p>
        </p:txBody>
      </p:sp>
      <p:sp>
        <p:nvSpPr>
          <p:cNvPr id="14" name="">
            <a:extLst xmlns:a="http://schemas.openxmlformats.org/drawingml/2006/main">
              <a:ext uri="{FF2B5EF4-FFF2-40B4-BE49-F238E27FC236}">
                <a16:creationId xmlns:a16="http://schemas.microsoft.com/office/drawing/2014/main" id="{0A14D310-0ADE-4FF8-A926-34AA64B1B865}"/>
              </a:ext>
            </a:extLst>
          </p:cNvPr>
          <p:cNvSpPr>
            <a:spLocks xmlns:a="http://schemas.openxmlformats.org/drawingml/2006/main" noGrp="1"/>
          </p:cNvSpPr>
          <p:nvPr/>
        </p:nvSpPr>
        <p:spPr>
          <a:xfrm xmlns:a="http://schemas.openxmlformats.org/drawingml/2006/main">
            <a:off x="3609975" y="30480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Input</a:t>
            </a:r>
          </a:p>
        </p:txBody>
      </p:sp>
      <p:sp>
        <p:nvSpPr>
          <p:cNvPr id="15" name="">
            <a:extLst xmlns:a="http://schemas.openxmlformats.org/drawingml/2006/main">
              <a:ext uri="{FF2B5EF4-FFF2-40B4-BE49-F238E27FC236}">
                <a16:creationId xmlns:a16="http://schemas.microsoft.com/office/drawing/2014/main" id="{8F8918F1-1CA4-44B7-8085-F48A662935A7}"/>
              </a:ext>
            </a:extLst>
          </p:cNvPr>
          <p:cNvSpPr>
            <a:spLocks xmlns:a="http://schemas.openxmlformats.org/drawingml/2006/main" noGrp="1"/>
          </p:cNvSpPr>
          <p:nvPr/>
        </p:nvSpPr>
        <p:spPr>
          <a:xfrm xmlns:a="http://schemas.openxmlformats.org/drawingml/2006/main">
            <a:off x="3609975" y="33718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English product page</a:t>
            </a:r>
          </a:p>
        </p:txBody>
      </p:sp>
      <p:sp>
        <p:nvSpPr>
          <p:cNvPr id="16" name="">
            <a:extLst xmlns:a="http://schemas.openxmlformats.org/drawingml/2006/main">
              <a:ext uri="{FF2B5EF4-FFF2-40B4-BE49-F238E27FC236}">
                <a16:creationId xmlns:a16="http://schemas.microsoft.com/office/drawing/2014/main" id="{06E1ED80-F535-44DC-89FF-AFF6E4458CBC}"/>
              </a:ext>
            </a:extLst>
          </p:cNvPr>
          <p:cNvSpPr>
            <a:spLocks xmlns:a="http://schemas.openxmlformats.org/drawingml/2006/main" noGrp="1"/>
          </p:cNvSpPr>
          <p:nvPr/>
        </p:nvSpPr>
        <p:spPr>
          <a:xfrm xmlns:a="http://schemas.openxmlformats.org/drawingml/2006/main">
            <a:off x="4543425" y="40195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17" name="">
            <a:extLst xmlns:a="http://schemas.openxmlformats.org/drawingml/2006/main">
              <a:ext uri="{FF2B5EF4-FFF2-40B4-BE49-F238E27FC236}">
                <a16:creationId xmlns:a16="http://schemas.microsoft.com/office/drawing/2014/main" id="{84FA7DB6-BCB2-4894-AB7E-2AE32319CD17}"/>
              </a:ext>
            </a:extLst>
          </p:cNvPr>
          <p:cNvSpPr>
            <a:spLocks xmlns:a="http://schemas.openxmlformats.org/drawingml/2006/main" noGrp="1"/>
          </p:cNvSpPr>
          <p:nvPr/>
        </p:nvSpPr>
        <p:spPr>
          <a:xfrm xmlns:a="http://schemas.openxmlformats.org/drawingml/2006/main">
            <a:off x="3552825" y="4591050"/>
            <a:ext cx="2552700" cy="933450"/>
          </a:xfrm>
          <a:prstGeom xmlns:a="http://schemas.openxmlformats.org/drawingml/2006/main" prst="roundRect">
            <a:avLst>
              <a:gd name="adj" fmla="val 8163"/>
            </a:avLst>
          </a:prstGeom>
          <a:solidFill xmlns:a="http://schemas.openxmlformats.org/drawingml/2006/main">
            <a:srgbClr val="FDEFC3"/>
          </a:solidFill>
          <a:ln xmlns:a="http://schemas.openxmlformats.org/drawingml/2006/main" w="0">
            <a:solidFill>
              <a:srgbClr val="FDEFC3"/>
            </a:solidFill>
            <a:prstDash val="solid"/>
          </a:ln>
        </p:spPr>
      </p:sp>
      <p:sp>
        <p:nvSpPr>
          <p:cNvPr id="18" name="">
            <a:extLst xmlns:a="http://schemas.openxmlformats.org/drawingml/2006/main">
              <a:ext uri="{FF2B5EF4-FFF2-40B4-BE49-F238E27FC236}">
                <a16:creationId xmlns:a16="http://schemas.microsoft.com/office/drawing/2014/main" id="{9CA309F3-AEFB-49BE-99DB-8B94DF16C6D9}"/>
              </a:ext>
            </a:extLst>
          </p:cNvPr>
          <p:cNvSpPr>
            <a:spLocks xmlns:a="http://schemas.openxmlformats.org/drawingml/2006/main" noGrp="1"/>
          </p:cNvSpPr>
          <p:nvPr/>
        </p:nvSpPr>
        <p:spPr>
          <a:xfrm xmlns:a="http://schemas.openxmlformats.org/drawingml/2006/main">
            <a:off x="3686175" y="47053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Output</a:t>
            </a:r>
          </a:p>
        </p:txBody>
      </p:sp>
      <p:sp>
        <p:nvSpPr>
          <p:cNvPr id="19" name="">
            <a:extLst xmlns:a="http://schemas.openxmlformats.org/drawingml/2006/main">
              <a:ext uri="{FF2B5EF4-FFF2-40B4-BE49-F238E27FC236}">
                <a16:creationId xmlns:a16="http://schemas.microsoft.com/office/drawing/2014/main" id="{2696C077-B13F-4625-B25B-6FAAC543192A}"/>
              </a:ext>
            </a:extLst>
          </p:cNvPr>
          <p:cNvSpPr>
            <a:spLocks xmlns:a="http://schemas.openxmlformats.org/drawingml/2006/main" noGrp="1"/>
          </p:cNvSpPr>
          <p:nvPr/>
        </p:nvSpPr>
        <p:spPr>
          <a:xfrm xmlns:a="http://schemas.openxmlformats.org/drawingml/2006/main">
            <a:off x="3686175" y="50101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Hindi version with terms preserved</a:t>
            </a:r>
          </a:p>
        </p:txBody>
      </p:sp>
      <p:sp>
        <p:nvSpPr>
          <p:cNvPr id="20" name="">
            <a:extLst xmlns:a="http://schemas.openxmlformats.org/drawingml/2006/main">
              <a:ext uri="{FF2B5EF4-FFF2-40B4-BE49-F238E27FC236}">
                <a16:creationId xmlns:a16="http://schemas.microsoft.com/office/drawing/2014/main" id="{A2E520F4-4679-410A-96D5-57D2792092D0}"/>
              </a:ext>
            </a:extLst>
          </p:cNvPr>
          <p:cNvSpPr>
            <a:spLocks xmlns:a="http://schemas.openxmlformats.org/drawingml/2006/main" noGrp="1"/>
          </p:cNvSpPr>
          <p:nvPr/>
        </p:nvSpPr>
        <p:spPr>
          <a:xfrm xmlns:a="http://schemas.openxmlformats.org/drawingml/2006/main">
            <a:off x="7381875" y="1428750"/>
            <a:ext cx="514350" cy="514350"/>
          </a:xfrm>
          <a:prstGeom xmlns:a="http://schemas.openxmlformats.org/drawingml/2006/main" prst="ellipse">
            <a:avLst/>
          </a:prstGeom>
          <a:solidFill xmlns:a="http://schemas.openxmlformats.org/drawingml/2006/main">
            <a:srgbClr val="D3483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4A05A1-638E-4340-9FCA-5454175B9035}"/>
              </a:ext>
            </a:extLst>
          </p:cNvPr>
          <p:cNvSpPr>
            <a:spLocks xmlns:a="http://schemas.openxmlformats.org/drawingml/2006/main" noGrp="1"/>
          </p:cNvSpPr>
          <p:nvPr/>
        </p:nvSpPr>
        <p:spPr>
          <a:xfrm xmlns:a="http://schemas.openxmlformats.org/drawingml/2006/main">
            <a:off x="7381875" y="1524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3</a:t>
            </a:r>
          </a:p>
        </p:txBody>
      </p:sp>
      <p:sp>
        <p:nvSpPr>
          <p:cNvPr id="22" name="">
            <a:extLst xmlns:a="http://schemas.openxmlformats.org/drawingml/2006/main">
              <a:ext uri="{FF2B5EF4-FFF2-40B4-BE49-F238E27FC236}">
                <a16:creationId xmlns:a16="http://schemas.microsoft.com/office/drawing/2014/main" id="{A3B5A09C-0104-438D-9C1E-65ADF2425DE2}"/>
              </a:ext>
            </a:extLst>
          </p:cNvPr>
          <p:cNvSpPr>
            <a:spLocks xmlns:a="http://schemas.openxmlformats.org/drawingml/2006/main" noGrp="1"/>
          </p:cNvSpPr>
          <p:nvPr/>
        </p:nvSpPr>
        <p:spPr>
          <a:xfrm xmlns:a="http://schemas.openxmlformats.org/drawingml/2006/main">
            <a:off x="6286500" y="21717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Coding</a:t>
            </a:r>
          </a:p>
        </p:txBody>
      </p:sp>
      <p:sp>
        <p:nvSpPr>
          <p:cNvPr id="23" name="">
            <a:extLst xmlns:a="http://schemas.openxmlformats.org/drawingml/2006/main">
              <a:ext uri="{FF2B5EF4-FFF2-40B4-BE49-F238E27FC236}">
                <a16:creationId xmlns:a16="http://schemas.microsoft.com/office/drawing/2014/main" id="{4DF4FB8B-3FD2-4D96-BC76-D2275F7819A4}"/>
              </a:ext>
            </a:extLst>
          </p:cNvPr>
          <p:cNvSpPr>
            <a:spLocks xmlns:a="http://schemas.openxmlformats.org/drawingml/2006/main" noGrp="1"/>
          </p:cNvSpPr>
          <p:nvPr/>
        </p:nvSpPr>
        <p:spPr>
          <a:xfrm xmlns:a="http://schemas.openxmlformats.org/drawingml/2006/main">
            <a:off x="6419850" y="30480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Input</a:t>
            </a:r>
          </a:p>
        </p:txBody>
      </p:sp>
      <p:sp>
        <p:nvSpPr>
          <p:cNvPr id="24" name="">
            <a:extLst xmlns:a="http://schemas.openxmlformats.org/drawingml/2006/main">
              <a:ext uri="{FF2B5EF4-FFF2-40B4-BE49-F238E27FC236}">
                <a16:creationId xmlns:a16="http://schemas.microsoft.com/office/drawing/2014/main" id="{61749591-65C2-4F2E-B621-2BBD612B3B75}"/>
              </a:ext>
            </a:extLst>
          </p:cNvPr>
          <p:cNvSpPr>
            <a:spLocks xmlns:a="http://schemas.openxmlformats.org/drawingml/2006/main" noGrp="1"/>
          </p:cNvSpPr>
          <p:nvPr/>
        </p:nvSpPr>
        <p:spPr>
          <a:xfrm xmlns:a="http://schemas.openxmlformats.org/drawingml/2006/main">
            <a:off x="6419850" y="33718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Requirement or error</a:t>
            </a:r>
          </a:p>
        </p:txBody>
      </p:sp>
      <p:sp>
        <p:nvSpPr>
          <p:cNvPr id="25" name="">
            <a:extLst xmlns:a="http://schemas.openxmlformats.org/drawingml/2006/main">
              <a:ext uri="{FF2B5EF4-FFF2-40B4-BE49-F238E27FC236}">
                <a16:creationId xmlns:a16="http://schemas.microsoft.com/office/drawing/2014/main" id="{5B4904E2-DD48-4E5F-B2B6-3B33520E5166}"/>
              </a:ext>
            </a:extLst>
          </p:cNvPr>
          <p:cNvSpPr>
            <a:spLocks xmlns:a="http://schemas.openxmlformats.org/drawingml/2006/main" noGrp="1"/>
          </p:cNvSpPr>
          <p:nvPr/>
        </p:nvSpPr>
        <p:spPr>
          <a:xfrm xmlns:a="http://schemas.openxmlformats.org/drawingml/2006/main">
            <a:off x="7353300" y="40195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26" name="">
            <a:extLst xmlns:a="http://schemas.openxmlformats.org/drawingml/2006/main">
              <a:ext uri="{FF2B5EF4-FFF2-40B4-BE49-F238E27FC236}">
                <a16:creationId xmlns:a16="http://schemas.microsoft.com/office/drawing/2014/main" id="{9C9DA4B3-6042-414A-83F0-C264A0AC1F6C}"/>
              </a:ext>
            </a:extLst>
          </p:cNvPr>
          <p:cNvSpPr>
            <a:spLocks xmlns:a="http://schemas.openxmlformats.org/drawingml/2006/main" noGrp="1"/>
          </p:cNvSpPr>
          <p:nvPr/>
        </p:nvSpPr>
        <p:spPr>
          <a:xfrm xmlns:a="http://schemas.openxmlformats.org/drawingml/2006/main">
            <a:off x="6362700" y="4591050"/>
            <a:ext cx="2552700" cy="933450"/>
          </a:xfrm>
          <a:prstGeom xmlns:a="http://schemas.openxmlformats.org/drawingml/2006/main" prst="roundRect">
            <a:avLst>
              <a:gd name="adj" fmla="val 8163"/>
            </a:avLst>
          </a:prstGeom>
          <a:solidFill xmlns:a="http://schemas.openxmlformats.org/drawingml/2006/main">
            <a:srgbClr val="F5C7C9"/>
          </a:solidFill>
          <a:ln xmlns:a="http://schemas.openxmlformats.org/drawingml/2006/main" w="0">
            <a:solidFill>
              <a:srgbClr val="F5C7C9"/>
            </a:solidFill>
            <a:prstDash val="solid"/>
          </a:ln>
        </p:spPr>
      </p:sp>
      <p:sp>
        <p:nvSpPr>
          <p:cNvPr id="27" name="">
            <a:extLst xmlns:a="http://schemas.openxmlformats.org/drawingml/2006/main">
              <a:ext uri="{FF2B5EF4-FFF2-40B4-BE49-F238E27FC236}">
                <a16:creationId xmlns:a16="http://schemas.microsoft.com/office/drawing/2014/main" id="{9C170CF1-135A-4572-B70A-75C8D4BA7124}"/>
              </a:ext>
            </a:extLst>
          </p:cNvPr>
          <p:cNvSpPr>
            <a:spLocks xmlns:a="http://schemas.openxmlformats.org/drawingml/2006/main" noGrp="1"/>
          </p:cNvSpPr>
          <p:nvPr/>
        </p:nvSpPr>
        <p:spPr>
          <a:xfrm xmlns:a="http://schemas.openxmlformats.org/drawingml/2006/main">
            <a:off x="6496050" y="47053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Output</a:t>
            </a:r>
          </a:p>
        </p:txBody>
      </p:sp>
      <p:sp>
        <p:nvSpPr>
          <p:cNvPr id="28" name="">
            <a:extLst xmlns:a="http://schemas.openxmlformats.org/drawingml/2006/main">
              <a:ext uri="{FF2B5EF4-FFF2-40B4-BE49-F238E27FC236}">
                <a16:creationId xmlns:a16="http://schemas.microsoft.com/office/drawing/2014/main" id="{A8EADE26-3B9C-4F4A-ABEC-E4D72C6A3F2E}"/>
              </a:ext>
            </a:extLst>
          </p:cNvPr>
          <p:cNvSpPr>
            <a:spLocks xmlns:a="http://schemas.openxmlformats.org/drawingml/2006/main" noGrp="1"/>
          </p:cNvSpPr>
          <p:nvPr/>
        </p:nvSpPr>
        <p:spPr>
          <a:xfrm xmlns:a="http://schemas.openxmlformats.org/drawingml/2006/main">
            <a:off x="6496050" y="50101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Draft code + explanation</a:t>
            </a:r>
          </a:p>
        </p:txBody>
      </p:sp>
      <p:sp>
        <p:nvSpPr>
          <p:cNvPr id="29" name="">
            <a:extLst xmlns:a="http://schemas.openxmlformats.org/drawingml/2006/main">
              <a:ext uri="{FF2B5EF4-FFF2-40B4-BE49-F238E27FC236}">
                <a16:creationId xmlns:a16="http://schemas.microsoft.com/office/drawing/2014/main" id="{88208E34-7D83-4F00-B2D9-FD676274C0A0}"/>
              </a:ext>
            </a:extLst>
          </p:cNvPr>
          <p:cNvSpPr>
            <a:spLocks xmlns:a="http://schemas.openxmlformats.org/drawingml/2006/main" noGrp="1"/>
          </p:cNvSpPr>
          <p:nvPr/>
        </p:nvSpPr>
        <p:spPr>
          <a:xfrm xmlns:a="http://schemas.openxmlformats.org/drawingml/2006/main">
            <a:off x="10191750" y="1428750"/>
            <a:ext cx="514350" cy="514350"/>
          </a:xfrm>
          <a:prstGeom xmlns:a="http://schemas.openxmlformats.org/drawingml/2006/main" prst="ellipse">
            <a:avLst/>
          </a:prstGeom>
          <a:solidFill xmlns:a="http://schemas.openxmlformats.org/drawingml/2006/main">
            <a:srgbClr val="0F9D5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438C7C9-BCAA-4DED-AAC8-8195DC7CB1AF}"/>
              </a:ext>
            </a:extLst>
          </p:cNvPr>
          <p:cNvSpPr>
            <a:spLocks xmlns:a="http://schemas.openxmlformats.org/drawingml/2006/main" noGrp="1"/>
          </p:cNvSpPr>
          <p:nvPr/>
        </p:nvSpPr>
        <p:spPr>
          <a:xfrm xmlns:a="http://schemas.openxmlformats.org/drawingml/2006/main">
            <a:off x="10191750" y="15240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4</a:t>
            </a:r>
          </a:p>
        </p:txBody>
      </p:sp>
      <p:sp>
        <p:nvSpPr>
          <p:cNvPr id="31" name="">
            <a:extLst xmlns:a="http://schemas.openxmlformats.org/drawingml/2006/main">
              <a:ext uri="{FF2B5EF4-FFF2-40B4-BE49-F238E27FC236}">
                <a16:creationId xmlns:a16="http://schemas.microsoft.com/office/drawing/2014/main" id="{DC8A3387-4FF0-40C4-9786-06CC16F7D408}"/>
              </a:ext>
            </a:extLst>
          </p:cNvPr>
          <p:cNvSpPr>
            <a:spLocks xmlns:a="http://schemas.openxmlformats.org/drawingml/2006/main" noGrp="1"/>
          </p:cNvSpPr>
          <p:nvPr/>
        </p:nvSpPr>
        <p:spPr>
          <a:xfrm xmlns:a="http://schemas.openxmlformats.org/drawingml/2006/main">
            <a:off x="9096375" y="21717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Conversational AI</a:t>
            </a:r>
          </a:p>
        </p:txBody>
      </p:sp>
      <p:sp>
        <p:nvSpPr>
          <p:cNvPr id="32" name="">
            <a:extLst xmlns:a="http://schemas.openxmlformats.org/drawingml/2006/main">
              <a:ext uri="{FF2B5EF4-FFF2-40B4-BE49-F238E27FC236}">
                <a16:creationId xmlns:a16="http://schemas.microsoft.com/office/drawing/2014/main" id="{90E5B360-1713-4631-A1EB-A64B8C484803}"/>
              </a:ext>
            </a:extLst>
          </p:cNvPr>
          <p:cNvSpPr>
            <a:spLocks xmlns:a="http://schemas.openxmlformats.org/drawingml/2006/main" noGrp="1"/>
          </p:cNvSpPr>
          <p:nvPr/>
        </p:nvSpPr>
        <p:spPr>
          <a:xfrm xmlns:a="http://schemas.openxmlformats.org/drawingml/2006/main">
            <a:off x="9229725" y="3048000"/>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Input</a:t>
            </a:r>
          </a:p>
        </p:txBody>
      </p:sp>
      <p:sp>
        <p:nvSpPr>
          <p:cNvPr id="33" name="">
            <a:extLst xmlns:a="http://schemas.openxmlformats.org/drawingml/2006/main">
              <a:ext uri="{FF2B5EF4-FFF2-40B4-BE49-F238E27FC236}">
                <a16:creationId xmlns:a16="http://schemas.microsoft.com/office/drawing/2014/main" id="{9D686B8D-CEAE-49E8-8C90-2D4114ABFEBD}"/>
              </a:ext>
            </a:extLst>
          </p:cNvPr>
          <p:cNvSpPr>
            <a:spLocks xmlns:a="http://schemas.openxmlformats.org/drawingml/2006/main" noGrp="1"/>
          </p:cNvSpPr>
          <p:nvPr/>
        </p:nvSpPr>
        <p:spPr>
          <a:xfrm xmlns:a="http://schemas.openxmlformats.org/drawingml/2006/main">
            <a:off x="9229725" y="33718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Student question + policy</a:t>
            </a:r>
          </a:p>
        </p:txBody>
      </p:sp>
      <p:sp>
        <p:nvSpPr>
          <p:cNvPr id="34" name="">
            <a:extLst xmlns:a="http://schemas.openxmlformats.org/drawingml/2006/main">
              <a:ext uri="{FF2B5EF4-FFF2-40B4-BE49-F238E27FC236}">
                <a16:creationId xmlns:a16="http://schemas.microsoft.com/office/drawing/2014/main" id="{07DF3BA8-EB90-4629-BD22-F35C95587768}"/>
              </a:ext>
            </a:extLst>
          </p:cNvPr>
          <p:cNvSpPr>
            <a:spLocks xmlns:a="http://schemas.openxmlformats.org/drawingml/2006/main" noGrp="1"/>
          </p:cNvSpPr>
          <p:nvPr/>
        </p:nvSpPr>
        <p:spPr>
          <a:xfrm xmlns:a="http://schemas.openxmlformats.org/drawingml/2006/main">
            <a:off x="10163175" y="401955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0">
                <a:solidFill>
                  <a:srgbClr val="9AA0A6"/>
                </a:solidFill>
                <a:latin typeface="Google Sans Text"/>
                <a:ea typeface="Google Sans Text"/>
                <a:cs typeface="Google Sans Text"/>
              </a:defRPr>
            </a:pPr>
            <a:r>
              <a:rPr sz="2250" b="0">
                <a:solidFill>
                  <a:srgbClr val="9AA0A6"/>
                </a:solidFill>
                <a:latin typeface="Google Sans Text"/>
                <a:ea typeface="Google Sans Text"/>
                <a:cs typeface="Google Sans Text"/>
              </a:rPr>
              <a:t>↓</a:t>
            </a:r>
          </a:p>
        </p:txBody>
      </p:sp>
      <p:sp>
        <p:nvSpPr>
          <p:cNvPr id="35" name="">
            <a:extLst xmlns:a="http://schemas.openxmlformats.org/drawingml/2006/main">
              <a:ext uri="{FF2B5EF4-FFF2-40B4-BE49-F238E27FC236}">
                <a16:creationId xmlns:a16="http://schemas.microsoft.com/office/drawing/2014/main" id="{AC87ED8B-0CCD-4945-A8AF-272B556B0488}"/>
              </a:ext>
            </a:extLst>
          </p:cNvPr>
          <p:cNvSpPr>
            <a:spLocks xmlns:a="http://schemas.openxmlformats.org/drawingml/2006/main" noGrp="1"/>
          </p:cNvSpPr>
          <p:nvPr/>
        </p:nvSpPr>
        <p:spPr>
          <a:xfrm xmlns:a="http://schemas.openxmlformats.org/drawingml/2006/main">
            <a:off x="9172575" y="4591050"/>
            <a:ext cx="2552700" cy="933450"/>
          </a:xfrm>
          <a:prstGeom xmlns:a="http://schemas.openxmlformats.org/drawingml/2006/main" prst="roundRect">
            <a:avLst>
              <a:gd name="adj" fmla="val 8163"/>
            </a:avLst>
          </a:prstGeom>
          <a:solidFill xmlns:a="http://schemas.openxmlformats.org/drawingml/2006/main">
            <a:srgbClr val="D0E1E5"/>
          </a:solidFill>
          <a:ln xmlns:a="http://schemas.openxmlformats.org/drawingml/2006/main" w="0">
            <a:solidFill>
              <a:srgbClr val="D0E1E5"/>
            </a:solidFill>
            <a:prstDash val="solid"/>
          </a:ln>
        </p:spPr>
      </p:sp>
      <p:sp>
        <p:nvSpPr>
          <p:cNvPr id="36" name="">
            <a:extLst xmlns:a="http://schemas.openxmlformats.org/drawingml/2006/main">
              <a:ext uri="{FF2B5EF4-FFF2-40B4-BE49-F238E27FC236}">
                <a16:creationId xmlns:a16="http://schemas.microsoft.com/office/drawing/2014/main" id="{E18DF21D-4F1B-4231-BF0B-DB7832E6B454}"/>
              </a:ext>
            </a:extLst>
          </p:cNvPr>
          <p:cNvSpPr>
            <a:spLocks xmlns:a="http://schemas.openxmlformats.org/drawingml/2006/main" noGrp="1"/>
          </p:cNvSpPr>
          <p:nvPr/>
        </p:nvSpPr>
        <p:spPr>
          <a:xfrm xmlns:a="http://schemas.openxmlformats.org/drawingml/2006/main">
            <a:off x="9305925" y="47053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1">
                <a:solidFill>
                  <a:srgbClr val="5F6368"/>
                </a:solidFill>
                <a:latin typeface="Google Sans Medium"/>
                <a:ea typeface="Google Sans Medium"/>
                <a:cs typeface="Google Sans Medium"/>
              </a:defRPr>
            </a:pPr>
            <a:r>
              <a:rPr sz="1200" b="1">
                <a:solidFill>
                  <a:srgbClr val="5F6368"/>
                </a:solidFill>
                <a:latin typeface="Google Sans Medium"/>
                <a:ea typeface="Google Sans Medium"/>
                <a:cs typeface="Google Sans Medium"/>
              </a:rPr>
              <a:t>Output</a:t>
            </a:r>
          </a:p>
        </p:txBody>
      </p:sp>
      <p:sp>
        <p:nvSpPr>
          <p:cNvPr id="37" name="">
            <a:extLst xmlns:a="http://schemas.openxmlformats.org/drawingml/2006/main">
              <a:ext uri="{FF2B5EF4-FFF2-40B4-BE49-F238E27FC236}">
                <a16:creationId xmlns:a16="http://schemas.microsoft.com/office/drawing/2014/main" id="{2560CD14-AF4E-423D-AAA3-242B7A4BC4F9}"/>
              </a:ext>
            </a:extLst>
          </p:cNvPr>
          <p:cNvSpPr>
            <a:spLocks xmlns:a="http://schemas.openxmlformats.org/drawingml/2006/main" noGrp="1"/>
          </p:cNvSpPr>
          <p:nvPr/>
        </p:nvSpPr>
        <p:spPr>
          <a:xfrm xmlns:a="http://schemas.openxmlformats.org/drawingml/2006/main">
            <a:off x="9305925" y="50101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Context-aware answer</a:t>
            </a:r>
          </a:p>
        </p:txBody>
      </p:sp>
      <p:sp>
        <p:nvSpPr>
          <p:cNvPr id="38" name="">
            <a:extLst xmlns:a="http://schemas.openxmlformats.org/drawingml/2006/main">
              <a:ext uri="{FF2B5EF4-FFF2-40B4-BE49-F238E27FC236}">
                <a16:creationId xmlns:a16="http://schemas.microsoft.com/office/drawing/2014/main" id="{84874CF0-5A9E-43F0-AF68-2199FE587FD3}"/>
              </a:ext>
            </a:extLst>
          </p:cNvPr>
          <p:cNvSpPr>
            <a:spLocks xmlns:a="http://schemas.openxmlformats.org/drawingml/2006/main" noGrp="1"/>
          </p:cNvSpPr>
          <p:nvPr/>
        </p:nvSpPr>
        <p:spPr>
          <a:xfrm xmlns:a="http://schemas.openxmlformats.org/drawingml/2006/main">
            <a:off x="2857500" y="598170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For every use case, define success before selecting the model.</a:t>
            </a:r>
          </a:p>
        </p:txBody>
      </p:sp>
    </p:spTree>
    <p:extLst>
      <p:ext uri="{BB962C8B-B14F-4D97-AF65-F5344CB8AC3E}">
        <p14:creationId xmlns:p14="http://schemas.microsoft.com/office/powerpoint/2010/main" val="13488557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543799-1B6C-42ED-8837-610241A95842}"/>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Example: a coding assistant turns requirements into a reviewable draft</a:t>
            </a:r>
          </a:p>
        </p:txBody>
      </p:sp>
      <p:sp>
        <p:nvSpPr>
          <p:cNvPr id="2" name="">
            <a:extLst xmlns:a="http://schemas.openxmlformats.org/drawingml/2006/main">
              <a:ext uri="{FF2B5EF4-FFF2-40B4-BE49-F238E27FC236}">
                <a16:creationId xmlns:a16="http://schemas.microsoft.com/office/drawing/2014/main" id="{09DFD6AC-CEE3-4125-9564-5FA7DE827A9E}"/>
              </a:ext>
            </a:extLst>
          </p:cNvPr>
          <p:cNvSpPr>
            <a:spLocks xmlns:a="http://schemas.openxmlformats.org/drawingml/2006/main" noGrp="1"/>
          </p:cNvSpPr>
          <p:nvPr/>
        </p:nvSpPr>
        <p:spPr>
          <a:xfrm xmlns:a="http://schemas.openxmlformats.org/drawingml/2006/main">
            <a:off x="590550" y="2095500"/>
            <a:ext cx="2428875" cy="2190750"/>
          </a:xfrm>
          <a:prstGeom xmlns:a="http://schemas.openxmlformats.org/drawingml/2006/main" prst="roundRect">
            <a:avLst>
              <a:gd name="adj" fmla="val 3478"/>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21025150-500E-439C-8B0F-2BC8E0C6F8FB}"/>
              </a:ext>
            </a:extLst>
          </p:cNvPr>
          <p:cNvSpPr>
            <a:spLocks xmlns:a="http://schemas.openxmlformats.org/drawingml/2006/main" noGrp="1"/>
          </p:cNvSpPr>
          <p:nvPr/>
        </p:nvSpPr>
        <p:spPr>
          <a:xfrm xmlns:a="http://schemas.openxmlformats.org/drawingml/2006/main">
            <a:off x="781050" y="2305050"/>
            <a:ext cx="400050" cy="4000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5715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1</a:t>
            </a:r>
          </a:p>
        </p:txBody>
      </p:sp>
      <p:sp>
        <p:nvSpPr>
          <p:cNvPr id="4" name="">
            <a:extLst xmlns:a="http://schemas.openxmlformats.org/drawingml/2006/main">
              <a:ext uri="{FF2B5EF4-FFF2-40B4-BE49-F238E27FC236}">
                <a16:creationId xmlns:a16="http://schemas.microsoft.com/office/drawing/2014/main" id="{323BA494-D3FC-40AE-B8BA-5F0390BD8800}"/>
              </a:ext>
            </a:extLst>
          </p:cNvPr>
          <p:cNvSpPr>
            <a:spLocks xmlns:a="http://schemas.openxmlformats.org/drawingml/2006/main" noGrp="1"/>
          </p:cNvSpPr>
          <p:nvPr/>
        </p:nvSpPr>
        <p:spPr>
          <a:xfrm xmlns:a="http://schemas.openxmlformats.org/drawingml/2006/main">
            <a:off x="819150" y="2876550"/>
            <a:ext cx="197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Developer request</a:t>
            </a:r>
          </a:p>
        </p:txBody>
      </p:sp>
      <p:sp>
        <p:nvSpPr>
          <p:cNvPr id="5" name="">
            <a:extLst xmlns:a="http://schemas.openxmlformats.org/drawingml/2006/main">
              <a:ext uri="{FF2B5EF4-FFF2-40B4-BE49-F238E27FC236}">
                <a16:creationId xmlns:a16="http://schemas.microsoft.com/office/drawing/2014/main" id="{438F071A-E25C-477D-99A9-923410CED1D9}"/>
              </a:ext>
            </a:extLst>
          </p:cNvPr>
          <p:cNvSpPr>
            <a:spLocks xmlns:a="http://schemas.openxmlformats.org/drawingml/2006/main" noGrp="1"/>
          </p:cNvSpPr>
          <p:nvPr/>
        </p:nvSpPr>
        <p:spPr>
          <a:xfrm xmlns:a="http://schemas.openxmlformats.org/drawingml/2006/main">
            <a:off x="819150" y="3467100"/>
            <a:ext cx="1971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“Write a Python function that validates a student ID.”</a:t>
            </a:r>
          </a:p>
        </p:txBody>
      </p:sp>
      <p:sp>
        <p:nvSpPr>
          <p:cNvPr id="6" name="">
            <a:extLst xmlns:a="http://schemas.openxmlformats.org/drawingml/2006/main">
              <a:ext uri="{FF2B5EF4-FFF2-40B4-BE49-F238E27FC236}">
                <a16:creationId xmlns:a16="http://schemas.microsoft.com/office/drawing/2014/main" id="{F5B32F28-7256-499D-AE5B-336FD19C243F}"/>
              </a:ext>
            </a:extLst>
          </p:cNvPr>
          <p:cNvSpPr>
            <a:spLocks xmlns:a="http://schemas.openxmlformats.org/drawingml/2006/main" noGrp="1"/>
          </p:cNvSpPr>
          <p:nvPr/>
        </p:nvSpPr>
        <p:spPr>
          <a:xfrm xmlns:a="http://schemas.openxmlformats.org/drawingml/2006/main">
            <a:off x="3038475" y="302895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7" name="">
            <a:extLst xmlns:a="http://schemas.openxmlformats.org/drawingml/2006/main">
              <a:ext uri="{FF2B5EF4-FFF2-40B4-BE49-F238E27FC236}">
                <a16:creationId xmlns:a16="http://schemas.microsoft.com/office/drawing/2014/main" id="{490BDA6C-CBE6-4B26-85C2-4681A787CEB6}"/>
              </a:ext>
            </a:extLst>
          </p:cNvPr>
          <p:cNvSpPr>
            <a:spLocks xmlns:a="http://schemas.openxmlformats.org/drawingml/2006/main" noGrp="1"/>
          </p:cNvSpPr>
          <p:nvPr/>
        </p:nvSpPr>
        <p:spPr>
          <a:xfrm xmlns:a="http://schemas.openxmlformats.org/drawingml/2006/main">
            <a:off x="3495675" y="2095500"/>
            <a:ext cx="2428875" cy="2190750"/>
          </a:xfrm>
          <a:prstGeom xmlns:a="http://schemas.openxmlformats.org/drawingml/2006/main" prst="roundRect">
            <a:avLst>
              <a:gd name="adj" fmla="val 3478"/>
            </a:avLst>
          </a:prstGeom>
          <a:solidFill xmlns:a="http://schemas.openxmlformats.org/drawingml/2006/main">
            <a:srgbClr val="FDEFC3"/>
          </a:solidFill>
          <a:ln xmlns:a="http://schemas.openxmlformats.org/drawingml/2006/main" w="0">
            <a:solidFill>
              <a:srgbClr val="FDEFC3"/>
            </a:solidFill>
            <a:prstDash val="solid"/>
          </a:ln>
        </p:spPr>
      </p:sp>
      <p:sp>
        <p:nvSpPr>
          <p:cNvPr id="8" name="">
            <a:extLst xmlns:a="http://schemas.openxmlformats.org/drawingml/2006/main">
              <a:ext uri="{FF2B5EF4-FFF2-40B4-BE49-F238E27FC236}">
                <a16:creationId xmlns:a16="http://schemas.microsoft.com/office/drawing/2014/main" id="{1CB1B828-6190-4C74-8F0F-6E835A050348}"/>
              </a:ext>
            </a:extLst>
          </p:cNvPr>
          <p:cNvSpPr>
            <a:spLocks xmlns:a="http://schemas.openxmlformats.org/drawingml/2006/main" noGrp="1"/>
          </p:cNvSpPr>
          <p:nvPr/>
        </p:nvSpPr>
        <p:spPr>
          <a:xfrm xmlns:a="http://schemas.openxmlformats.org/drawingml/2006/main">
            <a:off x="3686175" y="2305050"/>
            <a:ext cx="400050" cy="400050"/>
          </a:xfrm>
          <a:prstGeom xmlns:a="http://schemas.openxmlformats.org/drawingml/2006/main" prst="rect">
            <a:avLst/>
          </a:prstGeom>
          <a:solidFill xmlns:a="http://schemas.openxmlformats.org/drawingml/2006/main">
            <a:srgbClr val="F0A608"/>
          </a:solidFill>
          <a:ln xmlns:a="http://schemas.openxmlformats.org/drawingml/2006/main" w="0">
            <a:noFill/>
            <a:prstDash val="solid"/>
          </a:ln>
        </p:spPr>
        <p:txBody>
          <a:bodyPr xmlns:a="http://schemas.openxmlformats.org/drawingml/2006/main" wrap="square" lIns="0" tIns="5715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5BBD8C0C-EC1E-49EC-A98A-F6E2B2A75CA5}"/>
              </a:ext>
            </a:extLst>
          </p:cNvPr>
          <p:cNvSpPr>
            <a:spLocks xmlns:a="http://schemas.openxmlformats.org/drawingml/2006/main" noGrp="1"/>
          </p:cNvSpPr>
          <p:nvPr/>
        </p:nvSpPr>
        <p:spPr>
          <a:xfrm xmlns:a="http://schemas.openxmlformats.org/drawingml/2006/main">
            <a:off x="3724275" y="2876550"/>
            <a:ext cx="197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Supply context</a:t>
            </a:r>
          </a:p>
        </p:txBody>
      </p:sp>
      <p:sp>
        <p:nvSpPr>
          <p:cNvPr id="10" name="">
            <a:extLst xmlns:a="http://schemas.openxmlformats.org/drawingml/2006/main">
              <a:ext uri="{FF2B5EF4-FFF2-40B4-BE49-F238E27FC236}">
                <a16:creationId xmlns:a16="http://schemas.microsoft.com/office/drawing/2014/main" id="{FFA76010-B1A3-465D-A085-240AEC2B8B5D}"/>
              </a:ext>
            </a:extLst>
          </p:cNvPr>
          <p:cNvSpPr>
            <a:spLocks xmlns:a="http://schemas.openxmlformats.org/drawingml/2006/main" noGrp="1"/>
          </p:cNvSpPr>
          <p:nvPr/>
        </p:nvSpPr>
        <p:spPr>
          <a:xfrm xmlns:a="http://schemas.openxmlformats.org/drawingml/2006/main">
            <a:off x="3724275" y="3467100"/>
            <a:ext cx="1971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Function signature, examples, style rules, constraints</a:t>
            </a:r>
          </a:p>
        </p:txBody>
      </p:sp>
      <p:sp>
        <p:nvSpPr>
          <p:cNvPr id="11" name="">
            <a:extLst xmlns:a="http://schemas.openxmlformats.org/drawingml/2006/main">
              <a:ext uri="{FF2B5EF4-FFF2-40B4-BE49-F238E27FC236}">
                <a16:creationId xmlns:a16="http://schemas.microsoft.com/office/drawing/2014/main" id="{FDE412EC-3FDA-43F5-BE98-8019C6487989}"/>
              </a:ext>
            </a:extLst>
          </p:cNvPr>
          <p:cNvSpPr>
            <a:spLocks xmlns:a="http://schemas.openxmlformats.org/drawingml/2006/main" noGrp="1"/>
          </p:cNvSpPr>
          <p:nvPr/>
        </p:nvSpPr>
        <p:spPr>
          <a:xfrm xmlns:a="http://schemas.openxmlformats.org/drawingml/2006/main">
            <a:off x="5943600" y="302895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12" name="">
            <a:extLst xmlns:a="http://schemas.openxmlformats.org/drawingml/2006/main">
              <a:ext uri="{FF2B5EF4-FFF2-40B4-BE49-F238E27FC236}">
                <a16:creationId xmlns:a16="http://schemas.microsoft.com/office/drawing/2014/main" id="{ACE47E27-99C9-471E-92F2-828F544C7B49}"/>
              </a:ext>
            </a:extLst>
          </p:cNvPr>
          <p:cNvSpPr>
            <a:spLocks xmlns:a="http://schemas.openxmlformats.org/drawingml/2006/main" noGrp="1"/>
          </p:cNvSpPr>
          <p:nvPr/>
        </p:nvSpPr>
        <p:spPr>
          <a:xfrm xmlns:a="http://schemas.openxmlformats.org/drawingml/2006/main">
            <a:off x="6400800" y="2095500"/>
            <a:ext cx="2428875" cy="2190750"/>
          </a:xfrm>
          <a:prstGeom xmlns:a="http://schemas.openxmlformats.org/drawingml/2006/main" prst="roundRect">
            <a:avLst>
              <a:gd name="adj" fmla="val 3478"/>
            </a:avLst>
          </a:prstGeom>
          <a:solidFill xmlns:a="http://schemas.openxmlformats.org/drawingml/2006/main">
            <a:srgbClr val="F5C7C9"/>
          </a:solidFill>
          <a:ln xmlns:a="http://schemas.openxmlformats.org/drawingml/2006/main" w="0">
            <a:solidFill>
              <a:srgbClr val="F5C7C9"/>
            </a:solidFill>
            <a:prstDash val="solid"/>
          </a:ln>
        </p:spPr>
      </p:sp>
      <p:sp>
        <p:nvSpPr>
          <p:cNvPr id="13" name="">
            <a:extLst xmlns:a="http://schemas.openxmlformats.org/drawingml/2006/main">
              <a:ext uri="{FF2B5EF4-FFF2-40B4-BE49-F238E27FC236}">
                <a16:creationId xmlns:a16="http://schemas.microsoft.com/office/drawing/2014/main" id="{E07052EC-C023-4F18-BE3D-741347FA6C21}"/>
              </a:ext>
            </a:extLst>
          </p:cNvPr>
          <p:cNvSpPr>
            <a:spLocks xmlns:a="http://schemas.openxmlformats.org/drawingml/2006/main" noGrp="1"/>
          </p:cNvSpPr>
          <p:nvPr/>
        </p:nvSpPr>
        <p:spPr>
          <a:xfrm xmlns:a="http://schemas.openxmlformats.org/drawingml/2006/main">
            <a:off x="6591300" y="2305050"/>
            <a:ext cx="400050" cy="400050"/>
          </a:xfrm>
          <a:prstGeom xmlns:a="http://schemas.openxmlformats.org/drawingml/2006/main" prst="rect">
            <a:avLst/>
          </a:prstGeom>
          <a:solidFill xmlns:a="http://schemas.openxmlformats.org/drawingml/2006/main">
            <a:srgbClr val="D34836"/>
          </a:solidFill>
          <a:ln xmlns:a="http://schemas.openxmlformats.org/drawingml/2006/main" w="0">
            <a:noFill/>
            <a:prstDash val="solid"/>
          </a:ln>
        </p:spPr>
        <p:txBody>
          <a:bodyPr xmlns:a="http://schemas.openxmlformats.org/drawingml/2006/main" wrap="square" lIns="0" tIns="5715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3</a:t>
            </a:r>
          </a:p>
        </p:txBody>
      </p:sp>
      <p:sp>
        <p:nvSpPr>
          <p:cNvPr id="14" name="">
            <a:extLst xmlns:a="http://schemas.openxmlformats.org/drawingml/2006/main">
              <a:ext uri="{FF2B5EF4-FFF2-40B4-BE49-F238E27FC236}">
                <a16:creationId xmlns:a16="http://schemas.microsoft.com/office/drawing/2014/main" id="{8A4F21A5-FECF-4CBD-A470-83D4FC866BE9}"/>
              </a:ext>
            </a:extLst>
          </p:cNvPr>
          <p:cNvSpPr>
            <a:spLocks xmlns:a="http://schemas.openxmlformats.org/drawingml/2006/main" noGrp="1"/>
          </p:cNvSpPr>
          <p:nvPr/>
        </p:nvSpPr>
        <p:spPr>
          <a:xfrm xmlns:a="http://schemas.openxmlformats.org/drawingml/2006/main">
            <a:off x="6629400" y="2876550"/>
            <a:ext cx="197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LLM drafts</a:t>
            </a:r>
          </a:p>
        </p:txBody>
      </p:sp>
      <p:sp>
        <p:nvSpPr>
          <p:cNvPr id="15" name="">
            <a:extLst xmlns:a="http://schemas.openxmlformats.org/drawingml/2006/main">
              <a:ext uri="{FF2B5EF4-FFF2-40B4-BE49-F238E27FC236}">
                <a16:creationId xmlns:a16="http://schemas.microsoft.com/office/drawing/2014/main" id="{399AD673-2A2F-40BF-A8C2-D3F5A69B04BF}"/>
              </a:ext>
            </a:extLst>
          </p:cNvPr>
          <p:cNvSpPr>
            <a:spLocks xmlns:a="http://schemas.openxmlformats.org/drawingml/2006/main" noGrp="1"/>
          </p:cNvSpPr>
          <p:nvPr/>
        </p:nvSpPr>
        <p:spPr>
          <a:xfrm xmlns:a="http://schemas.openxmlformats.org/drawingml/2006/main">
            <a:off x="6629400" y="3467100"/>
            <a:ext cx="1971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Code, short explanation, and candidate unit tests</a:t>
            </a:r>
          </a:p>
        </p:txBody>
      </p:sp>
      <p:sp>
        <p:nvSpPr>
          <p:cNvPr id="16" name="">
            <a:extLst xmlns:a="http://schemas.openxmlformats.org/drawingml/2006/main">
              <a:ext uri="{FF2B5EF4-FFF2-40B4-BE49-F238E27FC236}">
                <a16:creationId xmlns:a16="http://schemas.microsoft.com/office/drawing/2014/main" id="{CE5F3DDC-95E4-4309-9538-7B4B1682A34F}"/>
              </a:ext>
            </a:extLst>
          </p:cNvPr>
          <p:cNvSpPr>
            <a:spLocks xmlns:a="http://schemas.openxmlformats.org/drawingml/2006/main" noGrp="1"/>
          </p:cNvSpPr>
          <p:nvPr/>
        </p:nvSpPr>
        <p:spPr>
          <a:xfrm xmlns:a="http://schemas.openxmlformats.org/drawingml/2006/main">
            <a:off x="8848725" y="302895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17" name="">
            <a:extLst xmlns:a="http://schemas.openxmlformats.org/drawingml/2006/main">
              <a:ext uri="{FF2B5EF4-FFF2-40B4-BE49-F238E27FC236}">
                <a16:creationId xmlns:a16="http://schemas.microsoft.com/office/drawing/2014/main" id="{3F6B56DF-F2AF-4AFD-8946-38D40F8BD64D}"/>
              </a:ext>
            </a:extLst>
          </p:cNvPr>
          <p:cNvSpPr>
            <a:spLocks xmlns:a="http://schemas.openxmlformats.org/drawingml/2006/main" noGrp="1"/>
          </p:cNvSpPr>
          <p:nvPr/>
        </p:nvSpPr>
        <p:spPr>
          <a:xfrm xmlns:a="http://schemas.openxmlformats.org/drawingml/2006/main">
            <a:off x="9305925" y="2095500"/>
            <a:ext cx="2428875" cy="2190750"/>
          </a:xfrm>
          <a:prstGeom xmlns:a="http://schemas.openxmlformats.org/drawingml/2006/main" prst="roundRect">
            <a:avLst>
              <a:gd name="adj" fmla="val 3478"/>
            </a:avLst>
          </a:prstGeom>
          <a:solidFill xmlns:a="http://schemas.openxmlformats.org/drawingml/2006/main">
            <a:srgbClr val="D0E1E5"/>
          </a:solidFill>
          <a:ln xmlns:a="http://schemas.openxmlformats.org/drawingml/2006/main" w="0">
            <a:solidFill>
              <a:srgbClr val="D0E1E5"/>
            </a:solidFill>
            <a:prstDash val="solid"/>
          </a:ln>
        </p:spPr>
      </p:sp>
      <p:sp>
        <p:nvSpPr>
          <p:cNvPr id="18" name="">
            <a:extLst xmlns:a="http://schemas.openxmlformats.org/drawingml/2006/main">
              <a:ext uri="{FF2B5EF4-FFF2-40B4-BE49-F238E27FC236}">
                <a16:creationId xmlns:a16="http://schemas.microsoft.com/office/drawing/2014/main" id="{F111A372-A598-4B31-868A-62696F6DC690}"/>
              </a:ext>
            </a:extLst>
          </p:cNvPr>
          <p:cNvSpPr>
            <a:spLocks xmlns:a="http://schemas.openxmlformats.org/drawingml/2006/main" noGrp="1"/>
          </p:cNvSpPr>
          <p:nvPr/>
        </p:nvSpPr>
        <p:spPr>
          <a:xfrm xmlns:a="http://schemas.openxmlformats.org/drawingml/2006/main">
            <a:off x="9496425" y="2305050"/>
            <a:ext cx="400050" cy="400050"/>
          </a:xfrm>
          <a:prstGeom xmlns:a="http://schemas.openxmlformats.org/drawingml/2006/main" prst="rect">
            <a:avLst/>
          </a:prstGeom>
          <a:solidFill xmlns:a="http://schemas.openxmlformats.org/drawingml/2006/main">
            <a:srgbClr val="0F9D58"/>
          </a:solidFill>
          <a:ln xmlns:a="http://schemas.openxmlformats.org/drawingml/2006/main" w="0">
            <a:noFill/>
            <a:prstDash val="solid"/>
          </a:ln>
        </p:spPr>
        <p:txBody>
          <a:bodyPr xmlns:a="http://schemas.openxmlformats.org/drawingml/2006/main" wrap="square" lIns="0" tIns="57150" rIns="0" bIns="0" anchor="ctr">
            <a:normAutofit fontScale="100000"/>
          </a:bodyPr>
          <a:lstStyle xmlns:a="http://schemas.openxmlformats.org/drawingml/2006/main"/>
          <a:p xmlns:a="http://schemas.openxmlformats.org/drawingml/2006/main">
            <a:pPr algn="ctr">
              <a:buNone/>
              <a:defRPr sz="1350" b="1">
                <a:solidFill>
                  <a:srgbClr val="FFFFFF"/>
                </a:solidFill>
                <a:latin typeface="Google Sans Medium"/>
                <a:ea typeface="Google Sans Medium"/>
                <a:cs typeface="Google Sans Medium"/>
              </a:defRPr>
            </a:pPr>
            <a:r>
              <a:rPr sz="1350" b="1">
                <a:solidFill>
                  <a:srgbClr val="FFFFFF"/>
                </a:solidFill>
                <a:latin typeface="Google Sans Medium"/>
                <a:ea typeface="Google Sans Medium"/>
                <a:cs typeface="Google Sans Medium"/>
              </a:rPr>
              <a:t>4</a:t>
            </a:r>
          </a:p>
        </p:txBody>
      </p:sp>
      <p:sp>
        <p:nvSpPr>
          <p:cNvPr id="19" name="">
            <a:extLst xmlns:a="http://schemas.openxmlformats.org/drawingml/2006/main">
              <a:ext uri="{FF2B5EF4-FFF2-40B4-BE49-F238E27FC236}">
                <a16:creationId xmlns:a16="http://schemas.microsoft.com/office/drawing/2014/main" id="{AD0ED43A-CD96-4641-8902-F408A9AE9A76}"/>
              </a:ext>
            </a:extLst>
          </p:cNvPr>
          <p:cNvSpPr>
            <a:spLocks xmlns:a="http://schemas.openxmlformats.org/drawingml/2006/main" noGrp="1"/>
          </p:cNvSpPr>
          <p:nvPr/>
        </p:nvSpPr>
        <p:spPr>
          <a:xfrm xmlns:a="http://schemas.openxmlformats.org/drawingml/2006/main">
            <a:off x="9534525" y="2876550"/>
            <a:ext cx="1971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Execute + review</a:t>
            </a:r>
          </a:p>
        </p:txBody>
      </p:sp>
      <p:sp>
        <p:nvSpPr>
          <p:cNvPr id="20" name="">
            <a:extLst xmlns:a="http://schemas.openxmlformats.org/drawingml/2006/main">
              <a:ext uri="{FF2B5EF4-FFF2-40B4-BE49-F238E27FC236}">
                <a16:creationId xmlns:a16="http://schemas.microsoft.com/office/drawing/2014/main" id="{9ED32C36-36FC-47A8-B801-A6509D23D3B8}"/>
              </a:ext>
            </a:extLst>
          </p:cNvPr>
          <p:cNvSpPr>
            <a:spLocks xmlns:a="http://schemas.openxmlformats.org/drawingml/2006/main" noGrp="1"/>
          </p:cNvSpPr>
          <p:nvPr/>
        </p:nvSpPr>
        <p:spPr>
          <a:xfrm xmlns:a="http://schemas.openxmlformats.org/drawingml/2006/main">
            <a:off x="9534525" y="3467100"/>
            <a:ext cx="19716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000000"/>
                </a:solidFill>
                <a:latin typeface="Google Sans Text"/>
                <a:ea typeface="Google Sans Text"/>
                <a:cs typeface="Google Sans Text"/>
              </a:defRPr>
            </a:pPr>
            <a:r>
              <a:rPr sz="1275" b="0">
                <a:solidFill>
                  <a:srgbClr val="000000"/>
                </a:solidFill>
                <a:latin typeface="Google Sans Text"/>
                <a:ea typeface="Google Sans Text"/>
                <a:cs typeface="Google Sans Text"/>
              </a:rPr>
              <a:t>Run tests, inspect security, revise or reject</a:t>
            </a:r>
          </a:p>
        </p:txBody>
      </p:sp>
      <p:sp>
        <p:nvSpPr>
          <p:cNvPr id="21" name="">
            <a:extLst xmlns:a="http://schemas.openxmlformats.org/drawingml/2006/main">
              <a:ext uri="{FF2B5EF4-FFF2-40B4-BE49-F238E27FC236}">
                <a16:creationId xmlns:a16="http://schemas.microsoft.com/office/drawing/2014/main" id="{A891E183-5CE0-404F-A49E-25878D83EA50}"/>
              </a:ext>
            </a:extLst>
          </p:cNvPr>
          <p:cNvSpPr>
            <a:spLocks xmlns:a="http://schemas.openxmlformats.org/drawingml/2006/main" noGrp="1"/>
          </p:cNvSpPr>
          <p:nvPr/>
        </p:nvSpPr>
        <p:spPr>
          <a:xfrm xmlns:a="http://schemas.openxmlformats.org/drawingml/2006/main">
            <a:off x="1762125" y="5048250"/>
            <a:ext cx="866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The model accelerates drafting; executable tests and human review determine whether the code is usable.</a:t>
            </a:r>
          </a:p>
        </p:txBody>
      </p:sp>
    </p:spTree>
    <p:extLst>
      <p:ext uri="{BB962C8B-B14F-4D97-AF65-F5344CB8AC3E}">
        <p14:creationId xmlns:p14="http://schemas.microsoft.com/office/powerpoint/2010/main" val="4257294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5B8300-1189-4894-835D-C0E528C496E8}"/>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Evaluate an LLM application with task-specific evidence</a:t>
            </a:r>
          </a:p>
        </p:txBody>
      </p:sp>
      <p:sp>
        <p:nvSpPr>
          <p:cNvPr id="2" name="">
            <a:extLst xmlns:a="http://schemas.openxmlformats.org/drawingml/2006/main">
              <a:ext uri="{FF2B5EF4-FFF2-40B4-BE49-F238E27FC236}">
                <a16:creationId xmlns:a16="http://schemas.microsoft.com/office/drawing/2014/main" id="{6144D386-069C-448C-9516-D3010FB5DB14}"/>
              </a:ext>
            </a:extLst>
          </p:cNvPr>
          <p:cNvSpPr>
            <a:spLocks xmlns:a="http://schemas.openxmlformats.org/drawingml/2006/main" noGrp="1"/>
          </p:cNvSpPr>
          <p:nvPr/>
        </p:nvSpPr>
        <p:spPr>
          <a:xfrm xmlns:a="http://schemas.openxmlformats.org/drawingml/2006/main">
            <a:off x="1562100" y="1571625"/>
            <a:ext cx="742950" cy="7429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114300" rIns="0" bIns="0" anchor="ctr">
            <a:normAutofit fontScale="100000"/>
          </a:bodyPr>
          <a:lstStyle xmlns:a="http://schemas.openxmlformats.org/drawingml/2006/main"/>
          <a:p xmlns:a="http://schemas.openxmlformats.org/drawingml/2006/main">
            <a:pPr algn="ctr">
              <a:buNone/>
              <a:defRPr sz="2250" b="0">
                <a:solidFill>
                  <a:srgbClr val="FFFFFF"/>
                </a:solidFill>
                <a:latin typeface="Google Sans"/>
                <a:ea typeface="Google Sans"/>
                <a:cs typeface="Google Sans"/>
              </a:defRPr>
            </a:pPr>
            <a:r>
              <a:rPr sz="2250" b="0">
                <a:solidFill>
                  <a:srgbClr val="FFFFFF"/>
                </a:solidFill>
                <a:latin typeface="Google Sans"/>
                <a:ea typeface="Google Sans"/>
                <a:cs typeface="Google Sans"/>
              </a:rPr>
              <a:t>1</a:t>
            </a:r>
          </a:p>
        </p:txBody>
      </p:sp>
      <p:sp>
        <p:nvSpPr>
          <p:cNvPr id="3" name="">
            <a:extLst xmlns:a="http://schemas.openxmlformats.org/drawingml/2006/main">
              <a:ext uri="{FF2B5EF4-FFF2-40B4-BE49-F238E27FC236}">
                <a16:creationId xmlns:a16="http://schemas.microsoft.com/office/drawing/2014/main" id="{3127783B-C6AD-4ED3-8595-A37BF1564646}"/>
              </a:ext>
            </a:extLst>
          </p:cNvPr>
          <p:cNvSpPr>
            <a:spLocks xmlns:a="http://schemas.openxmlformats.org/drawingml/2006/main" noGrp="1"/>
          </p:cNvSpPr>
          <p:nvPr/>
        </p:nvSpPr>
        <p:spPr>
          <a:xfrm xmlns:a="http://schemas.openxmlformats.org/drawingml/2006/main">
            <a:off x="742950" y="2667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Task success</a:t>
            </a:r>
          </a:p>
        </p:txBody>
      </p:sp>
      <p:sp>
        <p:nvSpPr>
          <p:cNvPr id="4" name="">
            <a:extLst xmlns:a="http://schemas.openxmlformats.org/drawingml/2006/main">
              <a:ext uri="{FF2B5EF4-FFF2-40B4-BE49-F238E27FC236}">
                <a16:creationId xmlns:a16="http://schemas.microsoft.com/office/drawing/2014/main" id="{80404221-B63E-4F63-8757-B7FFF20B6145}"/>
              </a:ext>
            </a:extLst>
          </p:cNvPr>
          <p:cNvSpPr>
            <a:spLocks xmlns:a="http://schemas.openxmlformats.org/drawingml/2006/main" noGrp="1"/>
          </p:cNvSpPr>
          <p:nvPr/>
        </p:nvSpPr>
        <p:spPr>
          <a:xfrm xmlns:a="http://schemas.openxmlformats.org/drawingml/2006/main">
            <a:off x="819150" y="3305175"/>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Is the answer complete, relevant, and in the required format?</a:t>
            </a:r>
          </a:p>
        </p:txBody>
      </p:sp>
      <p:sp>
        <p:nvSpPr>
          <p:cNvPr id="5" name="">
            <a:extLst xmlns:a="http://schemas.openxmlformats.org/drawingml/2006/main">
              <a:ext uri="{FF2B5EF4-FFF2-40B4-BE49-F238E27FC236}">
                <a16:creationId xmlns:a16="http://schemas.microsoft.com/office/drawing/2014/main" id="{283E79D7-5716-47CE-8551-D304732CCAF4}"/>
              </a:ext>
            </a:extLst>
          </p:cNvPr>
          <p:cNvSpPr>
            <a:spLocks xmlns:a="http://schemas.openxmlformats.org/drawingml/2006/main" noGrp="1"/>
          </p:cNvSpPr>
          <p:nvPr/>
        </p:nvSpPr>
        <p:spPr>
          <a:xfrm xmlns:a="http://schemas.openxmlformats.org/drawingml/2006/main">
            <a:off x="4457700" y="1571625"/>
            <a:ext cx="742950" cy="7429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114300" rIns="0" bIns="0" anchor="ctr">
            <a:normAutofit fontScale="100000"/>
          </a:bodyPr>
          <a:lstStyle xmlns:a="http://schemas.openxmlformats.org/drawingml/2006/main"/>
          <a:p xmlns:a="http://schemas.openxmlformats.org/drawingml/2006/main">
            <a:pPr algn="ctr">
              <a:buNone/>
              <a:defRPr sz="2250" b="0">
                <a:solidFill>
                  <a:srgbClr val="FFFFFF"/>
                </a:solidFill>
                <a:latin typeface="Google Sans"/>
                <a:ea typeface="Google Sans"/>
                <a:cs typeface="Google Sans"/>
              </a:defRPr>
            </a:pPr>
            <a:r>
              <a:rPr sz="2250" b="0">
                <a:solidFill>
                  <a:srgbClr val="FFFFFF"/>
                </a:solidFill>
                <a:latin typeface="Google Sans"/>
                <a:ea typeface="Google Sans"/>
                <a:cs typeface="Google Sans"/>
              </a:rPr>
              <a:t>2</a:t>
            </a:r>
          </a:p>
        </p:txBody>
      </p:sp>
      <p:sp>
        <p:nvSpPr>
          <p:cNvPr id="6" name="">
            <a:extLst xmlns:a="http://schemas.openxmlformats.org/drawingml/2006/main">
              <a:ext uri="{FF2B5EF4-FFF2-40B4-BE49-F238E27FC236}">
                <a16:creationId xmlns:a16="http://schemas.microsoft.com/office/drawing/2014/main" id="{39FA1741-0B85-4283-B3D8-A38781F10E5E}"/>
              </a:ext>
            </a:extLst>
          </p:cNvPr>
          <p:cNvSpPr>
            <a:spLocks xmlns:a="http://schemas.openxmlformats.org/drawingml/2006/main" noGrp="1"/>
          </p:cNvSpPr>
          <p:nvPr/>
        </p:nvSpPr>
        <p:spPr>
          <a:xfrm xmlns:a="http://schemas.openxmlformats.org/drawingml/2006/main">
            <a:off x="3638550" y="2667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Grounded accuracy</a:t>
            </a:r>
          </a:p>
        </p:txBody>
      </p:sp>
      <p:sp>
        <p:nvSpPr>
          <p:cNvPr id="7" name="">
            <a:extLst xmlns:a="http://schemas.openxmlformats.org/drawingml/2006/main">
              <a:ext uri="{FF2B5EF4-FFF2-40B4-BE49-F238E27FC236}">
                <a16:creationId xmlns:a16="http://schemas.microsoft.com/office/drawing/2014/main" id="{DDE15E7B-C940-45DB-9B73-964D2EE40FB2}"/>
              </a:ext>
            </a:extLst>
          </p:cNvPr>
          <p:cNvSpPr>
            <a:spLocks xmlns:a="http://schemas.openxmlformats.org/drawingml/2006/main" noGrp="1"/>
          </p:cNvSpPr>
          <p:nvPr/>
        </p:nvSpPr>
        <p:spPr>
          <a:xfrm xmlns:a="http://schemas.openxmlformats.org/drawingml/2006/main">
            <a:off x="3714750" y="3305175"/>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Are important claims supported by allowed evidence?</a:t>
            </a:r>
          </a:p>
        </p:txBody>
      </p:sp>
      <p:sp>
        <p:nvSpPr>
          <p:cNvPr id="8" name="">
            <a:extLst xmlns:a="http://schemas.openxmlformats.org/drawingml/2006/main">
              <a:ext uri="{FF2B5EF4-FFF2-40B4-BE49-F238E27FC236}">
                <a16:creationId xmlns:a16="http://schemas.microsoft.com/office/drawing/2014/main" id="{6876DD55-8997-41BB-BC37-2BE46F8D759C}"/>
              </a:ext>
            </a:extLst>
          </p:cNvPr>
          <p:cNvSpPr>
            <a:spLocks xmlns:a="http://schemas.openxmlformats.org/drawingml/2006/main" noGrp="1"/>
          </p:cNvSpPr>
          <p:nvPr/>
        </p:nvSpPr>
        <p:spPr>
          <a:xfrm xmlns:a="http://schemas.openxmlformats.org/drawingml/2006/main">
            <a:off x="7353300" y="1571625"/>
            <a:ext cx="742950" cy="7429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114300" rIns="0" bIns="0" anchor="ctr">
            <a:normAutofit fontScale="100000"/>
          </a:bodyPr>
          <a:lstStyle xmlns:a="http://schemas.openxmlformats.org/drawingml/2006/main"/>
          <a:p xmlns:a="http://schemas.openxmlformats.org/drawingml/2006/main">
            <a:pPr algn="ctr">
              <a:buNone/>
              <a:defRPr sz="2250" b="0">
                <a:solidFill>
                  <a:srgbClr val="FFFFFF"/>
                </a:solidFill>
                <a:latin typeface="Google Sans"/>
                <a:ea typeface="Google Sans"/>
                <a:cs typeface="Google Sans"/>
              </a:defRPr>
            </a:pPr>
            <a:r>
              <a:rPr sz="2250" b="0">
                <a:solidFill>
                  <a:srgbClr val="FFFFFF"/>
                </a:solidFill>
                <a:latin typeface="Google Sans"/>
                <a:ea typeface="Google Sans"/>
                <a:cs typeface="Google Sans"/>
              </a:rPr>
              <a:t>3</a:t>
            </a:r>
          </a:p>
        </p:txBody>
      </p:sp>
      <p:sp>
        <p:nvSpPr>
          <p:cNvPr id="9" name="">
            <a:extLst xmlns:a="http://schemas.openxmlformats.org/drawingml/2006/main">
              <a:ext uri="{FF2B5EF4-FFF2-40B4-BE49-F238E27FC236}">
                <a16:creationId xmlns:a16="http://schemas.microsoft.com/office/drawing/2014/main" id="{71291A68-1D8D-4ABF-8B7C-9B3FD1FDC275}"/>
              </a:ext>
            </a:extLst>
          </p:cNvPr>
          <p:cNvSpPr>
            <a:spLocks xmlns:a="http://schemas.openxmlformats.org/drawingml/2006/main" noGrp="1"/>
          </p:cNvSpPr>
          <p:nvPr/>
        </p:nvSpPr>
        <p:spPr>
          <a:xfrm xmlns:a="http://schemas.openxmlformats.org/drawingml/2006/main">
            <a:off x="6534150" y="2667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Consistency</a:t>
            </a:r>
          </a:p>
        </p:txBody>
      </p:sp>
      <p:sp>
        <p:nvSpPr>
          <p:cNvPr id="10" name="">
            <a:extLst xmlns:a="http://schemas.openxmlformats.org/drawingml/2006/main">
              <a:ext uri="{FF2B5EF4-FFF2-40B4-BE49-F238E27FC236}">
                <a16:creationId xmlns:a16="http://schemas.microsoft.com/office/drawing/2014/main" id="{A6078938-C6FF-4C3B-B1D9-22B297E32B09}"/>
              </a:ext>
            </a:extLst>
          </p:cNvPr>
          <p:cNvSpPr>
            <a:spLocks xmlns:a="http://schemas.openxmlformats.org/drawingml/2006/main" noGrp="1"/>
          </p:cNvSpPr>
          <p:nvPr/>
        </p:nvSpPr>
        <p:spPr>
          <a:xfrm xmlns:a="http://schemas.openxmlformats.org/drawingml/2006/main">
            <a:off x="6610350" y="3305175"/>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Does quality remain acceptable across representative prompts?</a:t>
            </a:r>
          </a:p>
        </p:txBody>
      </p:sp>
      <p:sp>
        <p:nvSpPr>
          <p:cNvPr id="11" name="">
            <a:extLst xmlns:a="http://schemas.openxmlformats.org/drawingml/2006/main">
              <a:ext uri="{FF2B5EF4-FFF2-40B4-BE49-F238E27FC236}">
                <a16:creationId xmlns:a16="http://schemas.microsoft.com/office/drawing/2014/main" id="{76BE7F82-BCD7-461F-85C6-42C4D3E673E8}"/>
              </a:ext>
            </a:extLst>
          </p:cNvPr>
          <p:cNvSpPr>
            <a:spLocks xmlns:a="http://schemas.openxmlformats.org/drawingml/2006/main" noGrp="1"/>
          </p:cNvSpPr>
          <p:nvPr/>
        </p:nvSpPr>
        <p:spPr>
          <a:xfrm xmlns:a="http://schemas.openxmlformats.org/drawingml/2006/main">
            <a:off x="10248900" y="1571625"/>
            <a:ext cx="742950" cy="7429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114300" rIns="0" bIns="0" anchor="ctr">
            <a:normAutofit fontScale="100000"/>
          </a:bodyPr>
          <a:lstStyle xmlns:a="http://schemas.openxmlformats.org/drawingml/2006/main"/>
          <a:p xmlns:a="http://schemas.openxmlformats.org/drawingml/2006/main">
            <a:pPr algn="ctr">
              <a:buNone/>
              <a:defRPr sz="2250" b="0">
                <a:solidFill>
                  <a:srgbClr val="FFFFFF"/>
                </a:solidFill>
                <a:latin typeface="Google Sans"/>
                <a:ea typeface="Google Sans"/>
                <a:cs typeface="Google Sans"/>
              </a:defRPr>
            </a:pPr>
            <a:r>
              <a:rPr sz="2250" b="0">
                <a:solidFill>
                  <a:srgbClr val="FFFFFF"/>
                </a:solidFill>
                <a:latin typeface="Google Sans"/>
                <a:ea typeface="Google Sans"/>
                <a:cs typeface="Google Sans"/>
              </a:rPr>
              <a:t>4</a:t>
            </a:r>
          </a:p>
        </p:txBody>
      </p:sp>
      <p:sp>
        <p:nvSpPr>
          <p:cNvPr id="12" name="">
            <a:extLst xmlns:a="http://schemas.openxmlformats.org/drawingml/2006/main">
              <a:ext uri="{FF2B5EF4-FFF2-40B4-BE49-F238E27FC236}">
                <a16:creationId xmlns:a16="http://schemas.microsoft.com/office/drawing/2014/main" id="{C6F6E332-BF66-4E79-9BBE-D57205632D5B}"/>
              </a:ext>
            </a:extLst>
          </p:cNvPr>
          <p:cNvSpPr>
            <a:spLocks xmlns:a="http://schemas.openxmlformats.org/drawingml/2006/main" noGrp="1"/>
          </p:cNvSpPr>
          <p:nvPr/>
        </p:nvSpPr>
        <p:spPr>
          <a:xfrm xmlns:a="http://schemas.openxmlformats.org/drawingml/2006/main">
            <a:off x="9429750" y="2667000"/>
            <a:ext cx="238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Operational fit</a:t>
            </a:r>
          </a:p>
        </p:txBody>
      </p:sp>
      <p:sp>
        <p:nvSpPr>
          <p:cNvPr id="13" name="">
            <a:extLst xmlns:a="http://schemas.openxmlformats.org/drawingml/2006/main">
              <a:ext uri="{FF2B5EF4-FFF2-40B4-BE49-F238E27FC236}">
                <a16:creationId xmlns:a16="http://schemas.microsoft.com/office/drawing/2014/main" id="{1406B078-47B2-4BA7-8867-394571A48EFA}"/>
              </a:ext>
            </a:extLst>
          </p:cNvPr>
          <p:cNvSpPr>
            <a:spLocks xmlns:a="http://schemas.openxmlformats.org/drawingml/2006/main" noGrp="1"/>
          </p:cNvSpPr>
          <p:nvPr/>
        </p:nvSpPr>
        <p:spPr>
          <a:xfrm xmlns:a="http://schemas.openxmlformats.org/drawingml/2006/main">
            <a:off x="9505950" y="3305175"/>
            <a:ext cx="2228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000000"/>
                </a:solidFill>
                <a:latin typeface="Google Sans Text"/>
                <a:ea typeface="Google Sans Text"/>
                <a:cs typeface="Google Sans Text"/>
              </a:defRPr>
            </a:pPr>
            <a:r>
              <a:rPr sz="1350" b="0">
                <a:solidFill>
                  <a:srgbClr val="000000"/>
                </a:solidFill>
                <a:latin typeface="Google Sans Text"/>
                <a:ea typeface="Google Sans Text"/>
                <a:cs typeface="Google Sans Text"/>
              </a:rPr>
              <a:t>Are latency, cost, safety, and escalation acceptable?</a:t>
            </a:r>
          </a:p>
        </p:txBody>
      </p:sp>
      <p:sp>
        <p:nvSpPr>
          <p:cNvPr id="14" name="">
            <a:extLst xmlns:a="http://schemas.openxmlformats.org/drawingml/2006/main">
              <a:ext uri="{FF2B5EF4-FFF2-40B4-BE49-F238E27FC236}">
                <a16:creationId xmlns:a16="http://schemas.microsoft.com/office/drawing/2014/main" id="{2CB0EB15-1884-4C81-A1A5-52E441D06134}"/>
              </a:ext>
            </a:extLst>
          </p:cNvPr>
          <p:cNvSpPr>
            <a:spLocks xmlns:a="http://schemas.openxmlformats.org/drawingml/2006/main" noGrp="1"/>
          </p:cNvSpPr>
          <p:nvPr/>
        </p:nvSpPr>
        <p:spPr>
          <a:xfrm xmlns:a="http://schemas.openxmlformats.org/drawingml/2006/main">
            <a:off x="2333625" y="4953000"/>
            <a:ext cx="7524750" cy="742950"/>
          </a:xfrm>
          <a:prstGeom xmlns:a="http://schemas.openxmlformats.org/drawingml/2006/main" prst="roundRect">
            <a:avLst>
              <a:gd name="adj" fmla="val 10256"/>
            </a:avLst>
          </a:prstGeom>
          <a:solidFill xmlns:a="http://schemas.openxmlformats.org/drawingml/2006/main">
            <a:srgbClr val="F8F8F8"/>
          </a:solidFill>
          <a:ln xmlns:a="http://schemas.openxmlformats.org/drawingml/2006/main" w="9525">
            <a:solidFill>
              <a:srgbClr val="DADCE0"/>
            </a:solidFill>
            <a:prstDash val="solid"/>
          </a:ln>
        </p:spPr>
      </p:sp>
      <p:sp>
        <p:nvSpPr>
          <p:cNvPr id="15" name="">
            <a:extLst xmlns:a="http://schemas.openxmlformats.org/drawingml/2006/main">
              <a:ext uri="{FF2B5EF4-FFF2-40B4-BE49-F238E27FC236}">
                <a16:creationId xmlns:a16="http://schemas.microsoft.com/office/drawing/2014/main" id="{B7901035-8E03-41C9-9DF1-7FB163E390C7}"/>
              </a:ext>
            </a:extLst>
          </p:cNvPr>
          <p:cNvSpPr>
            <a:spLocks xmlns:a="http://schemas.openxmlformats.org/drawingml/2006/main" noGrp="1"/>
          </p:cNvSpPr>
          <p:nvPr/>
        </p:nvSpPr>
        <p:spPr>
          <a:xfrm xmlns:a="http://schemas.openxmlformats.org/drawingml/2006/main">
            <a:off x="2667000" y="51625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74"/>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Define these checks before comparing prompts, models, or tuning methods.</a:t>
            </a:r>
          </a:p>
        </p:txBody>
      </p:sp>
    </p:spTree>
    <p:extLst>
      <p:ext uri="{BB962C8B-B14F-4D97-AF65-F5344CB8AC3E}">
        <p14:creationId xmlns:p14="http://schemas.microsoft.com/office/powerpoint/2010/main" val="20955851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B55D9A-5160-45F6-A17C-F89EEB83DD56}"/>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173C34FC-CCA2-4711-9219-915EC6D2749B}"/>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04</a:t>
            </a:r>
          </a:p>
        </p:txBody>
      </p:sp>
      <p:sp>
        <p:nvSpPr>
          <p:cNvPr id="3" name="">
            <a:extLst xmlns:a="http://schemas.openxmlformats.org/drawingml/2006/main">
              <a:ext uri="{FF2B5EF4-FFF2-40B4-BE49-F238E27FC236}">
                <a16:creationId xmlns:a16="http://schemas.microsoft.com/office/drawing/2014/main" id="{CA688421-6238-47E9-A937-CB2DA7395B05}"/>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71D86AC8-D705-4083-8824-B55E9151C65B}"/>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Prompting and tuning</a:t>
            </a:r>
          </a:p>
        </p:txBody>
      </p:sp>
      <p:sp>
        <p:nvSpPr>
          <p:cNvPr id="5" name="">
            <a:extLst xmlns:a="http://schemas.openxmlformats.org/drawingml/2006/main">
              <a:ext uri="{FF2B5EF4-FFF2-40B4-BE49-F238E27FC236}">
                <a16:creationId xmlns:a16="http://schemas.microsoft.com/office/drawing/2014/main" id="{BB1019E5-EEBD-4D05-AE1A-3223FD8298F3}"/>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Guide a model with instructions, examples, evaluation, and adaptation</a:t>
            </a:r>
          </a:p>
        </p:txBody>
      </p:sp>
    </p:spTree>
    <p:extLst>
      <p:ext uri="{BB962C8B-B14F-4D97-AF65-F5344CB8AC3E}">
        <p14:creationId xmlns:p14="http://schemas.microsoft.com/office/powerpoint/2010/main" val="18010286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61D153-AF39-4B8E-BB60-9996F68E6BA9}"/>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 strong prompt gives the model task, context, examples, and constraints</a:t>
            </a:r>
          </a:p>
        </p:txBody>
      </p:sp>
      <p:sp>
        <p:nvSpPr>
          <p:cNvPr id="2" name="">
            <a:extLst xmlns:a="http://schemas.openxmlformats.org/drawingml/2006/main">
              <a:ext uri="{FF2B5EF4-FFF2-40B4-BE49-F238E27FC236}">
                <a16:creationId xmlns:a16="http://schemas.microsoft.com/office/drawing/2014/main" id="{28F461F1-CB75-443E-9982-6926C07B2E3F}"/>
              </a:ext>
            </a:extLst>
          </p:cNvPr>
          <p:cNvSpPr>
            <a:spLocks xmlns:a="http://schemas.openxmlformats.org/drawingml/2006/main" noGrp="1"/>
          </p:cNvSpPr>
          <p:nvPr/>
        </p:nvSpPr>
        <p:spPr>
          <a:xfrm xmlns:a="http://schemas.openxmlformats.org/drawingml/2006/main">
            <a:off x="1381125" y="1381125"/>
            <a:ext cx="9429750" cy="819150"/>
          </a:xfrm>
          <a:prstGeom xmlns:a="http://schemas.openxmlformats.org/drawingml/2006/main" prst="roundRect">
            <a:avLst>
              <a:gd name="adj" fmla="val 9302"/>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617A6803-69AA-4C05-8667-5FE89BA78331}"/>
              </a:ext>
            </a:extLst>
          </p:cNvPr>
          <p:cNvSpPr>
            <a:spLocks xmlns:a="http://schemas.openxmlformats.org/drawingml/2006/main" noGrp="1"/>
          </p:cNvSpPr>
          <p:nvPr/>
        </p:nvSpPr>
        <p:spPr>
          <a:xfrm xmlns:a="http://schemas.openxmlformats.org/drawingml/2006/main">
            <a:off x="1571625" y="1533525"/>
            <a:ext cx="495300" cy="4953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1</a:t>
            </a:r>
          </a:p>
        </p:txBody>
      </p:sp>
      <p:sp>
        <p:nvSpPr>
          <p:cNvPr id="4" name="">
            <a:extLst xmlns:a="http://schemas.openxmlformats.org/drawingml/2006/main">
              <a:ext uri="{FF2B5EF4-FFF2-40B4-BE49-F238E27FC236}">
                <a16:creationId xmlns:a16="http://schemas.microsoft.com/office/drawing/2014/main" id="{111111A5-05D0-4D05-9626-48108AC223CA}"/>
              </a:ext>
            </a:extLst>
          </p:cNvPr>
          <p:cNvSpPr>
            <a:spLocks xmlns:a="http://schemas.openxmlformats.org/drawingml/2006/main" noGrp="1"/>
          </p:cNvSpPr>
          <p:nvPr/>
        </p:nvSpPr>
        <p:spPr>
          <a:xfrm xmlns:a="http://schemas.openxmlformats.org/drawingml/2006/main">
            <a:off x="2333625" y="15716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Task</a:t>
            </a:r>
          </a:p>
        </p:txBody>
      </p:sp>
      <p:sp>
        <p:nvSpPr>
          <p:cNvPr id="5" name="">
            <a:extLst xmlns:a="http://schemas.openxmlformats.org/drawingml/2006/main">
              <a:ext uri="{FF2B5EF4-FFF2-40B4-BE49-F238E27FC236}">
                <a16:creationId xmlns:a16="http://schemas.microsoft.com/office/drawing/2014/main" id="{EC0BCF05-5BB3-40A5-9C1F-CF856D3A13AB}"/>
              </a:ext>
            </a:extLst>
          </p:cNvPr>
          <p:cNvSpPr>
            <a:spLocks xmlns:a="http://schemas.openxmlformats.org/drawingml/2006/main" noGrp="1"/>
          </p:cNvSpPr>
          <p:nvPr/>
        </p:nvSpPr>
        <p:spPr>
          <a:xfrm xmlns:a="http://schemas.openxmlformats.org/drawingml/2006/main">
            <a:off x="4238625" y="15716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Summarize the policy for a first-year student.</a:t>
            </a:r>
          </a:p>
        </p:txBody>
      </p:sp>
      <p:sp>
        <p:nvSpPr>
          <p:cNvPr id="6" name="">
            <a:extLst xmlns:a="http://schemas.openxmlformats.org/drawingml/2006/main">
              <a:ext uri="{FF2B5EF4-FFF2-40B4-BE49-F238E27FC236}">
                <a16:creationId xmlns:a16="http://schemas.microsoft.com/office/drawing/2014/main" id="{CC5F3E9C-01F2-4B51-ADCF-82FE3458919D}"/>
              </a:ext>
            </a:extLst>
          </p:cNvPr>
          <p:cNvSpPr>
            <a:spLocks xmlns:a="http://schemas.openxmlformats.org/drawingml/2006/main" noGrp="1"/>
          </p:cNvSpPr>
          <p:nvPr/>
        </p:nvSpPr>
        <p:spPr>
          <a:xfrm xmlns:a="http://schemas.openxmlformats.org/drawingml/2006/main">
            <a:off x="1381125" y="2447925"/>
            <a:ext cx="9429750" cy="819150"/>
          </a:xfrm>
          <a:prstGeom xmlns:a="http://schemas.openxmlformats.org/drawingml/2006/main" prst="roundRect">
            <a:avLst>
              <a:gd name="adj" fmla="val 9302"/>
            </a:avLst>
          </a:prstGeom>
          <a:solidFill xmlns:a="http://schemas.openxmlformats.org/drawingml/2006/main">
            <a:srgbClr val="FDEFC3"/>
          </a:solidFill>
          <a:ln xmlns:a="http://schemas.openxmlformats.org/drawingml/2006/main" w="0">
            <a:solidFill>
              <a:srgbClr val="FDEFC3"/>
            </a:solidFill>
            <a:prstDash val="solid"/>
          </a:ln>
        </p:spPr>
      </p:sp>
      <p:sp>
        <p:nvSpPr>
          <p:cNvPr id="7" name="">
            <a:extLst xmlns:a="http://schemas.openxmlformats.org/drawingml/2006/main">
              <a:ext uri="{FF2B5EF4-FFF2-40B4-BE49-F238E27FC236}">
                <a16:creationId xmlns:a16="http://schemas.microsoft.com/office/drawing/2014/main" id="{4F4B6D38-EAA8-4443-A1F5-2A4DE359766B}"/>
              </a:ext>
            </a:extLst>
          </p:cNvPr>
          <p:cNvSpPr>
            <a:spLocks xmlns:a="http://schemas.openxmlformats.org/drawingml/2006/main" noGrp="1"/>
          </p:cNvSpPr>
          <p:nvPr/>
        </p:nvSpPr>
        <p:spPr>
          <a:xfrm xmlns:a="http://schemas.openxmlformats.org/drawingml/2006/main">
            <a:off x="1571625" y="2600325"/>
            <a:ext cx="495300" cy="4953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2</a:t>
            </a:r>
          </a:p>
        </p:txBody>
      </p:sp>
      <p:sp>
        <p:nvSpPr>
          <p:cNvPr id="8" name="">
            <a:extLst xmlns:a="http://schemas.openxmlformats.org/drawingml/2006/main">
              <a:ext uri="{FF2B5EF4-FFF2-40B4-BE49-F238E27FC236}">
                <a16:creationId xmlns:a16="http://schemas.microsoft.com/office/drawing/2014/main" id="{A03AB462-7436-49B1-AE67-FBE9FF836CEB}"/>
              </a:ext>
            </a:extLst>
          </p:cNvPr>
          <p:cNvSpPr>
            <a:spLocks xmlns:a="http://schemas.openxmlformats.org/drawingml/2006/main" noGrp="1"/>
          </p:cNvSpPr>
          <p:nvPr/>
        </p:nvSpPr>
        <p:spPr>
          <a:xfrm xmlns:a="http://schemas.openxmlformats.org/drawingml/2006/main">
            <a:off x="2333625" y="26384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Context</a:t>
            </a:r>
          </a:p>
        </p:txBody>
      </p:sp>
      <p:sp>
        <p:nvSpPr>
          <p:cNvPr id="9" name="">
            <a:extLst xmlns:a="http://schemas.openxmlformats.org/drawingml/2006/main">
              <a:ext uri="{FF2B5EF4-FFF2-40B4-BE49-F238E27FC236}">
                <a16:creationId xmlns:a16="http://schemas.microsoft.com/office/drawing/2014/main" id="{2A1742F0-1E35-4409-918D-309CDEBA3A88}"/>
              </a:ext>
            </a:extLst>
          </p:cNvPr>
          <p:cNvSpPr>
            <a:spLocks xmlns:a="http://schemas.openxmlformats.org/drawingml/2006/main" noGrp="1"/>
          </p:cNvSpPr>
          <p:nvPr/>
        </p:nvSpPr>
        <p:spPr>
          <a:xfrm xmlns:a="http://schemas.openxmlformats.org/drawingml/2006/main">
            <a:off x="4238625" y="26384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Use only the policy text enclosed below.</a:t>
            </a:r>
          </a:p>
        </p:txBody>
      </p:sp>
      <p:sp>
        <p:nvSpPr>
          <p:cNvPr id="10" name="">
            <a:extLst xmlns:a="http://schemas.openxmlformats.org/drawingml/2006/main">
              <a:ext uri="{FF2B5EF4-FFF2-40B4-BE49-F238E27FC236}">
                <a16:creationId xmlns:a16="http://schemas.microsoft.com/office/drawing/2014/main" id="{D8C3C99A-F33B-40A6-A855-6501B16F019E}"/>
              </a:ext>
            </a:extLst>
          </p:cNvPr>
          <p:cNvSpPr>
            <a:spLocks xmlns:a="http://schemas.openxmlformats.org/drawingml/2006/main" noGrp="1"/>
          </p:cNvSpPr>
          <p:nvPr/>
        </p:nvSpPr>
        <p:spPr>
          <a:xfrm xmlns:a="http://schemas.openxmlformats.org/drawingml/2006/main">
            <a:off x="1381125" y="3514725"/>
            <a:ext cx="9429750" cy="819150"/>
          </a:xfrm>
          <a:prstGeom xmlns:a="http://schemas.openxmlformats.org/drawingml/2006/main" prst="roundRect">
            <a:avLst>
              <a:gd name="adj" fmla="val 9302"/>
            </a:avLst>
          </a:prstGeom>
          <a:solidFill xmlns:a="http://schemas.openxmlformats.org/drawingml/2006/main">
            <a:srgbClr val="F5C7C9"/>
          </a:solidFill>
          <a:ln xmlns:a="http://schemas.openxmlformats.org/drawingml/2006/main" w="0">
            <a:solidFill>
              <a:srgbClr val="F5C7C9"/>
            </a:solidFill>
            <a:prstDash val="solid"/>
          </a:ln>
        </p:spPr>
      </p:sp>
      <p:sp>
        <p:nvSpPr>
          <p:cNvPr id="11" name="">
            <a:extLst xmlns:a="http://schemas.openxmlformats.org/drawingml/2006/main">
              <a:ext uri="{FF2B5EF4-FFF2-40B4-BE49-F238E27FC236}">
                <a16:creationId xmlns:a16="http://schemas.microsoft.com/office/drawing/2014/main" id="{C09D0E8C-FC18-46A8-BA71-019AC69D31C9}"/>
              </a:ext>
            </a:extLst>
          </p:cNvPr>
          <p:cNvSpPr>
            <a:spLocks xmlns:a="http://schemas.openxmlformats.org/drawingml/2006/main" noGrp="1"/>
          </p:cNvSpPr>
          <p:nvPr/>
        </p:nvSpPr>
        <p:spPr>
          <a:xfrm xmlns:a="http://schemas.openxmlformats.org/drawingml/2006/main">
            <a:off x="1571625" y="3667125"/>
            <a:ext cx="495300" cy="4953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3</a:t>
            </a:r>
          </a:p>
        </p:txBody>
      </p:sp>
      <p:sp>
        <p:nvSpPr>
          <p:cNvPr id="12" name="">
            <a:extLst xmlns:a="http://schemas.openxmlformats.org/drawingml/2006/main">
              <a:ext uri="{FF2B5EF4-FFF2-40B4-BE49-F238E27FC236}">
                <a16:creationId xmlns:a16="http://schemas.microsoft.com/office/drawing/2014/main" id="{0CCD8705-7832-4761-B350-3EC613766363}"/>
              </a:ext>
            </a:extLst>
          </p:cNvPr>
          <p:cNvSpPr>
            <a:spLocks xmlns:a="http://schemas.openxmlformats.org/drawingml/2006/main" noGrp="1"/>
          </p:cNvSpPr>
          <p:nvPr/>
        </p:nvSpPr>
        <p:spPr>
          <a:xfrm xmlns:a="http://schemas.openxmlformats.org/drawingml/2006/main">
            <a:off x="2333625" y="37052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Examples</a:t>
            </a:r>
          </a:p>
        </p:txBody>
      </p:sp>
      <p:sp>
        <p:nvSpPr>
          <p:cNvPr id="13" name="">
            <a:extLst xmlns:a="http://schemas.openxmlformats.org/drawingml/2006/main">
              <a:ext uri="{FF2B5EF4-FFF2-40B4-BE49-F238E27FC236}">
                <a16:creationId xmlns:a16="http://schemas.microsoft.com/office/drawing/2014/main" id="{188AB9DE-0011-4A84-8996-EC613DA02427}"/>
              </a:ext>
            </a:extLst>
          </p:cNvPr>
          <p:cNvSpPr>
            <a:spLocks xmlns:a="http://schemas.openxmlformats.org/drawingml/2006/main" noGrp="1"/>
          </p:cNvSpPr>
          <p:nvPr/>
        </p:nvSpPr>
        <p:spPr>
          <a:xfrm xmlns:a="http://schemas.openxmlformats.org/drawingml/2006/main">
            <a:off x="4238625" y="37052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Show one acceptable summary format.</a:t>
            </a:r>
          </a:p>
        </p:txBody>
      </p:sp>
      <p:sp>
        <p:nvSpPr>
          <p:cNvPr id="14" name="">
            <a:extLst xmlns:a="http://schemas.openxmlformats.org/drawingml/2006/main">
              <a:ext uri="{FF2B5EF4-FFF2-40B4-BE49-F238E27FC236}">
                <a16:creationId xmlns:a16="http://schemas.microsoft.com/office/drawing/2014/main" id="{28611F81-0AD8-4DE5-9084-02E8B1A69B00}"/>
              </a:ext>
            </a:extLst>
          </p:cNvPr>
          <p:cNvSpPr>
            <a:spLocks xmlns:a="http://schemas.openxmlformats.org/drawingml/2006/main" noGrp="1"/>
          </p:cNvSpPr>
          <p:nvPr/>
        </p:nvSpPr>
        <p:spPr>
          <a:xfrm xmlns:a="http://schemas.openxmlformats.org/drawingml/2006/main">
            <a:off x="1381125" y="4581525"/>
            <a:ext cx="9429750" cy="819150"/>
          </a:xfrm>
          <a:prstGeom xmlns:a="http://schemas.openxmlformats.org/drawingml/2006/main" prst="roundRect">
            <a:avLst>
              <a:gd name="adj" fmla="val 9302"/>
            </a:avLst>
          </a:prstGeom>
          <a:solidFill xmlns:a="http://schemas.openxmlformats.org/drawingml/2006/main">
            <a:srgbClr val="D0E1E5"/>
          </a:solidFill>
          <a:ln xmlns:a="http://schemas.openxmlformats.org/drawingml/2006/main" w="0">
            <a:solidFill>
              <a:srgbClr val="D0E1E5"/>
            </a:solidFill>
            <a:prstDash val="solid"/>
          </a:ln>
        </p:spPr>
      </p:sp>
      <p:sp>
        <p:nvSpPr>
          <p:cNvPr id="15" name="">
            <a:extLst xmlns:a="http://schemas.openxmlformats.org/drawingml/2006/main">
              <a:ext uri="{FF2B5EF4-FFF2-40B4-BE49-F238E27FC236}">
                <a16:creationId xmlns:a16="http://schemas.microsoft.com/office/drawing/2014/main" id="{0B20E6C5-88A2-4B02-AFB5-7605A2FCEA73}"/>
              </a:ext>
            </a:extLst>
          </p:cNvPr>
          <p:cNvSpPr>
            <a:spLocks xmlns:a="http://schemas.openxmlformats.org/drawingml/2006/main" noGrp="1"/>
          </p:cNvSpPr>
          <p:nvPr/>
        </p:nvSpPr>
        <p:spPr>
          <a:xfrm xmlns:a="http://schemas.openxmlformats.org/drawingml/2006/main">
            <a:off x="1571625" y="4733925"/>
            <a:ext cx="495300" cy="4953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425" b="1">
                <a:solidFill>
                  <a:srgbClr val="FFFFFF"/>
                </a:solidFill>
                <a:latin typeface="Google Sans Medium"/>
                <a:ea typeface="Google Sans Medium"/>
                <a:cs typeface="Google Sans Medium"/>
              </a:defRPr>
            </a:pPr>
            <a:r>
              <a:rPr sz="1425" b="1">
                <a:solidFill>
                  <a:srgbClr val="FFFFFF"/>
                </a:solidFill>
                <a:latin typeface="Google Sans Medium"/>
                <a:ea typeface="Google Sans Medium"/>
                <a:cs typeface="Google Sans Medium"/>
              </a:rPr>
              <a:t>4</a:t>
            </a:r>
          </a:p>
        </p:txBody>
      </p:sp>
      <p:sp>
        <p:nvSpPr>
          <p:cNvPr id="16" name="">
            <a:extLst xmlns:a="http://schemas.openxmlformats.org/drawingml/2006/main">
              <a:ext uri="{FF2B5EF4-FFF2-40B4-BE49-F238E27FC236}">
                <a16:creationId xmlns:a16="http://schemas.microsoft.com/office/drawing/2014/main" id="{A0D97E1A-726A-4847-B50C-F9DB599F8CAC}"/>
              </a:ext>
            </a:extLst>
          </p:cNvPr>
          <p:cNvSpPr>
            <a:spLocks xmlns:a="http://schemas.openxmlformats.org/drawingml/2006/main" noGrp="1"/>
          </p:cNvSpPr>
          <p:nvPr/>
        </p:nvSpPr>
        <p:spPr>
          <a:xfrm xmlns:a="http://schemas.openxmlformats.org/drawingml/2006/main">
            <a:off x="2333625" y="47720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Constraints</a:t>
            </a:r>
          </a:p>
        </p:txBody>
      </p:sp>
      <p:sp>
        <p:nvSpPr>
          <p:cNvPr id="17" name="">
            <a:extLst xmlns:a="http://schemas.openxmlformats.org/drawingml/2006/main">
              <a:ext uri="{FF2B5EF4-FFF2-40B4-BE49-F238E27FC236}">
                <a16:creationId xmlns:a16="http://schemas.microsoft.com/office/drawing/2014/main" id="{2666A4AC-93C4-413E-933B-C26F95D7375D}"/>
              </a:ext>
            </a:extLst>
          </p:cNvPr>
          <p:cNvSpPr>
            <a:spLocks xmlns:a="http://schemas.openxmlformats.org/drawingml/2006/main" noGrp="1"/>
          </p:cNvSpPr>
          <p:nvPr/>
        </p:nvSpPr>
        <p:spPr>
          <a:xfrm xmlns:a="http://schemas.openxmlformats.org/drawingml/2006/main">
            <a:off x="4238625" y="4772025"/>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Five bullets; plain language; cite section numbers.</a:t>
            </a:r>
          </a:p>
        </p:txBody>
      </p:sp>
      <p:sp>
        <p:nvSpPr>
          <p:cNvPr id="18" name="">
            <a:extLst xmlns:a="http://schemas.openxmlformats.org/drawingml/2006/main">
              <a:ext uri="{FF2B5EF4-FFF2-40B4-BE49-F238E27FC236}">
                <a16:creationId xmlns:a16="http://schemas.microsoft.com/office/drawing/2014/main" id="{C7C18A76-F9EC-4F2E-A24B-C4CA4E4BF563}"/>
              </a:ext>
            </a:extLst>
          </p:cNvPr>
          <p:cNvSpPr>
            <a:spLocks xmlns:a="http://schemas.openxmlformats.org/drawingml/2006/main" noGrp="1"/>
          </p:cNvSpPr>
          <p:nvPr/>
        </p:nvSpPr>
        <p:spPr>
          <a:xfrm xmlns:a="http://schemas.openxmlformats.org/drawingml/2006/main">
            <a:off x="1857375" y="600075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0">
                <a:solidFill>
                  <a:srgbClr val="5F6368"/>
                </a:solidFill>
                <a:latin typeface="Google Sans Text"/>
                <a:ea typeface="Google Sans Text"/>
                <a:cs typeface="Google Sans Text"/>
              </a:defRPr>
            </a:pPr>
            <a:r>
              <a:rPr sz="1425" b="0">
                <a:solidFill>
                  <a:srgbClr val="5F6368"/>
                </a:solidFill>
                <a:latin typeface="Google Sans Text"/>
                <a:ea typeface="Google Sans Text"/>
                <a:cs typeface="Google Sans Text"/>
              </a:rPr>
              <a:t>System instructions can set persistent role, style, and rules across several prompts.</a:t>
            </a:r>
          </a:p>
        </p:txBody>
      </p:sp>
    </p:spTree>
    <p:extLst>
      <p:ext uri="{BB962C8B-B14F-4D97-AF65-F5344CB8AC3E}">
        <p14:creationId xmlns:p14="http://schemas.microsoft.com/office/powerpoint/2010/main" val="11966506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71278C4-91BA-4685-8D9D-8CFA036E5B7F}"/>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Examples change how clearly the model can infer the expected pattern</a:t>
            </a:r>
          </a:p>
        </p:txBody>
      </p:sp>
      <p:sp>
        <p:nvSpPr>
          <p:cNvPr id="2" name="">
            <a:extLst xmlns:a="http://schemas.openxmlformats.org/drawingml/2006/main">
              <a:ext uri="{FF2B5EF4-FFF2-40B4-BE49-F238E27FC236}">
                <a16:creationId xmlns:a16="http://schemas.microsoft.com/office/drawing/2014/main" id="{552AE109-793E-4721-8DE7-73BB1616C7E7}"/>
              </a:ext>
            </a:extLst>
          </p:cNvPr>
          <p:cNvSpPr>
            <a:spLocks xmlns:a="http://schemas.openxmlformats.org/drawingml/2006/main" noGrp="1"/>
          </p:cNvSpPr>
          <p:nvPr/>
        </p:nvSpPr>
        <p:spPr>
          <a:xfrm xmlns:a="http://schemas.openxmlformats.org/drawingml/2006/main">
            <a:off x="666750" y="1381125"/>
            <a:ext cx="3286125" cy="64770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94196AC8-8B2A-402A-86C4-C89B1EC45A4F}"/>
              </a:ext>
            </a:extLst>
          </p:cNvPr>
          <p:cNvSpPr>
            <a:spLocks xmlns:a="http://schemas.openxmlformats.org/drawingml/2006/main" noGrp="1"/>
          </p:cNvSpPr>
          <p:nvPr/>
        </p:nvSpPr>
        <p:spPr>
          <a:xfrm xmlns:a="http://schemas.openxmlformats.org/drawingml/2006/main">
            <a:off x="857250" y="1524000"/>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Zero-shot</a:t>
            </a:r>
          </a:p>
        </p:txBody>
      </p:sp>
      <p:sp>
        <p:nvSpPr>
          <p:cNvPr id="4" name="">
            <a:extLst xmlns:a="http://schemas.openxmlformats.org/drawingml/2006/main">
              <a:ext uri="{FF2B5EF4-FFF2-40B4-BE49-F238E27FC236}">
                <a16:creationId xmlns:a16="http://schemas.microsoft.com/office/drawing/2014/main" id="{B60BB856-A747-433F-832E-E5125B6CA621}"/>
              </a:ext>
            </a:extLst>
          </p:cNvPr>
          <p:cNvSpPr>
            <a:spLocks xmlns:a="http://schemas.openxmlformats.org/drawingml/2006/main" noGrp="1"/>
          </p:cNvSpPr>
          <p:nvPr/>
        </p:nvSpPr>
        <p:spPr>
          <a:xfrm xmlns:a="http://schemas.openxmlformats.org/drawingml/2006/main">
            <a:off x="857250" y="240030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5F6368"/>
                </a:solidFill>
                <a:latin typeface="Google Sans Medium"/>
                <a:ea typeface="Google Sans Medium"/>
                <a:cs typeface="Google Sans Medium"/>
              </a:defRPr>
            </a:pPr>
            <a:r>
              <a:rPr sz="1350" b="1">
                <a:solidFill>
                  <a:srgbClr val="5F6368"/>
                </a:solidFill>
                <a:latin typeface="Google Sans Medium"/>
                <a:ea typeface="Google Sans Medium"/>
                <a:cs typeface="Google Sans Medium"/>
              </a:rPr>
              <a:t>Instruction only</a:t>
            </a:r>
          </a:p>
        </p:txBody>
      </p:sp>
      <p:sp>
        <p:nvSpPr>
          <p:cNvPr id="5" name="">
            <a:extLst xmlns:a="http://schemas.openxmlformats.org/drawingml/2006/main">
              <a:ext uri="{FF2B5EF4-FFF2-40B4-BE49-F238E27FC236}">
                <a16:creationId xmlns:a16="http://schemas.microsoft.com/office/drawing/2014/main" id="{1D8EFB92-BA4F-4331-A64E-C9F08F266CD7}"/>
              </a:ext>
            </a:extLst>
          </p:cNvPr>
          <p:cNvSpPr>
            <a:spLocks xmlns:a="http://schemas.openxmlformats.org/drawingml/2006/main" noGrp="1"/>
          </p:cNvSpPr>
          <p:nvPr/>
        </p:nvSpPr>
        <p:spPr>
          <a:xfrm xmlns:a="http://schemas.openxmlformats.org/drawingml/2006/main">
            <a:off x="838200" y="3048000"/>
            <a:ext cx="2943225" cy="1428750"/>
          </a:xfrm>
          <a:prstGeom xmlns:a="http://schemas.openxmlformats.org/drawingml/2006/main" prst="roundRect">
            <a:avLst>
              <a:gd name="adj" fmla="val 5333"/>
            </a:avLst>
          </a:prstGeom>
          <a:solidFill xmlns:a="http://schemas.openxmlformats.org/drawingml/2006/main">
            <a:srgbClr val="F8F8F8"/>
          </a:solidFill>
          <a:ln xmlns:a="http://schemas.openxmlformats.org/drawingml/2006/main" w="9525">
            <a:solidFill>
              <a:srgbClr val="DADCE0"/>
            </a:solidFill>
            <a:prstDash val="solid"/>
          </a:ln>
        </p:spPr>
      </p:sp>
      <p:sp>
        <p:nvSpPr>
          <p:cNvPr id="6" name="">
            <a:extLst xmlns:a="http://schemas.openxmlformats.org/drawingml/2006/main">
              <a:ext uri="{FF2B5EF4-FFF2-40B4-BE49-F238E27FC236}">
                <a16:creationId xmlns:a16="http://schemas.microsoft.com/office/drawing/2014/main" id="{43232CD7-DA3D-46AD-8A24-6617C5C312BF}"/>
              </a:ext>
            </a:extLst>
          </p:cNvPr>
          <p:cNvSpPr>
            <a:spLocks xmlns:a="http://schemas.openxmlformats.org/drawingml/2006/main" noGrp="1"/>
          </p:cNvSpPr>
          <p:nvPr/>
        </p:nvSpPr>
        <p:spPr>
          <a:xfrm xmlns:a="http://schemas.openxmlformats.org/drawingml/2006/main">
            <a:off x="1028700" y="3286125"/>
            <a:ext cx="25622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Roboto Mono"/>
                <a:ea typeface="Roboto Mono"/>
                <a:cs typeface="Roboto Mono"/>
              </a:defRPr>
            </a:pPr>
            <a:r>
              <a:rPr sz="1313" b="0">
                <a:solidFill>
                  <a:srgbClr val="000000"/>
                </a:solidFill>
                <a:latin typeface="Roboto Mono"/>
                <a:ea typeface="Roboto Mono"/>
                <a:cs typeface="Roboto Mono"/>
              </a:rPr>
              <a:t>Classify: “Delivery was late.”</a:t>
            </a:r>
          </a:p>
        </p:txBody>
      </p:sp>
      <p:sp>
        <p:nvSpPr>
          <p:cNvPr id="7" name="">
            <a:extLst xmlns:a="http://schemas.openxmlformats.org/drawingml/2006/main">
              <a:ext uri="{FF2B5EF4-FFF2-40B4-BE49-F238E27FC236}">
                <a16:creationId xmlns:a16="http://schemas.microsoft.com/office/drawing/2014/main" id="{54C069A7-71AC-44F9-BB15-5022CB41F8CB}"/>
              </a:ext>
            </a:extLst>
          </p:cNvPr>
          <p:cNvSpPr>
            <a:spLocks xmlns:a="http://schemas.openxmlformats.org/drawingml/2006/main" noGrp="1"/>
          </p:cNvSpPr>
          <p:nvPr/>
        </p:nvSpPr>
        <p:spPr>
          <a:xfrm xmlns:a="http://schemas.openxmlformats.org/drawingml/2006/main">
            <a:off x="895350" y="4933950"/>
            <a:ext cx="2828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No demonstration</a:t>
            </a:r>
          </a:p>
        </p:txBody>
      </p:sp>
      <p:sp>
        <p:nvSpPr>
          <p:cNvPr id="8" name="">
            <a:extLst xmlns:a="http://schemas.openxmlformats.org/drawingml/2006/main">
              <a:ext uri="{FF2B5EF4-FFF2-40B4-BE49-F238E27FC236}">
                <a16:creationId xmlns:a16="http://schemas.microsoft.com/office/drawing/2014/main" id="{9109EDE9-FDC9-4170-ABDA-C6ED5BC419BD}"/>
              </a:ext>
            </a:extLst>
          </p:cNvPr>
          <p:cNvSpPr>
            <a:spLocks xmlns:a="http://schemas.openxmlformats.org/drawingml/2006/main" noGrp="1"/>
          </p:cNvSpPr>
          <p:nvPr/>
        </p:nvSpPr>
        <p:spPr>
          <a:xfrm xmlns:a="http://schemas.openxmlformats.org/drawingml/2006/main">
            <a:off x="4429125" y="1381125"/>
            <a:ext cx="3286125" cy="64770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9" name="">
            <a:extLst xmlns:a="http://schemas.openxmlformats.org/drawingml/2006/main">
              <a:ext uri="{FF2B5EF4-FFF2-40B4-BE49-F238E27FC236}">
                <a16:creationId xmlns:a16="http://schemas.microsoft.com/office/drawing/2014/main" id="{91C9714E-B0EF-44AD-9067-7962143C7CF8}"/>
              </a:ext>
            </a:extLst>
          </p:cNvPr>
          <p:cNvSpPr>
            <a:spLocks xmlns:a="http://schemas.openxmlformats.org/drawingml/2006/main" noGrp="1"/>
          </p:cNvSpPr>
          <p:nvPr/>
        </p:nvSpPr>
        <p:spPr>
          <a:xfrm xmlns:a="http://schemas.openxmlformats.org/drawingml/2006/main">
            <a:off x="4619625" y="1524000"/>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One-shot</a:t>
            </a:r>
          </a:p>
        </p:txBody>
      </p:sp>
      <p:sp>
        <p:nvSpPr>
          <p:cNvPr id="10" name="">
            <a:extLst xmlns:a="http://schemas.openxmlformats.org/drawingml/2006/main">
              <a:ext uri="{FF2B5EF4-FFF2-40B4-BE49-F238E27FC236}">
                <a16:creationId xmlns:a16="http://schemas.microsoft.com/office/drawing/2014/main" id="{8FC02CE5-92CA-4EFF-90D9-1A9AF4BF1FB1}"/>
              </a:ext>
            </a:extLst>
          </p:cNvPr>
          <p:cNvSpPr>
            <a:spLocks xmlns:a="http://schemas.openxmlformats.org/drawingml/2006/main" noGrp="1"/>
          </p:cNvSpPr>
          <p:nvPr/>
        </p:nvSpPr>
        <p:spPr>
          <a:xfrm xmlns:a="http://schemas.openxmlformats.org/drawingml/2006/main">
            <a:off x="4619625" y="240030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5F6368"/>
                </a:solidFill>
                <a:latin typeface="Google Sans Medium"/>
                <a:ea typeface="Google Sans Medium"/>
                <a:cs typeface="Google Sans Medium"/>
              </a:defRPr>
            </a:pPr>
            <a:r>
              <a:rPr sz="1350" b="1">
                <a:solidFill>
                  <a:srgbClr val="5F6368"/>
                </a:solidFill>
                <a:latin typeface="Google Sans Medium"/>
                <a:ea typeface="Google Sans Medium"/>
                <a:cs typeface="Google Sans Medium"/>
              </a:rPr>
              <a:t>One example</a:t>
            </a:r>
          </a:p>
        </p:txBody>
      </p:sp>
      <p:sp>
        <p:nvSpPr>
          <p:cNvPr id="11" name="">
            <a:extLst xmlns:a="http://schemas.openxmlformats.org/drawingml/2006/main">
              <a:ext uri="{FF2B5EF4-FFF2-40B4-BE49-F238E27FC236}">
                <a16:creationId xmlns:a16="http://schemas.microsoft.com/office/drawing/2014/main" id="{C7F3A03A-D09B-4E96-A022-8BD955736F9A}"/>
              </a:ext>
            </a:extLst>
          </p:cNvPr>
          <p:cNvSpPr>
            <a:spLocks xmlns:a="http://schemas.openxmlformats.org/drawingml/2006/main" noGrp="1"/>
          </p:cNvSpPr>
          <p:nvPr/>
        </p:nvSpPr>
        <p:spPr>
          <a:xfrm xmlns:a="http://schemas.openxmlformats.org/drawingml/2006/main">
            <a:off x="4600575" y="3048000"/>
            <a:ext cx="2943225" cy="1428750"/>
          </a:xfrm>
          <a:prstGeom xmlns:a="http://schemas.openxmlformats.org/drawingml/2006/main" prst="roundRect">
            <a:avLst>
              <a:gd name="adj" fmla="val 5333"/>
            </a:avLst>
          </a:prstGeom>
          <a:solidFill xmlns:a="http://schemas.openxmlformats.org/drawingml/2006/main">
            <a:srgbClr val="F8F8F8"/>
          </a:solidFill>
          <a:ln xmlns:a="http://schemas.openxmlformats.org/drawingml/2006/main" w="9525">
            <a:solidFill>
              <a:srgbClr val="DADCE0"/>
            </a:solidFill>
            <a:prstDash val="solid"/>
          </a:ln>
        </p:spPr>
      </p:sp>
      <p:sp>
        <p:nvSpPr>
          <p:cNvPr id="12" name="">
            <a:extLst xmlns:a="http://schemas.openxmlformats.org/drawingml/2006/main">
              <a:ext uri="{FF2B5EF4-FFF2-40B4-BE49-F238E27FC236}">
                <a16:creationId xmlns:a16="http://schemas.microsoft.com/office/drawing/2014/main" id="{3EBED330-D0B5-41B2-ABD3-A44C1D5115B2}"/>
              </a:ext>
            </a:extLst>
          </p:cNvPr>
          <p:cNvSpPr>
            <a:spLocks xmlns:a="http://schemas.openxmlformats.org/drawingml/2006/main" noGrp="1"/>
          </p:cNvSpPr>
          <p:nvPr/>
        </p:nvSpPr>
        <p:spPr>
          <a:xfrm xmlns:a="http://schemas.openxmlformats.org/drawingml/2006/main">
            <a:off x="4791075" y="3286125"/>
            <a:ext cx="25622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Roboto Mono"/>
                <a:ea typeface="Roboto Mono"/>
                <a:cs typeface="Roboto Mono"/>
              </a:defRPr>
            </a:pPr>
            <a:r>
              <a:rPr sz="1313" b="0">
                <a:solidFill>
                  <a:srgbClr val="000000"/>
                </a:solidFill>
                <a:latin typeface="Roboto Mono"/>
                <a:ea typeface="Roboto Mono"/>
                <a:cs typeface="Roboto Mono"/>
              </a:rPr>
              <a:t>“Loved it” → Positive</a:t>
            </a:r>
          </a:p>
          <a:p xmlns:a="http://schemas.openxmlformats.org/drawingml/2006/main">
            <a:pPr algn="ctr">
              <a:buNone/>
              <a:defRPr sz="1313" b="0">
                <a:solidFill>
                  <a:srgbClr val="000000"/>
                </a:solidFill>
                <a:latin typeface="Roboto Mono"/>
                <a:ea typeface="Roboto Mono"/>
                <a:cs typeface="Roboto Mono"/>
              </a:defRPr>
            </a:pPr>
            <a:r>
              <a:rPr sz="1313" b="0">
                <a:solidFill>
                  <a:srgbClr val="000000"/>
                </a:solidFill>
                <a:latin typeface="Roboto Mono"/>
                <a:ea typeface="Roboto Mono"/>
                <a:cs typeface="Roboto Mono"/>
              </a:rPr>
              <a:t>Now classify: “Delivery was late.”</a:t>
            </a:r>
          </a:p>
        </p:txBody>
      </p:sp>
      <p:sp>
        <p:nvSpPr>
          <p:cNvPr id="13" name="">
            <a:extLst xmlns:a="http://schemas.openxmlformats.org/drawingml/2006/main">
              <a:ext uri="{FF2B5EF4-FFF2-40B4-BE49-F238E27FC236}">
                <a16:creationId xmlns:a16="http://schemas.microsoft.com/office/drawing/2014/main" id="{B69E0E83-5591-4E77-A9F3-3819C4736FE2}"/>
              </a:ext>
            </a:extLst>
          </p:cNvPr>
          <p:cNvSpPr>
            <a:spLocks xmlns:a="http://schemas.openxmlformats.org/drawingml/2006/main" noGrp="1"/>
          </p:cNvSpPr>
          <p:nvPr/>
        </p:nvSpPr>
        <p:spPr>
          <a:xfrm xmlns:a="http://schemas.openxmlformats.org/drawingml/2006/main">
            <a:off x="4657725" y="4933950"/>
            <a:ext cx="2828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Shows one pattern</a:t>
            </a:r>
          </a:p>
        </p:txBody>
      </p:sp>
      <p:sp>
        <p:nvSpPr>
          <p:cNvPr id="14" name="">
            <a:extLst xmlns:a="http://schemas.openxmlformats.org/drawingml/2006/main">
              <a:ext uri="{FF2B5EF4-FFF2-40B4-BE49-F238E27FC236}">
                <a16:creationId xmlns:a16="http://schemas.microsoft.com/office/drawing/2014/main" id="{AA872ADC-A3F2-45DA-B278-897E843724EF}"/>
              </a:ext>
            </a:extLst>
          </p:cNvPr>
          <p:cNvSpPr>
            <a:spLocks xmlns:a="http://schemas.openxmlformats.org/drawingml/2006/main" noGrp="1"/>
          </p:cNvSpPr>
          <p:nvPr/>
        </p:nvSpPr>
        <p:spPr>
          <a:xfrm xmlns:a="http://schemas.openxmlformats.org/drawingml/2006/main">
            <a:off x="8191500" y="1381125"/>
            <a:ext cx="3286125" cy="647700"/>
          </a:xfrm>
          <a:prstGeom xmlns:a="http://schemas.openxmlformats.org/drawingml/2006/main" prst="rect">
            <a:avLst/>
          </a:prstGeom>
          <a:solidFill xmlns:a="http://schemas.openxmlformats.org/drawingml/2006/main">
            <a:srgbClr val="F5C7C9"/>
          </a:solidFill>
          <a:ln xmlns:a="http://schemas.openxmlformats.org/drawingml/2006/main" w="0">
            <a:solidFill>
              <a:srgbClr val="F5C7C9"/>
            </a:solidFill>
            <a:prstDash val="solid"/>
          </a:ln>
        </p:spPr>
      </p:sp>
      <p:sp>
        <p:nvSpPr>
          <p:cNvPr id="15" name="">
            <a:extLst xmlns:a="http://schemas.openxmlformats.org/drawingml/2006/main">
              <a:ext uri="{FF2B5EF4-FFF2-40B4-BE49-F238E27FC236}">
                <a16:creationId xmlns:a16="http://schemas.microsoft.com/office/drawing/2014/main" id="{A5F95ACD-1E59-4CEA-A304-27CFEFFE0FFB}"/>
              </a:ext>
            </a:extLst>
          </p:cNvPr>
          <p:cNvSpPr>
            <a:spLocks xmlns:a="http://schemas.openxmlformats.org/drawingml/2006/main" noGrp="1"/>
          </p:cNvSpPr>
          <p:nvPr/>
        </p:nvSpPr>
        <p:spPr>
          <a:xfrm xmlns:a="http://schemas.openxmlformats.org/drawingml/2006/main">
            <a:off x="8382000" y="1524000"/>
            <a:ext cx="2905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Few-shot</a:t>
            </a:r>
          </a:p>
        </p:txBody>
      </p:sp>
      <p:sp>
        <p:nvSpPr>
          <p:cNvPr id="16" name="">
            <a:extLst xmlns:a="http://schemas.openxmlformats.org/drawingml/2006/main">
              <a:ext uri="{FF2B5EF4-FFF2-40B4-BE49-F238E27FC236}">
                <a16:creationId xmlns:a16="http://schemas.microsoft.com/office/drawing/2014/main" id="{69597887-F58D-4236-8769-EEB3760A19F9}"/>
              </a:ext>
            </a:extLst>
          </p:cNvPr>
          <p:cNvSpPr>
            <a:spLocks xmlns:a="http://schemas.openxmlformats.org/drawingml/2006/main" noGrp="1"/>
          </p:cNvSpPr>
          <p:nvPr/>
        </p:nvSpPr>
        <p:spPr>
          <a:xfrm xmlns:a="http://schemas.openxmlformats.org/drawingml/2006/main">
            <a:off x="8382000" y="2400300"/>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5F6368"/>
                </a:solidFill>
                <a:latin typeface="Google Sans Medium"/>
                <a:ea typeface="Google Sans Medium"/>
                <a:cs typeface="Google Sans Medium"/>
              </a:defRPr>
            </a:pPr>
            <a:r>
              <a:rPr sz="1350" b="1">
                <a:solidFill>
                  <a:srgbClr val="5F6368"/>
                </a:solidFill>
                <a:latin typeface="Google Sans Medium"/>
                <a:ea typeface="Google Sans Medium"/>
                <a:cs typeface="Google Sans Medium"/>
              </a:rPr>
              <a:t>Several examples</a:t>
            </a:r>
          </a:p>
        </p:txBody>
      </p:sp>
      <p:sp>
        <p:nvSpPr>
          <p:cNvPr id="17" name="">
            <a:extLst xmlns:a="http://schemas.openxmlformats.org/drawingml/2006/main">
              <a:ext uri="{FF2B5EF4-FFF2-40B4-BE49-F238E27FC236}">
                <a16:creationId xmlns:a16="http://schemas.microsoft.com/office/drawing/2014/main" id="{51846E1F-CC9D-4931-A242-404AAEEED452}"/>
              </a:ext>
            </a:extLst>
          </p:cNvPr>
          <p:cNvSpPr>
            <a:spLocks xmlns:a="http://schemas.openxmlformats.org/drawingml/2006/main" noGrp="1"/>
          </p:cNvSpPr>
          <p:nvPr/>
        </p:nvSpPr>
        <p:spPr>
          <a:xfrm xmlns:a="http://schemas.openxmlformats.org/drawingml/2006/main">
            <a:off x="8362950" y="3048000"/>
            <a:ext cx="2943225" cy="1428750"/>
          </a:xfrm>
          <a:prstGeom xmlns:a="http://schemas.openxmlformats.org/drawingml/2006/main" prst="roundRect">
            <a:avLst>
              <a:gd name="adj" fmla="val 5333"/>
            </a:avLst>
          </a:prstGeom>
          <a:solidFill xmlns:a="http://schemas.openxmlformats.org/drawingml/2006/main">
            <a:srgbClr val="F8F8F8"/>
          </a:solidFill>
          <a:ln xmlns:a="http://schemas.openxmlformats.org/drawingml/2006/main" w="9525">
            <a:solidFill>
              <a:srgbClr val="DADCE0"/>
            </a:solidFill>
            <a:prstDash val="solid"/>
          </a:ln>
        </p:spPr>
      </p:sp>
      <p:sp>
        <p:nvSpPr>
          <p:cNvPr id="18" name="">
            <a:extLst xmlns:a="http://schemas.openxmlformats.org/drawingml/2006/main">
              <a:ext uri="{FF2B5EF4-FFF2-40B4-BE49-F238E27FC236}">
                <a16:creationId xmlns:a16="http://schemas.microsoft.com/office/drawing/2014/main" id="{3C9B349F-26B5-4F47-9C15-EEEB0C9EA5A0}"/>
              </a:ext>
            </a:extLst>
          </p:cNvPr>
          <p:cNvSpPr>
            <a:spLocks xmlns:a="http://schemas.openxmlformats.org/drawingml/2006/main" noGrp="1"/>
          </p:cNvSpPr>
          <p:nvPr/>
        </p:nvSpPr>
        <p:spPr>
          <a:xfrm xmlns:a="http://schemas.openxmlformats.org/drawingml/2006/main">
            <a:off x="8553450" y="3286125"/>
            <a:ext cx="25622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0">
                <a:solidFill>
                  <a:srgbClr val="000000"/>
                </a:solidFill>
                <a:latin typeface="Roboto Mono"/>
                <a:ea typeface="Roboto Mono"/>
                <a:cs typeface="Roboto Mono"/>
              </a:defRPr>
            </a:pPr>
            <a:r>
              <a:rPr sz="1313" b="0">
                <a:solidFill>
                  <a:srgbClr val="000000"/>
                </a:solidFill>
                <a:latin typeface="Roboto Mono"/>
                <a:ea typeface="Roboto Mono"/>
                <a:cs typeface="Roboto Mono"/>
              </a:rPr>
              <a:t>Positive, neutral, and negative examples</a:t>
            </a:r>
          </a:p>
          <a:p xmlns:a="http://schemas.openxmlformats.org/drawingml/2006/main">
            <a:pPr algn="ctr">
              <a:buNone/>
              <a:defRPr sz="1313" b="0">
                <a:solidFill>
                  <a:srgbClr val="000000"/>
                </a:solidFill>
                <a:latin typeface="Roboto Mono"/>
                <a:ea typeface="Roboto Mono"/>
                <a:cs typeface="Roboto Mono"/>
              </a:defRPr>
            </a:pPr>
            <a:r>
              <a:rPr sz="1313" b="0">
                <a:solidFill>
                  <a:srgbClr val="000000"/>
                </a:solidFill>
                <a:latin typeface="Roboto Mono"/>
                <a:ea typeface="Roboto Mono"/>
                <a:cs typeface="Roboto Mono"/>
              </a:rPr>
              <a:t>Then classify the new review</a:t>
            </a:r>
          </a:p>
        </p:txBody>
      </p:sp>
      <p:sp>
        <p:nvSpPr>
          <p:cNvPr id="19" name="">
            <a:extLst xmlns:a="http://schemas.openxmlformats.org/drawingml/2006/main">
              <a:ext uri="{FF2B5EF4-FFF2-40B4-BE49-F238E27FC236}">
                <a16:creationId xmlns:a16="http://schemas.microsoft.com/office/drawing/2014/main" id="{27C9EBDA-38CB-4E39-8C3B-FA0554E27B23}"/>
              </a:ext>
            </a:extLst>
          </p:cNvPr>
          <p:cNvSpPr>
            <a:spLocks xmlns:a="http://schemas.openxmlformats.org/drawingml/2006/main" noGrp="1"/>
          </p:cNvSpPr>
          <p:nvPr/>
        </p:nvSpPr>
        <p:spPr>
          <a:xfrm xmlns:a="http://schemas.openxmlformats.org/drawingml/2006/main">
            <a:off x="8420100" y="4933950"/>
            <a:ext cx="28289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Clarifies boundaries</a:t>
            </a:r>
          </a:p>
        </p:txBody>
      </p:sp>
      <p:sp>
        <p:nvSpPr>
          <p:cNvPr id="20" name="">
            <a:extLst xmlns:a="http://schemas.openxmlformats.org/drawingml/2006/main">
              <a:ext uri="{FF2B5EF4-FFF2-40B4-BE49-F238E27FC236}">
                <a16:creationId xmlns:a16="http://schemas.microsoft.com/office/drawing/2014/main" id="{CB740DCA-782A-4611-95B5-7266E47F5361}"/>
              </a:ext>
            </a:extLst>
          </p:cNvPr>
          <p:cNvSpPr>
            <a:spLocks xmlns:a="http://schemas.openxmlformats.org/drawingml/2006/main" noGrp="1"/>
          </p:cNvSpPr>
          <p:nvPr/>
        </p:nvSpPr>
        <p:spPr>
          <a:xfrm xmlns:a="http://schemas.openxmlformats.org/drawingml/2006/main">
            <a:off x="1619250" y="596265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More examples are useful only when they are representative, consistent, and within the context budget.</a:t>
            </a:r>
          </a:p>
        </p:txBody>
      </p:sp>
    </p:spTree>
    <p:extLst>
      <p:ext uri="{BB962C8B-B14F-4D97-AF65-F5344CB8AC3E}">
        <p14:creationId xmlns:p14="http://schemas.microsoft.com/office/powerpoint/2010/main" val="135358540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8D68B827-6FB7-49A5-BE98-AFF0F6E2B23A}"/>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Prompt design, engineering, tuning, and fine-tuning change different things</a:t>
            </a:r>
          </a:p>
        </p:txBody>
      </p:sp>
      <p:sp>
        <p:nvSpPr>
          <p:cNvPr id="2" name="">
            <a:extLst xmlns:a="http://schemas.openxmlformats.org/drawingml/2006/main">
              <a:ext uri="{FF2B5EF4-FFF2-40B4-BE49-F238E27FC236}">
                <a16:creationId xmlns:a16="http://schemas.microsoft.com/office/drawing/2014/main" id="{DC589F82-3394-43A1-A3DC-F9FE9E4CF282}"/>
              </a:ext>
            </a:extLst>
          </p:cNvPr>
          <p:cNvSpPr>
            <a:spLocks xmlns:a="http://schemas.openxmlformats.org/drawingml/2006/main" noGrp="1"/>
          </p:cNvSpPr>
          <p:nvPr/>
        </p:nvSpPr>
        <p:spPr>
          <a:xfrm xmlns:a="http://schemas.openxmlformats.org/drawingml/2006/main">
            <a:off x="514350" y="1257300"/>
            <a:ext cx="2190750" cy="628650"/>
          </a:xfrm>
          <a:prstGeom xmlns:a="http://schemas.openxmlformats.org/drawingml/2006/main" prst="rect">
            <a:avLst/>
          </a:prstGeom>
          <a:solidFill xmlns:a="http://schemas.openxmlformats.org/drawingml/2006/main">
            <a:srgbClr val="D0E1E5"/>
          </a:solidFill>
          <a:ln xmlns:a="http://schemas.openxmlformats.org/drawingml/2006/main" w="9525">
            <a:solidFill>
              <a:srgbClr val="FFFFFF"/>
            </a:solidFill>
            <a:prstDash val="solid"/>
          </a:ln>
        </p:spPr>
      </p:sp>
      <p:sp>
        <p:nvSpPr>
          <p:cNvPr id="3" name="">
            <a:extLst xmlns:a="http://schemas.openxmlformats.org/drawingml/2006/main">
              <a:ext uri="{FF2B5EF4-FFF2-40B4-BE49-F238E27FC236}">
                <a16:creationId xmlns:a16="http://schemas.microsoft.com/office/drawing/2014/main" id="{64605E40-A63F-4D52-A678-4A27026A65EE}"/>
              </a:ext>
            </a:extLst>
          </p:cNvPr>
          <p:cNvSpPr>
            <a:spLocks xmlns:a="http://schemas.openxmlformats.org/drawingml/2006/main" noGrp="1"/>
          </p:cNvSpPr>
          <p:nvPr/>
        </p:nvSpPr>
        <p:spPr>
          <a:xfrm xmlns:a="http://schemas.openxmlformats.org/drawingml/2006/main">
            <a:off x="609600" y="13906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Google Sans Medium"/>
                <a:ea typeface="Google Sans Medium"/>
                <a:cs typeface="Google Sans Medium"/>
              </a:defRPr>
            </a:pPr>
            <a:r>
              <a:rPr sz="1350" b="1">
                <a:solidFill>
                  <a:srgbClr val="000000"/>
                </a:solidFill>
                <a:latin typeface="Google Sans Medium"/>
                <a:ea typeface="Google Sans Medium"/>
                <a:cs typeface="Google Sans Medium"/>
              </a:rPr>
              <a:t>Compare</a:t>
            </a:r>
          </a:p>
        </p:txBody>
      </p:sp>
      <p:sp>
        <p:nvSpPr>
          <p:cNvPr id="4" name="">
            <a:extLst xmlns:a="http://schemas.openxmlformats.org/drawingml/2006/main">
              <a:ext uri="{FF2B5EF4-FFF2-40B4-BE49-F238E27FC236}">
                <a16:creationId xmlns:a16="http://schemas.microsoft.com/office/drawing/2014/main" id="{8659F691-99A3-422D-938B-918ACCBA6EEB}"/>
              </a:ext>
            </a:extLst>
          </p:cNvPr>
          <p:cNvSpPr>
            <a:spLocks xmlns:a="http://schemas.openxmlformats.org/drawingml/2006/main" noGrp="1"/>
          </p:cNvSpPr>
          <p:nvPr/>
        </p:nvSpPr>
        <p:spPr>
          <a:xfrm xmlns:a="http://schemas.openxmlformats.org/drawingml/2006/main">
            <a:off x="2705100" y="1257300"/>
            <a:ext cx="2381250" cy="628650"/>
          </a:xfrm>
          <a:prstGeom xmlns:a="http://schemas.openxmlformats.org/drawingml/2006/main" prst="rect">
            <a:avLst/>
          </a:prstGeom>
          <a:solidFill xmlns:a="http://schemas.openxmlformats.org/drawingml/2006/main">
            <a:srgbClr val="C6DAFC"/>
          </a:solidFill>
          <a:ln xmlns:a="http://schemas.openxmlformats.org/drawingml/2006/main" w="9525">
            <a:solidFill>
              <a:srgbClr val="FFFFFF"/>
            </a:solidFill>
            <a:prstDash val="solid"/>
          </a:ln>
        </p:spPr>
      </p:sp>
      <p:sp>
        <p:nvSpPr>
          <p:cNvPr id="5" name="">
            <a:extLst xmlns:a="http://schemas.openxmlformats.org/drawingml/2006/main">
              <a:ext uri="{FF2B5EF4-FFF2-40B4-BE49-F238E27FC236}">
                <a16:creationId xmlns:a16="http://schemas.microsoft.com/office/drawing/2014/main" id="{0E728C6D-E7C4-4FB8-9350-36E3D5ED1618}"/>
              </a:ext>
            </a:extLst>
          </p:cNvPr>
          <p:cNvSpPr>
            <a:spLocks xmlns:a="http://schemas.openxmlformats.org/drawingml/2006/main" noGrp="1"/>
          </p:cNvSpPr>
          <p:nvPr/>
        </p:nvSpPr>
        <p:spPr>
          <a:xfrm xmlns:a="http://schemas.openxmlformats.org/drawingml/2006/main">
            <a:off x="2800350" y="13906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Prompt design</a:t>
            </a:r>
          </a:p>
        </p:txBody>
      </p:sp>
      <p:sp>
        <p:nvSpPr>
          <p:cNvPr id="6" name="">
            <a:extLst xmlns:a="http://schemas.openxmlformats.org/drawingml/2006/main">
              <a:ext uri="{FF2B5EF4-FFF2-40B4-BE49-F238E27FC236}">
                <a16:creationId xmlns:a16="http://schemas.microsoft.com/office/drawing/2014/main" id="{676FAA70-E25D-4E22-97E3-FF7C02765E3D}"/>
              </a:ext>
            </a:extLst>
          </p:cNvPr>
          <p:cNvSpPr>
            <a:spLocks xmlns:a="http://schemas.openxmlformats.org/drawingml/2006/main" noGrp="1"/>
          </p:cNvSpPr>
          <p:nvPr/>
        </p:nvSpPr>
        <p:spPr>
          <a:xfrm xmlns:a="http://schemas.openxmlformats.org/drawingml/2006/main">
            <a:off x="5086350" y="1257300"/>
            <a:ext cx="2333625" cy="628650"/>
          </a:xfrm>
          <a:prstGeom xmlns:a="http://schemas.openxmlformats.org/drawingml/2006/main" prst="rect">
            <a:avLst/>
          </a:prstGeom>
          <a:solidFill xmlns:a="http://schemas.openxmlformats.org/drawingml/2006/main">
            <a:srgbClr val="FDEFC3"/>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44FE5053-FF51-47BA-9AFB-C30DAF1F21DD}"/>
              </a:ext>
            </a:extLst>
          </p:cNvPr>
          <p:cNvSpPr>
            <a:spLocks xmlns:a="http://schemas.openxmlformats.org/drawingml/2006/main" noGrp="1"/>
          </p:cNvSpPr>
          <p:nvPr/>
        </p:nvSpPr>
        <p:spPr>
          <a:xfrm xmlns:a="http://schemas.openxmlformats.org/drawingml/2006/main">
            <a:off x="5181600" y="139065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Prompt engineering</a:t>
            </a:r>
          </a:p>
        </p:txBody>
      </p:sp>
      <p:sp>
        <p:nvSpPr>
          <p:cNvPr id="8" name="">
            <a:extLst xmlns:a="http://schemas.openxmlformats.org/drawingml/2006/main">
              <a:ext uri="{FF2B5EF4-FFF2-40B4-BE49-F238E27FC236}">
                <a16:creationId xmlns:a16="http://schemas.microsoft.com/office/drawing/2014/main" id="{A470FD7F-7D2B-4EA3-B8EA-976A8D952589}"/>
              </a:ext>
            </a:extLst>
          </p:cNvPr>
          <p:cNvSpPr>
            <a:spLocks xmlns:a="http://schemas.openxmlformats.org/drawingml/2006/main" noGrp="1"/>
          </p:cNvSpPr>
          <p:nvPr/>
        </p:nvSpPr>
        <p:spPr>
          <a:xfrm xmlns:a="http://schemas.openxmlformats.org/drawingml/2006/main">
            <a:off x="7419975" y="1257300"/>
            <a:ext cx="2333625" cy="628650"/>
          </a:xfrm>
          <a:prstGeom xmlns:a="http://schemas.openxmlformats.org/drawingml/2006/main" prst="rect">
            <a:avLst/>
          </a:prstGeom>
          <a:solidFill xmlns:a="http://schemas.openxmlformats.org/drawingml/2006/main">
            <a:srgbClr val="F5C7C9"/>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055CA8AB-B0AE-418D-82AA-968AE4107624}"/>
              </a:ext>
            </a:extLst>
          </p:cNvPr>
          <p:cNvSpPr>
            <a:spLocks xmlns:a="http://schemas.openxmlformats.org/drawingml/2006/main" noGrp="1"/>
          </p:cNvSpPr>
          <p:nvPr/>
        </p:nvSpPr>
        <p:spPr>
          <a:xfrm xmlns:a="http://schemas.openxmlformats.org/drawingml/2006/main">
            <a:off x="7515225" y="139065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Prompt tuning</a:t>
            </a:r>
          </a:p>
        </p:txBody>
      </p:sp>
      <p:sp>
        <p:nvSpPr>
          <p:cNvPr id="10" name="">
            <a:extLst xmlns:a="http://schemas.openxmlformats.org/drawingml/2006/main">
              <a:ext uri="{FF2B5EF4-FFF2-40B4-BE49-F238E27FC236}">
                <a16:creationId xmlns:a16="http://schemas.microsoft.com/office/drawing/2014/main" id="{5FE8B612-84B9-4794-A4DE-28A38B1FCCCE}"/>
              </a:ext>
            </a:extLst>
          </p:cNvPr>
          <p:cNvSpPr>
            <a:spLocks xmlns:a="http://schemas.openxmlformats.org/drawingml/2006/main" noGrp="1"/>
          </p:cNvSpPr>
          <p:nvPr/>
        </p:nvSpPr>
        <p:spPr>
          <a:xfrm xmlns:a="http://schemas.openxmlformats.org/drawingml/2006/main">
            <a:off x="9753600" y="1257300"/>
            <a:ext cx="2333625" cy="628650"/>
          </a:xfrm>
          <a:prstGeom xmlns:a="http://schemas.openxmlformats.org/drawingml/2006/main" prst="rect">
            <a:avLst/>
          </a:prstGeom>
          <a:solidFill xmlns:a="http://schemas.openxmlformats.org/drawingml/2006/main">
            <a:srgbClr val="D0E1E5"/>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A90ADC81-2275-4F9D-BCAF-1C5302E10FF9}"/>
              </a:ext>
            </a:extLst>
          </p:cNvPr>
          <p:cNvSpPr>
            <a:spLocks xmlns:a="http://schemas.openxmlformats.org/drawingml/2006/main" noGrp="1"/>
          </p:cNvSpPr>
          <p:nvPr/>
        </p:nvSpPr>
        <p:spPr>
          <a:xfrm xmlns:a="http://schemas.openxmlformats.org/drawingml/2006/main">
            <a:off x="9848850" y="1390650"/>
            <a:ext cx="2143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Fine-tuning</a:t>
            </a:r>
          </a:p>
        </p:txBody>
      </p:sp>
      <p:sp>
        <p:nvSpPr>
          <p:cNvPr id="12" name="">
            <a:extLst xmlns:a="http://schemas.openxmlformats.org/drawingml/2006/main">
              <a:ext uri="{FF2B5EF4-FFF2-40B4-BE49-F238E27FC236}">
                <a16:creationId xmlns:a16="http://schemas.microsoft.com/office/drawing/2014/main" id="{FAC5637B-6DF6-4AE5-858E-C6CD5FC85E8C}"/>
              </a:ext>
            </a:extLst>
          </p:cNvPr>
          <p:cNvSpPr>
            <a:spLocks xmlns:a="http://schemas.openxmlformats.org/drawingml/2006/main" noGrp="1"/>
          </p:cNvSpPr>
          <p:nvPr/>
        </p:nvSpPr>
        <p:spPr>
          <a:xfrm xmlns:a="http://schemas.openxmlformats.org/drawingml/2006/main">
            <a:off x="514350" y="1885950"/>
            <a:ext cx="2190750" cy="885825"/>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13" name="">
            <a:extLst xmlns:a="http://schemas.openxmlformats.org/drawingml/2006/main">
              <a:ext uri="{FF2B5EF4-FFF2-40B4-BE49-F238E27FC236}">
                <a16:creationId xmlns:a16="http://schemas.microsoft.com/office/drawing/2014/main" id="{4BED61C7-298E-46FF-818A-4BDB05912B55}"/>
              </a:ext>
            </a:extLst>
          </p:cNvPr>
          <p:cNvSpPr>
            <a:spLocks xmlns:a="http://schemas.openxmlformats.org/drawingml/2006/main" noGrp="1"/>
          </p:cNvSpPr>
          <p:nvPr/>
        </p:nvSpPr>
        <p:spPr>
          <a:xfrm xmlns:a="http://schemas.openxmlformats.org/drawingml/2006/main">
            <a:off x="628650" y="2028825"/>
            <a:ext cx="1962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Main action</a:t>
            </a:r>
          </a:p>
        </p:txBody>
      </p:sp>
      <p:sp>
        <p:nvSpPr>
          <p:cNvPr id="14" name="">
            <a:extLst xmlns:a="http://schemas.openxmlformats.org/drawingml/2006/main">
              <a:ext uri="{FF2B5EF4-FFF2-40B4-BE49-F238E27FC236}">
                <a16:creationId xmlns:a16="http://schemas.microsoft.com/office/drawing/2014/main" id="{A4931C41-A9BE-4E73-B0D6-C3049AD0D3D5}"/>
              </a:ext>
            </a:extLst>
          </p:cNvPr>
          <p:cNvSpPr>
            <a:spLocks xmlns:a="http://schemas.openxmlformats.org/drawingml/2006/main" noGrp="1"/>
          </p:cNvSpPr>
          <p:nvPr/>
        </p:nvSpPr>
        <p:spPr>
          <a:xfrm xmlns:a="http://schemas.openxmlformats.org/drawingml/2006/main">
            <a:off x="2705100" y="1885950"/>
            <a:ext cx="238125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5" name="">
            <a:extLst xmlns:a="http://schemas.openxmlformats.org/drawingml/2006/main">
              <a:ext uri="{FF2B5EF4-FFF2-40B4-BE49-F238E27FC236}">
                <a16:creationId xmlns:a16="http://schemas.microsoft.com/office/drawing/2014/main" id="{13435F43-2098-4F17-ADFD-63A5C937E59A}"/>
              </a:ext>
            </a:extLst>
          </p:cNvPr>
          <p:cNvSpPr>
            <a:spLocks xmlns:a="http://schemas.openxmlformats.org/drawingml/2006/main" noGrp="1"/>
          </p:cNvSpPr>
          <p:nvPr/>
        </p:nvSpPr>
        <p:spPr>
          <a:xfrm xmlns:a="http://schemas.openxmlformats.org/drawingml/2006/main">
            <a:off x="2819400" y="2028825"/>
            <a:ext cx="2152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Write one clear prompt</a:t>
            </a:r>
          </a:p>
        </p:txBody>
      </p:sp>
      <p:sp>
        <p:nvSpPr>
          <p:cNvPr id="16" name="">
            <a:extLst xmlns:a="http://schemas.openxmlformats.org/drawingml/2006/main">
              <a:ext uri="{FF2B5EF4-FFF2-40B4-BE49-F238E27FC236}">
                <a16:creationId xmlns:a16="http://schemas.microsoft.com/office/drawing/2014/main" id="{7B48C4C2-0FA1-4C6C-A0F0-5BF46ABC52C7}"/>
              </a:ext>
            </a:extLst>
          </p:cNvPr>
          <p:cNvSpPr>
            <a:spLocks xmlns:a="http://schemas.openxmlformats.org/drawingml/2006/main" noGrp="1"/>
          </p:cNvSpPr>
          <p:nvPr/>
        </p:nvSpPr>
        <p:spPr>
          <a:xfrm xmlns:a="http://schemas.openxmlformats.org/drawingml/2006/main">
            <a:off x="5086350" y="188595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7" name="">
            <a:extLst xmlns:a="http://schemas.openxmlformats.org/drawingml/2006/main">
              <a:ext uri="{FF2B5EF4-FFF2-40B4-BE49-F238E27FC236}">
                <a16:creationId xmlns:a16="http://schemas.microsoft.com/office/drawing/2014/main" id="{331ACF67-19D9-4361-917C-03B12505E389}"/>
              </a:ext>
            </a:extLst>
          </p:cNvPr>
          <p:cNvSpPr>
            <a:spLocks xmlns:a="http://schemas.openxmlformats.org/drawingml/2006/main" noGrp="1"/>
          </p:cNvSpPr>
          <p:nvPr/>
        </p:nvSpPr>
        <p:spPr>
          <a:xfrm xmlns:a="http://schemas.openxmlformats.org/drawingml/2006/main">
            <a:off x="5200650" y="202882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Test and improve prompts systematically</a:t>
            </a:r>
          </a:p>
        </p:txBody>
      </p:sp>
      <p:sp>
        <p:nvSpPr>
          <p:cNvPr id="18" name="">
            <a:extLst xmlns:a="http://schemas.openxmlformats.org/drawingml/2006/main">
              <a:ext uri="{FF2B5EF4-FFF2-40B4-BE49-F238E27FC236}">
                <a16:creationId xmlns:a16="http://schemas.microsoft.com/office/drawing/2014/main" id="{DFC7C7D1-13C5-46D0-979C-A1B7AC4050C3}"/>
              </a:ext>
            </a:extLst>
          </p:cNvPr>
          <p:cNvSpPr>
            <a:spLocks xmlns:a="http://schemas.openxmlformats.org/drawingml/2006/main" noGrp="1"/>
          </p:cNvSpPr>
          <p:nvPr/>
        </p:nvSpPr>
        <p:spPr>
          <a:xfrm xmlns:a="http://schemas.openxmlformats.org/drawingml/2006/main">
            <a:off x="7419975" y="188595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9" name="">
            <a:extLst xmlns:a="http://schemas.openxmlformats.org/drawingml/2006/main">
              <a:ext uri="{FF2B5EF4-FFF2-40B4-BE49-F238E27FC236}">
                <a16:creationId xmlns:a16="http://schemas.microsoft.com/office/drawing/2014/main" id="{B783F719-5DDA-4F21-987E-9CAC49B92A2E}"/>
              </a:ext>
            </a:extLst>
          </p:cNvPr>
          <p:cNvSpPr>
            <a:spLocks xmlns:a="http://schemas.openxmlformats.org/drawingml/2006/main" noGrp="1"/>
          </p:cNvSpPr>
          <p:nvPr/>
        </p:nvSpPr>
        <p:spPr>
          <a:xfrm xmlns:a="http://schemas.openxmlformats.org/drawingml/2006/main">
            <a:off x="7534275" y="202882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Learn soft prompt vectors</a:t>
            </a:r>
          </a:p>
        </p:txBody>
      </p:sp>
      <p:sp>
        <p:nvSpPr>
          <p:cNvPr id="20" name="">
            <a:extLst xmlns:a="http://schemas.openxmlformats.org/drawingml/2006/main">
              <a:ext uri="{FF2B5EF4-FFF2-40B4-BE49-F238E27FC236}">
                <a16:creationId xmlns:a16="http://schemas.microsoft.com/office/drawing/2014/main" id="{44984415-2583-4A2C-BA14-F631B454F97E}"/>
              </a:ext>
            </a:extLst>
          </p:cNvPr>
          <p:cNvSpPr>
            <a:spLocks xmlns:a="http://schemas.openxmlformats.org/drawingml/2006/main" noGrp="1"/>
          </p:cNvSpPr>
          <p:nvPr/>
        </p:nvSpPr>
        <p:spPr>
          <a:xfrm xmlns:a="http://schemas.openxmlformats.org/drawingml/2006/main">
            <a:off x="9753600" y="188595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1" name="">
            <a:extLst xmlns:a="http://schemas.openxmlformats.org/drawingml/2006/main">
              <a:ext uri="{FF2B5EF4-FFF2-40B4-BE49-F238E27FC236}">
                <a16:creationId xmlns:a16="http://schemas.microsoft.com/office/drawing/2014/main" id="{D21D9207-17C4-497B-ACDB-BDF40BA825C3}"/>
              </a:ext>
            </a:extLst>
          </p:cNvPr>
          <p:cNvSpPr>
            <a:spLocks xmlns:a="http://schemas.openxmlformats.org/drawingml/2006/main" noGrp="1"/>
          </p:cNvSpPr>
          <p:nvPr/>
        </p:nvSpPr>
        <p:spPr>
          <a:xfrm xmlns:a="http://schemas.openxmlformats.org/drawingml/2006/main">
            <a:off x="9867900" y="202882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Learn model parameters or adapters</a:t>
            </a:r>
          </a:p>
        </p:txBody>
      </p:sp>
      <p:sp>
        <p:nvSpPr>
          <p:cNvPr id="22" name="">
            <a:extLst xmlns:a="http://schemas.openxmlformats.org/drawingml/2006/main">
              <a:ext uri="{FF2B5EF4-FFF2-40B4-BE49-F238E27FC236}">
                <a16:creationId xmlns:a16="http://schemas.microsoft.com/office/drawing/2014/main" id="{7D0190CA-4D2C-4709-8DFC-A82B5142B92A}"/>
              </a:ext>
            </a:extLst>
          </p:cNvPr>
          <p:cNvSpPr>
            <a:spLocks xmlns:a="http://schemas.openxmlformats.org/drawingml/2006/main" noGrp="1"/>
          </p:cNvSpPr>
          <p:nvPr/>
        </p:nvSpPr>
        <p:spPr>
          <a:xfrm xmlns:a="http://schemas.openxmlformats.org/drawingml/2006/main">
            <a:off x="514350" y="2771775"/>
            <a:ext cx="2190750" cy="885825"/>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23" name="">
            <a:extLst xmlns:a="http://schemas.openxmlformats.org/drawingml/2006/main">
              <a:ext uri="{FF2B5EF4-FFF2-40B4-BE49-F238E27FC236}">
                <a16:creationId xmlns:a16="http://schemas.microsoft.com/office/drawing/2014/main" id="{492A0315-FDEF-4F19-AB16-3126271005E5}"/>
              </a:ext>
            </a:extLst>
          </p:cNvPr>
          <p:cNvSpPr>
            <a:spLocks xmlns:a="http://schemas.openxmlformats.org/drawingml/2006/main" noGrp="1"/>
          </p:cNvSpPr>
          <p:nvPr/>
        </p:nvSpPr>
        <p:spPr>
          <a:xfrm xmlns:a="http://schemas.openxmlformats.org/drawingml/2006/main">
            <a:off x="628650" y="2914650"/>
            <a:ext cx="1962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What changes?</a:t>
            </a:r>
          </a:p>
        </p:txBody>
      </p:sp>
      <p:sp>
        <p:nvSpPr>
          <p:cNvPr id="24" name="">
            <a:extLst xmlns:a="http://schemas.openxmlformats.org/drawingml/2006/main">
              <a:ext uri="{FF2B5EF4-FFF2-40B4-BE49-F238E27FC236}">
                <a16:creationId xmlns:a16="http://schemas.microsoft.com/office/drawing/2014/main" id="{4D87BECA-6B59-4153-A064-FB18CE2073A9}"/>
              </a:ext>
            </a:extLst>
          </p:cNvPr>
          <p:cNvSpPr>
            <a:spLocks xmlns:a="http://schemas.openxmlformats.org/drawingml/2006/main" noGrp="1"/>
          </p:cNvSpPr>
          <p:nvPr/>
        </p:nvSpPr>
        <p:spPr>
          <a:xfrm xmlns:a="http://schemas.openxmlformats.org/drawingml/2006/main">
            <a:off x="2705100" y="2771775"/>
            <a:ext cx="238125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5" name="">
            <a:extLst xmlns:a="http://schemas.openxmlformats.org/drawingml/2006/main">
              <a:ext uri="{FF2B5EF4-FFF2-40B4-BE49-F238E27FC236}">
                <a16:creationId xmlns:a16="http://schemas.microsoft.com/office/drawing/2014/main" id="{67BE4227-22A6-4F4C-B2A8-F26E1FEF0B6A}"/>
              </a:ext>
            </a:extLst>
          </p:cNvPr>
          <p:cNvSpPr>
            <a:spLocks xmlns:a="http://schemas.openxmlformats.org/drawingml/2006/main" noGrp="1"/>
          </p:cNvSpPr>
          <p:nvPr/>
        </p:nvSpPr>
        <p:spPr>
          <a:xfrm xmlns:a="http://schemas.openxmlformats.org/drawingml/2006/main">
            <a:off x="2819400" y="2914650"/>
            <a:ext cx="2152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Prompt text</a:t>
            </a:r>
          </a:p>
        </p:txBody>
      </p:sp>
      <p:sp>
        <p:nvSpPr>
          <p:cNvPr id="26" name="">
            <a:extLst xmlns:a="http://schemas.openxmlformats.org/drawingml/2006/main">
              <a:ext uri="{FF2B5EF4-FFF2-40B4-BE49-F238E27FC236}">
                <a16:creationId xmlns:a16="http://schemas.microsoft.com/office/drawing/2014/main" id="{30C2F7B1-DC27-4FC3-AB01-F29D9EC049DA}"/>
              </a:ext>
            </a:extLst>
          </p:cNvPr>
          <p:cNvSpPr>
            <a:spLocks xmlns:a="http://schemas.openxmlformats.org/drawingml/2006/main" noGrp="1"/>
          </p:cNvSpPr>
          <p:nvPr/>
        </p:nvSpPr>
        <p:spPr>
          <a:xfrm xmlns:a="http://schemas.openxmlformats.org/drawingml/2006/main">
            <a:off x="5086350" y="277177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7" name="">
            <a:extLst xmlns:a="http://schemas.openxmlformats.org/drawingml/2006/main">
              <a:ext uri="{FF2B5EF4-FFF2-40B4-BE49-F238E27FC236}">
                <a16:creationId xmlns:a16="http://schemas.microsoft.com/office/drawing/2014/main" id="{9FD5D08E-DA5A-4168-B1CA-273D2173AF1F}"/>
              </a:ext>
            </a:extLst>
          </p:cNvPr>
          <p:cNvSpPr>
            <a:spLocks xmlns:a="http://schemas.openxmlformats.org/drawingml/2006/main" noGrp="1"/>
          </p:cNvSpPr>
          <p:nvPr/>
        </p:nvSpPr>
        <p:spPr>
          <a:xfrm xmlns:a="http://schemas.openxmlformats.org/drawingml/2006/main">
            <a:off x="5200650" y="291465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Prompt text + workflow</a:t>
            </a:r>
          </a:p>
        </p:txBody>
      </p:sp>
      <p:sp>
        <p:nvSpPr>
          <p:cNvPr id="28" name="">
            <a:extLst xmlns:a="http://schemas.openxmlformats.org/drawingml/2006/main">
              <a:ext uri="{FF2B5EF4-FFF2-40B4-BE49-F238E27FC236}">
                <a16:creationId xmlns:a16="http://schemas.microsoft.com/office/drawing/2014/main" id="{E4B50FB8-C988-46C4-8144-6EF46FDA54A0}"/>
              </a:ext>
            </a:extLst>
          </p:cNvPr>
          <p:cNvSpPr>
            <a:spLocks xmlns:a="http://schemas.openxmlformats.org/drawingml/2006/main" noGrp="1"/>
          </p:cNvSpPr>
          <p:nvPr/>
        </p:nvSpPr>
        <p:spPr>
          <a:xfrm xmlns:a="http://schemas.openxmlformats.org/drawingml/2006/main">
            <a:off x="7419975" y="277177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9" name="">
            <a:extLst xmlns:a="http://schemas.openxmlformats.org/drawingml/2006/main">
              <a:ext uri="{FF2B5EF4-FFF2-40B4-BE49-F238E27FC236}">
                <a16:creationId xmlns:a16="http://schemas.microsoft.com/office/drawing/2014/main" id="{5328E2B0-210D-4EFB-BE7C-6A373C2AB979}"/>
              </a:ext>
            </a:extLst>
          </p:cNvPr>
          <p:cNvSpPr>
            <a:spLocks xmlns:a="http://schemas.openxmlformats.org/drawingml/2006/main" noGrp="1"/>
          </p:cNvSpPr>
          <p:nvPr/>
        </p:nvSpPr>
        <p:spPr>
          <a:xfrm xmlns:a="http://schemas.openxmlformats.org/drawingml/2006/main">
            <a:off x="7534275" y="291465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Small learned vectors; base model frozen</a:t>
            </a:r>
          </a:p>
        </p:txBody>
      </p:sp>
      <p:sp>
        <p:nvSpPr>
          <p:cNvPr id="30" name="">
            <a:extLst xmlns:a="http://schemas.openxmlformats.org/drawingml/2006/main">
              <a:ext uri="{FF2B5EF4-FFF2-40B4-BE49-F238E27FC236}">
                <a16:creationId xmlns:a16="http://schemas.microsoft.com/office/drawing/2014/main" id="{05C2BA9C-4BFD-490B-9C7E-3D1005095DC2}"/>
              </a:ext>
            </a:extLst>
          </p:cNvPr>
          <p:cNvSpPr>
            <a:spLocks xmlns:a="http://schemas.openxmlformats.org/drawingml/2006/main" noGrp="1"/>
          </p:cNvSpPr>
          <p:nvPr/>
        </p:nvSpPr>
        <p:spPr>
          <a:xfrm xmlns:a="http://schemas.openxmlformats.org/drawingml/2006/main">
            <a:off x="9753600" y="277177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1" name="">
            <a:extLst xmlns:a="http://schemas.openxmlformats.org/drawingml/2006/main">
              <a:ext uri="{FF2B5EF4-FFF2-40B4-BE49-F238E27FC236}">
                <a16:creationId xmlns:a16="http://schemas.microsoft.com/office/drawing/2014/main" id="{62FF188D-FEC4-4656-BC2C-5EFDF9F5E65B}"/>
              </a:ext>
            </a:extLst>
          </p:cNvPr>
          <p:cNvSpPr>
            <a:spLocks xmlns:a="http://schemas.openxmlformats.org/drawingml/2006/main" noGrp="1"/>
          </p:cNvSpPr>
          <p:nvPr/>
        </p:nvSpPr>
        <p:spPr>
          <a:xfrm xmlns:a="http://schemas.openxmlformats.org/drawingml/2006/main">
            <a:off x="9867900" y="291465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Selected or all model parameters</a:t>
            </a:r>
          </a:p>
        </p:txBody>
      </p:sp>
      <p:sp>
        <p:nvSpPr>
          <p:cNvPr id="32" name="">
            <a:extLst xmlns:a="http://schemas.openxmlformats.org/drawingml/2006/main">
              <a:ext uri="{FF2B5EF4-FFF2-40B4-BE49-F238E27FC236}">
                <a16:creationId xmlns:a16="http://schemas.microsoft.com/office/drawing/2014/main" id="{A50264E0-0E59-47E1-BF0B-8EF9CD5F400A}"/>
              </a:ext>
            </a:extLst>
          </p:cNvPr>
          <p:cNvSpPr>
            <a:spLocks xmlns:a="http://schemas.openxmlformats.org/drawingml/2006/main" noGrp="1"/>
          </p:cNvSpPr>
          <p:nvPr/>
        </p:nvSpPr>
        <p:spPr>
          <a:xfrm xmlns:a="http://schemas.openxmlformats.org/drawingml/2006/main">
            <a:off x="514350" y="3657600"/>
            <a:ext cx="2190750" cy="885825"/>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33" name="">
            <a:extLst xmlns:a="http://schemas.openxmlformats.org/drawingml/2006/main">
              <a:ext uri="{FF2B5EF4-FFF2-40B4-BE49-F238E27FC236}">
                <a16:creationId xmlns:a16="http://schemas.microsoft.com/office/drawing/2014/main" id="{C6CD145C-858E-4C90-A07F-6ACD14BB147F}"/>
              </a:ext>
            </a:extLst>
          </p:cNvPr>
          <p:cNvSpPr>
            <a:spLocks xmlns:a="http://schemas.openxmlformats.org/drawingml/2006/main" noGrp="1"/>
          </p:cNvSpPr>
          <p:nvPr/>
        </p:nvSpPr>
        <p:spPr>
          <a:xfrm xmlns:a="http://schemas.openxmlformats.org/drawingml/2006/main">
            <a:off x="628650" y="3800475"/>
            <a:ext cx="1962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When useful</a:t>
            </a:r>
          </a:p>
        </p:txBody>
      </p:sp>
      <p:sp>
        <p:nvSpPr>
          <p:cNvPr id="34" name="">
            <a:extLst xmlns:a="http://schemas.openxmlformats.org/drawingml/2006/main">
              <a:ext uri="{FF2B5EF4-FFF2-40B4-BE49-F238E27FC236}">
                <a16:creationId xmlns:a16="http://schemas.microsoft.com/office/drawing/2014/main" id="{B757C004-DAE9-427C-8CC3-5239CB6DEAAE}"/>
              </a:ext>
            </a:extLst>
          </p:cNvPr>
          <p:cNvSpPr>
            <a:spLocks xmlns:a="http://schemas.openxmlformats.org/drawingml/2006/main" noGrp="1"/>
          </p:cNvSpPr>
          <p:nvPr/>
        </p:nvSpPr>
        <p:spPr>
          <a:xfrm xmlns:a="http://schemas.openxmlformats.org/drawingml/2006/main">
            <a:off x="2705100" y="3657600"/>
            <a:ext cx="238125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5" name="">
            <a:extLst xmlns:a="http://schemas.openxmlformats.org/drawingml/2006/main">
              <a:ext uri="{FF2B5EF4-FFF2-40B4-BE49-F238E27FC236}">
                <a16:creationId xmlns:a16="http://schemas.microsoft.com/office/drawing/2014/main" id="{ADAF559A-4356-40F7-8AAE-1CBA6ABA9F21}"/>
              </a:ext>
            </a:extLst>
          </p:cNvPr>
          <p:cNvSpPr>
            <a:spLocks xmlns:a="http://schemas.openxmlformats.org/drawingml/2006/main" noGrp="1"/>
          </p:cNvSpPr>
          <p:nvPr/>
        </p:nvSpPr>
        <p:spPr>
          <a:xfrm xmlns:a="http://schemas.openxmlformats.org/drawingml/2006/main">
            <a:off x="2819400" y="3800475"/>
            <a:ext cx="2152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Single task</a:t>
            </a:r>
          </a:p>
        </p:txBody>
      </p:sp>
      <p:sp>
        <p:nvSpPr>
          <p:cNvPr id="36" name="">
            <a:extLst xmlns:a="http://schemas.openxmlformats.org/drawingml/2006/main">
              <a:ext uri="{FF2B5EF4-FFF2-40B4-BE49-F238E27FC236}">
                <a16:creationId xmlns:a16="http://schemas.microsoft.com/office/drawing/2014/main" id="{BDC2124F-C129-4033-9651-D3B288C46024}"/>
              </a:ext>
            </a:extLst>
          </p:cNvPr>
          <p:cNvSpPr>
            <a:spLocks xmlns:a="http://schemas.openxmlformats.org/drawingml/2006/main" noGrp="1"/>
          </p:cNvSpPr>
          <p:nvPr/>
        </p:nvSpPr>
        <p:spPr>
          <a:xfrm xmlns:a="http://schemas.openxmlformats.org/drawingml/2006/main">
            <a:off x="5086350" y="365760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7" name="">
            <a:extLst xmlns:a="http://schemas.openxmlformats.org/drawingml/2006/main">
              <a:ext uri="{FF2B5EF4-FFF2-40B4-BE49-F238E27FC236}">
                <a16:creationId xmlns:a16="http://schemas.microsoft.com/office/drawing/2014/main" id="{C25BE46F-8BD1-4433-85BF-02053F9B8DE6}"/>
              </a:ext>
            </a:extLst>
          </p:cNvPr>
          <p:cNvSpPr>
            <a:spLocks xmlns:a="http://schemas.openxmlformats.org/drawingml/2006/main" noGrp="1"/>
          </p:cNvSpPr>
          <p:nvPr/>
        </p:nvSpPr>
        <p:spPr>
          <a:xfrm xmlns:a="http://schemas.openxmlformats.org/drawingml/2006/main">
            <a:off x="5200650" y="380047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Repeated prompt workflow</a:t>
            </a:r>
          </a:p>
        </p:txBody>
      </p:sp>
      <p:sp>
        <p:nvSpPr>
          <p:cNvPr id="38" name="">
            <a:extLst xmlns:a="http://schemas.openxmlformats.org/drawingml/2006/main">
              <a:ext uri="{FF2B5EF4-FFF2-40B4-BE49-F238E27FC236}">
                <a16:creationId xmlns:a16="http://schemas.microsoft.com/office/drawing/2014/main" id="{A32E372D-0AAD-41DA-9EF6-1A439034E792}"/>
              </a:ext>
            </a:extLst>
          </p:cNvPr>
          <p:cNvSpPr>
            <a:spLocks xmlns:a="http://schemas.openxmlformats.org/drawingml/2006/main" noGrp="1"/>
          </p:cNvSpPr>
          <p:nvPr/>
        </p:nvSpPr>
        <p:spPr>
          <a:xfrm xmlns:a="http://schemas.openxmlformats.org/drawingml/2006/main">
            <a:off x="7419975" y="365760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9" name="">
            <a:extLst xmlns:a="http://schemas.openxmlformats.org/drawingml/2006/main">
              <a:ext uri="{FF2B5EF4-FFF2-40B4-BE49-F238E27FC236}">
                <a16:creationId xmlns:a16="http://schemas.microsoft.com/office/drawing/2014/main" id="{7D62722F-7097-45D7-B803-DC5AAC0F52AA}"/>
              </a:ext>
            </a:extLst>
          </p:cNvPr>
          <p:cNvSpPr>
            <a:spLocks xmlns:a="http://schemas.openxmlformats.org/drawingml/2006/main" noGrp="1"/>
          </p:cNvSpPr>
          <p:nvPr/>
        </p:nvSpPr>
        <p:spPr>
          <a:xfrm xmlns:a="http://schemas.openxmlformats.org/drawingml/2006/main">
            <a:off x="7534275" y="380047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Stable task with training examples and support</a:t>
            </a:r>
          </a:p>
        </p:txBody>
      </p:sp>
      <p:sp>
        <p:nvSpPr>
          <p:cNvPr id="40" name="">
            <a:extLst xmlns:a="http://schemas.openxmlformats.org/drawingml/2006/main">
              <a:ext uri="{FF2B5EF4-FFF2-40B4-BE49-F238E27FC236}">
                <a16:creationId xmlns:a16="http://schemas.microsoft.com/office/drawing/2014/main" id="{5D4056DB-6216-4828-9645-B3DF9741B644}"/>
              </a:ext>
            </a:extLst>
          </p:cNvPr>
          <p:cNvSpPr>
            <a:spLocks xmlns:a="http://schemas.openxmlformats.org/drawingml/2006/main" noGrp="1"/>
          </p:cNvSpPr>
          <p:nvPr/>
        </p:nvSpPr>
        <p:spPr>
          <a:xfrm xmlns:a="http://schemas.openxmlformats.org/drawingml/2006/main">
            <a:off x="9753600" y="3657600"/>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41" name="">
            <a:extLst xmlns:a="http://schemas.openxmlformats.org/drawingml/2006/main">
              <a:ext uri="{FF2B5EF4-FFF2-40B4-BE49-F238E27FC236}">
                <a16:creationId xmlns:a16="http://schemas.microsoft.com/office/drawing/2014/main" id="{63DF3A9D-5C6A-492A-9A7F-DC14240D11AC}"/>
              </a:ext>
            </a:extLst>
          </p:cNvPr>
          <p:cNvSpPr>
            <a:spLocks xmlns:a="http://schemas.openxmlformats.org/drawingml/2006/main" noGrp="1"/>
          </p:cNvSpPr>
          <p:nvPr/>
        </p:nvSpPr>
        <p:spPr>
          <a:xfrm xmlns:a="http://schemas.openxmlformats.org/drawingml/2006/main">
            <a:off x="9867900" y="3800475"/>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Specialized behavior with strong data</a:t>
            </a:r>
          </a:p>
        </p:txBody>
      </p:sp>
      <p:sp>
        <p:nvSpPr>
          <p:cNvPr id="42" name="">
            <a:extLst xmlns:a="http://schemas.openxmlformats.org/drawingml/2006/main">
              <a:ext uri="{FF2B5EF4-FFF2-40B4-BE49-F238E27FC236}">
                <a16:creationId xmlns:a16="http://schemas.microsoft.com/office/drawing/2014/main" id="{05D67528-D2A1-4350-81CB-99DA4EAC346F}"/>
              </a:ext>
            </a:extLst>
          </p:cNvPr>
          <p:cNvSpPr>
            <a:spLocks xmlns:a="http://schemas.openxmlformats.org/drawingml/2006/main" noGrp="1"/>
          </p:cNvSpPr>
          <p:nvPr/>
        </p:nvSpPr>
        <p:spPr>
          <a:xfrm xmlns:a="http://schemas.openxmlformats.org/drawingml/2006/main">
            <a:off x="514350" y="4543425"/>
            <a:ext cx="2190750" cy="885825"/>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43" name="">
            <a:extLst xmlns:a="http://schemas.openxmlformats.org/drawingml/2006/main">
              <a:ext uri="{FF2B5EF4-FFF2-40B4-BE49-F238E27FC236}">
                <a16:creationId xmlns:a16="http://schemas.microsoft.com/office/drawing/2014/main" id="{D285F833-5FEE-44B3-8FF2-02EFB1CA0FF8}"/>
              </a:ext>
            </a:extLst>
          </p:cNvPr>
          <p:cNvSpPr>
            <a:spLocks xmlns:a="http://schemas.openxmlformats.org/drawingml/2006/main" noGrp="1"/>
          </p:cNvSpPr>
          <p:nvPr/>
        </p:nvSpPr>
        <p:spPr>
          <a:xfrm xmlns:a="http://schemas.openxmlformats.org/drawingml/2006/main">
            <a:off x="628650" y="4686300"/>
            <a:ext cx="19621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First step?</a:t>
            </a:r>
          </a:p>
        </p:txBody>
      </p:sp>
      <p:sp>
        <p:nvSpPr>
          <p:cNvPr id="44" name="">
            <a:extLst xmlns:a="http://schemas.openxmlformats.org/drawingml/2006/main">
              <a:ext uri="{FF2B5EF4-FFF2-40B4-BE49-F238E27FC236}">
                <a16:creationId xmlns:a16="http://schemas.microsoft.com/office/drawing/2014/main" id="{5DD60E08-C9DE-4854-89EE-8B7586311F00}"/>
              </a:ext>
            </a:extLst>
          </p:cNvPr>
          <p:cNvSpPr>
            <a:spLocks xmlns:a="http://schemas.openxmlformats.org/drawingml/2006/main" noGrp="1"/>
          </p:cNvSpPr>
          <p:nvPr/>
        </p:nvSpPr>
        <p:spPr>
          <a:xfrm xmlns:a="http://schemas.openxmlformats.org/drawingml/2006/main">
            <a:off x="2705100" y="4543425"/>
            <a:ext cx="2381250"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45" name="">
            <a:extLst xmlns:a="http://schemas.openxmlformats.org/drawingml/2006/main">
              <a:ext uri="{FF2B5EF4-FFF2-40B4-BE49-F238E27FC236}">
                <a16:creationId xmlns:a16="http://schemas.microsoft.com/office/drawing/2014/main" id="{AA47CDB4-6D17-44E7-A800-00DDA152064F}"/>
              </a:ext>
            </a:extLst>
          </p:cNvPr>
          <p:cNvSpPr>
            <a:spLocks xmlns:a="http://schemas.openxmlformats.org/drawingml/2006/main" noGrp="1"/>
          </p:cNvSpPr>
          <p:nvPr/>
        </p:nvSpPr>
        <p:spPr>
          <a:xfrm xmlns:a="http://schemas.openxmlformats.org/drawingml/2006/main">
            <a:off x="2819400" y="4686300"/>
            <a:ext cx="2152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Yes</a:t>
            </a:r>
          </a:p>
        </p:txBody>
      </p:sp>
      <p:sp>
        <p:nvSpPr>
          <p:cNvPr id="46" name="">
            <a:extLst xmlns:a="http://schemas.openxmlformats.org/drawingml/2006/main">
              <a:ext uri="{FF2B5EF4-FFF2-40B4-BE49-F238E27FC236}">
                <a16:creationId xmlns:a16="http://schemas.microsoft.com/office/drawing/2014/main" id="{0EDC2A8E-89BE-4533-90B3-B76A61E83CD9}"/>
              </a:ext>
            </a:extLst>
          </p:cNvPr>
          <p:cNvSpPr>
            <a:spLocks xmlns:a="http://schemas.openxmlformats.org/drawingml/2006/main" noGrp="1"/>
          </p:cNvSpPr>
          <p:nvPr/>
        </p:nvSpPr>
        <p:spPr>
          <a:xfrm xmlns:a="http://schemas.openxmlformats.org/drawingml/2006/main">
            <a:off x="5086350" y="454342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47" name="">
            <a:extLst xmlns:a="http://schemas.openxmlformats.org/drawingml/2006/main">
              <a:ext uri="{FF2B5EF4-FFF2-40B4-BE49-F238E27FC236}">
                <a16:creationId xmlns:a16="http://schemas.microsoft.com/office/drawing/2014/main" id="{0532EFDD-CD47-4B58-B7FC-0202CEEEF35C}"/>
              </a:ext>
            </a:extLst>
          </p:cNvPr>
          <p:cNvSpPr>
            <a:spLocks xmlns:a="http://schemas.openxmlformats.org/drawingml/2006/main" noGrp="1"/>
          </p:cNvSpPr>
          <p:nvPr/>
        </p:nvSpPr>
        <p:spPr>
          <a:xfrm xmlns:a="http://schemas.openxmlformats.org/drawingml/2006/main">
            <a:off x="5200650" y="468630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Yes</a:t>
            </a:r>
          </a:p>
        </p:txBody>
      </p:sp>
      <p:sp>
        <p:nvSpPr>
          <p:cNvPr id="48" name="">
            <a:extLst xmlns:a="http://schemas.openxmlformats.org/drawingml/2006/main">
              <a:ext uri="{FF2B5EF4-FFF2-40B4-BE49-F238E27FC236}">
                <a16:creationId xmlns:a16="http://schemas.microsoft.com/office/drawing/2014/main" id="{15987F1B-729C-4FC7-8E9F-2401710C8A61}"/>
              </a:ext>
            </a:extLst>
          </p:cNvPr>
          <p:cNvSpPr>
            <a:spLocks xmlns:a="http://schemas.openxmlformats.org/drawingml/2006/main" noGrp="1"/>
          </p:cNvSpPr>
          <p:nvPr/>
        </p:nvSpPr>
        <p:spPr>
          <a:xfrm xmlns:a="http://schemas.openxmlformats.org/drawingml/2006/main">
            <a:off x="7419975" y="454342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49" name="">
            <a:extLst xmlns:a="http://schemas.openxmlformats.org/drawingml/2006/main">
              <a:ext uri="{FF2B5EF4-FFF2-40B4-BE49-F238E27FC236}">
                <a16:creationId xmlns:a16="http://schemas.microsoft.com/office/drawing/2014/main" id="{32AD5714-0203-46B0-9980-D13A0085BEB8}"/>
              </a:ext>
            </a:extLst>
          </p:cNvPr>
          <p:cNvSpPr>
            <a:spLocks xmlns:a="http://schemas.openxmlformats.org/drawingml/2006/main" noGrp="1"/>
          </p:cNvSpPr>
          <p:nvPr/>
        </p:nvSpPr>
        <p:spPr>
          <a:xfrm xmlns:a="http://schemas.openxmlformats.org/drawingml/2006/main">
            <a:off x="7534275" y="468630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After prompting and evaluation</a:t>
            </a:r>
          </a:p>
        </p:txBody>
      </p:sp>
      <p:sp>
        <p:nvSpPr>
          <p:cNvPr id="50" name="">
            <a:extLst xmlns:a="http://schemas.openxmlformats.org/drawingml/2006/main">
              <a:ext uri="{FF2B5EF4-FFF2-40B4-BE49-F238E27FC236}">
                <a16:creationId xmlns:a16="http://schemas.microsoft.com/office/drawing/2014/main" id="{75B6AA17-A3A8-4F0C-A8B4-88BD28891834}"/>
              </a:ext>
            </a:extLst>
          </p:cNvPr>
          <p:cNvSpPr>
            <a:spLocks xmlns:a="http://schemas.openxmlformats.org/drawingml/2006/main" noGrp="1"/>
          </p:cNvSpPr>
          <p:nvPr/>
        </p:nvSpPr>
        <p:spPr>
          <a:xfrm xmlns:a="http://schemas.openxmlformats.org/drawingml/2006/main">
            <a:off x="9753600" y="4543425"/>
            <a:ext cx="2333625" cy="885825"/>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51" name="">
            <a:extLst xmlns:a="http://schemas.openxmlformats.org/drawingml/2006/main">
              <a:ext uri="{FF2B5EF4-FFF2-40B4-BE49-F238E27FC236}">
                <a16:creationId xmlns:a16="http://schemas.microsoft.com/office/drawing/2014/main" id="{E9D384D4-6C49-48F2-9B51-DB55BC87C87E}"/>
              </a:ext>
            </a:extLst>
          </p:cNvPr>
          <p:cNvSpPr>
            <a:spLocks xmlns:a="http://schemas.openxmlformats.org/drawingml/2006/main" noGrp="1"/>
          </p:cNvSpPr>
          <p:nvPr/>
        </p:nvSpPr>
        <p:spPr>
          <a:xfrm xmlns:a="http://schemas.openxmlformats.org/drawingml/2006/main">
            <a:off x="9867900" y="4686300"/>
            <a:ext cx="21050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After prompting and evaluation</a:t>
            </a:r>
          </a:p>
        </p:txBody>
      </p:sp>
      <p:sp>
        <p:nvSpPr>
          <p:cNvPr id="52" name="">
            <a:extLst xmlns:a="http://schemas.openxmlformats.org/drawingml/2006/main">
              <a:ext uri="{FF2B5EF4-FFF2-40B4-BE49-F238E27FC236}">
                <a16:creationId xmlns:a16="http://schemas.microsoft.com/office/drawing/2014/main" id="{EC571953-31D1-48A4-828A-9E6119423B91}"/>
              </a:ext>
            </a:extLst>
          </p:cNvPr>
          <p:cNvSpPr>
            <a:spLocks xmlns:a="http://schemas.openxmlformats.org/drawingml/2006/main" noGrp="1"/>
          </p:cNvSpPr>
          <p:nvPr/>
        </p:nvSpPr>
        <p:spPr>
          <a:xfrm xmlns:a="http://schemas.openxmlformats.org/drawingml/2006/main">
            <a:off x="1762125" y="5924550"/>
            <a:ext cx="866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Start with prompt design and evaluation; adapt the model only when a measured problem remains.</a:t>
            </a:r>
          </a:p>
        </p:txBody>
      </p:sp>
    </p:spTree>
    <p:extLst>
      <p:ext uri="{BB962C8B-B14F-4D97-AF65-F5344CB8AC3E}">
        <p14:creationId xmlns:p14="http://schemas.microsoft.com/office/powerpoint/2010/main" val="1855466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69C87A5-9D2F-4098-8052-B5138C5A2575}"/>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Prompt tuning learns a small task-specific input for a frozen model</a:t>
            </a:r>
          </a:p>
        </p:txBody>
      </p:sp>
      <p:sp>
        <p:nvSpPr>
          <p:cNvPr id="2" name="">
            <a:extLst xmlns:a="http://schemas.openxmlformats.org/drawingml/2006/main">
              <a:ext uri="{FF2B5EF4-FFF2-40B4-BE49-F238E27FC236}">
                <a16:creationId xmlns:a16="http://schemas.microsoft.com/office/drawing/2014/main" id="{0CE6018E-7B5C-42E6-9BAC-4012735D4650}"/>
              </a:ext>
            </a:extLst>
          </p:cNvPr>
          <p:cNvSpPr>
            <a:spLocks xmlns:a="http://schemas.openxmlformats.org/drawingml/2006/main" noGrp="1"/>
          </p:cNvSpPr>
          <p:nvPr/>
        </p:nvSpPr>
        <p:spPr>
          <a:xfrm xmlns:a="http://schemas.openxmlformats.org/drawingml/2006/main">
            <a:off x="857250" y="17907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Training examples</a:t>
            </a:r>
          </a:p>
        </p:txBody>
      </p:sp>
      <p:sp>
        <p:nvSpPr>
          <p:cNvPr id="3" name="">
            <a:extLst xmlns:a="http://schemas.openxmlformats.org/drawingml/2006/main">
              <a:ext uri="{FF2B5EF4-FFF2-40B4-BE49-F238E27FC236}">
                <a16:creationId xmlns:a16="http://schemas.microsoft.com/office/drawing/2014/main" id="{14FF3AA9-6B80-49C1-B667-916421597A82}"/>
              </a:ext>
            </a:extLst>
          </p:cNvPr>
          <p:cNvSpPr>
            <a:spLocks xmlns:a="http://schemas.openxmlformats.org/drawingml/2006/main" noGrp="1"/>
          </p:cNvSpPr>
          <p:nvPr/>
        </p:nvSpPr>
        <p:spPr>
          <a:xfrm xmlns:a="http://schemas.openxmlformats.org/drawingml/2006/main">
            <a:off x="3000375" y="17145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4" name="">
            <a:extLst xmlns:a="http://schemas.openxmlformats.org/drawingml/2006/main">
              <a:ext uri="{FF2B5EF4-FFF2-40B4-BE49-F238E27FC236}">
                <a16:creationId xmlns:a16="http://schemas.microsoft.com/office/drawing/2014/main" id="{0F970676-0817-4F7A-89AC-B8F100C5B359}"/>
              </a:ext>
            </a:extLst>
          </p:cNvPr>
          <p:cNvSpPr>
            <a:spLocks xmlns:a="http://schemas.openxmlformats.org/drawingml/2006/main" noGrp="1"/>
          </p:cNvSpPr>
          <p:nvPr/>
        </p:nvSpPr>
        <p:spPr>
          <a:xfrm xmlns:a="http://schemas.openxmlformats.org/drawingml/2006/main">
            <a:off x="3667125" y="1476375"/>
            <a:ext cx="2476500" cy="1047750"/>
          </a:xfrm>
          <a:prstGeom xmlns:a="http://schemas.openxmlformats.org/drawingml/2006/main" prst="roundRect">
            <a:avLst>
              <a:gd name="adj" fmla="val 7273"/>
            </a:avLst>
          </a:prstGeom>
          <a:solidFill xmlns:a="http://schemas.openxmlformats.org/drawingml/2006/main">
            <a:srgbClr val="F5C7C9"/>
          </a:solidFill>
          <a:ln xmlns:a="http://schemas.openxmlformats.org/drawingml/2006/main" w="0">
            <a:solidFill>
              <a:srgbClr val="F5C7C9"/>
            </a:solidFill>
            <a:prstDash val="solid"/>
          </a:ln>
        </p:spPr>
      </p:sp>
      <p:sp>
        <p:nvSpPr>
          <p:cNvPr id="5" name="">
            <a:extLst xmlns:a="http://schemas.openxmlformats.org/drawingml/2006/main">
              <a:ext uri="{FF2B5EF4-FFF2-40B4-BE49-F238E27FC236}">
                <a16:creationId xmlns:a16="http://schemas.microsoft.com/office/drawing/2014/main" id="{D9CE6F8F-D5F7-48C0-AE83-FDE3B4E3D51D}"/>
              </a:ext>
            </a:extLst>
          </p:cNvPr>
          <p:cNvSpPr>
            <a:spLocks xmlns:a="http://schemas.openxmlformats.org/drawingml/2006/main" noGrp="1"/>
          </p:cNvSpPr>
          <p:nvPr/>
        </p:nvSpPr>
        <p:spPr>
          <a:xfrm xmlns:a="http://schemas.openxmlformats.org/drawingml/2006/main">
            <a:off x="3952875" y="16764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Learned soft prompt</a:t>
            </a:r>
          </a:p>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[v₁] [v₂] [v₃] …</a:t>
            </a:r>
          </a:p>
        </p:txBody>
      </p:sp>
      <p:sp>
        <p:nvSpPr>
          <p:cNvPr id="6" name="">
            <a:extLst xmlns:a="http://schemas.openxmlformats.org/drawingml/2006/main">
              <a:ext uri="{FF2B5EF4-FFF2-40B4-BE49-F238E27FC236}">
                <a16:creationId xmlns:a16="http://schemas.microsoft.com/office/drawing/2014/main" id="{1B451FCD-073F-4356-9944-822DE23A6511}"/>
              </a:ext>
            </a:extLst>
          </p:cNvPr>
          <p:cNvSpPr>
            <a:spLocks xmlns:a="http://schemas.openxmlformats.org/drawingml/2006/main" noGrp="1"/>
          </p:cNvSpPr>
          <p:nvPr/>
        </p:nvSpPr>
        <p:spPr>
          <a:xfrm xmlns:a="http://schemas.openxmlformats.org/drawingml/2006/main">
            <a:off x="6334125" y="17145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550" b="0">
                <a:solidFill>
                  <a:srgbClr val="9AA0A6"/>
                </a:solidFill>
                <a:latin typeface="Google Sans Text"/>
                <a:ea typeface="Google Sans Text"/>
                <a:cs typeface="Google Sans Text"/>
              </a:defRPr>
            </a:pPr>
            <a:r>
              <a:rPr sz="2550" b="0">
                <a:solidFill>
                  <a:srgbClr val="9AA0A6"/>
                </a:solidFill>
                <a:latin typeface="Google Sans Text"/>
                <a:ea typeface="Google Sans Text"/>
                <a:cs typeface="Google Sans Text"/>
              </a:rPr>
              <a:t>+</a:t>
            </a:r>
          </a:p>
        </p:txBody>
      </p:sp>
      <p:sp>
        <p:nvSpPr>
          <p:cNvPr id="7" name="">
            <a:extLst xmlns:a="http://schemas.openxmlformats.org/drawingml/2006/main">
              <a:ext uri="{FF2B5EF4-FFF2-40B4-BE49-F238E27FC236}">
                <a16:creationId xmlns:a16="http://schemas.microsoft.com/office/drawing/2014/main" id="{7C34B1F3-A99C-47AE-83D8-8A9F3A5E550E}"/>
              </a:ext>
            </a:extLst>
          </p:cNvPr>
          <p:cNvSpPr>
            <a:spLocks xmlns:a="http://schemas.openxmlformats.org/drawingml/2006/main" noGrp="1"/>
          </p:cNvSpPr>
          <p:nvPr/>
        </p:nvSpPr>
        <p:spPr>
          <a:xfrm xmlns:a="http://schemas.openxmlformats.org/drawingml/2006/main">
            <a:off x="7000875" y="1476375"/>
            <a:ext cx="2857500" cy="1047750"/>
          </a:xfrm>
          <a:prstGeom xmlns:a="http://schemas.openxmlformats.org/drawingml/2006/main" prst="roundRect">
            <a:avLst>
              <a:gd name="adj" fmla="val 7273"/>
            </a:avLst>
          </a:prstGeom>
          <a:solidFill xmlns:a="http://schemas.openxmlformats.org/drawingml/2006/main">
            <a:srgbClr val="C6DAFC"/>
          </a:solidFill>
          <a:ln xmlns:a="http://schemas.openxmlformats.org/drawingml/2006/main" w="0">
            <a:solidFill>
              <a:srgbClr val="C6DAFC"/>
            </a:solidFill>
            <a:prstDash val="solid"/>
          </a:ln>
        </p:spPr>
      </p:sp>
      <p:sp>
        <p:nvSpPr>
          <p:cNvPr id="8" name="">
            <a:extLst xmlns:a="http://schemas.openxmlformats.org/drawingml/2006/main">
              <a:ext uri="{FF2B5EF4-FFF2-40B4-BE49-F238E27FC236}">
                <a16:creationId xmlns:a16="http://schemas.microsoft.com/office/drawing/2014/main" id="{197B3233-E61B-49E7-869D-6E14FDE0EEDB}"/>
              </a:ext>
            </a:extLst>
          </p:cNvPr>
          <p:cNvSpPr>
            <a:spLocks xmlns:a="http://schemas.openxmlformats.org/drawingml/2006/main" noGrp="1"/>
          </p:cNvSpPr>
          <p:nvPr/>
        </p:nvSpPr>
        <p:spPr>
          <a:xfrm xmlns:a="http://schemas.openxmlformats.org/drawingml/2006/main">
            <a:off x="7286625" y="16764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617"/>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Frozen base model</a:t>
            </a:r>
          </a:p>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parameters do not change</a:t>
            </a:r>
          </a:p>
        </p:txBody>
      </p:sp>
      <p:sp>
        <p:nvSpPr>
          <p:cNvPr id="9" name="">
            <a:extLst xmlns:a="http://schemas.openxmlformats.org/drawingml/2006/main">
              <a:ext uri="{FF2B5EF4-FFF2-40B4-BE49-F238E27FC236}">
                <a16:creationId xmlns:a16="http://schemas.microsoft.com/office/drawing/2014/main" id="{19BC9AC3-14BD-46E4-9C08-9F9F9D1F86D7}"/>
              </a:ext>
            </a:extLst>
          </p:cNvPr>
          <p:cNvSpPr>
            <a:spLocks xmlns:a="http://schemas.openxmlformats.org/drawingml/2006/main" noGrp="1"/>
          </p:cNvSpPr>
          <p:nvPr/>
        </p:nvSpPr>
        <p:spPr>
          <a:xfrm xmlns:a="http://schemas.openxmlformats.org/drawingml/2006/main">
            <a:off x="10001250" y="17145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0" name="">
            <a:extLst xmlns:a="http://schemas.openxmlformats.org/drawingml/2006/main">
              <a:ext uri="{FF2B5EF4-FFF2-40B4-BE49-F238E27FC236}">
                <a16:creationId xmlns:a16="http://schemas.microsoft.com/office/drawing/2014/main" id="{7A1945E4-A0FE-449D-84CE-EFECFCD73F97}"/>
              </a:ext>
            </a:extLst>
          </p:cNvPr>
          <p:cNvSpPr>
            <a:spLocks xmlns:a="http://schemas.openxmlformats.org/drawingml/2006/main" noGrp="1"/>
          </p:cNvSpPr>
          <p:nvPr/>
        </p:nvSpPr>
        <p:spPr>
          <a:xfrm xmlns:a="http://schemas.openxmlformats.org/drawingml/2006/main">
            <a:off x="10572750" y="1666875"/>
            <a:ext cx="1143000" cy="666750"/>
          </a:xfrm>
          <a:prstGeom xmlns:a="http://schemas.openxmlformats.org/drawingml/2006/main" prst="roundRect">
            <a:avLst>
              <a:gd name="adj" fmla="val 11429"/>
            </a:avLst>
          </a:prstGeom>
          <a:solidFill xmlns:a="http://schemas.openxmlformats.org/drawingml/2006/main">
            <a:srgbClr val="FDEFC3"/>
          </a:solidFill>
          <a:ln xmlns:a="http://schemas.openxmlformats.org/drawingml/2006/main" w="0">
            <a:solidFill>
              <a:srgbClr val="FDEFC3"/>
            </a:solidFill>
            <a:prstDash val="solid"/>
          </a:ln>
        </p:spPr>
      </p:sp>
      <p:sp>
        <p:nvSpPr>
          <p:cNvPr id="11" name="">
            <a:extLst xmlns:a="http://schemas.openxmlformats.org/drawingml/2006/main">
              <a:ext uri="{FF2B5EF4-FFF2-40B4-BE49-F238E27FC236}">
                <a16:creationId xmlns:a16="http://schemas.microsoft.com/office/drawing/2014/main" id="{D4337DCA-CA56-40BF-AC02-8AE60FCFCB27}"/>
              </a:ext>
            </a:extLst>
          </p:cNvPr>
          <p:cNvSpPr>
            <a:spLocks xmlns:a="http://schemas.openxmlformats.org/drawingml/2006/main" noGrp="1"/>
          </p:cNvSpPr>
          <p:nvPr/>
        </p:nvSpPr>
        <p:spPr>
          <a:xfrm xmlns:a="http://schemas.openxmlformats.org/drawingml/2006/main">
            <a:off x="10725150" y="1762125"/>
            <a:ext cx="838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000000"/>
                </a:solidFill>
                <a:latin typeface="Google Sans Text"/>
                <a:ea typeface="Google Sans Text"/>
                <a:cs typeface="Google Sans Text"/>
              </a:defRPr>
            </a:pPr>
            <a:r>
              <a:rPr sz="1350" b="1">
                <a:solidFill>
                  <a:srgbClr val="000000"/>
                </a:solidFill>
                <a:latin typeface="Google Sans Text"/>
                <a:ea typeface="Google Sans Text"/>
                <a:cs typeface="Google Sans Text"/>
              </a:rPr>
              <a:t>Task output</a:t>
            </a:r>
          </a:p>
        </p:txBody>
      </p:sp>
      <p:sp>
        <p:nvSpPr>
          <p:cNvPr id="12" name="">
            <a:extLst xmlns:a="http://schemas.openxmlformats.org/drawingml/2006/main">
              <a:ext uri="{FF2B5EF4-FFF2-40B4-BE49-F238E27FC236}">
                <a16:creationId xmlns:a16="http://schemas.microsoft.com/office/drawing/2014/main" id="{554B04AE-7839-468E-8A6D-602F17301084}"/>
              </a:ext>
            </a:extLst>
          </p:cNvPr>
          <p:cNvSpPr>
            <a:spLocks xmlns:a="http://schemas.openxmlformats.org/drawingml/2006/main" noGrp="1"/>
          </p:cNvSpPr>
          <p:nvPr/>
        </p:nvSpPr>
        <p:spPr>
          <a:xfrm xmlns:a="http://schemas.openxmlformats.org/drawingml/2006/main">
            <a:off x="1095375" y="3190875"/>
            <a:ext cx="10001250" cy="19050"/>
          </a:xfrm>
          <a:prstGeom xmlns:a="http://schemas.openxmlformats.org/drawingml/2006/main" prst="rect">
            <a:avLst/>
          </a:prstGeom>
          <a:solidFill xmlns:a="http://schemas.openxmlformats.org/drawingml/2006/main">
            <a:srgbClr val="DADCE0"/>
          </a:solidFill>
          <a:ln xmlns:a="http://schemas.openxmlformats.org/drawingml/2006/main" w="0">
            <a:solidFill>
              <a:srgbClr val="DADCE0"/>
            </a:solidFill>
            <a:prstDash val="solid"/>
          </a:ln>
        </p:spPr>
      </p:sp>
      <p:sp>
        <p:nvSpPr>
          <p:cNvPr id="13" name="">
            <a:extLst xmlns:a="http://schemas.openxmlformats.org/drawingml/2006/main">
              <a:ext uri="{FF2B5EF4-FFF2-40B4-BE49-F238E27FC236}">
                <a16:creationId xmlns:a16="http://schemas.microsoft.com/office/drawing/2014/main" id="{B86A5236-95AA-476F-AE89-6F3E7028D872}"/>
              </a:ext>
            </a:extLst>
          </p:cNvPr>
          <p:cNvSpPr>
            <a:spLocks xmlns:a="http://schemas.openxmlformats.org/drawingml/2006/main" noGrp="1"/>
          </p:cNvSpPr>
          <p:nvPr/>
        </p:nvSpPr>
        <p:spPr>
          <a:xfrm xmlns:a="http://schemas.openxmlformats.org/drawingml/2006/main">
            <a:off x="1190625" y="3667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What prompt tuning is</a:t>
            </a:r>
          </a:p>
        </p:txBody>
      </p:sp>
      <p:sp>
        <p:nvSpPr>
          <p:cNvPr id="14" name="">
            <a:extLst xmlns:a="http://schemas.openxmlformats.org/drawingml/2006/main">
              <a:ext uri="{FF2B5EF4-FFF2-40B4-BE49-F238E27FC236}">
                <a16:creationId xmlns:a16="http://schemas.microsoft.com/office/drawing/2014/main" id="{C3FD0974-7521-4C65-81B9-30C3137F0DCA}"/>
              </a:ext>
            </a:extLst>
          </p:cNvPr>
          <p:cNvSpPr>
            <a:spLocks xmlns:a="http://schemas.openxmlformats.org/drawingml/2006/main" noGrp="1"/>
          </p:cNvSpPr>
          <p:nvPr/>
        </p:nvSpPr>
        <p:spPr>
          <a:xfrm xmlns:a="http://schemas.openxmlformats.org/drawingml/2006/main">
            <a:off x="1314450" y="43719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5" name="">
            <a:extLst xmlns:a="http://schemas.openxmlformats.org/drawingml/2006/main">
              <a:ext uri="{FF2B5EF4-FFF2-40B4-BE49-F238E27FC236}">
                <a16:creationId xmlns:a16="http://schemas.microsoft.com/office/drawing/2014/main" id="{69E79C07-31A5-45B4-B19E-0EA7752DB672}"/>
              </a:ext>
            </a:extLst>
          </p:cNvPr>
          <p:cNvSpPr>
            <a:spLocks xmlns:a="http://schemas.openxmlformats.org/drawingml/2006/main" noGrp="1"/>
          </p:cNvSpPr>
          <p:nvPr/>
        </p:nvSpPr>
        <p:spPr>
          <a:xfrm xmlns:a="http://schemas.openxmlformats.org/drawingml/2006/main">
            <a:off x="1543050" y="42862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A training method</a:t>
            </a:r>
          </a:p>
        </p:txBody>
      </p:sp>
      <p:sp>
        <p:nvSpPr>
          <p:cNvPr id="16" name="">
            <a:extLst xmlns:a="http://schemas.openxmlformats.org/drawingml/2006/main">
              <a:ext uri="{FF2B5EF4-FFF2-40B4-BE49-F238E27FC236}">
                <a16:creationId xmlns:a16="http://schemas.microsoft.com/office/drawing/2014/main" id="{A580A920-1EE1-4776-B1C0-38C563FD548B}"/>
              </a:ext>
            </a:extLst>
          </p:cNvPr>
          <p:cNvSpPr>
            <a:spLocks xmlns:a="http://schemas.openxmlformats.org/drawingml/2006/main" noGrp="1"/>
          </p:cNvSpPr>
          <p:nvPr/>
        </p:nvSpPr>
        <p:spPr>
          <a:xfrm xmlns:a="http://schemas.openxmlformats.org/drawingml/2006/main">
            <a:off x="1314450" y="48672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7" name="">
            <a:extLst xmlns:a="http://schemas.openxmlformats.org/drawingml/2006/main">
              <a:ext uri="{FF2B5EF4-FFF2-40B4-BE49-F238E27FC236}">
                <a16:creationId xmlns:a16="http://schemas.microsoft.com/office/drawing/2014/main" id="{8C111634-46AE-4A71-A81A-F7407281869B}"/>
              </a:ext>
            </a:extLst>
          </p:cNvPr>
          <p:cNvSpPr>
            <a:spLocks xmlns:a="http://schemas.openxmlformats.org/drawingml/2006/main" noGrp="1"/>
          </p:cNvSpPr>
          <p:nvPr/>
        </p:nvSpPr>
        <p:spPr>
          <a:xfrm xmlns:a="http://schemas.openxmlformats.org/drawingml/2006/main">
            <a:off x="1543050" y="47815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Compact learned vectors</a:t>
            </a:r>
          </a:p>
        </p:txBody>
      </p:sp>
      <p:sp>
        <p:nvSpPr>
          <p:cNvPr id="18" name="">
            <a:extLst xmlns:a="http://schemas.openxmlformats.org/drawingml/2006/main">
              <a:ext uri="{FF2B5EF4-FFF2-40B4-BE49-F238E27FC236}">
                <a16:creationId xmlns:a16="http://schemas.microsoft.com/office/drawing/2014/main" id="{E385D8BA-F456-4354-A324-3E1483F3973B}"/>
              </a:ext>
            </a:extLst>
          </p:cNvPr>
          <p:cNvSpPr>
            <a:spLocks xmlns:a="http://schemas.openxmlformats.org/drawingml/2006/main" noGrp="1"/>
          </p:cNvSpPr>
          <p:nvPr/>
        </p:nvSpPr>
        <p:spPr>
          <a:xfrm xmlns:a="http://schemas.openxmlformats.org/drawingml/2006/main">
            <a:off x="1314450" y="53625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9" name="">
            <a:extLst xmlns:a="http://schemas.openxmlformats.org/drawingml/2006/main">
              <a:ext uri="{FF2B5EF4-FFF2-40B4-BE49-F238E27FC236}">
                <a16:creationId xmlns:a16="http://schemas.microsoft.com/office/drawing/2014/main" id="{3F2C9526-AF8E-401C-BD23-84417BDCB775}"/>
              </a:ext>
            </a:extLst>
          </p:cNvPr>
          <p:cNvSpPr>
            <a:spLocks xmlns:a="http://schemas.openxmlformats.org/drawingml/2006/main" noGrp="1"/>
          </p:cNvSpPr>
          <p:nvPr/>
        </p:nvSpPr>
        <p:spPr>
          <a:xfrm xmlns:a="http://schemas.openxmlformats.org/drawingml/2006/main">
            <a:off x="1543050" y="52768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Reusable for a stable task</a:t>
            </a:r>
          </a:p>
        </p:txBody>
      </p:sp>
      <p:sp>
        <p:nvSpPr>
          <p:cNvPr id="20" name="">
            <a:extLst xmlns:a="http://schemas.openxmlformats.org/drawingml/2006/main">
              <a:ext uri="{FF2B5EF4-FFF2-40B4-BE49-F238E27FC236}">
                <a16:creationId xmlns:a16="http://schemas.microsoft.com/office/drawing/2014/main" id="{F095B5FA-4CCB-4FD4-9F1A-CA3EF5E3C8C7}"/>
              </a:ext>
            </a:extLst>
          </p:cNvPr>
          <p:cNvSpPr>
            <a:spLocks xmlns:a="http://schemas.openxmlformats.org/drawingml/2006/main" noGrp="1"/>
          </p:cNvSpPr>
          <p:nvPr/>
        </p:nvSpPr>
        <p:spPr>
          <a:xfrm xmlns:a="http://schemas.openxmlformats.org/drawingml/2006/main">
            <a:off x="6858000" y="36671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What prompt tuning is not</a:t>
            </a:r>
          </a:p>
        </p:txBody>
      </p:sp>
      <p:sp>
        <p:nvSpPr>
          <p:cNvPr id="21" name="">
            <a:extLst xmlns:a="http://schemas.openxmlformats.org/drawingml/2006/main">
              <a:ext uri="{FF2B5EF4-FFF2-40B4-BE49-F238E27FC236}">
                <a16:creationId xmlns:a16="http://schemas.microsoft.com/office/drawing/2014/main" id="{4210456B-40BD-46C9-B365-2CF0BF339615}"/>
              </a:ext>
            </a:extLst>
          </p:cNvPr>
          <p:cNvSpPr>
            <a:spLocks xmlns:a="http://schemas.openxmlformats.org/drawingml/2006/main" noGrp="1"/>
          </p:cNvSpPr>
          <p:nvPr/>
        </p:nvSpPr>
        <p:spPr>
          <a:xfrm xmlns:a="http://schemas.openxmlformats.org/drawingml/2006/main">
            <a:off x="6981825" y="4371975"/>
            <a:ext cx="104775" cy="104775"/>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22" name="">
            <a:extLst xmlns:a="http://schemas.openxmlformats.org/drawingml/2006/main">
              <a:ext uri="{FF2B5EF4-FFF2-40B4-BE49-F238E27FC236}">
                <a16:creationId xmlns:a16="http://schemas.microsoft.com/office/drawing/2014/main" id="{7364C3C8-5E69-40E1-8091-5FDE2047CE04}"/>
              </a:ext>
            </a:extLst>
          </p:cNvPr>
          <p:cNvSpPr>
            <a:spLocks xmlns:a="http://schemas.openxmlformats.org/drawingml/2006/main" noGrp="1"/>
          </p:cNvSpPr>
          <p:nvPr/>
        </p:nvSpPr>
        <p:spPr>
          <a:xfrm xmlns:a="http://schemas.openxmlformats.org/drawingml/2006/main">
            <a:off x="7210425" y="42862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Rewriting natural-language prompts</a:t>
            </a:r>
          </a:p>
        </p:txBody>
      </p:sp>
      <p:sp>
        <p:nvSpPr>
          <p:cNvPr id="23" name="">
            <a:extLst xmlns:a="http://schemas.openxmlformats.org/drawingml/2006/main">
              <a:ext uri="{FF2B5EF4-FFF2-40B4-BE49-F238E27FC236}">
                <a16:creationId xmlns:a16="http://schemas.microsoft.com/office/drawing/2014/main" id="{D5329920-CECA-40C2-9236-EC5BFB6032F4}"/>
              </a:ext>
            </a:extLst>
          </p:cNvPr>
          <p:cNvSpPr>
            <a:spLocks xmlns:a="http://schemas.openxmlformats.org/drawingml/2006/main" noGrp="1"/>
          </p:cNvSpPr>
          <p:nvPr/>
        </p:nvSpPr>
        <p:spPr>
          <a:xfrm xmlns:a="http://schemas.openxmlformats.org/drawingml/2006/main">
            <a:off x="6981825" y="4867275"/>
            <a:ext cx="104775" cy="104775"/>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24" name="">
            <a:extLst xmlns:a="http://schemas.openxmlformats.org/drawingml/2006/main">
              <a:ext uri="{FF2B5EF4-FFF2-40B4-BE49-F238E27FC236}">
                <a16:creationId xmlns:a16="http://schemas.microsoft.com/office/drawing/2014/main" id="{80958D9F-C6D6-4744-850A-B16D3FC0AE81}"/>
              </a:ext>
            </a:extLst>
          </p:cNvPr>
          <p:cNvSpPr>
            <a:spLocks xmlns:a="http://schemas.openxmlformats.org/drawingml/2006/main" noGrp="1"/>
          </p:cNvSpPr>
          <p:nvPr/>
        </p:nvSpPr>
        <p:spPr>
          <a:xfrm xmlns:a="http://schemas.openxmlformats.org/drawingml/2006/main">
            <a:off x="7210425" y="47815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Adding one example manually</a:t>
            </a:r>
          </a:p>
        </p:txBody>
      </p:sp>
      <p:sp>
        <p:nvSpPr>
          <p:cNvPr id="25" name="">
            <a:extLst xmlns:a="http://schemas.openxmlformats.org/drawingml/2006/main">
              <a:ext uri="{FF2B5EF4-FFF2-40B4-BE49-F238E27FC236}">
                <a16:creationId xmlns:a16="http://schemas.microsoft.com/office/drawing/2014/main" id="{64E430AB-1C44-43C4-971C-ECA7A6EEC110}"/>
              </a:ext>
            </a:extLst>
          </p:cNvPr>
          <p:cNvSpPr>
            <a:spLocks xmlns:a="http://schemas.openxmlformats.org/drawingml/2006/main" noGrp="1"/>
          </p:cNvSpPr>
          <p:nvPr/>
        </p:nvSpPr>
        <p:spPr>
          <a:xfrm xmlns:a="http://schemas.openxmlformats.org/drawingml/2006/main">
            <a:off x="6981825" y="5362575"/>
            <a:ext cx="104775" cy="104775"/>
          </a:xfrm>
          <a:prstGeom xmlns:a="http://schemas.openxmlformats.org/drawingml/2006/main" prst="ellipse">
            <a:avLst/>
          </a:prstGeom>
          <a:solidFill xmlns:a="http://schemas.openxmlformats.org/drawingml/2006/main">
            <a:srgbClr val="D34836"/>
          </a:solidFill>
          <a:ln xmlns:a="http://schemas.openxmlformats.org/drawingml/2006/main" w="0">
            <a:solidFill>
              <a:srgbClr val="D34836"/>
            </a:solidFill>
            <a:prstDash val="solid"/>
          </a:ln>
        </p:spPr>
      </p:sp>
      <p:sp>
        <p:nvSpPr>
          <p:cNvPr id="26" name="">
            <a:extLst xmlns:a="http://schemas.openxmlformats.org/drawingml/2006/main">
              <a:ext uri="{FF2B5EF4-FFF2-40B4-BE49-F238E27FC236}">
                <a16:creationId xmlns:a16="http://schemas.microsoft.com/office/drawing/2014/main" id="{58EA6E76-FF7E-42F5-81BB-F9EC77D8CFFF}"/>
              </a:ext>
            </a:extLst>
          </p:cNvPr>
          <p:cNvSpPr>
            <a:spLocks xmlns:a="http://schemas.openxmlformats.org/drawingml/2006/main" noGrp="1"/>
          </p:cNvSpPr>
          <p:nvPr/>
        </p:nvSpPr>
        <p:spPr>
          <a:xfrm xmlns:a="http://schemas.openxmlformats.org/drawingml/2006/main">
            <a:off x="7210425" y="5276850"/>
            <a:ext cx="3867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Guaranteed support for every model</a:t>
            </a:r>
          </a:p>
        </p:txBody>
      </p:sp>
      <p:sp>
        <p:nvSpPr>
          <p:cNvPr id="27" name="">
            <a:extLst xmlns:a="http://schemas.openxmlformats.org/drawingml/2006/main">
              <a:ext uri="{FF2B5EF4-FFF2-40B4-BE49-F238E27FC236}">
                <a16:creationId xmlns:a16="http://schemas.microsoft.com/office/drawing/2014/main" id="{6DE51577-9743-4CA6-94C4-0B7C8D3021CB}"/>
              </a:ext>
            </a:extLst>
          </p:cNvPr>
          <p:cNvSpPr>
            <a:spLocks xmlns:a="http://schemas.openxmlformats.org/drawingml/2006/main" noGrp="1"/>
          </p:cNvSpPr>
          <p:nvPr/>
        </p:nvSpPr>
        <p:spPr>
          <a:xfrm xmlns:a="http://schemas.openxmlformats.org/drawingml/2006/main">
            <a:off x="3238500" y="60007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Check current model support before planning a tuning activity.</a:t>
            </a:r>
          </a:p>
        </p:txBody>
      </p:sp>
    </p:spTree>
    <p:extLst>
      <p:ext uri="{BB962C8B-B14F-4D97-AF65-F5344CB8AC3E}">
        <p14:creationId xmlns:p14="http://schemas.microsoft.com/office/powerpoint/2010/main" val="62793270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E3764B6-14BD-4211-97F8-820A090ECBC4}"/>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Improve the application in the least expensive order</a:t>
            </a:r>
          </a:p>
        </p:txBody>
      </p:sp>
      <p:sp>
        <p:nvSpPr>
          <p:cNvPr id="2" name="">
            <a:extLst xmlns:a="http://schemas.openxmlformats.org/drawingml/2006/main">
              <a:ext uri="{FF2B5EF4-FFF2-40B4-BE49-F238E27FC236}">
                <a16:creationId xmlns:a16="http://schemas.microsoft.com/office/drawing/2014/main" id="{EF9D91AD-E643-4F81-8F7B-A354A81E2C71}"/>
              </a:ext>
            </a:extLst>
          </p:cNvPr>
          <p:cNvSpPr>
            <a:spLocks xmlns:a="http://schemas.openxmlformats.org/drawingml/2006/main" noGrp="1"/>
          </p:cNvSpPr>
          <p:nvPr/>
        </p:nvSpPr>
        <p:spPr>
          <a:xfrm xmlns:a="http://schemas.openxmlformats.org/drawingml/2006/main">
            <a:off x="647700" y="1952625"/>
            <a:ext cx="2428875" cy="2333625"/>
          </a:xfrm>
          <a:prstGeom xmlns:a="http://schemas.openxmlformats.org/drawingml/2006/main" prst="roundRect">
            <a:avLst>
              <a:gd name="adj" fmla="val 3265"/>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5D87B4C0-2C73-479D-BCDB-80E18CFCB4D8}"/>
              </a:ext>
            </a:extLst>
          </p:cNvPr>
          <p:cNvSpPr>
            <a:spLocks xmlns:a="http://schemas.openxmlformats.org/drawingml/2006/main" noGrp="1"/>
          </p:cNvSpPr>
          <p:nvPr/>
        </p:nvSpPr>
        <p:spPr>
          <a:xfrm xmlns:a="http://schemas.openxmlformats.org/drawingml/2006/main">
            <a:off x="1571625" y="2190750"/>
            <a:ext cx="571500" cy="5715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650" b="1">
                <a:solidFill>
                  <a:srgbClr val="FFFFFF"/>
                </a:solidFill>
                <a:latin typeface="Google Sans Medium"/>
                <a:ea typeface="Google Sans Medium"/>
                <a:cs typeface="Google Sans Medium"/>
              </a:defRPr>
            </a:pPr>
            <a:r>
              <a:rPr sz="1650" b="1">
                <a:solidFill>
                  <a:srgbClr val="FFFFFF"/>
                </a:solidFill>
                <a:latin typeface="Google Sans Medium"/>
                <a:ea typeface="Google Sans Medium"/>
                <a:cs typeface="Google Sans Medium"/>
              </a:rPr>
              <a:t>1</a:t>
            </a:r>
          </a:p>
        </p:txBody>
      </p:sp>
      <p:sp>
        <p:nvSpPr>
          <p:cNvPr id="4" name="">
            <a:extLst xmlns:a="http://schemas.openxmlformats.org/drawingml/2006/main">
              <a:ext uri="{FF2B5EF4-FFF2-40B4-BE49-F238E27FC236}">
                <a16:creationId xmlns:a16="http://schemas.microsoft.com/office/drawing/2014/main" id="{32258EE9-052D-453C-9537-0364B1EF2106}"/>
              </a:ext>
            </a:extLst>
          </p:cNvPr>
          <p:cNvSpPr>
            <a:spLocks xmlns:a="http://schemas.openxmlformats.org/drawingml/2006/main" noGrp="1"/>
          </p:cNvSpPr>
          <p:nvPr/>
        </p:nvSpPr>
        <p:spPr>
          <a:xfrm xmlns:a="http://schemas.openxmlformats.org/drawingml/2006/main">
            <a:off x="838200" y="3000375"/>
            <a:ext cx="204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Prompt</a:t>
            </a:r>
          </a:p>
        </p:txBody>
      </p:sp>
      <p:sp>
        <p:nvSpPr>
          <p:cNvPr id="5" name="">
            <a:extLst xmlns:a="http://schemas.openxmlformats.org/drawingml/2006/main">
              <a:ext uri="{FF2B5EF4-FFF2-40B4-BE49-F238E27FC236}">
                <a16:creationId xmlns:a16="http://schemas.microsoft.com/office/drawing/2014/main" id="{8C94F576-A3C5-4C9D-A713-459E613EB826}"/>
              </a:ext>
            </a:extLst>
          </p:cNvPr>
          <p:cNvSpPr>
            <a:spLocks xmlns:a="http://schemas.openxmlformats.org/drawingml/2006/main" noGrp="1"/>
          </p:cNvSpPr>
          <p:nvPr/>
        </p:nvSpPr>
        <p:spPr>
          <a:xfrm xmlns:a="http://schemas.openxmlformats.org/drawingml/2006/main">
            <a:off x="876300" y="3524250"/>
            <a:ext cx="19716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75"/>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Clarify task, context, examples, and output format</a:t>
            </a:r>
          </a:p>
        </p:txBody>
      </p:sp>
      <p:sp>
        <p:nvSpPr>
          <p:cNvPr id="6" name="">
            <a:extLst xmlns:a="http://schemas.openxmlformats.org/drawingml/2006/main">
              <a:ext uri="{FF2B5EF4-FFF2-40B4-BE49-F238E27FC236}">
                <a16:creationId xmlns:a16="http://schemas.microsoft.com/office/drawing/2014/main" id="{AEEA3CBA-313B-4B1E-B657-3FBF510ABBDF}"/>
              </a:ext>
            </a:extLst>
          </p:cNvPr>
          <p:cNvSpPr>
            <a:spLocks xmlns:a="http://schemas.openxmlformats.org/drawingml/2006/main" noGrp="1"/>
          </p:cNvSpPr>
          <p:nvPr/>
        </p:nvSpPr>
        <p:spPr>
          <a:xfrm xmlns:a="http://schemas.openxmlformats.org/drawingml/2006/main">
            <a:off x="3095625" y="29337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7" name="">
            <a:extLst xmlns:a="http://schemas.openxmlformats.org/drawingml/2006/main">
              <a:ext uri="{FF2B5EF4-FFF2-40B4-BE49-F238E27FC236}">
                <a16:creationId xmlns:a16="http://schemas.microsoft.com/office/drawing/2014/main" id="{642D14E7-3D5C-401A-B920-7C79ACE1C15B}"/>
              </a:ext>
            </a:extLst>
          </p:cNvPr>
          <p:cNvSpPr>
            <a:spLocks xmlns:a="http://schemas.openxmlformats.org/drawingml/2006/main" noGrp="1"/>
          </p:cNvSpPr>
          <p:nvPr/>
        </p:nvSpPr>
        <p:spPr>
          <a:xfrm xmlns:a="http://schemas.openxmlformats.org/drawingml/2006/main">
            <a:off x="3533775" y="1952625"/>
            <a:ext cx="2428875" cy="2333625"/>
          </a:xfrm>
          <a:prstGeom xmlns:a="http://schemas.openxmlformats.org/drawingml/2006/main" prst="roundRect">
            <a:avLst>
              <a:gd name="adj" fmla="val 3265"/>
            </a:avLst>
          </a:prstGeom>
          <a:solidFill xmlns:a="http://schemas.openxmlformats.org/drawingml/2006/main">
            <a:srgbClr val="FDEFC3"/>
          </a:solidFill>
          <a:ln xmlns:a="http://schemas.openxmlformats.org/drawingml/2006/main" w="0">
            <a:solidFill>
              <a:srgbClr val="FDEFC3"/>
            </a:solidFill>
            <a:prstDash val="solid"/>
          </a:ln>
        </p:spPr>
      </p:sp>
      <p:sp>
        <p:nvSpPr>
          <p:cNvPr id="8" name="">
            <a:extLst xmlns:a="http://schemas.openxmlformats.org/drawingml/2006/main">
              <a:ext uri="{FF2B5EF4-FFF2-40B4-BE49-F238E27FC236}">
                <a16:creationId xmlns:a16="http://schemas.microsoft.com/office/drawing/2014/main" id="{B83DA508-7A30-4E1E-9FF7-0D6B3542323C}"/>
              </a:ext>
            </a:extLst>
          </p:cNvPr>
          <p:cNvSpPr>
            <a:spLocks xmlns:a="http://schemas.openxmlformats.org/drawingml/2006/main" noGrp="1"/>
          </p:cNvSpPr>
          <p:nvPr/>
        </p:nvSpPr>
        <p:spPr>
          <a:xfrm xmlns:a="http://schemas.openxmlformats.org/drawingml/2006/main">
            <a:off x="4457700" y="2190750"/>
            <a:ext cx="571500" cy="5715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650" b="1">
                <a:solidFill>
                  <a:srgbClr val="FFFFFF"/>
                </a:solidFill>
                <a:latin typeface="Google Sans Medium"/>
                <a:ea typeface="Google Sans Medium"/>
                <a:cs typeface="Google Sans Medium"/>
              </a:defRPr>
            </a:pPr>
            <a:r>
              <a:rPr sz="1650" b="1">
                <a:solidFill>
                  <a:srgbClr val="FFFFFF"/>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100D1E4D-EE95-42F1-8F20-5F0BC94D14B7}"/>
              </a:ext>
            </a:extLst>
          </p:cNvPr>
          <p:cNvSpPr>
            <a:spLocks xmlns:a="http://schemas.openxmlformats.org/drawingml/2006/main" noGrp="1"/>
          </p:cNvSpPr>
          <p:nvPr/>
        </p:nvSpPr>
        <p:spPr>
          <a:xfrm xmlns:a="http://schemas.openxmlformats.org/drawingml/2006/main">
            <a:off x="3724275" y="3000375"/>
            <a:ext cx="204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Ground</a:t>
            </a:r>
          </a:p>
        </p:txBody>
      </p:sp>
      <p:sp>
        <p:nvSpPr>
          <p:cNvPr id="10" name="">
            <a:extLst xmlns:a="http://schemas.openxmlformats.org/drawingml/2006/main">
              <a:ext uri="{FF2B5EF4-FFF2-40B4-BE49-F238E27FC236}">
                <a16:creationId xmlns:a16="http://schemas.microsoft.com/office/drawing/2014/main" id="{6599B5BB-DDB9-4334-B26A-89CCEA7E975A}"/>
              </a:ext>
            </a:extLst>
          </p:cNvPr>
          <p:cNvSpPr>
            <a:spLocks xmlns:a="http://schemas.openxmlformats.org/drawingml/2006/main" noGrp="1"/>
          </p:cNvSpPr>
          <p:nvPr/>
        </p:nvSpPr>
        <p:spPr>
          <a:xfrm xmlns:a="http://schemas.openxmlformats.org/drawingml/2006/main">
            <a:off x="3762375" y="3524250"/>
            <a:ext cx="19716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Add trusted current evidence or tools</a:t>
            </a:r>
          </a:p>
        </p:txBody>
      </p:sp>
      <p:sp>
        <p:nvSpPr>
          <p:cNvPr id="11" name="">
            <a:extLst xmlns:a="http://schemas.openxmlformats.org/drawingml/2006/main">
              <a:ext uri="{FF2B5EF4-FFF2-40B4-BE49-F238E27FC236}">
                <a16:creationId xmlns:a16="http://schemas.microsoft.com/office/drawing/2014/main" id="{939E4FAF-F64C-4CC4-999C-D8A52B7D817A}"/>
              </a:ext>
            </a:extLst>
          </p:cNvPr>
          <p:cNvSpPr>
            <a:spLocks xmlns:a="http://schemas.openxmlformats.org/drawingml/2006/main" noGrp="1"/>
          </p:cNvSpPr>
          <p:nvPr/>
        </p:nvSpPr>
        <p:spPr>
          <a:xfrm xmlns:a="http://schemas.openxmlformats.org/drawingml/2006/main">
            <a:off x="5981700" y="29337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12" name="">
            <a:extLst xmlns:a="http://schemas.openxmlformats.org/drawingml/2006/main">
              <a:ext uri="{FF2B5EF4-FFF2-40B4-BE49-F238E27FC236}">
                <a16:creationId xmlns:a16="http://schemas.microsoft.com/office/drawing/2014/main" id="{1E8F3054-FF4F-4FA8-B5FD-4BBED3197CF7}"/>
              </a:ext>
            </a:extLst>
          </p:cNvPr>
          <p:cNvSpPr>
            <a:spLocks xmlns:a="http://schemas.openxmlformats.org/drawingml/2006/main" noGrp="1"/>
          </p:cNvSpPr>
          <p:nvPr/>
        </p:nvSpPr>
        <p:spPr>
          <a:xfrm xmlns:a="http://schemas.openxmlformats.org/drawingml/2006/main">
            <a:off x="6419850" y="1952625"/>
            <a:ext cx="2428875" cy="2333625"/>
          </a:xfrm>
          <a:prstGeom xmlns:a="http://schemas.openxmlformats.org/drawingml/2006/main" prst="roundRect">
            <a:avLst>
              <a:gd name="adj" fmla="val 3265"/>
            </a:avLst>
          </a:prstGeom>
          <a:solidFill xmlns:a="http://schemas.openxmlformats.org/drawingml/2006/main">
            <a:srgbClr val="F5C7C9"/>
          </a:solidFill>
          <a:ln xmlns:a="http://schemas.openxmlformats.org/drawingml/2006/main" w="0">
            <a:solidFill>
              <a:srgbClr val="F5C7C9"/>
            </a:solidFill>
            <a:prstDash val="solid"/>
          </a:ln>
        </p:spPr>
      </p:sp>
      <p:sp>
        <p:nvSpPr>
          <p:cNvPr id="13" name="">
            <a:extLst xmlns:a="http://schemas.openxmlformats.org/drawingml/2006/main">
              <a:ext uri="{FF2B5EF4-FFF2-40B4-BE49-F238E27FC236}">
                <a16:creationId xmlns:a16="http://schemas.microsoft.com/office/drawing/2014/main" id="{8B4B7C4B-9023-4E6C-8D83-B7E1F6800636}"/>
              </a:ext>
            </a:extLst>
          </p:cNvPr>
          <p:cNvSpPr>
            <a:spLocks xmlns:a="http://schemas.openxmlformats.org/drawingml/2006/main" noGrp="1"/>
          </p:cNvSpPr>
          <p:nvPr/>
        </p:nvSpPr>
        <p:spPr>
          <a:xfrm xmlns:a="http://schemas.openxmlformats.org/drawingml/2006/main">
            <a:off x="7343775" y="2190750"/>
            <a:ext cx="571500" cy="5715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650" b="1">
                <a:solidFill>
                  <a:srgbClr val="FFFFFF"/>
                </a:solidFill>
                <a:latin typeface="Google Sans Medium"/>
                <a:ea typeface="Google Sans Medium"/>
                <a:cs typeface="Google Sans Medium"/>
              </a:defRPr>
            </a:pPr>
            <a:r>
              <a:rPr sz="1650" b="1">
                <a:solidFill>
                  <a:srgbClr val="FFFFFF"/>
                </a:solidFill>
                <a:latin typeface="Google Sans Medium"/>
                <a:ea typeface="Google Sans Medium"/>
                <a:cs typeface="Google Sans Medium"/>
              </a:rPr>
              <a:t>3</a:t>
            </a:r>
          </a:p>
        </p:txBody>
      </p:sp>
      <p:sp>
        <p:nvSpPr>
          <p:cNvPr id="14" name="">
            <a:extLst xmlns:a="http://schemas.openxmlformats.org/drawingml/2006/main">
              <a:ext uri="{FF2B5EF4-FFF2-40B4-BE49-F238E27FC236}">
                <a16:creationId xmlns:a16="http://schemas.microsoft.com/office/drawing/2014/main" id="{F03D301E-1F4F-4AB8-BF30-13A24C05313C}"/>
              </a:ext>
            </a:extLst>
          </p:cNvPr>
          <p:cNvSpPr>
            <a:spLocks xmlns:a="http://schemas.openxmlformats.org/drawingml/2006/main" noGrp="1"/>
          </p:cNvSpPr>
          <p:nvPr/>
        </p:nvSpPr>
        <p:spPr>
          <a:xfrm xmlns:a="http://schemas.openxmlformats.org/drawingml/2006/main">
            <a:off x="6610350" y="3000375"/>
            <a:ext cx="204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Evaluate</a:t>
            </a:r>
          </a:p>
        </p:txBody>
      </p:sp>
      <p:sp>
        <p:nvSpPr>
          <p:cNvPr id="15" name="">
            <a:extLst xmlns:a="http://schemas.openxmlformats.org/drawingml/2006/main">
              <a:ext uri="{FF2B5EF4-FFF2-40B4-BE49-F238E27FC236}">
                <a16:creationId xmlns:a16="http://schemas.microsoft.com/office/drawing/2014/main" id="{C94764F3-6765-4C93-9240-7F41821BB67A}"/>
              </a:ext>
            </a:extLst>
          </p:cNvPr>
          <p:cNvSpPr>
            <a:spLocks xmlns:a="http://schemas.openxmlformats.org/drawingml/2006/main" noGrp="1"/>
          </p:cNvSpPr>
          <p:nvPr/>
        </p:nvSpPr>
        <p:spPr>
          <a:xfrm xmlns:a="http://schemas.openxmlformats.org/drawingml/2006/main">
            <a:off x="6648450" y="3524250"/>
            <a:ext cx="19716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Measure recurring errors on a test set</a:t>
            </a:r>
          </a:p>
        </p:txBody>
      </p:sp>
      <p:sp>
        <p:nvSpPr>
          <p:cNvPr id="16" name="">
            <a:extLst xmlns:a="http://schemas.openxmlformats.org/drawingml/2006/main">
              <a:ext uri="{FF2B5EF4-FFF2-40B4-BE49-F238E27FC236}">
                <a16:creationId xmlns:a16="http://schemas.microsoft.com/office/drawing/2014/main" id="{A53E430A-9172-4934-8C9F-24A4F5CFFBB9}"/>
              </a:ext>
            </a:extLst>
          </p:cNvPr>
          <p:cNvSpPr>
            <a:spLocks xmlns:a="http://schemas.openxmlformats.org/drawingml/2006/main" noGrp="1"/>
          </p:cNvSpPr>
          <p:nvPr/>
        </p:nvSpPr>
        <p:spPr>
          <a:xfrm xmlns:a="http://schemas.openxmlformats.org/drawingml/2006/main">
            <a:off x="8867775" y="29337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850" b="0">
                <a:solidFill>
                  <a:srgbClr val="9AA0A6"/>
                </a:solidFill>
                <a:latin typeface="Google Sans Text"/>
                <a:ea typeface="Google Sans Text"/>
                <a:cs typeface="Google Sans Text"/>
              </a:defRPr>
            </a:pPr>
            <a:r>
              <a:rPr sz="2850" b="0">
                <a:solidFill>
                  <a:srgbClr val="9AA0A6"/>
                </a:solidFill>
                <a:latin typeface="Google Sans Text"/>
                <a:ea typeface="Google Sans Text"/>
                <a:cs typeface="Google Sans Text"/>
              </a:rPr>
              <a:t>›</a:t>
            </a:r>
          </a:p>
        </p:txBody>
      </p:sp>
      <p:sp>
        <p:nvSpPr>
          <p:cNvPr id="17" name="">
            <a:extLst xmlns:a="http://schemas.openxmlformats.org/drawingml/2006/main">
              <a:ext uri="{FF2B5EF4-FFF2-40B4-BE49-F238E27FC236}">
                <a16:creationId xmlns:a16="http://schemas.microsoft.com/office/drawing/2014/main" id="{79677854-50B1-4CBA-9B9D-8118A549EFD9}"/>
              </a:ext>
            </a:extLst>
          </p:cNvPr>
          <p:cNvSpPr>
            <a:spLocks xmlns:a="http://schemas.openxmlformats.org/drawingml/2006/main" noGrp="1"/>
          </p:cNvSpPr>
          <p:nvPr/>
        </p:nvSpPr>
        <p:spPr>
          <a:xfrm xmlns:a="http://schemas.openxmlformats.org/drawingml/2006/main">
            <a:off x="9305925" y="1952625"/>
            <a:ext cx="2428875" cy="2333625"/>
          </a:xfrm>
          <a:prstGeom xmlns:a="http://schemas.openxmlformats.org/drawingml/2006/main" prst="roundRect">
            <a:avLst>
              <a:gd name="adj" fmla="val 3265"/>
            </a:avLst>
          </a:prstGeom>
          <a:solidFill xmlns:a="http://schemas.openxmlformats.org/drawingml/2006/main">
            <a:srgbClr val="D0E1E5"/>
          </a:solidFill>
          <a:ln xmlns:a="http://schemas.openxmlformats.org/drawingml/2006/main" w="0">
            <a:solidFill>
              <a:srgbClr val="D0E1E5"/>
            </a:solidFill>
            <a:prstDash val="solid"/>
          </a:ln>
        </p:spPr>
      </p:sp>
      <p:sp>
        <p:nvSpPr>
          <p:cNvPr id="18" name="">
            <a:extLst xmlns:a="http://schemas.openxmlformats.org/drawingml/2006/main">
              <a:ext uri="{FF2B5EF4-FFF2-40B4-BE49-F238E27FC236}">
                <a16:creationId xmlns:a16="http://schemas.microsoft.com/office/drawing/2014/main" id="{5FE02B52-B336-4BC0-B1F9-841A03C04BA4}"/>
              </a:ext>
            </a:extLst>
          </p:cNvPr>
          <p:cNvSpPr>
            <a:spLocks xmlns:a="http://schemas.openxmlformats.org/drawingml/2006/main" noGrp="1"/>
          </p:cNvSpPr>
          <p:nvPr/>
        </p:nvSpPr>
        <p:spPr>
          <a:xfrm xmlns:a="http://schemas.openxmlformats.org/drawingml/2006/main">
            <a:off x="10229850" y="2190750"/>
            <a:ext cx="571500" cy="57150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650" b="1">
                <a:solidFill>
                  <a:srgbClr val="FFFFFF"/>
                </a:solidFill>
                <a:latin typeface="Google Sans Medium"/>
                <a:ea typeface="Google Sans Medium"/>
                <a:cs typeface="Google Sans Medium"/>
              </a:defRPr>
            </a:pPr>
            <a:r>
              <a:rPr sz="1650" b="1">
                <a:solidFill>
                  <a:srgbClr val="FFFFFF"/>
                </a:solidFill>
                <a:latin typeface="Google Sans Medium"/>
                <a:ea typeface="Google Sans Medium"/>
                <a:cs typeface="Google Sans Medium"/>
              </a:rPr>
              <a:t>4</a:t>
            </a:r>
          </a:p>
        </p:txBody>
      </p:sp>
      <p:sp>
        <p:nvSpPr>
          <p:cNvPr id="19" name="">
            <a:extLst xmlns:a="http://schemas.openxmlformats.org/drawingml/2006/main">
              <a:ext uri="{FF2B5EF4-FFF2-40B4-BE49-F238E27FC236}">
                <a16:creationId xmlns:a16="http://schemas.microsoft.com/office/drawing/2014/main" id="{CDA3CA0C-3A3C-4898-8A31-C2CCAA81B3B5}"/>
              </a:ext>
            </a:extLst>
          </p:cNvPr>
          <p:cNvSpPr>
            <a:spLocks xmlns:a="http://schemas.openxmlformats.org/drawingml/2006/main" noGrp="1"/>
          </p:cNvSpPr>
          <p:nvPr/>
        </p:nvSpPr>
        <p:spPr>
          <a:xfrm xmlns:a="http://schemas.openxmlformats.org/drawingml/2006/main">
            <a:off x="9496425" y="3000375"/>
            <a:ext cx="2047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Tune if needed</a:t>
            </a:r>
          </a:p>
        </p:txBody>
      </p:sp>
      <p:sp>
        <p:nvSpPr>
          <p:cNvPr id="20" name="">
            <a:extLst xmlns:a="http://schemas.openxmlformats.org/drawingml/2006/main">
              <a:ext uri="{FF2B5EF4-FFF2-40B4-BE49-F238E27FC236}">
                <a16:creationId xmlns:a16="http://schemas.microsoft.com/office/drawing/2014/main" id="{48D6C3A3-91E2-4165-A2BD-D13388E65F42}"/>
              </a:ext>
            </a:extLst>
          </p:cNvPr>
          <p:cNvSpPr>
            <a:spLocks xmlns:a="http://schemas.openxmlformats.org/drawingml/2006/main" noGrp="1"/>
          </p:cNvSpPr>
          <p:nvPr/>
        </p:nvSpPr>
        <p:spPr>
          <a:xfrm xmlns:a="http://schemas.openxmlformats.org/drawingml/2006/main">
            <a:off x="9534525" y="3524250"/>
            <a:ext cx="19716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91"/>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Use supported tuning with high-quality examples</a:t>
            </a:r>
          </a:p>
        </p:txBody>
      </p:sp>
      <p:sp>
        <p:nvSpPr>
          <p:cNvPr id="21" name="">
            <a:extLst xmlns:a="http://schemas.openxmlformats.org/drawingml/2006/main">
              <a:ext uri="{FF2B5EF4-FFF2-40B4-BE49-F238E27FC236}">
                <a16:creationId xmlns:a16="http://schemas.microsoft.com/office/drawing/2014/main" id="{6ACDB97C-1A24-43CF-899E-7B3F63AAD240}"/>
              </a:ext>
            </a:extLst>
          </p:cNvPr>
          <p:cNvSpPr>
            <a:spLocks xmlns:a="http://schemas.openxmlformats.org/drawingml/2006/main" noGrp="1"/>
          </p:cNvSpPr>
          <p:nvPr/>
        </p:nvSpPr>
        <p:spPr>
          <a:xfrm xmlns:a="http://schemas.openxmlformats.org/drawingml/2006/main">
            <a:off x="1952625" y="5191125"/>
            <a:ext cx="828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Every stage needs the same evaluation set so improvements can be compared fairly.</a:t>
            </a:r>
          </a:p>
        </p:txBody>
      </p:sp>
    </p:spTree>
    <p:extLst>
      <p:ext uri="{BB962C8B-B14F-4D97-AF65-F5344CB8AC3E}">
        <p14:creationId xmlns:p14="http://schemas.microsoft.com/office/powerpoint/2010/main" val="48801896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3349D37-35AF-4597-8DD2-5DA5CAAA61AA}"/>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 better prompt makes the expected output observable</a:t>
            </a:r>
          </a:p>
        </p:txBody>
      </p:sp>
      <p:sp>
        <p:nvSpPr>
          <p:cNvPr id="2" name="">
            <a:extLst xmlns:a="http://schemas.openxmlformats.org/drawingml/2006/main">
              <a:ext uri="{FF2B5EF4-FFF2-40B4-BE49-F238E27FC236}">
                <a16:creationId xmlns:a16="http://schemas.microsoft.com/office/drawing/2014/main" id="{A49304DC-EC8B-413F-AF58-4382D9A96861}"/>
              </a:ext>
            </a:extLst>
          </p:cNvPr>
          <p:cNvSpPr>
            <a:spLocks xmlns:a="http://schemas.openxmlformats.org/drawingml/2006/main" noGrp="1"/>
          </p:cNvSpPr>
          <p:nvPr/>
        </p:nvSpPr>
        <p:spPr>
          <a:xfrm xmlns:a="http://schemas.openxmlformats.org/drawingml/2006/main">
            <a:off x="1000125" y="13335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Weak prompt</a:t>
            </a:r>
          </a:p>
        </p:txBody>
      </p:sp>
      <p:sp>
        <p:nvSpPr>
          <p:cNvPr id="3" name="">
            <a:extLst xmlns:a="http://schemas.openxmlformats.org/drawingml/2006/main">
              <a:ext uri="{FF2B5EF4-FFF2-40B4-BE49-F238E27FC236}">
                <a16:creationId xmlns:a16="http://schemas.microsoft.com/office/drawing/2014/main" id="{E31E2E03-DCAD-4844-A98C-8A0E821E0083}"/>
              </a:ext>
            </a:extLst>
          </p:cNvPr>
          <p:cNvSpPr>
            <a:spLocks xmlns:a="http://schemas.openxmlformats.org/drawingml/2006/main" noGrp="1"/>
          </p:cNvSpPr>
          <p:nvPr/>
        </p:nvSpPr>
        <p:spPr>
          <a:xfrm xmlns:a="http://schemas.openxmlformats.org/drawingml/2006/main">
            <a:off x="809625" y="1857375"/>
            <a:ext cx="4572000" cy="2000250"/>
          </a:xfrm>
          <a:prstGeom xmlns:a="http://schemas.openxmlformats.org/drawingml/2006/main" prst="roundRect">
            <a:avLst>
              <a:gd name="adj" fmla="val 3810"/>
            </a:avLst>
          </a:prstGeom>
          <a:solidFill xmlns:a="http://schemas.openxmlformats.org/drawingml/2006/main">
            <a:srgbClr val="F8F8F8"/>
          </a:solidFill>
          <a:ln xmlns:a="http://schemas.openxmlformats.org/drawingml/2006/main" w="9525">
            <a:solidFill>
              <a:srgbClr val="DADCE0"/>
            </a:solidFill>
            <a:prstDash val="solid"/>
          </a:ln>
        </p:spPr>
      </p:sp>
      <p:sp>
        <p:nvSpPr>
          <p:cNvPr id="4" name="">
            <a:extLst xmlns:a="http://schemas.openxmlformats.org/drawingml/2006/main">
              <a:ext uri="{FF2B5EF4-FFF2-40B4-BE49-F238E27FC236}">
                <a16:creationId xmlns:a16="http://schemas.microsoft.com/office/drawing/2014/main" id="{F1C86FDB-C805-4545-AD35-3A9608432971}"/>
              </a:ext>
            </a:extLst>
          </p:cNvPr>
          <p:cNvSpPr>
            <a:spLocks xmlns:a="http://schemas.openxmlformats.org/drawingml/2006/main" noGrp="1"/>
          </p:cNvSpPr>
          <p:nvPr/>
        </p:nvSpPr>
        <p:spPr>
          <a:xfrm xmlns:a="http://schemas.openxmlformats.org/drawingml/2006/main">
            <a:off x="1190625" y="2524125"/>
            <a:ext cx="381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725" b="0">
                <a:solidFill>
                  <a:srgbClr val="000000"/>
                </a:solidFill>
                <a:latin typeface="Roboto Mono"/>
                <a:ea typeface="Roboto Mono"/>
                <a:cs typeface="Roboto Mono"/>
              </a:defRPr>
            </a:pPr>
            <a:r>
              <a:rPr sz="1725" b="0">
                <a:solidFill>
                  <a:srgbClr val="000000"/>
                </a:solidFill>
                <a:latin typeface="Roboto Mono"/>
                <a:ea typeface="Roboto Mono"/>
                <a:cs typeface="Roboto Mono"/>
              </a:rPr>
              <a:t>“Explain cloud security.”</a:t>
            </a:r>
          </a:p>
        </p:txBody>
      </p:sp>
      <p:sp>
        <p:nvSpPr>
          <p:cNvPr id="5" name="">
            <a:extLst xmlns:a="http://schemas.openxmlformats.org/drawingml/2006/main">
              <a:ext uri="{FF2B5EF4-FFF2-40B4-BE49-F238E27FC236}">
                <a16:creationId xmlns:a16="http://schemas.microsoft.com/office/drawing/2014/main" id="{4CA7BBE5-61A9-40A0-8B65-B039D4129D71}"/>
              </a:ext>
            </a:extLst>
          </p:cNvPr>
          <p:cNvSpPr>
            <a:spLocks xmlns:a="http://schemas.openxmlformats.org/drawingml/2006/main" noGrp="1"/>
          </p:cNvSpPr>
          <p:nvPr/>
        </p:nvSpPr>
        <p:spPr>
          <a:xfrm xmlns:a="http://schemas.openxmlformats.org/drawingml/2006/main">
            <a:off x="7096125" y="13335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Improved prompt</a:t>
            </a:r>
          </a:p>
        </p:txBody>
      </p:sp>
      <p:sp>
        <p:nvSpPr>
          <p:cNvPr id="6" name="">
            <a:extLst xmlns:a="http://schemas.openxmlformats.org/drawingml/2006/main">
              <a:ext uri="{FF2B5EF4-FFF2-40B4-BE49-F238E27FC236}">
                <a16:creationId xmlns:a16="http://schemas.microsoft.com/office/drawing/2014/main" id="{4C937A6B-1439-48EB-864D-A62BFC842104}"/>
              </a:ext>
            </a:extLst>
          </p:cNvPr>
          <p:cNvSpPr>
            <a:spLocks xmlns:a="http://schemas.openxmlformats.org/drawingml/2006/main" noGrp="1"/>
          </p:cNvSpPr>
          <p:nvPr/>
        </p:nvSpPr>
        <p:spPr>
          <a:xfrm xmlns:a="http://schemas.openxmlformats.org/drawingml/2006/main">
            <a:off x="6810375" y="1857375"/>
            <a:ext cx="4572000" cy="2667000"/>
          </a:xfrm>
          <a:prstGeom xmlns:a="http://schemas.openxmlformats.org/drawingml/2006/main" prst="roundRect">
            <a:avLst>
              <a:gd name="adj" fmla="val 2857"/>
            </a:avLst>
          </a:prstGeom>
          <a:solidFill xmlns:a="http://schemas.openxmlformats.org/drawingml/2006/main">
            <a:srgbClr val="C6DAFC"/>
          </a:solidFill>
          <a:ln xmlns:a="http://schemas.openxmlformats.org/drawingml/2006/main" w="0">
            <a:solidFill>
              <a:srgbClr val="C6DAFC"/>
            </a:solidFill>
            <a:prstDash val="solid"/>
          </a:ln>
        </p:spPr>
      </p:sp>
      <p:sp>
        <p:nvSpPr>
          <p:cNvPr id="7" name="">
            <a:extLst xmlns:a="http://schemas.openxmlformats.org/drawingml/2006/main">
              <a:ext uri="{FF2B5EF4-FFF2-40B4-BE49-F238E27FC236}">
                <a16:creationId xmlns:a16="http://schemas.microsoft.com/office/drawing/2014/main" id="{58749AB1-D74B-4E48-BB92-FF92D2E1DD6E}"/>
              </a:ext>
            </a:extLst>
          </p:cNvPr>
          <p:cNvSpPr>
            <a:spLocks xmlns:a="http://schemas.openxmlformats.org/drawingml/2006/main" noGrp="1"/>
          </p:cNvSpPr>
          <p:nvPr/>
        </p:nvSpPr>
        <p:spPr>
          <a:xfrm xmlns:a="http://schemas.openxmlformats.org/drawingml/2006/main">
            <a:off x="7191375" y="2143125"/>
            <a:ext cx="3810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Roboto Mono"/>
                <a:ea typeface="Roboto Mono"/>
                <a:cs typeface="Roboto Mono"/>
              </a:defRPr>
            </a:pPr>
            <a:r>
              <a:rPr sz="1388" b="0">
                <a:solidFill>
                  <a:srgbClr val="000000"/>
                </a:solidFill>
                <a:latin typeface="Roboto Mono"/>
                <a:ea typeface="Roboto Mono"/>
                <a:cs typeface="Roboto Mono"/>
              </a:rPr>
              <a:t>Task: Explain shared responsibility.</a:t>
            </a:r>
          </a:p>
          <a:p xmlns:a="http://schemas.openxmlformats.org/drawingml/2006/main">
            <a:pPr algn="l">
              <a:buNone/>
              <a:defRPr sz="1388" b="0">
                <a:solidFill>
                  <a:srgbClr val="000000"/>
                </a:solidFill>
                <a:latin typeface="Roboto Mono"/>
                <a:ea typeface="Roboto Mono"/>
                <a:cs typeface="Roboto Mono"/>
              </a:defRPr>
            </a:pPr>
            <a:r>
              <a:rPr sz="1388" b="0">
                <a:solidFill>
                  <a:srgbClr val="000000"/>
                </a:solidFill>
                <a:latin typeface="Roboto Mono"/>
                <a:ea typeface="Roboto Mono"/>
                <a:cs typeface="Roboto Mono"/>
              </a:rPr>
              <a:t>Audience: First-year cloud students.</a:t>
            </a:r>
          </a:p>
          <a:p xmlns:a="http://schemas.openxmlformats.org/drawingml/2006/main">
            <a:pPr algn="l">
              <a:buNone/>
              <a:defRPr sz="1388" b="0">
                <a:solidFill>
                  <a:srgbClr val="000000"/>
                </a:solidFill>
                <a:latin typeface="Roboto Mono"/>
                <a:ea typeface="Roboto Mono"/>
                <a:cs typeface="Roboto Mono"/>
              </a:defRPr>
            </a:pPr>
            <a:r>
              <a:rPr sz="1388" b="0">
                <a:solidFill>
                  <a:srgbClr val="000000"/>
                </a:solidFill>
                <a:latin typeface="Roboto Mono"/>
                <a:ea typeface="Roboto Mono"/>
                <a:cs typeface="Roboto Mono"/>
              </a:rPr>
              <a:t>Context: Use the supplied course notes only.</a:t>
            </a:r>
          </a:p>
          <a:p xmlns:a="http://schemas.openxmlformats.org/drawingml/2006/main">
            <a:pPr algn="l">
              <a:buNone/>
              <a:defRPr sz="1388" b="0">
                <a:solidFill>
                  <a:srgbClr val="000000"/>
                </a:solidFill>
                <a:latin typeface="Roboto Mono"/>
                <a:ea typeface="Roboto Mono"/>
                <a:cs typeface="Roboto Mono"/>
              </a:defRPr>
            </a:pPr>
            <a:r>
              <a:rPr sz="1388" b="0">
                <a:solidFill>
                  <a:srgbClr val="000000"/>
                </a:solidFill>
                <a:latin typeface="Roboto Mono"/>
                <a:ea typeface="Roboto Mono"/>
                <a:cs typeface="Roboto Mono"/>
              </a:rPr>
              <a:t>Output: 4 bullets + one campus example.</a:t>
            </a:r>
          </a:p>
          <a:p xmlns:a="http://schemas.openxmlformats.org/drawingml/2006/main">
            <a:pPr algn="l">
              <a:buNone/>
              <a:defRPr sz="1388" b="0">
                <a:solidFill>
                  <a:srgbClr val="000000"/>
                </a:solidFill>
                <a:latin typeface="Roboto Mono"/>
                <a:ea typeface="Roboto Mono"/>
                <a:cs typeface="Roboto Mono"/>
              </a:defRPr>
            </a:pPr>
            <a:r>
              <a:rPr sz="1388" b="0">
                <a:solidFill>
                  <a:srgbClr val="000000"/>
                </a:solidFill>
                <a:latin typeface="Roboto Mono"/>
                <a:ea typeface="Roboto Mono"/>
                <a:cs typeface="Roboto Mono"/>
              </a:rPr>
              <a:t>Constraint: Flag anything not supported by the notes.</a:t>
            </a:r>
          </a:p>
        </p:txBody>
      </p:sp>
      <p:sp>
        <p:nvSpPr>
          <p:cNvPr id="8" name="">
            <a:extLst xmlns:a="http://schemas.openxmlformats.org/drawingml/2006/main">
              <a:ext uri="{FF2B5EF4-FFF2-40B4-BE49-F238E27FC236}">
                <a16:creationId xmlns:a16="http://schemas.microsoft.com/office/drawing/2014/main" id="{A1189866-67CF-4E28-8E59-5C4514FCCE13}"/>
              </a:ext>
            </a:extLst>
          </p:cNvPr>
          <p:cNvSpPr>
            <a:spLocks xmlns:a="http://schemas.openxmlformats.org/drawingml/2006/main" noGrp="1"/>
          </p:cNvSpPr>
          <p:nvPr/>
        </p:nvSpPr>
        <p:spPr>
          <a:xfrm xmlns:a="http://schemas.openxmlformats.org/drawingml/2006/main">
            <a:off x="5734050" y="2781300"/>
            <a:ext cx="704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450" b="0">
                <a:solidFill>
                  <a:srgbClr val="4285F4"/>
                </a:solidFill>
                <a:latin typeface="Google Sans Text"/>
                <a:ea typeface="Google Sans Text"/>
                <a:cs typeface="Google Sans Text"/>
              </a:defRPr>
            </a:pPr>
            <a:r>
              <a:rPr sz="3450" b="0">
                <a:solidFill>
                  <a:srgbClr val="4285F4"/>
                </a:solidFill>
                <a:latin typeface="Google Sans Text"/>
                <a:ea typeface="Google Sans Text"/>
                <a:cs typeface="Google Sans Text"/>
              </a:rPr>
              <a:t>›</a:t>
            </a:r>
          </a:p>
        </p:txBody>
      </p:sp>
      <p:sp>
        <p:nvSpPr>
          <p:cNvPr id="9" name="">
            <a:extLst xmlns:a="http://schemas.openxmlformats.org/drawingml/2006/main">
              <a:ext uri="{FF2B5EF4-FFF2-40B4-BE49-F238E27FC236}">
                <a16:creationId xmlns:a16="http://schemas.microsoft.com/office/drawing/2014/main" id="{29522B89-3FE1-4D07-A123-CACF9A5C3EF3}"/>
              </a:ext>
            </a:extLst>
          </p:cNvPr>
          <p:cNvSpPr>
            <a:spLocks xmlns:a="http://schemas.openxmlformats.org/drawingml/2006/main" noGrp="1"/>
          </p:cNvSpPr>
          <p:nvPr/>
        </p:nvSpPr>
        <p:spPr>
          <a:xfrm xmlns:a="http://schemas.openxmlformats.org/drawingml/2006/main">
            <a:off x="2047875" y="5143500"/>
            <a:ext cx="8096250" cy="742950"/>
          </a:xfrm>
          <a:prstGeom xmlns:a="http://schemas.openxmlformats.org/drawingml/2006/main" prst="roundRect">
            <a:avLst>
              <a:gd name="adj" fmla="val 10256"/>
            </a:avLst>
          </a:prstGeom>
          <a:solidFill xmlns:a="http://schemas.openxmlformats.org/drawingml/2006/main">
            <a:srgbClr val="FDEFC3"/>
          </a:solidFill>
          <a:ln xmlns:a="http://schemas.openxmlformats.org/drawingml/2006/main" w="0">
            <a:solidFill>
              <a:srgbClr val="FDEFC3"/>
            </a:solidFill>
            <a:prstDash val="solid"/>
          </a:ln>
        </p:spPr>
      </p:sp>
      <p:sp>
        <p:nvSpPr>
          <p:cNvPr id="10" name="">
            <a:extLst xmlns:a="http://schemas.openxmlformats.org/drawingml/2006/main">
              <a:ext uri="{FF2B5EF4-FFF2-40B4-BE49-F238E27FC236}">
                <a16:creationId xmlns:a16="http://schemas.microsoft.com/office/drawing/2014/main" id="{A06E6D6E-803A-40F1-9DF7-9F09060B24CA}"/>
              </a:ext>
            </a:extLst>
          </p:cNvPr>
          <p:cNvSpPr>
            <a:spLocks xmlns:a="http://schemas.openxmlformats.org/drawingml/2006/main" noGrp="1"/>
          </p:cNvSpPr>
          <p:nvPr/>
        </p:nvSpPr>
        <p:spPr>
          <a:xfrm xmlns:a="http://schemas.openxmlformats.org/drawingml/2006/main">
            <a:off x="2333625" y="5334000"/>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05"/>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Quality becomes testable: correct concept, beginner language, four bullets, relevant example, and evidence discipline.</a:t>
            </a:r>
          </a:p>
        </p:txBody>
      </p:sp>
    </p:spTree>
    <p:extLst>
      <p:ext uri="{BB962C8B-B14F-4D97-AF65-F5344CB8AC3E}">
        <p14:creationId xmlns:p14="http://schemas.microsoft.com/office/powerpoint/2010/main" val="43644909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4B2975-56DD-4D7E-8F16-E2F3CB3BCC6E}"/>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FCC99F25-74DF-428E-A794-43ED98DCF556}"/>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05</a:t>
            </a:r>
          </a:p>
        </p:txBody>
      </p:sp>
      <p:sp>
        <p:nvSpPr>
          <p:cNvPr id="3" name="">
            <a:extLst xmlns:a="http://schemas.openxmlformats.org/drawingml/2006/main">
              <a:ext uri="{FF2B5EF4-FFF2-40B4-BE49-F238E27FC236}">
                <a16:creationId xmlns:a16="http://schemas.microsoft.com/office/drawing/2014/main" id="{FA6920F2-D398-477F-B4A2-852EEC6D9B49}"/>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9AB098F0-8298-4F3D-BCFB-F44D0658A740}"/>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Google Gen AI development tools</a:t>
            </a:r>
          </a:p>
        </p:txBody>
      </p:sp>
      <p:sp>
        <p:nvSpPr>
          <p:cNvPr id="5" name="">
            <a:extLst xmlns:a="http://schemas.openxmlformats.org/drawingml/2006/main">
              <a:ext uri="{FF2B5EF4-FFF2-40B4-BE49-F238E27FC236}">
                <a16:creationId xmlns:a16="http://schemas.microsoft.com/office/drawing/2014/main" id="{CBC1C98A-3E4C-4506-A786-C90813C9ED9B}"/>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Discover, prototype, integrate, evaluate, and practise in Google Skills</a:t>
            </a:r>
          </a:p>
        </p:txBody>
      </p:sp>
    </p:spTree>
    <p:extLst>
      <p:ext uri="{BB962C8B-B14F-4D97-AF65-F5344CB8AC3E}">
        <p14:creationId xmlns:p14="http://schemas.microsoft.com/office/powerpoint/2010/main" val="151503352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E1309C0-B414-4DEF-AC6B-77A3A1BCF5CF}"/>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Product names change; the development jobs remain familiar</a:t>
            </a:r>
          </a:p>
        </p:txBody>
      </p:sp>
      <p:sp>
        <p:nvSpPr>
          <p:cNvPr id="2" name="">
            <a:extLst xmlns:a="http://schemas.openxmlformats.org/drawingml/2006/main">
              <a:ext uri="{FF2B5EF4-FFF2-40B4-BE49-F238E27FC236}">
                <a16:creationId xmlns:a16="http://schemas.microsoft.com/office/drawing/2014/main" id="{2CDB8145-8933-4922-9E4C-210758D7DD69}"/>
              </a:ext>
            </a:extLst>
          </p:cNvPr>
          <p:cNvSpPr>
            <a:spLocks xmlns:a="http://schemas.openxmlformats.org/drawingml/2006/main" noGrp="1"/>
          </p:cNvSpPr>
          <p:nvPr/>
        </p:nvSpPr>
        <p:spPr>
          <a:xfrm xmlns:a="http://schemas.openxmlformats.org/drawingml/2006/main">
            <a:off x="904875" y="1381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Labels students may see</a:t>
            </a:r>
          </a:p>
        </p:txBody>
      </p:sp>
      <p:sp>
        <p:nvSpPr>
          <p:cNvPr id="3" name="">
            <a:extLst xmlns:a="http://schemas.openxmlformats.org/drawingml/2006/main">
              <a:ext uri="{FF2B5EF4-FFF2-40B4-BE49-F238E27FC236}">
                <a16:creationId xmlns:a16="http://schemas.microsoft.com/office/drawing/2014/main" id="{9A8B1876-A4D3-4DFC-A0B5-3496F4035B94}"/>
              </a:ext>
            </a:extLst>
          </p:cNvPr>
          <p:cNvSpPr>
            <a:spLocks xmlns:a="http://schemas.openxmlformats.org/drawingml/2006/main" noGrp="1"/>
          </p:cNvSpPr>
          <p:nvPr/>
        </p:nvSpPr>
        <p:spPr>
          <a:xfrm xmlns:a="http://schemas.openxmlformats.org/drawingml/2006/main">
            <a:off x="6810375" y="1381125"/>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725" b="1">
                <a:solidFill>
                  <a:srgbClr val="000000"/>
                </a:solidFill>
                <a:latin typeface="Google Sans Medium"/>
                <a:ea typeface="Google Sans Medium"/>
                <a:cs typeface="Google Sans Medium"/>
              </a:defRPr>
            </a:pPr>
            <a:r>
              <a:rPr sz="1725" b="1">
                <a:solidFill>
                  <a:srgbClr val="000000"/>
                </a:solidFill>
                <a:latin typeface="Google Sans Medium"/>
                <a:ea typeface="Google Sans Medium"/>
                <a:cs typeface="Google Sans Medium"/>
              </a:rPr>
              <a:t>Durable role in the workflow</a:t>
            </a:r>
          </a:p>
        </p:txBody>
      </p:sp>
      <p:sp>
        <p:nvSpPr>
          <p:cNvPr id="4" name="">
            <a:extLst xmlns:a="http://schemas.openxmlformats.org/drawingml/2006/main">
              <a:ext uri="{FF2B5EF4-FFF2-40B4-BE49-F238E27FC236}">
                <a16:creationId xmlns:a16="http://schemas.microsoft.com/office/drawing/2014/main" id="{0ABD5B73-8ACA-45FA-9341-CB0F04CACC31}"/>
              </a:ext>
            </a:extLst>
          </p:cNvPr>
          <p:cNvSpPr>
            <a:spLocks xmlns:a="http://schemas.openxmlformats.org/drawingml/2006/main" noGrp="1"/>
          </p:cNvSpPr>
          <p:nvPr/>
        </p:nvSpPr>
        <p:spPr>
          <a:xfrm xmlns:a="http://schemas.openxmlformats.org/drawingml/2006/main">
            <a:off x="666750" y="2095500"/>
            <a:ext cx="4762500" cy="723900"/>
          </a:xfrm>
          <a:prstGeom xmlns:a="http://schemas.openxmlformats.org/drawingml/2006/main" prst="roundRect">
            <a:avLst>
              <a:gd name="adj" fmla="val 10526"/>
            </a:avLst>
          </a:prstGeom>
          <a:solidFill xmlns:a="http://schemas.openxmlformats.org/drawingml/2006/main">
            <a:srgbClr val="C6DAFC"/>
          </a:solidFill>
          <a:ln xmlns:a="http://schemas.openxmlformats.org/drawingml/2006/main" w="0">
            <a:solidFill>
              <a:srgbClr val="C6DAFC"/>
            </a:solidFill>
            <a:prstDash val="solid"/>
          </a:ln>
        </p:spPr>
      </p:sp>
      <p:sp>
        <p:nvSpPr>
          <p:cNvPr id="5" name="">
            <a:extLst xmlns:a="http://schemas.openxmlformats.org/drawingml/2006/main">
              <a:ext uri="{FF2B5EF4-FFF2-40B4-BE49-F238E27FC236}">
                <a16:creationId xmlns:a16="http://schemas.microsoft.com/office/drawing/2014/main" id="{2B5A4ED9-B71F-4EE1-8B1C-60E7959A89F9}"/>
              </a:ext>
            </a:extLst>
          </p:cNvPr>
          <p:cNvSpPr>
            <a:spLocks xmlns:a="http://schemas.openxmlformats.org/drawingml/2006/main" noGrp="1"/>
          </p:cNvSpPr>
          <p:nvPr/>
        </p:nvSpPr>
        <p:spPr>
          <a:xfrm xmlns:a="http://schemas.openxmlformats.org/drawingml/2006/main">
            <a:off x="876300" y="225742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Vertex AI / Generative AI on Vertex AI</a:t>
            </a:r>
          </a:p>
        </p:txBody>
      </p:sp>
      <p:sp>
        <p:nvSpPr>
          <p:cNvPr id="6" name="">
            <a:extLst xmlns:a="http://schemas.openxmlformats.org/drawingml/2006/main">
              <a:ext uri="{FF2B5EF4-FFF2-40B4-BE49-F238E27FC236}">
                <a16:creationId xmlns:a16="http://schemas.microsoft.com/office/drawing/2014/main" id="{05A41043-B4B0-4732-9AF5-E09A6651EA50}"/>
              </a:ext>
            </a:extLst>
          </p:cNvPr>
          <p:cNvSpPr>
            <a:spLocks xmlns:a="http://schemas.openxmlformats.org/drawingml/2006/main" noGrp="1"/>
          </p:cNvSpPr>
          <p:nvPr/>
        </p:nvSpPr>
        <p:spPr>
          <a:xfrm xmlns:a="http://schemas.openxmlformats.org/drawingml/2006/main">
            <a:off x="5715000" y="21907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7" name="">
            <a:extLst xmlns:a="http://schemas.openxmlformats.org/drawingml/2006/main">
              <a:ext uri="{FF2B5EF4-FFF2-40B4-BE49-F238E27FC236}">
                <a16:creationId xmlns:a16="http://schemas.microsoft.com/office/drawing/2014/main" id="{1AB92808-9BF7-4FE4-A3B3-87A90F0E5397}"/>
              </a:ext>
            </a:extLst>
          </p:cNvPr>
          <p:cNvSpPr>
            <a:spLocks xmlns:a="http://schemas.openxmlformats.org/drawingml/2006/main" noGrp="1"/>
          </p:cNvSpPr>
          <p:nvPr/>
        </p:nvSpPr>
        <p:spPr>
          <a:xfrm xmlns:a="http://schemas.openxmlformats.org/drawingml/2006/main">
            <a:off x="6762750" y="21717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Managed platform for building and operating AI applications</a:t>
            </a:r>
          </a:p>
        </p:txBody>
      </p:sp>
      <p:sp>
        <p:nvSpPr>
          <p:cNvPr id="8" name="">
            <a:extLst xmlns:a="http://schemas.openxmlformats.org/drawingml/2006/main">
              <a:ext uri="{FF2B5EF4-FFF2-40B4-BE49-F238E27FC236}">
                <a16:creationId xmlns:a16="http://schemas.microsoft.com/office/drawing/2014/main" id="{826A3D5C-D918-4F82-898B-55774B3D42AD}"/>
              </a:ext>
            </a:extLst>
          </p:cNvPr>
          <p:cNvSpPr>
            <a:spLocks xmlns:a="http://schemas.openxmlformats.org/drawingml/2006/main" noGrp="1"/>
          </p:cNvSpPr>
          <p:nvPr/>
        </p:nvSpPr>
        <p:spPr>
          <a:xfrm xmlns:a="http://schemas.openxmlformats.org/drawingml/2006/main">
            <a:off x="666750" y="3048000"/>
            <a:ext cx="4762500" cy="723900"/>
          </a:xfrm>
          <a:prstGeom xmlns:a="http://schemas.openxmlformats.org/drawingml/2006/main" prst="roundRect">
            <a:avLst>
              <a:gd name="adj" fmla="val 10526"/>
            </a:avLst>
          </a:prstGeom>
          <a:solidFill xmlns:a="http://schemas.openxmlformats.org/drawingml/2006/main">
            <a:srgbClr val="FDEFC3"/>
          </a:solidFill>
          <a:ln xmlns:a="http://schemas.openxmlformats.org/drawingml/2006/main" w="0">
            <a:solidFill>
              <a:srgbClr val="FDEFC3"/>
            </a:solidFill>
            <a:prstDash val="solid"/>
          </a:ln>
        </p:spPr>
      </p:sp>
      <p:sp>
        <p:nvSpPr>
          <p:cNvPr id="9" name="">
            <a:extLst xmlns:a="http://schemas.openxmlformats.org/drawingml/2006/main">
              <a:ext uri="{FF2B5EF4-FFF2-40B4-BE49-F238E27FC236}">
                <a16:creationId xmlns:a16="http://schemas.microsoft.com/office/drawing/2014/main" id="{1730CA44-9C09-473E-A43A-FEC5E817ED00}"/>
              </a:ext>
            </a:extLst>
          </p:cNvPr>
          <p:cNvSpPr>
            <a:spLocks xmlns:a="http://schemas.openxmlformats.org/drawingml/2006/main" noGrp="1"/>
          </p:cNvSpPr>
          <p:nvPr/>
        </p:nvSpPr>
        <p:spPr>
          <a:xfrm xmlns:a="http://schemas.openxmlformats.org/drawingml/2006/main">
            <a:off x="876300" y="320992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Vertex AI Studio / Studio tools</a:t>
            </a:r>
          </a:p>
        </p:txBody>
      </p:sp>
      <p:sp>
        <p:nvSpPr>
          <p:cNvPr id="10" name="">
            <a:extLst xmlns:a="http://schemas.openxmlformats.org/drawingml/2006/main">
              <a:ext uri="{FF2B5EF4-FFF2-40B4-BE49-F238E27FC236}">
                <a16:creationId xmlns:a16="http://schemas.microsoft.com/office/drawing/2014/main" id="{27E92623-4C88-425E-BD83-34530E5248A3}"/>
              </a:ext>
            </a:extLst>
          </p:cNvPr>
          <p:cNvSpPr>
            <a:spLocks xmlns:a="http://schemas.openxmlformats.org/drawingml/2006/main" noGrp="1"/>
          </p:cNvSpPr>
          <p:nvPr/>
        </p:nvSpPr>
        <p:spPr>
          <a:xfrm xmlns:a="http://schemas.openxmlformats.org/drawingml/2006/main">
            <a:off x="5715000" y="31432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1" name="">
            <a:extLst xmlns:a="http://schemas.openxmlformats.org/drawingml/2006/main">
              <a:ext uri="{FF2B5EF4-FFF2-40B4-BE49-F238E27FC236}">
                <a16:creationId xmlns:a16="http://schemas.microsoft.com/office/drawing/2014/main" id="{8C719161-E5A0-4FA9-B7FF-60A18CF92A12}"/>
              </a:ext>
            </a:extLst>
          </p:cNvPr>
          <p:cNvSpPr>
            <a:spLocks xmlns:a="http://schemas.openxmlformats.org/drawingml/2006/main" noGrp="1"/>
          </p:cNvSpPr>
          <p:nvPr/>
        </p:nvSpPr>
        <p:spPr>
          <a:xfrm xmlns:a="http://schemas.openxmlformats.org/drawingml/2006/main">
            <a:off x="6762750" y="31242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Interactive prompt and model prototyping</a:t>
            </a:r>
          </a:p>
        </p:txBody>
      </p:sp>
      <p:sp>
        <p:nvSpPr>
          <p:cNvPr id="12" name="">
            <a:extLst xmlns:a="http://schemas.openxmlformats.org/drawingml/2006/main">
              <a:ext uri="{FF2B5EF4-FFF2-40B4-BE49-F238E27FC236}">
                <a16:creationId xmlns:a16="http://schemas.microsoft.com/office/drawing/2014/main" id="{22D29A01-3800-49BC-9F74-27A6B8239FE4}"/>
              </a:ext>
            </a:extLst>
          </p:cNvPr>
          <p:cNvSpPr>
            <a:spLocks xmlns:a="http://schemas.openxmlformats.org/drawingml/2006/main" noGrp="1"/>
          </p:cNvSpPr>
          <p:nvPr/>
        </p:nvSpPr>
        <p:spPr>
          <a:xfrm xmlns:a="http://schemas.openxmlformats.org/drawingml/2006/main">
            <a:off x="666750" y="4000500"/>
            <a:ext cx="4762500" cy="723900"/>
          </a:xfrm>
          <a:prstGeom xmlns:a="http://schemas.openxmlformats.org/drawingml/2006/main" prst="roundRect">
            <a:avLst>
              <a:gd name="adj" fmla="val 10526"/>
            </a:avLst>
          </a:prstGeom>
          <a:solidFill xmlns:a="http://schemas.openxmlformats.org/drawingml/2006/main">
            <a:srgbClr val="F5C7C9"/>
          </a:solidFill>
          <a:ln xmlns:a="http://schemas.openxmlformats.org/drawingml/2006/main" w="0">
            <a:solidFill>
              <a:srgbClr val="F5C7C9"/>
            </a:solidFill>
            <a:prstDash val="solid"/>
          </a:ln>
        </p:spPr>
      </p:sp>
      <p:sp>
        <p:nvSpPr>
          <p:cNvPr id="13" name="">
            <a:extLst xmlns:a="http://schemas.openxmlformats.org/drawingml/2006/main">
              <a:ext uri="{FF2B5EF4-FFF2-40B4-BE49-F238E27FC236}">
                <a16:creationId xmlns:a16="http://schemas.microsoft.com/office/drawing/2014/main" id="{4AEDAA64-6C81-4B5A-935F-AB66E1FA3CAD}"/>
              </a:ext>
            </a:extLst>
          </p:cNvPr>
          <p:cNvSpPr>
            <a:spLocks xmlns:a="http://schemas.openxmlformats.org/drawingml/2006/main" noGrp="1"/>
          </p:cNvSpPr>
          <p:nvPr/>
        </p:nvSpPr>
        <p:spPr>
          <a:xfrm xmlns:a="http://schemas.openxmlformats.org/drawingml/2006/main">
            <a:off x="876300" y="416242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Model Garden</a:t>
            </a:r>
          </a:p>
        </p:txBody>
      </p:sp>
      <p:sp>
        <p:nvSpPr>
          <p:cNvPr id="14" name="">
            <a:extLst xmlns:a="http://schemas.openxmlformats.org/drawingml/2006/main">
              <a:ext uri="{FF2B5EF4-FFF2-40B4-BE49-F238E27FC236}">
                <a16:creationId xmlns:a16="http://schemas.microsoft.com/office/drawing/2014/main" id="{9DC967DD-A12E-4754-86E2-866CFAD333ED}"/>
              </a:ext>
            </a:extLst>
          </p:cNvPr>
          <p:cNvSpPr>
            <a:spLocks xmlns:a="http://schemas.openxmlformats.org/drawingml/2006/main" noGrp="1"/>
          </p:cNvSpPr>
          <p:nvPr/>
        </p:nvSpPr>
        <p:spPr>
          <a:xfrm xmlns:a="http://schemas.openxmlformats.org/drawingml/2006/main">
            <a:off x="5715000" y="40957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5" name="">
            <a:extLst xmlns:a="http://schemas.openxmlformats.org/drawingml/2006/main">
              <a:ext uri="{FF2B5EF4-FFF2-40B4-BE49-F238E27FC236}">
                <a16:creationId xmlns:a16="http://schemas.microsoft.com/office/drawing/2014/main" id="{38833A6D-B881-4FFB-A032-98B80924D897}"/>
              </a:ext>
            </a:extLst>
          </p:cNvPr>
          <p:cNvSpPr>
            <a:spLocks xmlns:a="http://schemas.openxmlformats.org/drawingml/2006/main" noGrp="1"/>
          </p:cNvSpPr>
          <p:nvPr/>
        </p:nvSpPr>
        <p:spPr>
          <a:xfrm xmlns:a="http://schemas.openxmlformats.org/drawingml/2006/main">
            <a:off x="6762750" y="40767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Model discovery, comparison, deployment options, and model cards</a:t>
            </a:r>
          </a:p>
        </p:txBody>
      </p:sp>
      <p:sp>
        <p:nvSpPr>
          <p:cNvPr id="16" name="">
            <a:extLst xmlns:a="http://schemas.openxmlformats.org/drawingml/2006/main">
              <a:ext uri="{FF2B5EF4-FFF2-40B4-BE49-F238E27FC236}">
                <a16:creationId xmlns:a16="http://schemas.microsoft.com/office/drawing/2014/main" id="{74672CAF-9E44-45CB-A375-F61CC38F9713}"/>
              </a:ext>
            </a:extLst>
          </p:cNvPr>
          <p:cNvSpPr>
            <a:spLocks xmlns:a="http://schemas.openxmlformats.org/drawingml/2006/main" noGrp="1"/>
          </p:cNvSpPr>
          <p:nvPr/>
        </p:nvSpPr>
        <p:spPr>
          <a:xfrm xmlns:a="http://schemas.openxmlformats.org/drawingml/2006/main">
            <a:off x="666750" y="4953000"/>
            <a:ext cx="4762500" cy="723900"/>
          </a:xfrm>
          <a:prstGeom xmlns:a="http://schemas.openxmlformats.org/drawingml/2006/main" prst="roundRect">
            <a:avLst>
              <a:gd name="adj" fmla="val 10526"/>
            </a:avLst>
          </a:prstGeom>
          <a:solidFill xmlns:a="http://schemas.openxmlformats.org/drawingml/2006/main">
            <a:srgbClr val="D0E1E5"/>
          </a:solidFill>
          <a:ln xmlns:a="http://schemas.openxmlformats.org/drawingml/2006/main" w="0">
            <a:solidFill>
              <a:srgbClr val="D0E1E5"/>
            </a:solidFill>
            <a:prstDash val="solid"/>
          </a:ln>
        </p:spPr>
      </p:sp>
      <p:sp>
        <p:nvSpPr>
          <p:cNvPr id="17" name="">
            <a:extLst xmlns:a="http://schemas.openxmlformats.org/drawingml/2006/main">
              <a:ext uri="{FF2B5EF4-FFF2-40B4-BE49-F238E27FC236}">
                <a16:creationId xmlns:a16="http://schemas.microsoft.com/office/drawing/2014/main" id="{F7323FEF-775C-4172-A88B-DD97BDE89EF9}"/>
              </a:ext>
            </a:extLst>
          </p:cNvPr>
          <p:cNvSpPr>
            <a:spLocks xmlns:a="http://schemas.openxmlformats.org/drawingml/2006/main" noGrp="1"/>
          </p:cNvSpPr>
          <p:nvPr/>
        </p:nvSpPr>
        <p:spPr>
          <a:xfrm xmlns:a="http://schemas.openxmlformats.org/drawingml/2006/main">
            <a:off x="876300" y="511492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Gemini API + Google Gen AI SDK</a:t>
            </a:r>
          </a:p>
        </p:txBody>
      </p:sp>
      <p:sp>
        <p:nvSpPr>
          <p:cNvPr id="18" name="">
            <a:extLst xmlns:a="http://schemas.openxmlformats.org/drawingml/2006/main">
              <a:ext uri="{FF2B5EF4-FFF2-40B4-BE49-F238E27FC236}">
                <a16:creationId xmlns:a16="http://schemas.microsoft.com/office/drawing/2014/main" id="{2184B5B7-448F-450F-B45D-03F513E22D50}"/>
              </a:ext>
            </a:extLst>
          </p:cNvPr>
          <p:cNvSpPr>
            <a:spLocks xmlns:a="http://schemas.openxmlformats.org/drawingml/2006/main" noGrp="1"/>
          </p:cNvSpPr>
          <p:nvPr/>
        </p:nvSpPr>
        <p:spPr>
          <a:xfrm xmlns:a="http://schemas.openxmlformats.org/drawingml/2006/main">
            <a:off x="5715000" y="5048250"/>
            <a:ext cx="762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9AA0A6"/>
                </a:solidFill>
                <a:latin typeface="Google Sans Text"/>
                <a:ea typeface="Google Sans Text"/>
                <a:cs typeface="Google Sans Text"/>
              </a:defRPr>
            </a:pPr>
            <a:r>
              <a:rPr sz="3150" b="0">
                <a:solidFill>
                  <a:srgbClr val="9AA0A6"/>
                </a:solidFill>
                <a:latin typeface="Google Sans Text"/>
                <a:ea typeface="Google Sans Text"/>
                <a:cs typeface="Google Sans Text"/>
              </a:rPr>
              <a:t>›</a:t>
            </a:r>
          </a:p>
        </p:txBody>
      </p:sp>
      <p:sp>
        <p:nvSpPr>
          <p:cNvPr id="19" name="">
            <a:extLst xmlns:a="http://schemas.openxmlformats.org/drawingml/2006/main">
              <a:ext uri="{FF2B5EF4-FFF2-40B4-BE49-F238E27FC236}">
                <a16:creationId xmlns:a16="http://schemas.microsoft.com/office/drawing/2014/main" id="{713828A5-C506-4B10-ADB0-4F0F310AF830}"/>
              </a:ext>
            </a:extLst>
          </p:cNvPr>
          <p:cNvSpPr>
            <a:spLocks xmlns:a="http://schemas.openxmlformats.org/drawingml/2006/main" noGrp="1"/>
          </p:cNvSpPr>
          <p:nvPr/>
        </p:nvSpPr>
        <p:spPr>
          <a:xfrm xmlns:a="http://schemas.openxmlformats.org/drawingml/2006/main">
            <a:off x="6762750" y="50292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Programmatic integration into applications</a:t>
            </a:r>
          </a:p>
        </p:txBody>
      </p:sp>
      <p:sp>
        <p:nvSpPr>
          <p:cNvPr id="20" name="">
            <a:extLst xmlns:a="http://schemas.openxmlformats.org/drawingml/2006/main">
              <a:ext uri="{FF2B5EF4-FFF2-40B4-BE49-F238E27FC236}">
                <a16:creationId xmlns:a16="http://schemas.microsoft.com/office/drawing/2014/main" id="{8F55E00B-2FB2-4572-8E83-72AF6FCB438F}"/>
              </a:ext>
            </a:extLst>
          </p:cNvPr>
          <p:cNvSpPr>
            <a:spLocks xmlns:a="http://schemas.openxmlformats.org/drawingml/2006/main" noGrp="1"/>
          </p:cNvSpPr>
          <p:nvPr/>
        </p:nvSpPr>
        <p:spPr>
          <a:xfrm xmlns:a="http://schemas.openxmlformats.org/drawingml/2006/main">
            <a:off x="1666875" y="6029325"/>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Before a live class, verify current names, regions, model versions, preview status, and retirement dates.</a:t>
            </a:r>
          </a:p>
        </p:txBody>
      </p:sp>
    </p:spTree>
    <p:extLst>
      <p:ext uri="{BB962C8B-B14F-4D97-AF65-F5344CB8AC3E}">
        <p14:creationId xmlns:p14="http://schemas.microsoft.com/office/powerpoint/2010/main" val="186169327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94E462D6-166D-4E87-8248-E459072CF938}"/>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Choose a model family by workload—not by the newest name</a:t>
            </a:r>
          </a:p>
        </p:txBody>
      </p:sp>
      <p:sp>
        <p:nvSpPr>
          <p:cNvPr id="2" name="">
            <a:extLst xmlns:a="http://schemas.openxmlformats.org/drawingml/2006/main">
              <a:ext uri="{FF2B5EF4-FFF2-40B4-BE49-F238E27FC236}">
                <a16:creationId xmlns:a16="http://schemas.microsoft.com/office/drawing/2014/main" id="{C0741BC9-4A1C-43C4-B2A0-F8570485D0C1}"/>
              </a:ext>
            </a:extLst>
          </p:cNvPr>
          <p:cNvSpPr>
            <a:spLocks xmlns:a="http://schemas.openxmlformats.org/drawingml/2006/main" noGrp="1"/>
          </p:cNvSpPr>
          <p:nvPr/>
        </p:nvSpPr>
        <p:spPr>
          <a:xfrm xmlns:a="http://schemas.openxmlformats.org/drawingml/2006/main">
            <a:off x="666750" y="1428750"/>
            <a:ext cx="2476500" cy="590550"/>
          </a:xfrm>
          <a:prstGeom xmlns:a="http://schemas.openxmlformats.org/drawingml/2006/main" prst="rect">
            <a:avLst/>
          </a:prstGeom>
          <a:solidFill xmlns:a="http://schemas.openxmlformats.org/drawingml/2006/main">
            <a:srgbClr val="D0E1E5"/>
          </a:solidFill>
          <a:ln xmlns:a="http://schemas.openxmlformats.org/drawingml/2006/main" w="9525">
            <a:solidFill>
              <a:srgbClr val="FFFFFF"/>
            </a:solidFill>
            <a:prstDash val="solid"/>
          </a:ln>
        </p:spPr>
      </p:sp>
      <p:sp>
        <p:nvSpPr>
          <p:cNvPr id="3" name="">
            <a:extLst xmlns:a="http://schemas.openxmlformats.org/drawingml/2006/main">
              <a:ext uri="{FF2B5EF4-FFF2-40B4-BE49-F238E27FC236}">
                <a16:creationId xmlns:a16="http://schemas.microsoft.com/office/drawing/2014/main" id="{E8442A9C-68C6-4245-907D-4097CA5E8854}"/>
              </a:ext>
            </a:extLst>
          </p:cNvPr>
          <p:cNvSpPr>
            <a:spLocks xmlns:a="http://schemas.openxmlformats.org/drawingml/2006/main" noGrp="1"/>
          </p:cNvSpPr>
          <p:nvPr/>
        </p:nvSpPr>
        <p:spPr>
          <a:xfrm xmlns:a="http://schemas.openxmlformats.org/drawingml/2006/main">
            <a:off x="762000" y="156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Workload need</a:t>
            </a:r>
          </a:p>
        </p:txBody>
      </p:sp>
      <p:sp>
        <p:nvSpPr>
          <p:cNvPr id="4" name="">
            <a:extLst xmlns:a="http://schemas.openxmlformats.org/drawingml/2006/main">
              <a:ext uri="{FF2B5EF4-FFF2-40B4-BE49-F238E27FC236}">
                <a16:creationId xmlns:a16="http://schemas.microsoft.com/office/drawing/2014/main" id="{09167ABD-FF20-44A6-A7CB-DCBBC0766AA0}"/>
              </a:ext>
            </a:extLst>
          </p:cNvPr>
          <p:cNvSpPr>
            <a:spLocks xmlns:a="http://schemas.openxmlformats.org/drawingml/2006/main" noGrp="1"/>
          </p:cNvSpPr>
          <p:nvPr/>
        </p:nvSpPr>
        <p:spPr>
          <a:xfrm xmlns:a="http://schemas.openxmlformats.org/drawingml/2006/main">
            <a:off x="3143250" y="1428750"/>
            <a:ext cx="2857500" cy="590550"/>
          </a:xfrm>
          <a:prstGeom xmlns:a="http://schemas.openxmlformats.org/drawingml/2006/main" prst="rect">
            <a:avLst/>
          </a:prstGeom>
          <a:solidFill xmlns:a="http://schemas.openxmlformats.org/drawingml/2006/main">
            <a:srgbClr val="C6DAFC"/>
          </a:solidFill>
          <a:ln xmlns:a="http://schemas.openxmlformats.org/drawingml/2006/main" w="9525">
            <a:solidFill>
              <a:srgbClr val="FFFFFF"/>
            </a:solidFill>
            <a:prstDash val="solid"/>
          </a:ln>
        </p:spPr>
      </p:sp>
      <p:sp>
        <p:nvSpPr>
          <p:cNvPr id="5" name="">
            <a:extLst xmlns:a="http://schemas.openxmlformats.org/drawingml/2006/main">
              <a:ext uri="{FF2B5EF4-FFF2-40B4-BE49-F238E27FC236}">
                <a16:creationId xmlns:a16="http://schemas.microsoft.com/office/drawing/2014/main" id="{A1881BA3-1148-498B-AF92-E053A744C49D}"/>
              </a:ext>
            </a:extLst>
          </p:cNvPr>
          <p:cNvSpPr>
            <a:spLocks xmlns:a="http://schemas.openxmlformats.org/drawingml/2006/main" noGrp="1"/>
          </p:cNvSpPr>
          <p:nvPr/>
        </p:nvSpPr>
        <p:spPr>
          <a:xfrm xmlns:a="http://schemas.openxmlformats.org/drawingml/2006/main">
            <a:off x="3238500" y="15621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Typical choice</a:t>
            </a:r>
          </a:p>
        </p:txBody>
      </p:sp>
      <p:sp>
        <p:nvSpPr>
          <p:cNvPr id="6" name="">
            <a:extLst xmlns:a="http://schemas.openxmlformats.org/drawingml/2006/main">
              <a:ext uri="{FF2B5EF4-FFF2-40B4-BE49-F238E27FC236}">
                <a16:creationId xmlns:a16="http://schemas.microsoft.com/office/drawing/2014/main" id="{FBEF088E-34BE-46B2-9E3E-2F91993C5B03}"/>
              </a:ext>
            </a:extLst>
          </p:cNvPr>
          <p:cNvSpPr>
            <a:spLocks xmlns:a="http://schemas.openxmlformats.org/drawingml/2006/main" noGrp="1"/>
          </p:cNvSpPr>
          <p:nvPr/>
        </p:nvSpPr>
        <p:spPr>
          <a:xfrm xmlns:a="http://schemas.openxmlformats.org/drawingml/2006/main">
            <a:off x="6000750" y="1428750"/>
            <a:ext cx="2857500" cy="590550"/>
          </a:xfrm>
          <a:prstGeom xmlns:a="http://schemas.openxmlformats.org/drawingml/2006/main" prst="rect">
            <a:avLst/>
          </a:prstGeom>
          <a:solidFill xmlns:a="http://schemas.openxmlformats.org/drawingml/2006/main">
            <a:srgbClr val="FDEFC3"/>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2465F79E-30B0-46FA-A91B-A921AACC56E2}"/>
              </a:ext>
            </a:extLst>
          </p:cNvPr>
          <p:cNvSpPr>
            <a:spLocks xmlns:a="http://schemas.openxmlformats.org/drawingml/2006/main" noGrp="1"/>
          </p:cNvSpPr>
          <p:nvPr/>
        </p:nvSpPr>
        <p:spPr>
          <a:xfrm xmlns:a="http://schemas.openxmlformats.org/drawingml/2006/main">
            <a:off x="6096000" y="15621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Why</a:t>
            </a:r>
          </a:p>
        </p:txBody>
      </p:sp>
      <p:sp>
        <p:nvSpPr>
          <p:cNvPr id="8" name="">
            <a:extLst xmlns:a="http://schemas.openxmlformats.org/drawingml/2006/main">
              <a:ext uri="{FF2B5EF4-FFF2-40B4-BE49-F238E27FC236}">
                <a16:creationId xmlns:a16="http://schemas.microsoft.com/office/drawing/2014/main" id="{7E9293BA-1298-4E2C-861A-431FE862EFF3}"/>
              </a:ext>
            </a:extLst>
          </p:cNvPr>
          <p:cNvSpPr>
            <a:spLocks xmlns:a="http://schemas.openxmlformats.org/drawingml/2006/main" noGrp="1"/>
          </p:cNvSpPr>
          <p:nvPr/>
        </p:nvSpPr>
        <p:spPr>
          <a:xfrm xmlns:a="http://schemas.openxmlformats.org/drawingml/2006/main">
            <a:off x="8858250" y="1428750"/>
            <a:ext cx="2667000" cy="590550"/>
          </a:xfrm>
          <a:prstGeom xmlns:a="http://schemas.openxmlformats.org/drawingml/2006/main" prst="rect">
            <a:avLst/>
          </a:prstGeom>
          <a:solidFill xmlns:a="http://schemas.openxmlformats.org/drawingml/2006/main">
            <a:srgbClr val="F5C7C9"/>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0E69EEE6-6039-4752-8AA4-B987B14E47B7}"/>
              </a:ext>
            </a:extLst>
          </p:cNvPr>
          <p:cNvSpPr>
            <a:spLocks xmlns:a="http://schemas.openxmlformats.org/drawingml/2006/main" noGrp="1"/>
          </p:cNvSpPr>
          <p:nvPr/>
        </p:nvSpPr>
        <p:spPr>
          <a:xfrm xmlns:a="http://schemas.openxmlformats.org/drawingml/2006/main">
            <a:off x="8953500" y="1562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Example</a:t>
            </a:r>
          </a:p>
        </p:txBody>
      </p:sp>
      <p:sp>
        <p:nvSpPr>
          <p:cNvPr id="10" name="">
            <a:extLst xmlns:a="http://schemas.openxmlformats.org/drawingml/2006/main">
              <a:ext uri="{FF2B5EF4-FFF2-40B4-BE49-F238E27FC236}">
                <a16:creationId xmlns:a16="http://schemas.microsoft.com/office/drawing/2014/main" id="{59BC16F4-DFF3-42E3-A53D-129C877E51F3}"/>
              </a:ext>
            </a:extLst>
          </p:cNvPr>
          <p:cNvSpPr>
            <a:spLocks xmlns:a="http://schemas.openxmlformats.org/drawingml/2006/main" noGrp="1"/>
          </p:cNvSpPr>
          <p:nvPr/>
        </p:nvSpPr>
        <p:spPr>
          <a:xfrm xmlns:a="http://schemas.openxmlformats.org/drawingml/2006/main">
            <a:off x="666750" y="2019300"/>
            <a:ext cx="2476500" cy="97155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11" name="">
            <a:extLst xmlns:a="http://schemas.openxmlformats.org/drawingml/2006/main">
              <a:ext uri="{FF2B5EF4-FFF2-40B4-BE49-F238E27FC236}">
                <a16:creationId xmlns:a16="http://schemas.microsoft.com/office/drawing/2014/main" id="{759A8C97-CE67-4961-B8FE-49D6CDE77073}"/>
              </a:ext>
            </a:extLst>
          </p:cNvPr>
          <p:cNvSpPr>
            <a:spLocks xmlns:a="http://schemas.openxmlformats.org/drawingml/2006/main" noGrp="1"/>
          </p:cNvSpPr>
          <p:nvPr/>
        </p:nvSpPr>
        <p:spPr>
          <a:xfrm xmlns:a="http://schemas.openxmlformats.org/drawingml/2006/main">
            <a:off x="800100" y="2152650"/>
            <a:ext cx="2209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Complex reasoning</a:t>
            </a:r>
          </a:p>
        </p:txBody>
      </p:sp>
      <p:sp>
        <p:nvSpPr>
          <p:cNvPr id="12" name="">
            <a:extLst xmlns:a="http://schemas.openxmlformats.org/drawingml/2006/main">
              <a:ext uri="{FF2B5EF4-FFF2-40B4-BE49-F238E27FC236}">
                <a16:creationId xmlns:a16="http://schemas.microsoft.com/office/drawing/2014/main" id="{2B5858F3-9E00-4917-8655-8DA9C662D488}"/>
              </a:ext>
            </a:extLst>
          </p:cNvPr>
          <p:cNvSpPr>
            <a:spLocks xmlns:a="http://schemas.openxmlformats.org/drawingml/2006/main" noGrp="1"/>
          </p:cNvSpPr>
          <p:nvPr/>
        </p:nvSpPr>
        <p:spPr>
          <a:xfrm xmlns:a="http://schemas.openxmlformats.org/drawingml/2006/main">
            <a:off x="3143250" y="201930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3" name="">
            <a:extLst xmlns:a="http://schemas.openxmlformats.org/drawingml/2006/main">
              <a:ext uri="{FF2B5EF4-FFF2-40B4-BE49-F238E27FC236}">
                <a16:creationId xmlns:a16="http://schemas.microsoft.com/office/drawing/2014/main" id="{87A0041F-7A0D-4853-8E76-B9E9CA0AA2F1}"/>
              </a:ext>
            </a:extLst>
          </p:cNvPr>
          <p:cNvSpPr>
            <a:spLocks xmlns:a="http://schemas.openxmlformats.org/drawingml/2006/main" noGrp="1"/>
          </p:cNvSpPr>
          <p:nvPr/>
        </p:nvSpPr>
        <p:spPr>
          <a:xfrm xmlns:a="http://schemas.openxmlformats.org/drawingml/2006/main">
            <a:off x="3276600" y="21526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Pro / reasoning tier</a:t>
            </a:r>
          </a:p>
        </p:txBody>
      </p:sp>
      <p:sp>
        <p:nvSpPr>
          <p:cNvPr id="14" name="">
            <a:extLst xmlns:a="http://schemas.openxmlformats.org/drawingml/2006/main">
              <a:ext uri="{FF2B5EF4-FFF2-40B4-BE49-F238E27FC236}">
                <a16:creationId xmlns:a16="http://schemas.microsoft.com/office/drawing/2014/main" id="{7B17A158-1D99-4C34-A1F9-A0EEAB7FA5A7}"/>
              </a:ext>
            </a:extLst>
          </p:cNvPr>
          <p:cNvSpPr>
            <a:spLocks xmlns:a="http://schemas.openxmlformats.org/drawingml/2006/main" noGrp="1"/>
          </p:cNvSpPr>
          <p:nvPr/>
        </p:nvSpPr>
        <p:spPr>
          <a:xfrm xmlns:a="http://schemas.openxmlformats.org/drawingml/2006/main">
            <a:off x="6000750" y="201930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5" name="">
            <a:extLst xmlns:a="http://schemas.openxmlformats.org/drawingml/2006/main">
              <a:ext uri="{FF2B5EF4-FFF2-40B4-BE49-F238E27FC236}">
                <a16:creationId xmlns:a16="http://schemas.microsoft.com/office/drawing/2014/main" id="{BD7054AD-F634-48EC-B841-183C46B40327}"/>
              </a:ext>
            </a:extLst>
          </p:cNvPr>
          <p:cNvSpPr>
            <a:spLocks xmlns:a="http://schemas.openxmlformats.org/drawingml/2006/main" noGrp="1"/>
          </p:cNvSpPr>
          <p:nvPr/>
        </p:nvSpPr>
        <p:spPr>
          <a:xfrm xmlns:a="http://schemas.openxmlformats.org/drawingml/2006/main">
            <a:off x="6134100" y="21526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Highest capability; usually slower and more expensive</a:t>
            </a:r>
          </a:p>
        </p:txBody>
      </p:sp>
      <p:sp>
        <p:nvSpPr>
          <p:cNvPr id="16" name="">
            <a:extLst xmlns:a="http://schemas.openxmlformats.org/drawingml/2006/main">
              <a:ext uri="{FF2B5EF4-FFF2-40B4-BE49-F238E27FC236}">
                <a16:creationId xmlns:a16="http://schemas.microsoft.com/office/drawing/2014/main" id="{D0D35074-F08E-455E-B016-3AE2B2013C99}"/>
              </a:ext>
            </a:extLst>
          </p:cNvPr>
          <p:cNvSpPr>
            <a:spLocks xmlns:a="http://schemas.openxmlformats.org/drawingml/2006/main" noGrp="1"/>
          </p:cNvSpPr>
          <p:nvPr/>
        </p:nvSpPr>
        <p:spPr>
          <a:xfrm xmlns:a="http://schemas.openxmlformats.org/drawingml/2006/main">
            <a:off x="8858250" y="2019300"/>
            <a:ext cx="26670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17" name="">
            <a:extLst xmlns:a="http://schemas.openxmlformats.org/drawingml/2006/main">
              <a:ext uri="{FF2B5EF4-FFF2-40B4-BE49-F238E27FC236}">
                <a16:creationId xmlns:a16="http://schemas.microsoft.com/office/drawing/2014/main" id="{E2A7F806-792F-4FE9-996B-906D8730BD1F}"/>
              </a:ext>
            </a:extLst>
          </p:cNvPr>
          <p:cNvSpPr>
            <a:spLocks xmlns:a="http://schemas.openxmlformats.org/drawingml/2006/main" noGrp="1"/>
          </p:cNvSpPr>
          <p:nvPr/>
        </p:nvSpPr>
        <p:spPr>
          <a:xfrm xmlns:a="http://schemas.openxmlformats.org/drawingml/2006/main">
            <a:off x="8991600" y="21526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Multi-step analysis or difficult coding</a:t>
            </a:r>
          </a:p>
        </p:txBody>
      </p:sp>
      <p:sp>
        <p:nvSpPr>
          <p:cNvPr id="18" name="">
            <a:extLst xmlns:a="http://schemas.openxmlformats.org/drawingml/2006/main">
              <a:ext uri="{FF2B5EF4-FFF2-40B4-BE49-F238E27FC236}">
                <a16:creationId xmlns:a16="http://schemas.microsoft.com/office/drawing/2014/main" id="{259949CF-7661-4E25-AB11-E10888F9DBD7}"/>
              </a:ext>
            </a:extLst>
          </p:cNvPr>
          <p:cNvSpPr>
            <a:spLocks xmlns:a="http://schemas.openxmlformats.org/drawingml/2006/main" noGrp="1"/>
          </p:cNvSpPr>
          <p:nvPr/>
        </p:nvSpPr>
        <p:spPr>
          <a:xfrm xmlns:a="http://schemas.openxmlformats.org/drawingml/2006/main">
            <a:off x="666750" y="2990850"/>
            <a:ext cx="2476500" cy="97155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19" name="">
            <a:extLst xmlns:a="http://schemas.openxmlformats.org/drawingml/2006/main">
              <a:ext uri="{FF2B5EF4-FFF2-40B4-BE49-F238E27FC236}">
                <a16:creationId xmlns:a16="http://schemas.microsoft.com/office/drawing/2014/main" id="{20496E76-7D7F-495B-882A-32A0F8142A5D}"/>
              </a:ext>
            </a:extLst>
          </p:cNvPr>
          <p:cNvSpPr>
            <a:spLocks xmlns:a="http://schemas.openxmlformats.org/drawingml/2006/main" noGrp="1"/>
          </p:cNvSpPr>
          <p:nvPr/>
        </p:nvSpPr>
        <p:spPr>
          <a:xfrm xmlns:a="http://schemas.openxmlformats.org/drawingml/2006/main">
            <a:off x="800100" y="3124200"/>
            <a:ext cx="2209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General application</a:t>
            </a:r>
          </a:p>
        </p:txBody>
      </p:sp>
      <p:sp>
        <p:nvSpPr>
          <p:cNvPr id="20" name="">
            <a:extLst xmlns:a="http://schemas.openxmlformats.org/drawingml/2006/main">
              <a:ext uri="{FF2B5EF4-FFF2-40B4-BE49-F238E27FC236}">
                <a16:creationId xmlns:a16="http://schemas.microsoft.com/office/drawing/2014/main" id="{BB3205BF-1366-4DCB-A7A3-1EE7F465A8C2}"/>
              </a:ext>
            </a:extLst>
          </p:cNvPr>
          <p:cNvSpPr>
            <a:spLocks xmlns:a="http://schemas.openxmlformats.org/drawingml/2006/main" noGrp="1"/>
          </p:cNvSpPr>
          <p:nvPr/>
        </p:nvSpPr>
        <p:spPr>
          <a:xfrm xmlns:a="http://schemas.openxmlformats.org/drawingml/2006/main">
            <a:off x="3143250" y="299085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1" name="">
            <a:extLst xmlns:a="http://schemas.openxmlformats.org/drawingml/2006/main">
              <a:ext uri="{FF2B5EF4-FFF2-40B4-BE49-F238E27FC236}">
                <a16:creationId xmlns:a16="http://schemas.microsoft.com/office/drawing/2014/main" id="{7B8D3C87-00F0-4444-8858-671FB280F476}"/>
              </a:ext>
            </a:extLst>
          </p:cNvPr>
          <p:cNvSpPr>
            <a:spLocks xmlns:a="http://schemas.openxmlformats.org/drawingml/2006/main" noGrp="1"/>
          </p:cNvSpPr>
          <p:nvPr/>
        </p:nvSpPr>
        <p:spPr>
          <a:xfrm xmlns:a="http://schemas.openxmlformats.org/drawingml/2006/main">
            <a:off x="3276600" y="312420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Flash / balanced tier</a:t>
            </a:r>
          </a:p>
        </p:txBody>
      </p:sp>
      <p:sp>
        <p:nvSpPr>
          <p:cNvPr id="22" name="">
            <a:extLst xmlns:a="http://schemas.openxmlformats.org/drawingml/2006/main">
              <a:ext uri="{FF2B5EF4-FFF2-40B4-BE49-F238E27FC236}">
                <a16:creationId xmlns:a16="http://schemas.microsoft.com/office/drawing/2014/main" id="{7567C787-C93A-45D9-AA87-351900E40388}"/>
              </a:ext>
            </a:extLst>
          </p:cNvPr>
          <p:cNvSpPr>
            <a:spLocks xmlns:a="http://schemas.openxmlformats.org/drawingml/2006/main" noGrp="1"/>
          </p:cNvSpPr>
          <p:nvPr/>
        </p:nvSpPr>
        <p:spPr>
          <a:xfrm xmlns:a="http://schemas.openxmlformats.org/drawingml/2006/main">
            <a:off x="6000750" y="299085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3" name="">
            <a:extLst xmlns:a="http://schemas.openxmlformats.org/drawingml/2006/main">
              <a:ext uri="{FF2B5EF4-FFF2-40B4-BE49-F238E27FC236}">
                <a16:creationId xmlns:a16="http://schemas.microsoft.com/office/drawing/2014/main" id="{DC451A7A-7B30-42EF-AAFA-8F69BD7830E8}"/>
              </a:ext>
            </a:extLst>
          </p:cNvPr>
          <p:cNvSpPr>
            <a:spLocks xmlns:a="http://schemas.openxmlformats.org/drawingml/2006/main" noGrp="1"/>
          </p:cNvSpPr>
          <p:nvPr/>
        </p:nvSpPr>
        <p:spPr>
          <a:xfrm xmlns:a="http://schemas.openxmlformats.org/drawingml/2006/main">
            <a:off x="6134100" y="312420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Strong quality with lower latency and cost</a:t>
            </a:r>
          </a:p>
        </p:txBody>
      </p:sp>
      <p:sp>
        <p:nvSpPr>
          <p:cNvPr id="24" name="">
            <a:extLst xmlns:a="http://schemas.openxmlformats.org/drawingml/2006/main">
              <a:ext uri="{FF2B5EF4-FFF2-40B4-BE49-F238E27FC236}">
                <a16:creationId xmlns:a16="http://schemas.microsoft.com/office/drawing/2014/main" id="{72D891B8-26F4-4E74-B69F-F89731E0B47C}"/>
              </a:ext>
            </a:extLst>
          </p:cNvPr>
          <p:cNvSpPr>
            <a:spLocks xmlns:a="http://schemas.openxmlformats.org/drawingml/2006/main" noGrp="1"/>
          </p:cNvSpPr>
          <p:nvPr/>
        </p:nvSpPr>
        <p:spPr>
          <a:xfrm xmlns:a="http://schemas.openxmlformats.org/drawingml/2006/main">
            <a:off x="8858250" y="2990850"/>
            <a:ext cx="26670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5" name="">
            <a:extLst xmlns:a="http://schemas.openxmlformats.org/drawingml/2006/main">
              <a:ext uri="{FF2B5EF4-FFF2-40B4-BE49-F238E27FC236}">
                <a16:creationId xmlns:a16="http://schemas.microsoft.com/office/drawing/2014/main" id="{2D738919-E0B8-4992-AE9B-CF32E0E8879D}"/>
              </a:ext>
            </a:extLst>
          </p:cNvPr>
          <p:cNvSpPr>
            <a:spLocks xmlns:a="http://schemas.openxmlformats.org/drawingml/2006/main" noGrp="1"/>
          </p:cNvSpPr>
          <p:nvPr/>
        </p:nvSpPr>
        <p:spPr>
          <a:xfrm xmlns:a="http://schemas.openxmlformats.org/drawingml/2006/main">
            <a:off x="8991600" y="312420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Assistant, summarization, extraction</a:t>
            </a:r>
          </a:p>
        </p:txBody>
      </p:sp>
      <p:sp>
        <p:nvSpPr>
          <p:cNvPr id="26" name="">
            <a:extLst xmlns:a="http://schemas.openxmlformats.org/drawingml/2006/main">
              <a:ext uri="{FF2B5EF4-FFF2-40B4-BE49-F238E27FC236}">
                <a16:creationId xmlns:a16="http://schemas.microsoft.com/office/drawing/2014/main" id="{77C3DDE3-4348-43C0-82D7-AB39AAB97305}"/>
              </a:ext>
            </a:extLst>
          </p:cNvPr>
          <p:cNvSpPr>
            <a:spLocks xmlns:a="http://schemas.openxmlformats.org/drawingml/2006/main" noGrp="1"/>
          </p:cNvSpPr>
          <p:nvPr/>
        </p:nvSpPr>
        <p:spPr>
          <a:xfrm xmlns:a="http://schemas.openxmlformats.org/drawingml/2006/main">
            <a:off x="666750" y="3962400"/>
            <a:ext cx="2476500" cy="97155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27" name="">
            <a:extLst xmlns:a="http://schemas.openxmlformats.org/drawingml/2006/main">
              <a:ext uri="{FF2B5EF4-FFF2-40B4-BE49-F238E27FC236}">
                <a16:creationId xmlns:a16="http://schemas.microsoft.com/office/drawing/2014/main" id="{00D7CF32-AE9B-4A93-AC0A-B01E52A727F8}"/>
              </a:ext>
            </a:extLst>
          </p:cNvPr>
          <p:cNvSpPr>
            <a:spLocks xmlns:a="http://schemas.openxmlformats.org/drawingml/2006/main" noGrp="1"/>
          </p:cNvSpPr>
          <p:nvPr/>
        </p:nvSpPr>
        <p:spPr>
          <a:xfrm xmlns:a="http://schemas.openxmlformats.org/drawingml/2006/main">
            <a:off x="800100" y="4095750"/>
            <a:ext cx="2209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High-volume simple task</a:t>
            </a:r>
          </a:p>
        </p:txBody>
      </p:sp>
      <p:sp>
        <p:nvSpPr>
          <p:cNvPr id="28" name="">
            <a:extLst xmlns:a="http://schemas.openxmlformats.org/drawingml/2006/main">
              <a:ext uri="{FF2B5EF4-FFF2-40B4-BE49-F238E27FC236}">
                <a16:creationId xmlns:a16="http://schemas.microsoft.com/office/drawing/2014/main" id="{7B542287-01C2-4D9E-945D-6C89CF6918FF}"/>
              </a:ext>
            </a:extLst>
          </p:cNvPr>
          <p:cNvSpPr>
            <a:spLocks xmlns:a="http://schemas.openxmlformats.org/drawingml/2006/main" noGrp="1"/>
          </p:cNvSpPr>
          <p:nvPr/>
        </p:nvSpPr>
        <p:spPr>
          <a:xfrm xmlns:a="http://schemas.openxmlformats.org/drawingml/2006/main">
            <a:off x="3143250" y="396240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29" name="">
            <a:extLst xmlns:a="http://schemas.openxmlformats.org/drawingml/2006/main">
              <a:ext uri="{FF2B5EF4-FFF2-40B4-BE49-F238E27FC236}">
                <a16:creationId xmlns:a16="http://schemas.microsoft.com/office/drawing/2014/main" id="{03316FB2-0D26-4466-8093-53BBE6882FCF}"/>
              </a:ext>
            </a:extLst>
          </p:cNvPr>
          <p:cNvSpPr>
            <a:spLocks xmlns:a="http://schemas.openxmlformats.org/drawingml/2006/main" noGrp="1"/>
          </p:cNvSpPr>
          <p:nvPr/>
        </p:nvSpPr>
        <p:spPr>
          <a:xfrm xmlns:a="http://schemas.openxmlformats.org/drawingml/2006/main">
            <a:off x="3276600" y="40957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Flash-Lite / efficient tier</a:t>
            </a:r>
          </a:p>
        </p:txBody>
      </p:sp>
      <p:sp>
        <p:nvSpPr>
          <p:cNvPr id="30" name="">
            <a:extLst xmlns:a="http://schemas.openxmlformats.org/drawingml/2006/main">
              <a:ext uri="{FF2B5EF4-FFF2-40B4-BE49-F238E27FC236}">
                <a16:creationId xmlns:a16="http://schemas.microsoft.com/office/drawing/2014/main" id="{5FCA726A-7EAD-4A38-9BFE-97E80A11ADCB}"/>
              </a:ext>
            </a:extLst>
          </p:cNvPr>
          <p:cNvSpPr>
            <a:spLocks xmlns:a="http://schemas.openxmlformats.org/drawingml/2006/main" noGrp="1"/>
          </p:cNvSpPr>
          <p:nvPr/>
        </p:nvSpPr>
        <p:spPr>
          <a:xfrm xmlns:a="http://schemas.openxmlformats.org/drawingml/2006/main">
            <a:off x="6000750" y="396240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1" name="">
            <a:extLst xmlns:a="http://schemas.openxmlformats.org/drawingml/2006/main">
              <a:ext uri="{FF2B5EF4-FFF2-40B4-BE49-F238E27FC236}">
                <a16:creationId xmlns:a16="http://schemas.microsoft.com/office/drawing/2014/main" id="{9D4AEB60-6F16-4490-94C1-705BC9FAED64}"/>
              </a:ext>
            </a:extLst>
          </p:cNvPr>
          <p:cNvSpPr>
            <a:spLocks xmlns:a="http://schemas.openxmlformats.org/drawingml/2006/main" noGrp="1"/>
          </p:cNvSpPr>
          <p:nvPr/>
        </p:nvSpPr>
        <p:spPr>
          <a:xfrm xmlns:a="http://schemas.openxmlformats.org/drawingml/2006/main">
            <a:off x="6134100" y="409575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Optimized for throughput and cost</a:t>
            </a:r>
          </a:p>
        </p:txBody>
      </p:sp>
      <p:sp>
        <p:nvSpPr>
          <p:cNvPr id="32" name="">
            <a:extLst xmlns:a="http://schemas.openxmlformats.org/drawingml/2006/main">
              <a:ext uri="{FF2B5EF4-FFF2-40B4-BE49-F238E27FC236}">
                <a16:creationId xmlns:a16="http://schemas.microsoft.com/office/drawing/2014/main" id="{ECE70228-A322-458F-BE95-49413F11F80B}"/>
              </a:ext>
            </a:extLst>
          </p:cNvPr>
          <p:cNvSpPr>
            <a:spLocks xmlns:a="http://schemas.openxmlformats.org/drawingml/2006/main" noGrp="1"/>
          </p:cNvSpPr>
          <p:nvPr/>
        </p:nvSpPr>
        <p:spPr>
          <a:xfrm xmlns:a="http://schemas.openxmlformats.org/drawingml/2006/main">
            <a:off x="8858250" y="3962400"/>
            <a:ext cx="26670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3" name="">
            <a:extLst xmlns:a="http://schemas.openxmlformats.org/drawingml/2006/main">
              <a:ext uri="{FF2B5EF4-FFF2-40B4-BE49-F238E27FC236}">
                <a16:creationId xmlns:a16="http://schemas.microsoft.com/office/drawing/2014/main" id="{D18BB547-BE9F-418B-A53A-18983B0D4611}"/>
              </a:ext>
            </a:extLst>
          </p:cNvPr>
          <p:cNvSpPr>
            <a:spLocks xmlns:a="http://schemas.openxmlformats.org/drawingml/2006/main" noGrp="1"/>
          </p:cNvSpPr>
          <p:nvPr/>
        </p:nvSpPr>
        <p:spPr>
          <a:xfrm xmlns:a="http://schemas.openxmlformats.org/drawingml/2006/main">
            <a:off x="8991600" y="409575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Classification or short structured output</a:t>
            </a:r>
          </a:p>
        </p:txBody>
      </p:sp>
      <p:sp>
        <p:nvSpPr>
          <p:cNvPr id="34" name="">
            <a:extLst xmlns:a="http://schemas.openxmlformats.org/drawingml/2006/main">
              <a:ext uri="{FF2B5EF4-FFF2-40B4-BE49-F238E27FC236}">
                <a16:creationId xmlns:a16="http://schemas.microsoft.com/office/drawing/2014/main" id="{CD1EB3DE-574B-4D58-A149-2AA49A1D0C2C}"/>
              </a:ext>
            </a:extLst>
          </p:cNvPr>
          <p:cNvSpPr>
            <a:spLocks xmlns:a="http://schemas.openxmlformats.org/drawingml/2006/main" noGrp="1"/>
          </p:cNvSpPr>
          <p:nvPr/>
        </p:nvSpPr>
        <p:spPr>
          <a:xfrm xmlns:a="http://schemas.openxmlformats.org/drawingml/2006/main">
            <a:off x="666750" y="4933950"/>
            <a:ext cx="2476500" cy="971550"/>
          </a:xfrm>
          <a:prstGeom xmlns:a="http://schemas.openxmlformats.org/drawingml/2006/main" prst="rect">
            <a:avLst/>
          </a:prstGeom>
          <a:solidFill xmlns:a="http://schemas.openxmlformats.org/drawingml/2006/main">
            <a:srgbClr val="F8F8F8"/>
          </a:solidFill>
          <a:ln xmlns:a="http://schemas.openxmlformats.org/drawingml/2006/main" w="9525">
            <a:solidFill>
              <a:srgbClr val="DADCE0"/>
            </a:solidFill>
            <a:prstDash val="solid"/>
          </a:ln>
        </p:spPr>
      </p:sp>
      <p:sp>
        <p:nvSpPr>
          <p:cNvPr id="35" name="">
            <a:extLst xmlns:a="http://schemas.openxmlformats.org/drawingml/2006/main">
              <a:ext uri="{FF2B5EF4-FFF2-40B4-BE49-F238E27FC236}">
                <a16:creationId xmlns:a16="http://schemas.microsoft.com/office/drawing/2014/main" id="{B9FB3789-274B-429A-86B6-237AA9790BA3}"/>
              </a:ext>
            </a:extLst>
          </p:cNvPr>
          <p:cNvSpPr>
            <a:spLocks xmlns:a="http://schemas.openxmlformats.org/drawingml/2006/main" noGrp="1"/>
          </p:cNvSpPr>
          <p:nvPr/>
        </p:nvSpPr>
        <p:spPr>
          <a:xfrm xmlns:a="http://schemas.openxmlformats.org/drawingml/2006/main">
            <a:off x="800100" y="5067300"/>
            <a:ext cx="2209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13" b="1">
                <a:solidFill>
                  <a:srgbClr val="000000"/>
                </a:solidFill>
                <a:latin typeface="Google Sans Medium"/>
                <a:ea typeface="Google Sans Medium"/>
                <a:cs typeface="Google Sans Medium"/>
              </a:defRPr>
            </a:pPr>
            <a:r>
              <a:rPr sz="1313" b="1">
                <a:solidFill>
                  <a:srgbClr val="000000"/>
                </a:solidFill>
                <a:latin typeface="Google Sans Medium"/>
                <a:ea typeface="Google Sans Medium"/>
                <a:cs typeface="Google Sans Medium"/>
              </a:rPr>
              <a:t>Open customization</a:t>
            </a:r>
          </a:p>
        </p:txBody>
      </p:sp>
      <p:sp>
        <p:nvSpPr>
          <p:cNvPr id="36" name="">
            <a:extLst xmlns:a="http://schemas.openxmlformats.org/drawingml/2006/main">
              <a:ext uri="{FF2B5EF4-FFF2-40B4-BE49-F238E27FC236}">
                <a16:creationId xmlns:a16="http://schemas.microsoft.com/office/drawing/2014/main" id="{F418676A-9911-4983-88C8-F2147C3C4070}"/>
              </a:ext>
            </a:extLst>
          </p:cNvPr>
          <p:cNvSpPr>
            <a:spLocks xmlns:a="http://schemas.openxmlformats.org/drawingml/2006/main" noGrp="1"/>
          </p:cNvSpPr>
          <p:nvPr/>
        </p:nvSpPr>
        <p:spPr>
          <a:xfrm xmlns:a="http://schemas.openxmlformats.org/drawingml/2006/main">
            <a:off x="3143250" y="493395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7" name="">
            <a:extLst xmlns:a="http://schemas.openxmlformats.org/drawingml/2006/main">
              <a:ext uri="{FF2B5EF4-FFF2-40B4-BE49-F238E27FC236}">
                <a16:creationId xmlns:a16="http://schemas.microsoft.com/office/drawing/2014/main" id="{F0A1CAB0-3283-4604-9ED7-F80254F7979D}"/>
              </a:ext>
            </a:extLst>
          </p:cNvPr>
          <p:cNvSpPr>
            <a:spLocks xmlns:a="http://schemas.openxmlformats.org/drawingml/2006/main" noGrp="1"/>
          </p:cNvSpPr>
          <p:nvPr/>
        </p:nvSpPr>
        <p:spPr>
          <a:xfrm xmlns:a="http://schemas.openxmlformats.org/drawingml/2006/main">
            <a:off x="3276600" y="506730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Gemma open models</a:t>
            </a:r>
          </a:p>
        </p:txBody>
      </p:sp>
      <p:sp>
        <p:nvSpPr>
          <p:cNvPr id="38" name="">
            <a:extLst xmlns:a="http://schemas.openxmlformats.org/drawingml/2006/main">
              <a:ext uri="{FF2B5EF4-FFF2-40B4-BE49-F238E27FC236}">
                <a16:creationId xmlns:a16="http://schemas.microsoft.com/office/drawing/2014/main" id="{0DED444A-673C-4217-BC85-CAE8DC4A9973}"/>
              </a:ext>
            </a:extLst>
          </p:cNvPr>
          <p:cNvSpPr>
            <a:spLocks xmlns:a="http://schemas.openxmlformats.org/drawingml/2006/main" noGrp="1"/>
          </p:cNvSpPr>
          <p:nvPr/>
        </p:nvSpPr>
        <p:spPr>
          <a:xfrm xmlns:a="http://schemas.openxmlformats.org/drawingml/2006/main">
            <a:off x="6000750" y="4933950"/>
            <a:ext cx="28575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39" name="">
            <a:extLst xmlns:a="http://schemas.openxmlformats.org/drawingml/2006/main">
              <a:ext uri="{FF2B5EF4-FFF2-40B4-BE49-F238E27FC236}">
                <a16:creationId xmlns:a16="http://schemas.microsoft.com/office/drawing/2014/main" id="{DECD8CCB-B8CA-4610-B8B6-AE9FFAE61CC0}"/>
              </a:ext>
            </a:extLst>
          </p:cNvPr>
          <p:cNvSpPr>
            <a:spLocks xmlns:a="http://schemas.openxmlformats.org/drawingml/2006/main" noGrp="1"/>
          </p:cNvSpPr>
          <p:nvPr/>
        </p:nvSpPr>
        <p:spPr>
          <a:xfrm xmlns:a="http://schemas.openxmlformats.org/drawingml/2006/main">
            <a:off x="6134100" y="5067300"/>
            <a:ext cx="2590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Downloadable weights under the relevant license</a:t>
            </a:r>
          </a:p>
        </p:txBody>
      </p:sp>
      <p:sp>
        <p:nvSpPr>
          <p:cNvPr id="40" name="">
            <a:extLst xmlns:a="http://schemas.openxmlformats.org/drawingml/2006/main">
              <a:ext uri="{FF2B5EF4-FFF2-40B4-BE49-F238E27FC236}">
                <a16:creationId xmlns:a16="http://schemas.microsoft.com/office/drawing/2014/main" id="{47AC4BB2-76E4-4CC1-AF41-BEF0D3C0E1FC}"/>
              </a:ext>
            </a:extLst>
          </p:cNvPr>
          <p:cNvSpPr>
            <a:spLocks xmlns:a="http://schemas.openxmlformats.org/drawingml/2006/main" noGrp="1"/>
          </p:cNvSpPr>
          <p:nvPr/>
        </p:nvSpPr>
        <p:spPr>
          <a:xfrm xmlns:a="http://schemas.openxmlformats.org/drawingml/2006/main">
            <a:off x="8858250" y="4933950"/>
            <a:ext cx="2667000" cy="971550"/>
          </a:xfrm>
          <a:prstGeom xmlns:a="http://schemas.openxmlformats.org/drawingml/2006/main" prst="rect">
            <a:avLst/>
          </a:prstGeom>
          <a:solidFill xmlns:a="http://schemas.openxmlformats.org/drawingml/2006/main">
            <a:srgbClr val="FFFFFF"/>
          </a:solidFill>
          <a:ln xmlns:a="http://schemas.openxmlformats.org/drawingml/2006/main" w="9525">
            <a:solidFill>
              <a:srgbClr val="DADCE0"/>
            </a:solidFill>
            <a:prstDash val="solid"/>
          </a:ln>
        </p:spPr>
      </p:sp>
      <p:sp>
        <p:nvSpPr>
          <p:cNvPr id="41" name="">
            <a:extLst xmlns:a="http://schemas.openxmlformats.org/drawingml/2006/main">
              <a:ext uri="{FF2B5EF4-FFF2-40B4-BE49-F238E27FC236}">
                <a16:creationId xmlns:a16="http://schemas.microsoft.com/office/drawing/2014/main" id="{AEF866AD-8930-4C07-973C-C342B40F7183}"/>
              </a:ext>
            </a:extLst>
          </p:cNvPr>
          <p:cNvSpPr>
            <a:spLocks xmlns:a="http://schemas.openxmlformats.org/drawingml/2006/main" noGrp="1"/>
          </p:cNvSpPr>
          <p:nvPr/>
        </p:nvSpPr>
        <p:spPr>
          <a:xfrm xmlns:a="http://schemas.openxmlformats.org/drawingml/2006/main">
            <a:off x="8991600" y="5067300"/>
            <a:ext cx="24003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238" b="0">
                <a:solidFill>
                  <a:srgbClr val="000000"/>
                </a:solidFill>
                <a:latin typeface="Google Sans Text"/>
                <a:ea typeface="Google Sans Text"/>
                <a:cs typeface="Google Sans Text"/>
              </a:defRPr>
            </a:pPr>
            <a:r>
              <a:rPr sz="1238" b="0">
                <a:solidFill>
                  <a:srgbClr val="000000"/>
                </a:solidFill>
                <a:latin typeface="Google Sans Text"/>
                <a:ea typeface="Google Sans Text"/>
                <a:cs typeface="Google Sans Text"/>
              </a:rPr>
              <a:t>Research or controlled deployment</a:t>
            </a:r>
          </a:p>
        </p:txBody>
      </p:sp>
      <p:sp>
        <p:nvSpPr>
          <p:cNvPr id="42" name="">
            <a:extLst xmlns:a="http://schemas.openxmlformats.org/drawingml/2006/main">
              <a:ext uri="{FF2B5EF4-FFF2-40B4-BE49-F238E27FC236}">
                <a16:creationId xmlns:a16="http://schemas.microsoft.com/office/drawing/2014/main" id="{95FAFB4F-5559-42BB-B3E5-6C18AA73DC97}"/>
              </a:ext>
            </a:extLst>
          </p:cNvPr>
          <p:cNvSpPr>
            <a:spLocks xmlns:a="http://schemas.openxmlformats.org/drawingml/2006/main" noGrp="1"/>
          </p:cNvSpPr>
          <p:nvPr/>
        </p:nvSpPr>
        <p:spPr>
          <a:xfrm xmlns:a="http://schemas.openxmlformats.org/drawingml/2006/main">
            <a:off x="1619250" y="60483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F6368"/>
                </a:solidFill>
                <a:latin typeface="Google Sans Text"/>
                <a:ea typeface="Google Sans Text"/>
                <a:cs typeface="Google Sans Text"/>
              </a:defRPr>
            </a:pPr>
            <a:r>
              <a:rPr sz="1275" b="0">
                <a:solidFill>
                  <a:srgbClr val="5F6368"/>
                </a:solidFill>
                <a:latin typeface="Google Sans Text"/>
                <a:ea typeface="Google Sans Text"/>
                <a:cs typeface="Google Sans Text"/>
              </a:rPr>
              <a:t>Version numbers and availability change rapidly—confirm the current official model catalog before delivery.</a:t>
            </a:r>
          </a:p>
        </p:txBody>
      </p:sp>
    </p:spTree>
    <p:extLst>
      <p:ext uri="{BB962C8B-B14F-4D97-AF65-F5344CB8AC3E}">
        <p14:creationId xmlns:p14="http://schemas.microsoft.com/office/powerpoint/2010/main" val="130811185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0CBEDD8-C353-4E99-B2F5-C255275E86DC}"/>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Studio tools and Model Garden answer different questions</a:t>
            </a:r>
          </a:p>
        </p:txBody>
      </p:sp>
      <p:sp>
        <p:nvSpPr>
          <p:cNvPr id="2" name="">
            <a:extLst xmlns:a="http://schemas.openxmlformats.org/drawingml/2006/main">
              <a:ext uri="{FF2B5EF4-FFF2-40B4-BE49-F238E27FC236}">
                <a16:creationId xmlns:a16="http://schemas.microsoft.com/office/drawing/2014/main" id="{5A64D083-4FAB-4779-A9EC-CEC35658E8F1}"/>
              </a:ext>
            </a:extLst>
          </p:cNvPr>
          <p:cNvSpPr>
            <a:spLocks xmlns:a="http://schemas.openxmlformats.org/drawingml/2006/main" noGrp="1"/>
          </p:cNvSpPr>
          <p:nvPr/>
        </p:nvSpPr>
        <p:spPr>
          <a:xfrm xmlns:a="http://schemas.openxmlformats.org/drawingml/2006/main">
            <a:off x="666750" y="1381125"/>
            <a:ext cx="5143500" cy="4476750"/>
          </a:xfrm>
          <a:prstGeom xmlns:a="http://schemas.openxmlformats.org/drawingml/2006/main" prst="rect">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76CB6763-DC44-4910-A1AF-971C12365235}"/>
              </a:ext>
            </a:extLst>
          </p:cNvPr>
          <p:cNvSpPr>
            <a:spLocks xmlns:a="http://schemas.openxmlformats.org/drawingml/2006/main" noGrp="1"/>
          </p:cNvSpPr>
          <p:nvPr/>
        </p:nvSpPr>
        <p:spPr>
          <a:xfrm xmlns:a="http://schemas.openxmlformats.org/drawingml/2006/main">
            <a:off x="6381750" y="1381125"/>
            <a:ext cx="5143500" cy="4476750"/>
          </a:xfrm>
          <a:prstGeom xmlns:a="http://schemas.openxmlformats.org/drawingml/2006/main" prst="rect">
            <a:avLst/>
          </a:prstGeom>
          <a:solidFill xmlns:a="http://schemas.openxmlformats.org/drawingml/2006/main">
            <a:srgbClr val="FDEFC3"/>
          </a:solidFill>
          <a:ln xmlns:a="http://schemas.openxmlformats.org/drawingml/2006/main" w="0">
            <a:solidFill>
              <a:srgbClr val="FDEFC3"/>
            </a:solidFill>
            <a:prstDash val="solid"/>
          </a:ln>
        </p:spPr>
      </p:sp>
      <p:sp>
        <p:nvSpPr>
          <p:cNvPr id="4" name="">
            <a:extLst xmlns:a="http://schemas.openxmlformats.org/drawingml/2006/main">
              <a:ext uri="{FF2B5EF4-FFF2-40B4-BE49-F238E27FC236}">
                <a16:creationId xmlns:a16="http://schemas.microsoft.com/office/drawing/2014/main" id="{D6208DB5-7187-420B-9284-30D243398C66}"/>
              </a:ext>
            </a:extLst>
          </p:cNvPr>
          <p:cNvSpPr>
            <a:spLocks xmlns:a="http://schemas.openxmlformats.org/drawingml/2006/main" noGrp="1"/>
          </p:cNvSpPr>
          <p:nvPr/>
        </p:nvSpPr>
        <p:spPr>
          <a:xfrm xmlns:a="http://schemas.openxmlformats.org/drawingml/2006/main">
            <a:off x="1000125" y="17145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Medium"/>
                <a:ea typeface="Google Sans Medium"/>
                <a:cs typeface="Google Sans Medium"/>
              </a:defRPr>
            </a:pPr>
            <a:r>
              <a:rPr sz="2100" b="1">
                <a:solidFill>
                  <a:srgbClr val="000000"/>
                </a:solidFill>
                <a:latin typeface="Google Sans Medium"/>
                <a:ea typeface="Google Sans Medium"/>
                <a:cs typeface="Google Sans Medium"/>
              </a:rPr>
              <a:t>Studio tools</a:t>
            </a:r>
          </a:p>
        </p:txBody>
      </p:sp>
      <p:sp>
        <p:nvSpPr>
          <p:cNvPr id="5" name="">
            <a:extLst xmlns:a="http://schemas.openxmlformats.org/drawingml/2006/main">
              <a:ext uri="{FF2B5EF4-FFF2-40B4-BE49-F238E27FC236}">
                <a16:creationId xmlns:a16="http://schemas.microsoft.com/office/drawing/2014/main" id="{0E0C8653-6ACC-4852-AADA-6DF262E5E060}"/>
              </a:ext>
            </a:extLst>
          </p:cNvPr>
          <p:cNvSpPr>
            <a:spLocks xmlns:a="http://schemas.openxmlformats.org/drawingml/2006/main" noGrp="1"/>
          </p:cNvSpPr>
          <p:nvPr/>
        </p:nvSpPr>
        <p:spPr>
          <a:xfrm xmlns:a="http://schemas.openxmlformats.org/drawingml/2006/main">
            <a:off x="1190625" y="23526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“How does this model respond?”</a:t>
            </a:r>
          </a:p>
        </p:txBody>
      </p:sp>
      <p:sp>
        <p:nvSpPr>
          <p:cNvPr id="6" name="">
            <a:extLst xmlns:a="http://schemas.openxmlformats.org/drawingml/2006/main">
              <a:ext uri="{FF2B5EF4-FFF2-40B4-BE49-F238E27FC236}">
                <a16:creationId xmlns:a16="http://schemas.microsoft.com/office/drawing/2014/main" id="{6BB374E0-6007-4E1B-8C9F-1D3BAB6912B4}"/>
              </a:ext>
            </a:extLst>
          </p:cNvPr>
          <p:cNvSpPr>
            <a:spLocks xmlns:a="http://schemas.openxmlformats.org/drawingml/2006/main" noGrp="1"/>
          </p:cNvSpPr>
          <p:nvPr/>
        </p:nvSpPr>
        <p:spPr>
          <a:xfrm xmlns:a="http://schemas.openxmlformats.org/drawingml/2006/main">
            <a:off x="1238250" y="32289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7" name="">
            <a:extLst xmlns:a="http://schemas.openxmlformats.org/drawingml/2006/main">
              <a:ext uri="{FF2B5EF4-FFF2-40B4-BE49-F238E27FC236}">
                <a16:creationId xmlns:a16="http://schemas.microsoft.com/office/drawing/2014/main" id="{ABF3C885-D388-4869-B58A-4995782C52B5}"/>
              </a:ext>
            </a:extLst>
          </p:cNvPr>
          <p:cNvSpPr>
            <a:spLocks xmlns:a="http://schemas.openxmlformats.org/drawingml/2006/main" noGrp="1"/>
          </p:cNvSpPr>
          <p:nvPr/>
        </p:nvSpPr>
        <p:spPr>
          <a:xfrm xmlns:a="http://schemas.openxmlformats.org/drawingml/2006/main">
            <a:off x="1466850" y="31432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Write and test prompts</a:t>
            </a:r>
          </a:p>
        </p:txBody>
      </p:sp>
      <p:sp>
        <p:nvSpPr>
          <p:cNvPr id="8" name="">
            <a:extLst xmlns:a="http://schemas.openxmlformats.org/drawingml/2006/main">
              <a:ext uri="{FF2B5EF4-FFF2-40B4-BE49-F238E27FC236}">
                <a16:creationId xmlns:a16="http://schemas.microsoft.com/office/drawing/2014/main" id="{0074EEFF-4B40-4D5E-8563-C78F0162EFC0}"/>
              </a:ext>
            </a:extLst>
          </p:cNvPr>
          <p:cNvSpPr>
            <a:spLocks xmlns:a="http://schemas.openxmlformats.org/drawingml/2006/main" noGrp="1"/>
          </p:cNvSpPr>
          <p:nvPr/>
        </p:nvSpPr>
        <p:spPr>
          <a:xfrm xmlns:a="http://schemas.openxmlformats.org/drawingml/2006/main">
            <a:off x="1238250" y="37623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9" name="">
            <a:extLst xmlns:a="http://schemas.openxmlformats.org/drawingml/2006/main">
              <a:ext uri="{FF2B5EF4-FFF2-40B4-BE49-F238E27FC236}">
                <a16:creationId xmlns:a16="http://schemas.microsoft.com/office/drawing/2014/main" id="{5EA75233-4570-4D9D-844B-697EF6DEA111}"/>
              </a:ext>
            </a:extLst>
          </p:cNvPr>
          <p:cNvSpPr>
            <a:spLocks xmlns:a="http://schemas.openxmlformats.org/drawingml/2006/main" noGrp="1"/>
          </p:cNvSpPr>
          <p:nvPr/>
        </p:nvSpPr>
        <p:spPr>
          <a:xfrm xmlns:a="http://schemas.openxmlformats.org/drawingml/2006/main">
            <a:off x="1466850" y="36766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24"/>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Set system instructions and generation controls</a:t>
            </a:r>
          </a:p>
        </p:txBody>
      </p:sp>
      <p:sp>
        <p:nvSpPr>
          <p:cNvPr id="10" name="">
            <a:extLst xmlns:a="http://schemas.openxmlformats.org/drawingml/2006/main">
              <a:ext uri="{FF2B5EF4-FFF2-40B4-BE49-F238E27FC236}">
                <a16:creationId xmlns:a16="http://schemas.microsoft.com/office/drawing/2014/main" id="{8BC98EBF-338F-4DC3-B55C-1A28FB128545}"/>
              </a:ext>
            </a:extLst>
          </p:cNvPr>
          <p:cNvSpPr>
            <a:spLocks xmlns:a="http://schemas.openxmlformats.org/drawingml/2006/main" noGrp="1"/>
          </p:cNvSpPr>
          <p:nvPr/>
        </p:nvSpPr>
        <p:spPr>
          <a:xfrm xmlns:a="http://schemas.openxmlformats.org/drawingml/2006/main">
            <a:off x="1238250" y="42957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1" name="">
            <a:extLst xmlns:a="http://schemas.openxmlformats.org/drawingml/2006/main">
              <a:ext uri="{FF2B5EF4-FFF2-40B4-BE49-F238E27FC236}">
                <a16:creationId xmlns:a16="http://schemas.microsoft.com/office/drawing/2014/main" id="{E196ABE1-C83B-4E8B-9613-E843EE241B1E}"/>
              </a:ext>
            </a:extLst>
          </p:cNvPr>
          <p:cNvSpPr>
            <a:spLocks xmlns:a="http://schemas.openxmlformats.org/drawingml/2006/main" noGrp="1"/>
          </p:cNvSpPr>
          <p:nvPr/>
        </p:nvSpPr>
        <p:spPr>
          <a:xfrm xmlns:a="http://schemas.openxmlformats.org/drawingml/2006/main">
            <a:off x="1466850" y="42100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Compare responses</a:t>
            </a:r>
          </a:p>
        </p:txBody>
      </p:sp>
      <p:sp>
        <p:nvSpPr>
          <p:cNvPr id="12" name="">
            <a:extLst xmlns:a="http://schemas.openxmlformats.org/drawingml/2006/main">
              <a:ext uri="{FF2B5EF4-FFF2-40B4-BE49-F238E27FC236}">
                <a16:creationId xmlns:a16="http://schemas.microsoft.com/office/drawing/2014/main" id="{7C6D85FB-67B3-4BAC-8DCA-F6BE0DEAEBAB}"/>
              </a:ext>
            </a:extLst>
          </p:cNvPr>
          <p:cNvSpPr>
            <a:spLocks xmlns:a="http://schemas.openxmlformats.org/drawingml/2006/main" noGrp="1"/>
          </p:cNvSpPr>
          <p:nvPr/>
        </p:nvSpPr>
        <p:spPr>
          <a:xfrm xmlns:a="http://schemas.openxmlformats.org/drawingml/2006/main">
            <a:off x="1238250" y="4829175"/>
            <a:ext cx="104775" cy="104775"/>
          </a:xfrm>
          <a:prstGeom xmlns:a="http://schemas.openxmlformats.org/drawingml/2006/main" prst="ellipse">
            <a:avLst/>
          </a:prstGeom>
          <a:solidFill xmlns:a="http://schemas.openxmlformats.org/drawingml/2006/main">
            <a:srgbClr val="4285F4"/>
          </a:solidFill>
          <a:ln xmlns:a="http://schemas.openxmlformats.org/drawingml/2006/main" w="0">
            <a:solidFill>
              <a:srgbClr val="4285F4"/>
            </a:solidFill>
            <a:prstDash val="solid"/>
          </a:ln>
        </p:spPr>
      </p:sp>
      <p:sp>
        <p:nvSpPr>
          <p:cNvPr id="13" name="">
            <a:extLst xmlns:a="http://schemas.openxmlformats.org/drawingml/2006/main">
              <a:ext uri="{FF2B5EF4-FFF2-40B4-BE49-F238E27FC236}">
                <a16:creationId xmlns:a16="http://schemas.microsoft.com/office/drawing/2014/main" id="{A9546527-18B7-47C2-BBFD-3AC9FACB8AFF}"/>
              </a:ext>
            </a:extLst>
          </p:cNvPr>
          <p:cNvSpPr>
            <a:spLocks xmlns:a="http://schemas.openxmlformats.org/drawingml/2006/main" noGrp="1"/>
          </p:cNvSpPr>
          <p:nvPr/>
        </p:nvSpPr>
        <p:spPr>
          <a:xfrm xmlns:a="http://schemas.openxmlformats.org/drawingml/2006/main">
            <a:off x="1466850" y="47434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Generate starter code</a:t>
            </a:r>
          </a:p>
        </p:txBody>
      </p:sp>
      <p:sp>
        <p:nvSpPr>
          <p:cNvPr id="14" name="">
            <a:extLst xmlns:a="http://schemas.openxmlformats.org/drawingml/2006/main">
              <a:ext uri="{FF2B5EF4-FFF2-40B4-BE49-F238E27FC236}">
                <a16:creationId xmlns:a16="http://schemas.microsoft.com/office/drawing/2014/main" id="{45E53135-BECD-4078-86B4-89692E9A36F0}"/>
              </a:ext>
            </a:extLst>
          </p:cNvPr>
          <p:cNvSpPr>
            <a:spLocks xmlns:a="http://schemas.openxmlformats.org/drawingml/2006/main" noGrp="1"/>
          </p:cNvSpPr>
          <p:nvPr/>
        </p:nvSpPr>
        <p:spPr>
          <a:xfrm xmlns:a="http://schemas.openxmlformats.org/drawingml/2006/main">
            <a:off x="1285875" y="5238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Best for: rapid prototyping</a:t>
            </a:r>
          </a:p>
        </p:txBody>
      </p:sp>
      <p:sp>
        <p:nvSpPr>
          <p:cNvPr id="15" name="">
            <a:extLst xmlns:a="http://schemas.openxmlformats.org/drawingml/2006/main">
              <a:ext uri="{FF2B5EF4-FFF2-40B4-BE49-F238E27FC236}">
                <a16:creationId xmlns:a16="http://schemas.microsoft.com/office/drawing/2014/main" id="{3DBA5163-49AE-4265-8A71-EA2154F4AB6A}"/>
              </a:ext>
            </a:extLst>
          </p:cNvPr>
          <p:cNvSpPr>
            <a:spLocks xmlns:a="http://schemas.openxmlformats.org/drawingml/2006/main" noGrp="1"/>
          </p:cNvSpPr>
          <p:nvPr/>
        </p:nvSpPr>
        <p:spPr>
          <a:xfrm xmlns:a="http://schemas.openxmlformats.org/drawingml/2006/main">
            <a:off x="6715125" y="17145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Medium"/>
                <a:ea typeface="Google Sans Medium"/>
                <a:cs typeface="Google Sans Medium"/>
              </a:defRPr>
            </a:pPr>
            <a:r>
              <a:rPr sz="2100" b="1">
                <a:solidFill>
                  <a:srgbClr val="000000"/>
                </a:solidFill>
                <a:latin typeface="Google Sans Medium"/>
                <a:ea typeface="Google Sans Medium"/>
                <a:cs typeface="Google Sans Medium"/>
              </a:rPr>
              <a:t>Model Garden</a:t>
            </a:r>
          </a:p>
        </p:txBody>
      </p:sp>
      <p:sp>
        <p:nvSpPr>
          <p:cNvPr id="16" name="">
            <a:extLst xmlns:a="http://schemas.openxmlformats.org/drawingml/2006/main">
              <a:ext uri="{FF2B5EF4-FFF2-40B4-BE49-F238E27FC236}">
                <a16:creationId xmlns:a16="http://schemas.microsoft.com/office/drawing/2014/main" id="{0EF80C2D-E3A7-4667-9768-15A291BC032C}"/>
              </a:ext>
            </a:extLst>
          </p:cNvPr>
          <p:cNvSpPr>
            <a:spLocks xmlns:a="http://schemas.openxmlformats.org/drawingml/2006/main" noGrp="1"/>
          </p:cNvSpPr>
          <p:nvPr/>
        </p:nvSpPr>
        <p:spPr>
          <a:xfrm xmlns:a="http://schemas.openxmlformats.org/drawingml/2006/main">
            <a:off x="6905625" y="23526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“Which model should we consider?”</a:t>
            </a:r>
          </a:p>
        </p:txBody>
      </p:sp>
      <p:sp>
        <p:nvSpPr>
          <p:cNvPr id="17" name="">
            <a:extLst xmlns:a="http://schemas.openxmlformats.org/drawingml/2006/main">
              <a:ext uri="{FF2B5EF4-FFF2-40B4-BE49-F238E27FC236}">
                <a16:creationId xmlns:a16="http://schemas.microsoft.com/office/drawing/2014/main" id="{E9F0F047-87EB-490E-AB14-8BA58BB56236}"/>
              </a:ext>
            </a:extLst>
          </p:cNvPr>
          <p:cNvSpPr>
            <a:spLocks xmlns:a="http://schemas.openxmlformats.org/drawingml/2006/main" noGrp="1"/>
          </p:cNvSpPr>
          <p:nvPr/>
        </p:nvSpPr>
        <p:spPr>
          <a:xfrm xmlns:a="http://schemas.openxmlformats.org/drawingml/2006/main">
            <a:off x="6953250" y="3228975"/>
            <a:ext cx="104775" cy="104775"/>
          </a:xfrm>
          <a:prstGeom xmlns:a="http://schemas.openxmlformats.org/drawingml/2006/main" prst="ellipse">
            <a:avLst/>
          </a:prstGeom>
          <a:solidFill xmlns:a="http://schemas.openxmlformats.org/drawingml/2006/main">
            <a:srgbClr val="F0A608"/>
          </a:solidFill>
          <a:ln xmlns:a="http://schemas.openxmlformats.org/drawingml/2006/main" w="0">
            <a:solidFill>
              <a:srgbClr val="F0A608"/>
            </a:solidFill>
            <a:prstDash val="solid"/>
          </a:ln>
        </p:spPr>
      </p:sp>
      <p:sp>
        <p:nvSpPr>
          <p:cNvPr id="18" name="">
            <a:extLst xmlns:a="http://schemas.openxmlformats.org/drawingml/2006/main">
              <a:ext uri="{FF2B5EF4-FFF2-40B4-BE49-F238E27FC236}">
                <a16:creationId xmlns:a16="http://schemas.microsoft.com/office/drawing/2014/main" id="{FBD94779-9AF5-4C82-AF22-0A92370BF013}"/>
              </a:ext>
            </a:extLst>
          </p:cNvPr>
          <p:cNvSpPr>
            <a:spLocks xmlns:a="http://schemas.openxmlformats.org/drawingml/2006/main" noGrp="1"/>
          </p:cNvSpPr>
          <p:nvPr/>
        </p:nvSpPr>
        <p:spPr>
          <a:xfrm xmlns:a="http://schemas.openxmlformats.org/drawingml/2006/main">
            <a:off x="7181850" y="31432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Browse Google, partner, and open models</a:t>
            </a:r>
          </a:p>
        </p:txBody>
      </p:sp>
      <p:sp>
        <p:nvSpPr>
          <p:cNvPr id="19" name="">
            <a:extLst xmlns:a="http://schemas.openxmlformats.org/drawingml/2006/main">
              <a:ext uri="{FF2B5EF4-FFF2-40B4-BE49-F238E27FC236}">
                <a16:creationId xmlns:a16="http://schemas.microsoft.com/office/drawing/2014/main" id="{6BACF2B4-1509-41F9-B35D-FD966162B3B3}"/>
              </a:ext>
            </a:extLst>
          </p:cNvPr>
          <p:cNvSpPr>
            <a:spLocks xmlns:a="http://schemas.openxmlformats.org/drawingml/2006/main" noGrp="1"/>
          </p:cNvSpPr>
          <p:nvPr/>
        </p:nvSpPr>
        <p:spPr>
          <a:xfrm xmlns:a="http://schemas.openxmlformats.org/drawingml/2006/main">
            <a:off x="6953250" y="3762375"/>
            <a:ext cx="104775" cy="104775"/>
          </a:xfrm>
          <a:prstGeom xmlns:a="http://schemas.openxmlformats.org/drawingml/2006/main" prst="ellipse">
            <a:avLst/>
          </a:prstGeom>
          <a:solidFill xmlns:a="http://schemas.openxmlformats.org/drawingml/2006/main">
            <a:srgbClr val="F0A608"/>
          </a:solidFill>
          <a:ln xmlns:a="http://schemas.openxmlformats.org/drawingml/2006/main" w="0">
            <a:solidFill>
              <a:srgbClr val="F0A608"/>
            </a:solidFill>
            <a:prstDash val="solid"/>
          </a:ln>
        </p:spPr>
      </p:sp>
      <p:sp>
        <p:nvSpPr>
          <p:cNvPr id="20" name="">
            <a:extLst xmlns:a="http://schemas.openxmlformats.org/drawingml/2006/main">
              <a:ext uri="{FF2B5EF4-FFF2-40B4-BE49-F238E27FC236}">
                <a16:creationId xmlns:a16="http://schemas.microsoft.com/office/drawing/2014/main" id="{EE803A43-64CC-481E-9B2A-73507E593DEB}"/>
              </a:ext>
            </a:extLst>
          </p:cNvPr>
          <p:cNvSpPr>
            <a:spLocks xmlns:a="http://schemas.openxmlformats.org/drawingml/2006/main" noGrp="1"/>
          </p:cNvSpPr>
          <p:nvPr/>
        </p:nvSpPr>
        <p:spPr>
          <a:xfrm xmlns:a="http://schemas.openxmlformats.org/drawingml/2006/main">
            <a:off x="7181850" y="36766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Read model cards and capabilities</a:t>
            </a:r>
          </a:p>
        </p:txBody>
      </p:sp>
      <p:sp>
        <p:nvSpPr>
          <p:cNvPr id="21" name="">
            <a:extLst xmlns:a="http://schemas.openxmlformats.org/drawingml/2006/main">
              <a:ext uri="{FF2B5EF4-FFF2-40B4-BE49-F238E27FC236}">
                <a16:creationId xmlns:a16="http://schemas.microsoft.com/office/drawing/2014/main" id="{4D01B09F-1B54-4372-9408-453B9F50A4BD}"/>
              </a:ext>
            </a:extLst>
          </p:cNvPr>
          <p:cNvSpPr>
            <a:spLocks xmlns:a="http://schemas.openxmlformats.org/drawingml/2006/main" noGrp="1"/>
          </p:cNvSpPr>
          <p:nvPr/>
        </p:nvSpPr>
        <p:spPr>
          <a:xfrm xmlns:a="http://schemas.openxmlformats.org/drawingml/2006/main">
            <a:off x="6953250" y="4295775"/>
            <a:ext cx="104775" cy="104775"/>
          </a:xfrm>
          <a:prstGeom xmlns:a="http://schemas.openxmlformats.org/drawingml/2006/main" prst="ellipse">
            <a:avLst/>
          </a:prstGeom>
          <a:solidFill xmlns:a="http://schemas.openxmlformats.org/drawingml/2006/main">
            <a:srgbClr val="F0A608"/>
          </a:solidFill>
          <a:ln xmlns:a="http://schemas.openxmlformats.org/drawingml/2006/main" w="0">
            <a:solidFill>
              <a:srgbClr val="F0A608"/>
            </a:solidFill>
            <a:prstDash val="solid"/>
          </a:ln>
        </p:spPr>
      </p:sp>
      <p:sp>
        <p:nvSpPr>
          <p:cNvPr id="22" name="">
            <a:extLst xmlns:a="http://schemas.openxmlformats.org/drawingml/2006/main">
              <a:ext uri="{FF2B5EF4-FFF2-40B4-BE49-F238E27FC236}">
                <a16:creationId xmlns:a16="http://schemas.microsoft.com/office/drawing/2014/main" id="{BD04660F-771B-43D7-9440-2788E7092C2E}"/>
              </a:ext>
            </a:extLst>
          </p:cNvPr>
          <p:cNvSpPr>
            <a:spLocks xmlns:a="http://schemas.openxmlformats.org/drawingml/2006/main" noGrp="1"/>
          </p:cNvSpPr>
          <p:nvPr/>
        </p:nvSpPr>
        <p:spPr>
          <a:xfrm xmlns:a="http://schemas.openxmlformats.org/drawingml/2006/main">
            <a:off x="7181850" y="42100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Compare modality, license, and deployment</a:t>
            </a:r>
          </a:p>
        </p:txBody>
      </p:sp>
      <p:sp>
        <p:nvSpPr>
          <p:cNvPr id="23" name="">
            <a:extLst xmlns:a="http://schemas.openxmlformats.org/drawingml/2006/main">
              <a:ext uri="{FF2B5EF4-FFF2-40B4-BE49-F238E27FC236}">
                <a16:creationId xmlns:a16="http://schemas.microsoft.com/office/drawing/2014/main" id="{0E0E7694-AA65-4FCB-9EC5-8DE82A2622C6}"/>
              </a:ext>
            </a:extLst>
          </p:cNvPr>
          <p:cNvSpPr>
            <a:spLocks xmlns:a="http://schemas.openxmlformats.org/drawingml/2006/main" noGrp="1"/>
          </p:cNvSpPr>
          <p:nvPr/>
        </p:nvSpPr>
        <p:spPr>
          <a:xfrm xmlns:a="http://schemas.openxmlformats.org/drawingml/2006/main">
            <a:off x="6953250" y="4829175"/>
            <a:ext cx="104775" cy="104775"/>
          </a:xfrm>
          <a:prstGeom xmlns:a="http://schemas.openxmlformats.org/drawingml/2006/main" prst="ellipse">
            <a:avLst/>
          </a:prstGeom>
          <a:solidFill xmlns:a="http://schemas.openxmlformats.org/drawingml/2006/main">
            <a:srgbClr val="F0A608"/>
          </a:solidFill>
          <a:ln xmlns:a="http://schemas.openxmlformats.org/drawingml/2006/main" w="0">
            <a:solidFill>
              <a:srgbClr val="F0A608"/>
            </a:solidFill>
            <a:prstDash val="solid"/>
          </a:ln>
        </p:spPr>
      </p:sp>
      <p:sp>
        <p:nvSpPr>
          <p:cNvPr id="24" name="">
            <a:extLst xmlns:a="http://schemas.openxmlformats.org/drawingml/2006/main">
              <a:ext uri="{FF2B5EF4-FFF2-40B4-BE49-F238E27FC236}">
                <a16:creationId xmlns:a16="http://schemas.microsoft.com/office/drawing/2014/main" id="{A7C3753F-1E8B-4728-9F1A-7FBAB45110EE}"/>
              </a:ext>
            </a:extLst>
          </p:cNvPr>
          <p:cNvSpPr>
            <a:spLocks xmlns:a="http://schemas.openxmlformats.org/drawingml/2006/main" noGrp="1"/>
          </p:cNvSpPr>
          <p:nvPr/>
        </p:nvSpPr>
        <p:spPr>
          <a:xfrm xmlns:a="http://schemas.openxmlformats.org/drawingml/2006/main">
            <a:off x="7181850" y="4743450"/>
            <a:ext cx="3771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000000"/>
                </a:solidFill>
                <a:latin typeface="Google Sans Text"/>
                <a:ea typeface="Google Sans Text"/>
                <a:cs typeface="Google Sans Text"/>
              </a:defRPr>
            </a:pPr>
            <a:r>
              <a:rPr sz="1425" b="0">
                <a:solidFill>
                  <a:srgbClr val="000000"/>
                </a:solidFill>
                <a:latin typeface="Google Sans Text"/>
                <a:ea typeface="Google Sans Text"/>
                <a:cs typeface="Google Sans Text"/>
              </a:rPr>
              <a:t>Start supported customization or deployment</a:t>
            </a:r>
          </a:p>
        </p:txBody>
      </p:sp>
      <p:sp>
        <p:nvSpPr>
          <p:cNvPr id="25" name="">
            <a:extLst xmlns:a="http://schemas.openxmlformats.org/drawingml/2006/main">
              <a:ext uri="{FF2B5EF4-FFF2-40B4-BE49-F238E27FC236}">
                <a16:creationId xmlns:a16="http://schemas.microsoft.com/office/drawing/2014/main" id="{867B6C73-A9C0-4CDE-896F-C356B09B3267}"/>
              </a:ext>
            </a:extLst>
          </p:cNvPr>
          <p:cNvSpPr>
            <a:spLocks xmlns:a="http://schemas.openxmlformats.org/drawingml/2006/main" noGrp="1"/>
          </p:cNvSpPr>
          <p:nvPr/>
        </p:nvSpPr>
        <p:spPr>
          <a:xfrm xmlns:a="http://schemas.openxmlformats.org/drawingml/2006/main">
            <a:off x="7000875" y="5238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Best for: model discovery</a:t>
            </a:r>
          </a:p>
        </p:txBody>
      </p:sp>
    </p:spTree>
    <p:extLst>
      <p:ext uri="{BB962C8B-B14F-4D97-AF65-F5344CB8AC3E}">
        <p14:creationId xmlns:p14="http://schemas.microsoft.com/office/powerpoint/2010/main" val="1416480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5DB006-D5F1-452F-9126-3501F73D65E8}"/>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Open the Google tool that matches the immediate task</a:t>
            </a:r>
          </a:p>
        </p:txBody>
      </p:sp>
      <p:sp>
        <p:nvSpPr>
          <p:cNvPr id="2" name="">
            <a:extLst xmlns:a="http://schemas.openxmlformats.org/drawingml/2006/main">
              <a:ext uri="{FF2B5EF4-FFF2-40B4-BE49-F238E27FC236}">
                <a16:creationId xmlns:a16="http://schemas.microsoft.com/office/drawing/2014/main" id="{8A68F624-32CB-4683-A1DE-33F040DEDBE1}"/>
              </a:ext>
            </a:extLst>
          </p:cNvPr>
          <p:cNvSpPr>
            <a:spLocks xmlns:a="http://schemas.openxmlformats.org/drawingml/2006/main" noGrp="1"/>
          </p:cNvSpPr>
          <p:nvPr/>
        </p:nvSpPr>
        <p:spPr>
          <a:xfrm xmlns:a="http://schemas.openxmlformats.org/drawingml/2006/main">
            <a:off x="619125" y="1809750"/>
            <a:ext cx="2457450" cy="2571750"/>
          </a:xfrm>
          <a:prstGeom xmlns:a="http://schemas.openxmlformats.org/drawingml/2006/main" prst="roundRect">
            <a:avLst>
              <a:gd name="adj" fmla="val 3101"/>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45A18C31-50BC-40F1-BA9D-849C4546A5C3}"/>
              </a:ext>
            </a:extLst>
          </p:cNvPr>
          <p:cNvSpPr>
            <a:spLocks xmlns:a="http://schemas.openxmlformats.org/drawingml/2006/main" noGrp="1"/>
          </p:cNvSpPr>
          <p:nvPr/>
        </p:nvSpPr>
        <p:spPr>
          <a:xfrm xmlns:a="http://schemas.openxmlformats.org/drawingml/2006/main">
            <a:off x="1571625" y="2095500"/>
            <a:ext cx="552450" cy="5524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575" b="1">
                <a:solidFill>
                  <a:srgbClr val="FFFFFF"/>
                </a:solidFill>
                <a:latin typeface="Google Sans Medium"/>
                <a:ea typeface="Google Sans Medium"/>
                <a:cs typeface="Google Sans Medium"/>
              </a:defRPr>
            </a:pPr>
            <a:r>
              <a:rPr sz="1575" b="1">
                <a:solidFill>
                  <a:srgbClr val="FFFFFF"/>
                </a:solidFill>
                <a:latin typeface="Google Sans Medium"/>
                <a:ea typeface="Google Sans Medium"/>
                <a:cs typeface="Google Sans Medium"/>
              </a:rPr>
              <a:t>1</a:t>
            </a:r>
          </a:p>
        </p:txBody>
      </p:sp>
      <p:sp>
        <p:nvSpPr>
          <p:cNvPr id="4" name="">
            <a:extLst xmlns:a="http://schemas.openxmlformats.org/drawingml/2006/main">
              <a:ext uri="{FF2B5EF4-FFF2-40B4-BE49-F238E27FC236}">
                <a16:creationId xmlns:a16="http://schemas.microsoft.com/office/drawing/2014/main" id="{23A6EE1D-95E2-491F-B7C6-11840183DA51}"/>
              </a:ext>
            </a:extLst>
          </p:cNvPr>
          <p:cNvSpPr>
            <a:spLocks xmlns:a="http://schemas.openxmlformats.org/drawingml/2006/main" noGrp="1"/>
          </p:cNvSpPr>
          <p:nvPr/>
        </p:nvSpPr>
        <p:spPr>
          <a:xfrm xmlns:a="http://schemas.openxmlformats.org/drawingml/2006/main">
            <a:off x="809625" y="29527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Find a model</a:t>
            </a:r>
          </a:p>
        </p:txBody>
      </p:sp>
      <p:sp>
        <p:nvSpPr>
          <p:cNvPr id="5" name="">
            <a:extLst xmlns:a="http://schemas.openxmlformats.org/drawingml/2006/main">
              <a:ext uri="{FF2B5EF4-FFF2-40B4-BE49-F238E27FC236}">
                <a16:creationId xmlns:a16="http://schemas.microsoft.com/office/drawing/2014/main" id="{A8F66BD0-8462-4641-82B5-6E227776A622}"/>
              </a:ext>
            </a:extLst>
          </p:cNvPr>
          <p:cNvSpPr>
            <a:spLocks xmlns:a="http://schemas.openxmlformats.org/drawingml/2006/main" noGrp="1"/>
          </p:cNvSpPr>
          <p:nvPr/>
        </p:nvSpPr>
        <p:spPr>
          <a:xfrm xmlns:a="http://schemas.openxmlformats.org/drawingml/2006/main">
            <a:off x="828675" y="3543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Model Garden</a:t>
            </a:r>
          </a:p>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model cards + options</a:t>
            </a:r>
          </a:p>
        </p:txBody>
      </p:sp>
      <p:sp>
        <p:nvSpPr>
          <p:cNvPr id="6" name="">
            <a:extLst xmlns:a="http://schemas.openxmlformats.org/drawingml/2006/main">
              <a:ext uri="{FF2B5EF4-FFF2-40B4-BE49-F238E27FC236}">
                <a16:creationId xmlns:a16="http://schemas.microsoft.com/office/drawing/2014/main" id="{51CE2633-0FFE-4942-A5C1-6144E4CDC0FE}"/>
              </a:ext>
            </a:extLst>
          </p:cNvPr>
          <p:cNvSpPr>
            <a:spLocks xmlns:a="http://schemas.openxmlformats.org/drawingml/2006/main" noGrp="1"/>
          </p:cNvSpPr>
          <p:nvPr/>
        </p:nvSpPr>
        <p:spPr>
          <a:xfrm xmlns:a="http://schemas.openxmlformats.org/drawingml/2006/main">
            <a:off x="3086100" y="28575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7" name="">
            <a:extLst xmlns:a="http://schemas.openxmlformats.org/drawingml/2006/main">
              <a:ext uri="{FF2B5EF4-FFF2-40B4-BE49-F238E27FC236}">
                <a16:creationId xmlns:a16="http://schemas.microsoft.com/office/drawing/2014/main" id="{6261285E-01B3-4872-BF94-4708745D9A46}"/>
              </a:ext>
            </a:extLst>
          </p:cNvPr>
          <p:cNvSpPr>
            <a:spLocks xmlns:a="http://schemas.openxmlformats.org/drawingml/2006/main" noGrp="1"/>
          </p:cNvSpPr>
          <p:nvPr/>
        </p:nvSpPr>
        <p:spPr>
          <a:xfrm xmlns:a="http://schemas.openxmlformats.org/drawingml/2006/main">
            <a:off x="3524250" y="1809750"/>
            <a:ext cx="2457450" cy="2571750"/>
          </a:xfrm>
          <a:prstGeom xmlns:a="http://schemas.openxmlformats.org/drawingml/2006/main" prst="roundRect">
            <a:avLst>
              <a:gd name="adj" fmla="val 3101"/>
            </a:avLst>
          </a:prstGeom>
          <a:solidFill xmlns:a="http://schemas.openxmlformats.org/drawingml/2006/main">
            <a:srgbClr val="FDEFC3"/>
          </a:solidFill>
          <a:ln xmlns:a="http://schemas.openxmlformats.org/drawingml/2006/main" w="0">
            <a:solidFill>
              <a:srgbClr val="FDEFC3"/>
            </a:solidFill>
            <a:prstDash val="solid"/>
          </a:ln>
        </p:spPr>
      </p:sp>
      <p:sp>
        <p:nvSpPr>
          <p:cNvPr id="8" name="">
            <a:extLst xmlns:a="http://schemas.openxmlformats.org/drawingml/2006/main">
              <a:ext uri="{FF2B5EF4-FFF2-40B4-BE49-F238E27FC236}">
                <a16:creationId xmlns:a16="http://schemas.microsoft.com/office/drawing/2014/main" id="{ACD4D4EB-355E-4500-B441-2BB3306326C3}"/>
              </a:ext>
            </a:extLst>
          </p:cNvPr>
          <p:cNvSpPr>
            <a:spLocks xmlns:a="http://schemas.openxmlformats.org/drawingml/2006/main" noGrp="1"/>
          </p:cNvSpPr>
          <p:nvPr/>
        </p:nvSpPr>
        <p:spPr>
          <a:xfrm xmlns:a="http://schemas.openxmlformats.org/drawingml/2006/main">
            <a:off x="4476750" y="2095500"/>
            <a:ext cx="552450" cy="5524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575" b="1">
                <a:solidFill>
                  <a:srgbClr val="FFFFFF"/>
                </a:solidFill>
                <a:latin typeface="Google Sans Medium"/>
                <a:ea typeface="Google Sans Medium"/>
                <a:cs typeface="Google Sans Medium"/>
              </a:defRPr>
            </a:pPr>
            <a:r>
              <a:rPr sz="1575" b="1">
                <a:solidFill>
                  <a:srgbClr val="FFFFFF"/>
                </a:solidFill>
                <a:latin typeface="Google Sans Medium"/>
                <a:ea typeface="Google Sans Medium"/>
                <a:cs typeface="Google Sans Medium"/>
              </a:rPr>
              <a:t>2</a:t>
            </a:r>
          </a:p>
        </p:txBody>
      </p:sp>
      <p:sp>
        <p:nvSpPr>
          <p:cNvPr id="9" name="">
            <a:extLst xmlns:a="http://schemas.openxmlformats.org/drawingml/2006/main">
              <a:ext uri="{FF2B5EF4-FFF2-40B4-BE49-F238E27FC236}">
                <a16:creationId xmlns:a16="http://schemas.microsoft.com/office/drawing/2014/main" id="{DFFFA252-7C29-48DA-A1E2-175E7274C048}"/>
              </a:ext>
            </a:extLst>
          </p:cNvPr>
          <p:cNvSpPr>
            <a:spLocks xmlns:a="http://schemas.openxmlformats.org/drawingml/2006/main" noGrp="1"/>
          </p:cNvSpPr>
          <p:nvPr/>
        </p:nvSpPr>
        <p:spPr>
          <a:xfrm xmlns:a="http://schemas.openxmlformats.org/drawingml/2006/main">
            <a:off x="3714750" y="29527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Test a prompt</a:t>
            </a:r>
          </a:p>
        </p:txBody>
      </p:sp>
      <p:sp>
        <p:nvSpPr>
          <p:cNvPr id="10" name="">
            <a:extLst xmlns:a="http://schemas.openxmlformats.org/drawingml/2006/main">
              <a:ext uri="{FF2B5EF4-FFF2-40B4-BE49-F238E27FC236}">
                <a16:creationId xmlns:a16="http://schemas.microsoft.com/office/drawing/2014/main" id="{075593E6-4A9F-4B09-8D49-77C905D6CCAF}"/>
              </a:ext>
            </a:extLst>
          </p:cNvPr>
          <p:cNvSpPr>
            <a:spLocks xmlns:a="http://schemas.openxmlformats.org/drawingml/2006/main" noGrp="1"/>
          </p:cNvSpPr>
          <p:nvPr/>
        </p:nvSpPr>
        <p:spPr>
          <a:xfrm xmlns:a="http://schemas.openxmlformats.org/drawingml/2006/main">
            <a:off x="3733800" y="3543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Studio tools</a:t>
            </a:r>
          </a:p>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prompts + controls</a:t>
            </a:r>
          </a:p>
        </p:txBody>
      </p:sp>
      <p:sp>
        <p:nvSpPr>
          <p:cNvPr id="11" name="">
            <a:extLst xmlns:a="http://schemas.openxmlformats.org/drawingml/2006/main">
              <a:ext uri="{FF2B5EF4-FFF2-40B4-BE49-F238E27FC236}">
                <a16:creationId xmlns:a16="http://schemas.microsoft.com/office/drawing/2014/main" id="{B3EDF4ED-79D3-40F6-9F5E-66D6D3B2EE80}"/>
              </a:ext>
            </a:extLst>
          </p:cNvPr>
          <p:cNvSpPr>
            <a:spLocks xmlns:a="http://schemas.openxmlformats.org/drawingml/2006/main" noGrp="1"/>
          </p:cNvSpPr>
          <p:nvPr/>
        </p:nvSpPr>
        <p:spPr>
          <a:xfrm xmlns:a="http://schemas.openxmlformats.org/drawingml/2006/main">
            <a:off x="5991225" y="28575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12" name="">
            <a:extLst xmlns:a="http://schemas.openxmlformats.org/drawingml/2006/main">
              <a:ext uri="{FF2B5EF4-FFF2-40B4-BE49-F238E27FC236}">
                <a16:creationId xmlns:a16="http://schemas.microsoft.com/office/drawing/2014/main" id="{D37066B3-76E6-4514-A41D-2E427C94379A}"/>
              </a:ext>
            </a:extLst>
          </p:cNvPr>
          <p:cNvSpPr>
            <a:spLocks xmlns:a="http://schemas.openxmlformats.org/drawingml/2006/main" noGrp="1"/>
          </p:cNvSpPr>
          <p:nvPr/>
        </p:nvSpPr>
        <p:spPr>
          <a:xfrm xmlns:a="http://schemas.openxmlformats.org/drawingml/2006/main">
            <a:off x="6429375" y="1809750"/>
            <a:ext cx="2457450" cy="2571750"/>
          </a:xfrm>
          <a:prstGeom xmlns:a="http://schemas.openxmlformats.org/drawingml/2006/main" prst="roundRect">
            <a:avLst>
              <a:gd name="adj" fmla="val 3101"/>
            </a:avLst>
          </a:prstGeom>
          <a:solidFill xmlns:a="http://schemas.openxmlformats.org/drawingml/2006/main">
            <a:srgbClr val="F5C7C9"/>
          </a:solidFill>
          <a:ln xmlns:a="http://schemas.openxmlformats.org/drawingml/2006/main" w="0">
            <a:solidFill>
              <a:srgbClr val="F5C7C9"/>
            </a:solidFill>
            <a:prstDash val="solid"/>
          </a:ln>
        </p:spPr>
      </p:sp>
      <p:sp>
        <p:nvSpPr>
          <p:cNvPr id="13" name="">
            <a:extLst xmlns:a="http://schemas.openxmlformats.org/drawingml/2006/main">
              <a:ext uri="{FF2B5EF4-FFF2-40B4-BE49-F238E27FC236}">
                <a16:creationId xmlns:a16="http://schemas.microsoft.com/office/drawing/2014/main" id="{F22D87E1-5B2E-4018-90D5-D4F7D8BA6F91}"/>
              </a:ext>
            </a:extLst>
          </p:cNvPr>
          <p:cNvSpPr>
            <a:spLocks xmlns:a="http://schemas.openxmlformats.org/drawingml/2006/main" noGrp="1"/>
          </p:cNvSpPr>
          <p:nvPr/>
        </p:nvSpPr>
        <p:spPr>
          <a:xfrm xmlns:a="http://schemas.openxmlformats.org/drawingml/2006/main">
            <a:off x="7381875" y="2095500"/>
            <a:ext cx="552450" cy="5524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575" b="1">
                <a:solidFill>
                  <a:srgbClr val="FFFFFF"/>
                </a:solidFill>
                <a:latin typeface="Google Sans Medium"/>
                <a:ea typeface="Google Sans Medium"/>
                <a:cs typeface="Google Sans Medium"/>
              </a:defRPr>
            </a:pPr>
            <a:r>
              <a:rPr sz="1575" b="1">
                <a:solidFill>
                  <a:srgbClr val="FFFFFF"/>
                </a:solidFill>
                <a:latin typeface="Google Sans Medium"/>
                <a:ea typeface="Google Sans Medium"/>
                <a:cs typeface="Google Sans Medium"/>
              </a:rPr>
              <a:t>3</a:t>
            </a:r>
          </a:p>
        </p:txBody>
      </p:sp>
      <p:sp>
        <p:nvSpPr>
          <p:cNvPr id="14" name="">
            <a:extLst xmlns:a="http://schemas.openxmlformats.org/drawingml/2006/main">
              <a:ext uri="{FF2B5EF4-FFF2-40B4-BE49-F238E27FC236}">
                <a16:creationId xmlns:a16="http://schemas.microsoft.com/office/drawing/2014/main" id="{6EFCC7AD-3964-4C3B-B617-391061ABCB2B}"/>
              </a:ext>
            </a:extLst>
          </p:cNvPr>
          <p:cNvSpPr>
            <a:spLocks xmlns:a="http://schemas.openxmlformats.org/drawingml/2006/main" noGrp="1"/>
          </p:cNvSpPr>
          <p:nvPr/>
        </p:nvSpPr>
        <p:spPr>
          <a:xfrm xmlns:a="http://schemas.openxmlformats.org/drawingml/2006/main">
            <a:off x="6619875" y="29527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Call from code</a:t>
            </a:r>
          </a:p>
        </p:txBody>
      </p:sp>
      <p:sp>
        <p:nvSpPr>
          <p:cNvPr id="15" name="">
            <a:extLst xmlns:a="http://schemas.openxmlformats.org/drawingml/2006/main">
              <a:ext uri="{FF2B5EF4-FFF2-40B4-BE49-F238E27FC236}">
                <a16:creationId xmlns:a16="http://schemas.microsoft.com/office/drawing/2014/main" id="{DDDD1EFA-BF4A-4ED9-ACEB-2036019BEE5D}"/>
              </a:ext>
            </a:extLst>
          </p:cNvPr>
          <p:cNvSpPr>
            <a:spLocks xmlns:a="http://schemas.openxmlformats.org/drawingml/2006/main" noGrp="1"/>
          </p:cNvSpPr>
          <p:nvPr/>
        </p:nvSpPr>
        <p:spPr>
          <a:xfrm xmlns:a="http://schemas.openxmlformats.org/drawingml/2006/main">
            <a:off x="6638925" y="3543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Gemini API</a:t>
            </a:r>
          </a:p>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Google Gen AI SDK</a:t>
            </a:r>
          </a:p>
        </p:txBody>
      </p:sp>
      <p:sp>
        <p:nvSpPr>
          <p:cNvPr id="16" name="">
            <a:extLst xmlns:a="http://schemas.openxmlformats.org/drawingml/2006/main">
              <a:ext uri="{FF2B5EF4-FFF2-40B4-BE49-F238E27FC236}">
                <a16:creationId xmlns:a16="http://schemas.microsoft.com/office/drawing/2014/main" id="{09FE9B2F-AC17-471C-9637-047127BD0E4B}"/>
              </a:ext>
            </a:extLst>
          </p:cNvPr>
          <p:cNvSpPr>
            <a:spLocks xmlns:a="http://schemas.openxmlformats.org/drawingml/2006/main" noGrp="1"/>
          </p:cNvSpPr>
          <p:nvPr/>
        </p:nvSpPr>
        <p:spPr>
          <a:xfrm xmlns:a="http://schemas.openxmlformats.org/drawingml/2006/main">
            <a:off x="8896350" y="2857500"/>
            <a:ext cx="38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000" b="0">
                <a:solidFill>
                  <a:srgbClr val="9AA0A6"/>
                </a:solidFill>
                <a:latin typeface="Google Sans Text"/>
                <a:ea typeface="Google Sans Text"/>
                <a:cs typeface="Google Sans Text"/>
              </a:defRPr>
            </a:pPr>
            <a:r>
              <a:rPr sz="3000" b="0">
                <a:solidFill>
                  <a:srgbClr val="9AA0A6"/>
                </a:solidFill>
                <a:latin typeface="Google Sans Text"/>
                <a:ea typeface="Google Sans Text"/>
                <a:cs typeface="Google Sans Text"/>
              </a:rPr>
              <a:t>›</a:t>
            </a:r>
          </a:p>
        </p:txBody>
      </p:sp>
      <p:sp>
        <p:nvSpPr>
          <p:cNvPr id="17" name="">
            <a:extLst xmlns:a="http://schemas.openxmlformats.org/drawingml/2006/main">
              <a:ext uri="{FF2B5EF4-FFF2-40B4-BE49-F238E27FC236}">
                <a16:creationId xmlns:a16="http://schemas.microsoft.com/office/drawing/2014/main" id="{29D7D652-4677-472C-B975-49CDCBD2E0F1}"/>
              </a:ext>
            </a:extLst>
          </p:cNvPr>
          <p:cNvSpPr>
            <a:spLocks xmlns:a="http://schemas.openxmlformats.org/drawingml/2006/main" noGrp="1"/>
          </p:cNvSpPr>
          <p:nvPr/>
        </p:nvSpPr>
        <p:spPr>
          <a:xfrm xmlns:a="http://schemas.openxmlformats.org/drawingml/2006/main">
            <a:off x="9334500" y="1809750"/>
            <a:ext cx="2457450" cy="2571750"/>
          </a:xfrm>
          <a:prstGeom xmlns:a="http://schemas.openxmlformats.org/drawingml/2006/main" prst="roundRect">
            <a:avLst>
              <a:gd name="adj" fmla="val 3101"/>
            </a:avLst>
          </a:prstGeom>
          <a:solidFill xmlns:a="http://schemas.openxmlformats.org/drawingml/2006/main">
            <a:srgbClr val="D0E1E5"/>
          </a:solidFill>
          <a:ln xmlns:a="http://schemas.openxmlformats.org/drawingml/2006/main" w="0">
            <a:solidFill>
              <a:srgbClr val="D0E1E5"/>
            </a:solidFill>
            <a:prstDash val="solid"/>
          </a:ln>
        </p:spPr>
      </p:sp>
      <p:sp>
        <p:nvSpPr>
          <p:cNvPr id="18" name="">
            <a:extLst xmlns:a="http://schemas.openxmlformats.org/drawingml/2006/main">
              <a:ext uri="{FF2B5EF4-FFF2-40B4-BE49-F238E27FC236}">
                <a16:creationId xmlns:a16="http://schemas.microsoft.com/office/drawing/2014/main" id="{AA6ABF3B-859E-4C82-AE2A-F609BDD358D7}"/>
              </a:ext>
            </a:extLst>
          </p:cNvPr>
          <p:cNvSpPr>
            <a:spLocks xmlns:a="http://schemas.openxmlformats.org/drawingml/2006/main" noGrp="1"/>
          </p:cNvSpPr>
          <p:nvPr/>
        </p:nvSpPr>
        <p:spPr>
          <a:xfrm xmlns:a="http://schemas.openxmlformats.org/drawingml/2006/main">
            <a:off x="10287000" y="2095500"/>
            <a:ext cx="552450" cy="5524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95250" rIns="0" bIns="0" anchor="ctr">
            <a:normAutofit fontScale="100000"/>
          </a:bodyPr>
          <a:lstStyle xmlns:a="http://schemas.openxmlformats.org/drawingml/2006/main"/>
          <a:p xmlns:a="http://schemas.openxmlformats.org/drawingml/2006/main">
            <a:pPr algn="ctr">
              <a:buNone/>
              <a:defRPr sz="1575" b="1">
                <a:solidFill>
                  <a:srgbClr val="FFFFFF"/>
                </a:solidFill>
                <a:latin typeface="Google Sans Medium"/>
                <a:ea typeface="Google Sans Medium"/>
                <a:cs typeface="Google Sans Medium"/>
              </a:defRPr>
            </a:pPr>
            <a:r>
              <a:rPr sz="1575" b="1">
                <a:solidFill>
                  <a:srgbClr val="FFFFFF"/>
                </a:solidFill>
                <a:latin typeface="Google Sans Medium"/>
                <a:ea typeface="Google Sans Medium"/>
                <a:cs typeface="Google Sans Medium"/>
              </a:rPr>
              <a:t>4</a:t>
            </a:r>
          </a:p>
        </p:txBody>
      </p:sp>
      <p:sp>
        <p:nvSpPr>
          <p:cNvPr id="19" name="">
            <a:extLst xmlns:a="http://schemas.openxmlformats.org/drawingml/2006/main">
              <a:ext uri="{FF2B5EF4-FFF2-40B4-BE49-F238E27FC236}">
                <a16:creationId xmlns:a16="http://schemas.microsoft.com/office/drawing/2014/main" id="{9B76EECD-1DD1-4EE8-B131-F528FEB734EB}"/>
              </a:ext>
            </a:extLst>
          </p:cNvPr>
          <p:cNvSpPr>
            <a:spLocks xmlns:a="http://schemas.openxmlformats.org/drawingml/2006/main" noGrp="1"/>
          </p:cNvSpPr>
          <p:nvPr/>
        </p:nvSpPr>
        <p:spPr>
          <a:xfrm xmlns:a="http://schemas.openxmlformats.org/drawingml/2006/main">
            <a:off x="9525000" y="295275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650" b="1">
                <a:solidFill>
                  <a:srgbClr val="000000"/>
                </a:solidFill>
                <a:latin typeface="Google Sans Medium"/>
                <a:ea typeface="Google Sans Medium"/>
                <a:cs typeface="Google Sans Medium"/>
              </a:defRPr>
            </a:pPr>
            <a:r>
              <a:rPr sz="1650" b="1">
                <a:solidFill>
                  <a:srgbClr val="000000"/>
                </a:solidFill>
                <a:latin typeface="Google Sans Medium"/>
                <a:ea typeface="Google Sans Medium"/>
                <a:cs typeface="Google Sans Medium"/>
              </a:rPr>
              <a:t>Practise safely</a:t>
            </a:r>
          </a:p>
        </p:txBody>
      </p:sp>
      <p:sp>
        <p:nvSpPr>
          <p:cNvPr id="20" name="">
            <a:extLst xmlns:a="http://schemas.openxmlformats.org/drawingml/2006/main">
              <a:ext uri="{FF2B5EF4-FFF2-40B4-BE49-F238E27FC236}">
                <a16:creationId xmlns:a16="http://schemas.microsoft.com/office/drawing/2014/main" id="{42791D4B-B619-4CAF-8659-4D0C7A745DA8}"/>
              </a:ext>
            </a:extLst>
          </p:cNvPr>
          <p:cNvSpPr>
            <a:spLocks xmlns:a="http://schemas.openxmlformats.org/drawingml/2006/main" noGrp="1"/>
          </p:cNvSpPr>
          <p:nvPr/>
        </p:nvSpPr>
        <p:spPr>
          <a:xfrm xmlns:a="http://schemas.openxmlformats.org/drawingml/2006/main">
            <a:off x="9544050" y="3543300"/>
            <a:ext cx="20383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Google Skills</a:t>
            </a:r>
          </a:p>
          <a:p xmlns:a="http://schemas.openxmlformats.org/drawingml/2006/main">
            <a:pPr algn="ctr">
              <a:buNone/>
              <a:defRPr sz="1313" b="0">
                <a:solidFill>
                  <a:srgbClr val="000000"/>
                </a:solidFill>
                <a:latin typeface="Google Sans Text"/>
                <a:ea typeface="Google Sans Text"/>
                <a:cs typeface="Google Sans Text"/>
              </a:defRPr>
            </a:pPr>
            <a:r>
              <a:rPr sz="1313" b="0">
                <a:solidFill>
                  <a:srgbClr val="000000"/>
                </a:solidFill>
                <a:latin typeface="Google Sans Text"/>
                <a:ea typeface="Google Sans Text"/>
                <a:cs typeface="Google Sans Text"/>
              </a:rPr>
              <a:t>temporary lab credentials</a:t>
            </a:r>
          </a:p>
        </p:txBody>
      </p:sp>
      <p:sp>
        <p:nvSpPr>
          <p:cNvPr id="21" name="">
            <a:extLst xmlns:a="http://schemas.openxmlformats.org/drawingml/2006/main">
              <a:ext uri="{FF2B5EF4-FFF2-40B4-BE49-F238E27FC236}">
                <a16:creationId xmlns:a16="http://schemas.microsoft.com/office/drawing/2014/main" id="{F7DF42BD-6FED-4FC4-936F-7F5271C6C3CC}"/>
              </a:ext>
            </a:extLst>
          </p:cNvPr>
          <p:cNvSpPr>
            <a:spLocks xmlns:a="http://schemas.openxmlformats.org/drawingml/2006/main" noGrp="1"/>
          </p:cNvSpPr>
          <p:nvPr/>
        </p:nvSpPr>
        <p:spPr>
          <a:xfrm xmlns:a="http://schemas.openxmlformats.org/drawingml/2006/main">
            <a:off x="1571625" y="5095875"/>
            <a:ext cx="9048750" cy="723900"/>
          </a:xfrm>
          <a:prstGeom xmlns:a="http://schemas.openxmlformats.org/drawingml/2006/main" prst="roundRect">
            <a:avLst>
              <a:gd name="adj" fmla="val 10526"/>
            </a:avLst>
          </a:prstGeom>
          <a:solidFill xmlns:a="http://schemas.openxmlformats.org/drawingml/2006/main">
            <a:srgbClr val="F8F8F8"/>
          </a:solidFill>
          <a:ln xmlns:a="http://schemas.openxmlformats.org/drawingml/2006/main" w="9525">
            <a:solidFill>
              <a:srgbClr val="DADCE0"/>
            </a:solidFill>
            <a:prstDash val="solid"/>
          </a:ln>
        </p:spPr>
      </p:sp>
      <p:sp>
        <p:nvSpPr>
          <p:cNvPr id="22" name="">
            <a:extLst xmlns:a="http://schemas.openxmlformats.org/drawingml/2006/main">
              <a:ext uri="{FF2B5EF4-FFF2-40B4-BE49-F238E27FC236}">
                <a16:creationId xmlns:a16="http://schemas.microsoft.com/office/drawing/2014/main" id="{3B2CACFC-4354-4289-BF03-9C4AECBD2E85}"/>
              </a:ext>
            </a:extLst>
          </p:cNvPr>
          <p:cNvSpPr>
            <a:spLocks xmlns:a="http://schemas.openxmlformats.org/drawingml/2006/main" noGrp="1"/>
          </p:cNvSpPr>
          <p:nvPr/>
        </p:nvSpPr>
        <p:spPr>
          <a:xfrm xmlns:a="http://schemas.openxmlformats.org/drawingml/2006/main">
            <a:off x="1952625" y="5286375"/>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58"/>
          </a:bodyPr>
          <a:lstStyle xmlns:a="http://schemas.openxmlformats.org/drawingml/2006/main"/>
          <a:p xmlns:a="http://schemas.openxmlformats.org/drawingml/2006/main">
            <a:pPr algn="ctr">
              <a:buNone/>
              <a:defRPr sz="1388" b="1">
                <a:solidFill>
                  <a:srgbClr val="000000"/>
                </a:solidFill>
                <a:latin typeface="Google Sans Medium"/>
                <a:ea typeface="Google Sans Medium"/>
                <a:cs typeface="Google Sans Medium"/>
              </a:defRPr>
            </a:pPr>
            <a:r>
              <a:rPr sz="1388" b="1">
                <a:solidFill>
                  <a:srgbClr val="000000"/>
                </a:solidFill>
                <a:latin typeface="Google Sans Medium"/>
                <a:ea typeface="Google Sans Medium"/>
                <a:cs typeface="Google Sans Medium"/>
              </a:rPr>
              <a:t>This module identifies each tool’s purpose. Deployment, monitoring, governance, and multimodal workflows are developed in later modules.</a:t>
            </a:r>
          </a:p>
        </p:txBody>
      </p:sp>
      <p:sp>
        <p:nvSpPr>
          <p:cNvPr id="23" name="">
            <a:extLst xmlns:a="http://schemas.openxmlformats.org/drawingml/2006/main">
              <a:ext uri="{FF2B5EF4-FFF2-40B4-BE49-F238E27FC236}">
                <a16:creationId xmlns:a16="http://schemas.microsoft.com/office/drawing/2014/main" id="{F5662D7B-D21D-4568-BE9D-24BC2776F3BF}"/>
              </a:ext>
            </a:extLst>
          </p:cNvPr>
          <p:cNvSpPr>
            <a:spLocks xmlns:a="http://schemas.openxmlformats.org/drawingml/2006/main" noGrp="1"/>
          </p:cNvSpPr>
          <p:nvPr/>
        </p:nvSpPr>
        <p:spPr>
          <a:xfrm xmlns:a="http://schemas.openxmlformats.org/drawingml/2006/main">
            <a:off x="2047875" y="61150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F6368"/>
                </a:solidFill>
                <a:latin typeface="Google Sans Text"/>
                <a:ea typeface="Google Sans Text"/>
                <a:cs typeface="Google Sans Text"/>
              </a:defRPr>
            </a:pPr>
            <a:r>
              <a:rPr sz="1275" b="0">
                <a:solidFill>
                  <a:srgbClr val="5F6368"/>
                </a:solidFill>
                <a:latin typeface="Google Sans Text"/>
                <a:ea typeface="Google Sans Text"/>
                <a:cs typeface="Google Sans Text"/>
              </a:rPr>
              <a:t>Current product names and access methods should be verified before every live class.</a:t>
            </a:r>
          </a:p>
        </p:txBody>
      </p:sp>
    </p:spTree>
    <p:extLst>
      <p:ext uri="{BB962C8B-B14F-4D97-AF65-F5344CB8AC3E}">
        <p14:creationId xmlns:p14="http://schemas.microsoft.com/office/powerpoint/2010/main" val="1552998434"/>
      </p:ext>
    </p:extLst>
  </p:cSld>
</p:sld>
</file>

<file path=ppt/slides/slide39.xml><?xml version="1.0" encoding="utf-8"?>
<p:sld xmlns:p="http://schemas.openxmlformats.org/presentationml/2006/main">
  <p:cSld>
    <p:bg>
      <p:bgPr>
        <a:solidFill xmlns:a="http://schemas.openxmlformats.org/drawingml/2006/main">
          <a:srgbClr val="4285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3BC8066-8C5B-44E7-8EE9-D4BB013E62A8}"/>
              </a:ext>
            </a:extLst>
          </p:cNvPr>
          <p:cNvSpPr>
            <a:spLocks xmlns:a="http://schemas.openxmlformats.org/drawingml/2006/main" noGrp="1"/>
          </p:cNvSpPr>
          <p:nvPr/>
        </p:nvSpPr>
        <p:spPr>
          <a:xfrm xmlns:a="http://schemas.openxmlformats.org/drawingml/2006/main">
            <a:off x="685800" y="666750"/>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Google Skills lab</a:t>
            </a:r>
          </a:p>
        </p:txBody>
      </p:sp>
      <p:sp>
        <p:nvSpPr>
          <p:cNvPr id="2" name="">
            <a:extLst xmlns:a="http://schemas.openxmlformats.org/drawingml/2006/main">
              <a:ext uri="{FF2B5EF4-FFF2-40B4-BE49-F238E27FC236}">
                <a16:creationId xmlns:a16="http://schemas.microsoft.com/office/drawing/2014/main" id="{A1C73E10-DE56-4929-B46E-F1EDD91188C6}"/>
              </a:ext>
            </a:extLst>
          </p:cNvPr>
          <p:cNvSpPr>
            <a:spLocks xmlns:a="http://schemas.openxmlformats.org/drawingml/2006/main" noGrp="1"/>
          </p:cNvSpPr>
          <p:nvPr/>
        </p:nvSpPr>
        <p:spPr>
          <a:xfrm xmlns:a="http://schemas.openxmlformats.org/drawingml/2006/main">
            <a:off x="685800" y="1428750"/>
            <a:ext cx="666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0">
                <a:solidFill>
                  <a:srgbClr val="FFFFFF"/>
                </a:solidFill>
                <a:latin typeface="Google Sans"/>
                <a:ea typeface="Google Sans"/>
                <a:cs typeface="Google Sans"/>
              </a:defRPr>
            </a:pPr>
            <a:r>
              <a:rPr sz="3150" b="0">
                <a:solidFill>
                  <a:srgbClr val="FFFFFF"/>
                </a:solidFill>
                <a:latin typeface="Google Sans"/>
                <a:ea typeface="Google Sans"/>
                <a:cs typeface="Google Sans"/>
              </a:rPr>
              <a:t>Design Prompts in</a:t>
            </a:r>
          </a:p>
          <a:p xmlns:a="http://schemas.openxmlformats.org/drawingml/2006/main">
            <a:pPr algn="l">
              <a:buNone/>
              <a:defRPr sz="3150" b="0">
                <a:solidFill>
                  <a:srgbClr val="FFFFFF"/>
                </a:solidFill>
                <a:latin typeface="Google Sans"/>
                <a:ea typeface="Google Sans"/>
                <a:cs typeface="Google Sans"/>
              </a:defRPr>
            </a:pPr>
            <a:r>
              <a:rPr sz="3150" b="0">
                <a:solidFill>
                  <a:srgbClr val="FFFFFF"/>
                </a:solidFill>
                <a:latin typeface="Google Sans"/>
                <a:ea typeface="Google Sans"/>
                <a:cs typeface="Google Sans"/>
              </a:rPr>
              <a:t>Agent Platform</a:t>
            </a:r>
          </a:p>
        </p:txBody>
      </p:sp>
      <p:sp>
        <p:nvSpPr>
          <p:cNvPr id="3" name="">
            <a:extLst xmlns:a="http://schemas.openxmlformats.org/drawingml/2006/main">
              <a:ext uri="{FF2B5EF4-FFF2-40B4-BE49-F238E27FC236}">
                <a16:creationId xmlns:a16="http://schemas.microsoft.com/office/drawing/2014/main" id="{F1CB603D-8F12-47BE-AC1C-07193B4D21E3}"/>
              </a:ext>
            </a:extLst>
          </p:cNvPr>
          <p:cNvSpPr>
            <a:spLocks xmlns:a="http://schemas.openxmlformats.org/drawingml/2006/main" noGrp="1"/>
          </p:cNvSpPr>
          <p:nvPr/>
        </p:nvSpPr>
        <p:spPr>
          <a:xfrm xmlns:a="http://schemas.openxmlformats.org/drawingml/2006/main">
            <a:off x="704850" y="28575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FFFFFF"/>
                </a:solidFill>
                <a:latin typeface="Google Sans Text"/>
                <a:ea typeface="Google Sans Text"/>
                <a:cs typeface="Google Sans Text"/>
              </a:defRPr>
            </a:pPr>
            <a:r>
              <a:rPr sz="1575" b="0">
                <a:solidFill>
                  <a:srgbClr val="FFFFFF"/>
                </a:solidFill>
                <a:latin typeface="Google Sans Text"/>
                <a:ea typeface="Google Sans Text"/>
                <a:cs typeface="Google Sans Text"/>
              </a:rPr>
              <a:t>GSP1151 · about 30 minutes · introductory</a:t>
            </a:r>
          </a:p>
        </p:txBody>
      </p:sp>
      <p:sp>
        <p:nvSpPr>
          <p:cNvPr id="4" name="">
            <a:extLst xmlns:a="http://schemas.openxmlformats.org/drawingml/2006/main">
              <a:ext uri="{FF2B5EF4-FFF2-40B4-BE49-F238E27FC236}">
                <a16:creationId xmlns:a16="http://schemas.microsoft.com/office/drawing/2014/main" id="{80A2B0B2-9DDE-43E6-9687-CA4D138A40A4}"/>
              </a:ext>
            </a:extLst>
          </p:cNvPr>
          <p:cNvSpPr>
            <a:spLocks xmlns:a="http://schemas.openxmlformats.org/drawingml/2006/main" noGrp="1"/>
          </p:cNvSpPr>
          <p:nvPr/>
        </p:nvSpPr>
        <p:spPr>
          <a:xfrm xmlns:a="http://schemas.openxmlformats.org/drawingml/2006/main">
            <a:off x="723900" y="3714750"/>
            <a:ext cx="619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0">
                <a:solidFill>
                  <a:srgbClr val="FFFFFF"/>
                </a:solidFill>
                <a:latin typeface="Google Sans Text"/>
                <a:ea typeface="Google Sans Text"/>
                <a:cs typeface="Google Sans Text"/>
              </a:defRPr>
            </a:pPr>
            <a:r>
              <a:rPr sz="1575" b="0">
                <a:solidFill>
                  <a:srgbClr val="FFFFFF"/>
                </a:solidFill>
                <a:latin typeface="Google Sans Text"/>
                <a:ea typeface="Google Sans Text"/>
                <a:cs typeface="Google Sans Text"/>
              </a:rPr>
              <a:t>Temporary lab credentials</a:t>
            </a:r>
          </a:p>
          <a:p xmlns:a="http://schemas.openxmlformats.org/drawingml/2006/main">
            <a:pPr algn="l">
              <a:buNone/>
              <a:defRPr sz="1575" b="0">
                <a:solidFill>
                  <a:srgbClr val="FFFFFF"/>
                </a:solidFill>
                <a:latin typeface="Google Sans Text"/>
                <a:ea typeface="Google Sans Text"/>
                <a:cs typeface="Google Sans Text"/>
              </a:defRPr>
            </a:pPr>
            <a:r>
              <a:rPr sz="1575" b="0">
                <a:solidFill>
                  <a:srgbClr val="FFFFFF"/>
                </a:solidFill>
                <a:latin typeface="Google Sans Text"/>
                <a:ea typeface="Google Sans Text"/>
                <a:cs typeface="Google Sans Text"/>
              </a:rPr>
              <a:t>Private/Incognito browser</a:t>
            </a:r>
          </a:p>
          <a:p xmlns:a="http://schemas.openxmlformats.org/drawingml/2006/main">
            <a:pPr algn="l">
              <a:buNone/>
              <a:defRPr sz="1575" b="0">
                <a:solidFill>
                  <a:srgbClr val="FFFFFF"/>
                </a:solidFill>
                <a:latin typeface="Google Sans Text"/>
                <a:ea typeface="Google Sans Text"/>
                <a:cs typeface="Google Sans Text"/>
              </a:defRPr>
            </a:pPr>
            <a:r>
              <a:rPr sz="1575" b="0">
                <a:solidFill>
                  <a:srgbClr val="FFFFFF"/>
                </a:solidFill>
                <a:latin typeface="Google Sans Text"/>
                <a:ea typeface="Google Sans Text"/>
                <a:cs typeface="Google Sans Text"/>
              </a:rPr>
              <a:t>Complete notebook tasks and progress checks</a:t>
            </a:r>
          </a:p>
          <a:p xmlns:a="http://schemas.openxmlformats.org/drawingml/2006/main">
            <a:pPr algn="l">
              <a:buNone/>
              <a:defRPr sz="1575" b="0">
                <a:solidFill>
                  <a:srgbClr val="FFFFFF"/>
                </a:solidFill>
                <a:latin typeface="Google Sans Text"/>
                <a:ea typeface="Google Sans Text"/>
                <a:cs typeface="Google Sans Text"/>
              </a:defRPr>
            </a:pPr>
            <a:r>
              <a:rPr sz="1575" b="0">
                <a:solidFill>
                  <a:srgbClr val="FFFFFF"/>
                </a:solidFill>
                <a:latin typeface="Google Sans Text"/>
                <a:ea typeface="Google Sans Text"/>
                <a:cs typeface="Google Sans Text"/>
              </a:rPr>
              <a:t>Lab timer cannot be paused</a:t>
            </a:r>
          </a:p>
        </p:txBody>
      </p:sp>
      <p:sp>
        <p:nvSpPr>
          <p:cNvPr id="5" name="">
            <a:extLst xmlns:a="http://schemas.openxmlformats.org/drawingml/2006/main">
              <a:ext uri="{FF2B5EF4-FFF2-40B4-BE49-F238E27FC236}">
                <a16:creationId xmlns:a16="http://schemas.microsoft.com/office/drawing/2014/main" id="{7FD912BF-47EB-49C9-860A-21BABFADFC31}"/>
              </a:ext>
            </a:extLst>
          </p:cNvPr>
          <p:cNvSpPr>
            <a:spLocks xmlns:a="http://schemas.openxmlformats.org/drawingml/2006/main" noGrp="1"/>
          </p:cNvSpPr>
          <p:nvPr/>
        </p:nvSpPr>
        <p:spPr>
          <a:xfrm xmlns:a="http://schemas.openxmlformats.org/drawingml/2006/main">
            <a:off x="8305800" y="1476375"/>
            <a:ext cx="2524125" cy="3143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1EB82501-7B24-4DCC-9D1F-23FC372256B9}"/>
              </a:ext>
            </a:extLst>
          </p:cNvPr>
          <p:cNvSpPr>
            <a:spLocks xmlns:a="http://schemas.openxmlformats.org/drawingml/2006/main" noGrp="1"/>
          </p:cNvSpPr>
          <p:nvPr/>
        </p:nvSpPr>
        <p:spPr>
          <a:xfrm xmlns:a="http://schemas.openxmlformats.org/drawingml/2006/main">
            <a:off x="8667750" y="1952625"/>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0">
                <a:solidFill>
                  <a:srgbClr val="4285F4"/>
                </a:solidFill>
                <a:latin typeface="Google Sans"/>
                <a:ea typeface="Google Sans"/>
                <a:cs typeface="Google Sans"/>
              </a:defRPr>
            </a:pPr>
            <a:r>
              <a:rPr sz="3150" b="0">
                <a:solidFill>
                  <a:srgbClr val="4285F4"/>
                </a:solidFill>
                <a:latin typeface="Google Sans"/>
                <a:ea typeface="Google Sans"/>
                <a:cs typeface="Google Sans"/>
              </a:rPr>
              <a:t>LAB</a:t>
            </a:r>
          </a:p>
        </p:txBody>
      </p:sp>
      <p:sp>
        <p:nvSpPr>
          <p:cNvPr id="7" name="">
            <a:extLst xmlns:a="http://schemas.openxmlformats.org/drawingml/2006/main">
              <a:ext uri="{FF2B5EF4-FFF2-40B4-BE49-F238E27FC236}">
                <a16:creationId xmlns:a16="http://schemas.microsoft.com/office/drawing/2014/main" id="{533CA0C5-8C20-4673-B12C-474E56807233}"/>
              </a:ext>
            </a:extLst>
          </p:cNvPr>
          <p:cNvSpPr>
            <a:spLocks xmlns:a="http://schemas.openxmlformats.org/drawingml/2006/main" noGrp="1"/>
          </p:cNvSpPr>
          <p:nvPr/>
        </p:nvSpPr>
        <p:spPr>
          <a:xfrm xmlns:a="http://schemas.openxmlformats.org/drawingml/2006/main">
            <a:off x="8620125" y="2857500"/>
            <a:ext cx="190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Prompt engineering</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best practices</a:t>
            </a:r>
          </a:p>
          <a:p xmlns:a="http://schemas.openxmlformats.org/drawingml/2006/main">
            <a:r>
              <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Reduce variability</a:t>
            </a:r>
          </a:p>
          <a:p xmlns:a="http://schemas.openxmlformats.org/drawingml/2006/main">
            <a:r>
              <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Improve responses</a:t>
            </a:r>
          </a:p>
          <a:p xmlns:a="http://schemas.openxmlformats.org/drawingml/2006/main">
            <a:pPr algn="ctr">
              <a:buNone/>
              <a:defRPr sz="1425" b="1">
                <a:solidFill>
                  <a:srgbClr val="000000"/>
                </a:solidFill>
                <a:latin typeface="Google Sans Medium"/>
                <a:ea typeface="Google Sans Medium"/>
                <a:cs typeface="Google Sans Medium"/>
              </a:defRPr>
            </a:pPr>
            <a:r>
              <a:rPr sz="1425" b="1">
                <a:solidFill>
                  <a:srgbClr val="000000"/>
                </a:solidFill>
                <a:latin typeface="Google Sans Medium"/>
                <a:ea typeface="Google Sans Medium"/>
                <a:cs typeface="Google Sans Medium"/>
              </a:rPr>
              <a:t>with examples</a:t>
            </a:r>
          </a:p>
        </p:txBody>
      </p:sp>
      <p:sp>
        <p:nvSpPr>
          <p:cNvPr id="8" name="">
            <a:extLst xmlns:a="http://schemas.openxmlformats.org/drawingml/2006/main">
              <a:ext uri="{FF2B5EF4-FFF2-40B4-BE49-F238E27FC236}">
                <a16:creationId xmlns:a16="http://schemas.microsoft.com/office/drawing/2014/main" id="{8CCF61B5-BB6F-4B49-BA66-3B62FC04976E}"/>
              </a:ext>
            </a:extLst>
          </p:cNvPr>
          <p:cNvSpPr>
            <a:spLocks xmlns:a="http://schemas.openxmlformats.org/drawingml/2006/main" noGrp="1"/>
          </p:cNvSpPr>
          <p:nvPr/>
        </p:nvSpPr>
        <p:spPr>
          <a:xfrm xmlns:a="http://schemas.openxmlformats.org/drawingml/2006/main">
            <a:off x="10287000" y="5286375"/>
            <a:ext cx="266700" cy="266700"/>
          </a:xfrm>
          <a:prstGeom xmlns:a="http://schemas.openxmlformats.org/drawingml/2006/main" prst="ellipse">
            <a:avLst/>
          </a:prstGeom>
          <a:solidFill xmlns:a="http://schemas.openxmlformats.org/drawingml/2006/main">
            <a:srgbClr val="0F9D58"/>
          </a:solidFill>
          <a:ln xmlns:a="http://schemas.openxmlformats.org/drawingml/2006/main" w="0">
            <a:solidFill>
              <a:srgbClr val="0F9D58"/>
            </a:solidFill>
            <a:prstDash val="solid"/>
          </a:ln>
        </p:spPr>
      </p:sp>
      <p:sp>
        <p:nvSpPr>
          <p:cNvPr id="9" name="">
            <a:extLst xmlns:a="http://schemas.openxmlformats.org/drawingml/2006/main">
              <a:ext uri="{FF2B5EF4-FFF2-40B4-BE49-F238E27FC236}">
                <a16:creationId xmlns:a16="http://schemas.microsoft.com/office/drawing/2014/main" id="{058EF575-7A1F-4852-BCBF-07483AD5AE3B}"/>
              </a:ext>
            </a:extLst>
          </p:cNvPr>
          <p:cNvSpPr>
            <a:spLocks xmlns:a="http://schemas.openxmlformats.org/drawingml/2006/main" noGrp="1"/>
          </p:cNvSpPr>
          <p:nvPr/>
        </p:nvSpPr>
        <p:spPr>
          <a:xfrm xmlns:a="http://schemas.openxmlformats.org/drawingml/2006/main">
            <a:off x="9810750" y="5381625"/>
            <a:ext cx="209550" cy="20955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Tree>
    <p:extLst>
      <p:ext uri="{BB962C8B-B14F-4D97-AF65-F5344CB8AC3E}">
        <p14:creationId xmlns:p14="http://schemas.microsoft.com/office/powerpoint/2010/main" val="99818618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B220BB-3350-4764-8A25-A458EC0C1974}"/>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Review: Exploring large language models</a:t>
            </a:r>
          </a:p>
        </p:txBody>
      </p:sp>
      <p:sp>
        <p:nvSpPr>
          <p:cNvPr id="2" name="">
            <a:extLst xmlns:a="http://schemas.openxmlformats.org/drawingml/2006/main">
              <a:ext uri="{FF2B5EF4-FFF2-40B4-BE49-F238E27FC236}">
                <a16:creationId xmlns:a16="http://schemas.microsoft.com/office/drawing/2014/main" id="{217ED486-8F93-4868-9876-D448313C663A}"/>
              </a:ext>
            </a:extLst>
          </p:cNvPr>
          <p:cNvSpPr>
            <a:spLocks xmlns:a="http://schemas.openxmlformats.org/drawingml/2006/main" noGrp="1"/>
          </p:cNvSpPr>
          <p:nvPr/>
        </p:nvSpPr>
        <p:spPr>
          <a:xfrm xmlns:a="http://schemas.openxmlformats.org/drawingml/2006/main">
            <a:off x="762000" y="1238250"/>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1</a:t>
            </a:r>
          </a:p>
        </p:txBody>
      </p:sp>
      <p:sp>
        <p:nvSpPr>
          <p:cNvPr id="3" name="">
            <a:extLst xmlns:a="http://schemas.openxmlformats.org/drawingml/2006/main">
              <a:ext uri="{FF2B5EF4-FFF2-40B4-BE49-F238E27FC236}">
                <a16:creationId xmlns:a16="http://schemas.microsoft.com/office/drawing/2014/main" id="{9149D403-8D96-4A13-BDAC-F0286BB7AD9F}"/>
              </a:ext>
            </a:extLst>
          </p:cNvPr>
          <p:cNvSpPr>
            <a:spLocks xmlns:a="http://schemas.openxmlformats.org/drawingml/2006/main" noGrp="1"/>
          </p:cNvSpPr>
          <p:nvPr/>
        </p:nvSpPr>
        <p:spPr>
          <a:xfrm xmlns:a="http://schemas.openxmlformats.org/drawingml/2006/main">
            <a:off x="1571625" y="12763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LLM</a:t>
            </a:r>
          </a:p>
        </p:txBody>
      </p:sp>
      <p:sp>
        <p:nvSpPr>
          <p:cNvPr id="4" name="">
            <a:extLst xmlns:a="http://schemas.openxmlformats.org/drawingml/2006/main">
              <a:ext uri="{FF2B5EF4-FFF2-40B4-BE49-F238E27FC236}">
                <a16:creationId xmlns:a16="http://schemas.microsoft.com/office/drawing/2014/main" id="{12C57012-318C-46FB-91E8-F086F2DB64FB}"/>
              </a:ext>
            </a:extLst>
          </p:cNvPr>
          <p:cNvSpPr>
            <a:spLocks xmlns:a="http://schemas.openxmlformats.org/drawingml/2006/main" noGrp="1"/>
          </p:cNvSpPr>
          <p:nvPr/>
        </p:nvSpPr>
        <p:spPr>
          <a:xfrm xmlns:a="http://schemas.openxmlformats.org/drawingml/2006/main">
            <a:off x="3333750" y="12763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Predicts tokens using learned patterns; “large” includes model, data, and compute.</a:t>
            </a:r>
          </a:p>
        </p:txBody>
      </p:sp>
      <p:sp>
        <p:nvSpPr>
          <p:cNvPr id="5" name="">
            <a:extLst xmlns:a="http://schemas.openxmlformats.org/drawingml/2006/main">
              <a:ext uri="{FF2B5EF4-FFF2-40B4-BE49-F238E27FC236}">
                <a16:creationId xmlns:a16="http://schemas.microsoft.com/office/drawing/2014/main" id="{A3EB5ED4-2963-46CA-827E-A4CEC6AF2926}"/>
              </a:ext>
            </a:extLst>
          </p:cNvPr>
          <p:cNvSpPr>
            <a:spLocks xmlns:a="http://schemas.openxmlformats.org/drawingml/2006/main" noGrp="1"/>
          </p:cNvSpPr>
          <p:nvPr/>
        </p:nvSpPr>
        <p:spPr>
          <a:xfrm xmlns:a="http://schemas.openxmlformats.org/drawingml/2006/main">
            <a:off x="762000" y="2190750"/>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2</a:t>
            </a:r>
          </a:p>
        </p:txBody>
      </p:sp>
      <p:sp>
        <p:nvSpPr>
          <p:cNvPr id="6" name="">
            <a:extLst xmlns:a="http://schemas.openxmlformats.org/drawingml/2006/main">
              <a:ext uri="{FF2B5EF4-FFF2-40B4-BE49-F238E27FC236}">
                <a16:creationId xmlns:a16="http://schemas.microsoft.com/office/drawing/2014/main" id="{FFAECB95-1D58-427D-AA4E-0E94EDDC33A2}"/>
              </a:ext>
            </a:extLst>
          </p:cNvPr>
          <p:cNvSpPr>
            <a:spLocks xmlns:a="http://schemas.openxmlformats.org/drawingml/2006/main" noGrp="1"/>
          </p:cNvSpPr>
          <p:nvPr/>
        </p:nvSpPr>
        <p:spPr>
          <a:xfrm xmlns:a="http://schemas.openxmlformats.org/drawingml/2006/main">
            <a:off x="1571625" y="22288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Inside</a:t>
            </a:r>
          </a:p>
        </p:txBody>
      </p:sp>
      <p:sp>
        <p:nvSpPr>
          <p:cNvPr id="7" name="">
            <a:extLst xmlns:a="http://schemas.openxmlformats.org/drawingml/2006/main">
              <a:ext uri="{FF2B5EF4-FFF2-40B4-BE49-F238E27FC236}">
                <a16:creationId xmlns:a16="http://schemas.microsoft.com/office/drawing/2014/main" id="{DC722D90-6FF2-42F1-9E41-C7FD19B87671}"/>
              </a:ext>
            </a:extLst>
          </p:cNvPr>
          <p:cNvSpPr>
            <a:spLocks xmlns:a="http://schemas.openxmlformats.org/drawingml/2006/main" noGrp="1"/>
          </p:cNvSpPr>
          <p:nvPr/>
        </p:nvSpPr>
        <p:spPr>
          <a:xfrm xmlns:a="http://schemas.openxmlformats.org/drawingml/2006/main">
            <a:off x="3333750" y="22288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Text → tokens → embeddings → Transformer → probabilities → generated tokens.</a:t>
            </a:r>
          </a:p>
        </p:txBody>
      </p:sp>
      <p:sp>
        <p:nvSpPr>
          <p:cNvPr id="8" name="">
            <a:extLst xmlns:a="http://schemas.openxmlformats.org/drawingml/2006/main">
              <a:ext uri="{FF2B5EF4-FFF2-40B4-BE49-F238E27FC236}">
                <a16:creationId xmlns:a16="http://schemas.microsoft.com/office/drawing/2014/main" id="{CA38A98E-A184-40F5-A701-1853E212FF62}"/>
              </a:ext>
            </a:extLst>
          </p:cNvPr>
          <p:cNvSpPr>
            <a:spLocks xmlns:a="http://schemas.openxmlformats.org/drawingml/2006/main" noGrp="1"/>
          </p:cNvSpPr>
          <p:nvPr/>
        </p:nvSpPr>
        <p:spPr>
          <a:xfrm xmlns:a="http://schemas.openxmlformats.org/drawingml/2006/main">
            <a:off x="762000" y="3143250"/>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3</a:t>
            </a:r>
          </a:p>
        </p:txBody>
      </p:sp>
      <p:sp>
        <p:nvSpPr>
          <p:cNvPr id="9" name="">
            <a:extLst xmlns:a="http://schemas.openxmlformats.org/drawingml/2006/main">
              <a:ext uri="{FF2B5EF4-FFF2-40B4-BE49-F238E27FC236}">
                <a16:creationId xmlns:a16="http://schemas.microsoft.com/office/drawing/2014/main" id="{F4C2FB27-BB26-4DCF-A2CE-6FD1BCE0F6C1}"/>
              </a:ext>
            </a:extLst>
          </p:cNvPr>
          <p:cNvSpPr>
            <a:spLocks xmlns:a="http://schemas.openxmlformats.org/drawingml/2006/main" noGrp="1"/>
          </p:cNvSpPr>
          <p:nvPr/>
        </p:nvSpPr>
        <p:spPr>
          <a:xfrm xmlns:a="http://schemas.openxmlformats.org/drawingml/2006/main">
            <a:off x="1571625" y="31813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Use cases</a:t>
            </a:r>
          </a:p>
        </p:txBody>
      </p:sp>
      <p:sp>
        <p:nvSpPr>
          <p:cNvPr id="10" name="">
            <a:extLst xmlns:a="http://schemas.openxmlformats.org/drawingml/2006/main">
              <a:ext uri="{FF2B5EF4-FFF2-40B4-BE49-F238E27FC236}">
                <a16:creationId xmlns:a16="http://schemas.microsoft.com/office/drawing/2014/main" id="{A7EA93DA-F3B5-47AE-9099-94CF9A036CF2}"/>
              </a:ext>
            </a:extLst>
          </p:cNvPr>
          <p:cNvSpPr>
            <a:spLocks xmlns:a="http://schemas.openxmlformats.org/drawingml/2006/main" noGrp="1"/>
          </p:cNvSpPr>
          <p:nvPr/>
        </p:nvSpPr>
        <p:spPr>
          <a:xfrm xmlns:a="http://schemas.openxmlformats.org/drawingml/2006/main">
            <a:off x="3333750" y="31813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Summarize, translate, code, converse, extract, classify, tutor, and search—with evaluation.</a:t>
            </a:r>
          </a:p>
        </p:txBody>
      </p:sp>
      <p:sp>
        <p:nvSpPr>
          <p:cNvPr id="11" name="">
            <a:extLst xmlns:a="http://schemas.openxmlformats.org/drawingml/2006/main">
              <a:ext uri="{FF2B5EF4-FFF2-40B4-BE49-F238E27FC236}">
                <a16:creationId xmlns:a16="http://schemas.microsoft.com/office/drawing/2014/main" id="{3C2BE223-9CBA-4525-8C6E-0B77928E2996}"/>
              </a:ext>
            </a:extLst>
          </p:cNvPr>
          <p:cNvSpPr>
            <a:spLocks xmlns:a="http://schemas.openxmlformats.org/drawingml/2006/main" noGrp="1"/>
          </p:cNvSpPr>
          <p:nvPr/>
        </p:nvSpPr>
        <p:spPr>
          <a:xfrm xmlns:a="http://schemas.openxmlformats.org/drawingml/2006/main">
            <a:off x="762000" y="4095750"/>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4</a:t>
            </a:r>
          </a:p>
        </p:txBody>
      </p:sp>
      <p:sp>
        <p:nvSpPr>
          <p:cNvPr id="12" name="">
            <a:extLst xmlns:a="http://schemas.openxmlformats.org/drawingml/2006/main">
              <a:ext uri="{FF2B5EF4-FFF2-40B4-BE49-F238E27FC236}">
                <a16:creationId xmlns:a16="http://schemas.microsoft.com/office/drawing/2014/main" id="{19EC5C90-8FF9-47AB-8463-81C663E39BEB}"/>
              </a:ext>
            </a:extLst>
          </p:cNvPr>
          <p:cNvSpPr>
            <a:spLocks xmlns:a="http://schemas.openxmlformats.org/drawingml/2006/main" noGrp="1"/>
          </p:cNvSpPr>
          <p:nvPr/>
        </p:nvSpPr>
        <p:spPr>
          <a:xfrm xmlns:a="http://schemas.openxmlformats.org/drawingml/2006/main">
            <a:off x="1571625" y="41338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Prompting</a:t>
            </a:r>
          </a:p>
        </p:txBody>
      </p:sp>
      <p:sp>
        <p:nvSpPr>
          <p:cNvPr id="13" name="">
            <a:extLst xmlns:a="http://schemas.openxmlformats.org/drawingml/2006/main">
              <a:ext uri="{FF2B5EF4-FFF2-40B4-BE49-F238E27FC236}">
                <a16:creationId xmlns:a16="http://schemas.microsoft.com/office/drawing/2014/main" id="{391381A5-CE4A-404B-92DF-6CD34DF6E0F6}"/>
              </a:ext>
            </a:extLst>
          </p:cNvPr>
          <p:cNvSpPr>
            <a:spLocks xmlns:a="http://schemas.openxmlformats.org/drawingml/2006/main" noGrp="1"/>
          </p:cNvSpPr>
          <p:nvPr/>
        </p:nvSpPr>
        <p:spPr>
          <a:xfrm xmlns:a="http://schemas.openxmlformats.org/drawingml/2006/main">
            <a:off x="3333750" y="41338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Task, context, examples, and constraints shape output; prompt tuning is a training method.</a:t>
            </a:r>
          </a:p>
        </p:txBody>
      </p:sp>
      <p:sp>
        <p:nvSpPr>
          <p:cNvPr id="14" name="">
            <a:extLst xmlns:a="http://schemas.openxmlformats.org/drawingml/2006/main">
              <a:ext uri="{FF2B5EF4-FFF2-40B4-BE49-F238E27FC236}">
                <a16:creationId xmlns:a16="http://schemas.microsoft.com/office/drawing/2014/main" id="{D7036390-1D4B-4001-B724-228D6887B558}"/>
              </a:ext>
            </a:extLst>
          </p:cNvPr>
          <p:cNvSpPr>
            <a:spLocks xmlns:a="http://schemas.openxmlformats.org/drawingml/2006/main" noGrp="1"/>
          </p:cNvSpPr>
          <p:nvPr/>
        </p:nvSpPr>
        <p:spPr>
          <a:xfrm xmlns:a="http://schemas.openxmlformats.org/drawingml/2006/main">
            <a:off x="762000" y="5048250"/>
            <a:ext cx="514350" cy="514350"/>
          </a:xfrm>
          <a:prstGeom xmlns:a="http://schemas.openxmlformats.org/drawingml/2006/main" prst="rect">
            <a:avLst/>
          </a:prstGeom>
          <a:solidFill xmlns:a="http://schemas.openxmlformats.org/drawingml/2006/main">
            <a:srgbClr val="4285F4"/>
          </a:solidFill>
          <a:ln xmlns:a="http://schemas.openxmlformats.org/drawingml/2006/main" w="0">
            <a:noFill/>
            <a:prstDash val="solid"/>
          </a:ln>
        </p:spPr>
        <p:txBody>
          <a:bodyPr xmlns:a="http://schemas.openxmlformats.org/drawingml/2006/main" wrap="square" lIns="0" tIns="76200" rIns="0" bIns="0" anchor="ctr">
            <a:normAutofit fontScale="100000"/>
          </a:bodyPr>
          <a:lstStyle xmlns:a="http://schemas.openxmlformats.org/drawingml/2006/main"/>
          <a:p xmlns:a="http://schemas.openxmlformats.org/drawingml/2006/main">
            <a:pPr algn="ctr">
              <a:buNone/>
              <a:defRPr sz="1500" b="1">
                <a:solidFill>
                  <a:srgbClr val="FFFFFF"/>
                </a:solidFill>
                <a:latin typeface="Google Sans Medium"/>
                <a:ea typeface="Google Sans Medium"/>
                <a:cs typeface="Google Sans Medium"/>
              </a:defRPr>
            </a:pPr>
            <a:r>
              <a:rPr sz="1500" b="1">
                <a:solidFill>
                  <a:srgbClr val="FFFFFF"/>
                </a:solidFill>
                <a:latin typeface="Google Sans Medium"/>
                <a:ea typeface="Google Sans Medium"/>
                <a:cs typeface="Google Sans Medium"/>
              </a:rPr>
              <a:t>5</a:t>
            </a:r>
          </a:p>
        </p:txBody>
      </p:sp>
      <p:sp>
        <p:nvSpPr>
          <p:cNvPr id="15" name="">
            <a:extLst xmlns:a="http://schemas.openxmlformats.org/drawingml/2006/main">
              <a:ext uri="{FF2B5EF4-FFF2-40B4-BE49-F238E27FC236}">
                <a16:creationId xmlns:a16="http://schemas.microsoft.com/office/drawing/2014/main" id="{FC9B20E0-AA3C-4C31-949E-B2735C8C8AE8}"/>
              </a:ext>
            </a:extLst>
          </p:cNvPr>
          <p:cNvSpPr>
            <a:spLocks xmlns:a="http://schemas.openxmlformats.org/drawingml/2006/main" noGrp="1"/>
          </p:cNvSpPr>
          <p:nvPr/>
        </p:nvSpPr>
        <p:spPr>
          <a:xfrm xmlns:a="http://schemas.openxmlformats.org/drawingml/2006/main">
            <a:off x="1571625" y="50863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Google Sans Medium"/>
                <a:ea typeface="Google Sans Medium"/>
                <a:cs typeface="Google Sans Medium"/>
              </a:defRPr>
            </a:pPr>
            <a:r>
              <a:rPr sz="1575" b="1">
                <a:solidFill>
                  <a:srgbClr val="000000"/>
                </a:solidFill>
                <a:latin typeface="Google Sans Medium"/>
                <a:ea typeface="Google Sans Medium"/>
                <a:cs typeface="Google Sans Medium"/>
              </a:rPr>
              <a:t>Google tools</a:t>
            </a:r>
          </a:p>
        </p:txBody>
      </p:sp>
      <p:sp>
        <p:nvSpPr>
          <p:cNvPr id="16" name="">
            <a:extLst xmlns:a="http://schemas.openxmlformats.org/drawingml/2006/main">
              <a:ext uri="{FF2B5EF4-FFF2-40B4-BE49-F238E27FC236}">
                <a16:creationId xmlns:a16="http://schemas.microsoft.com/office/drawing/2014/main" id="{846EE8A7-1CBA-40E2-8196-0231CEF03A69}"/>
              </a:ext>
            </a:extLst>
          </p:cNvPr>
          <p:cNvSpPr>
            <a:spLocks xmlns:a="http://schemas.openxmlformats.org/drawingml/2006/main" noGrp="1"/>
          </p:cNvSpPr>
          <p:nvPr/>
        </p:nvSpPr>
        <p:spPr>
          <a:xfrm xmlns:a="http://schemas.openxmlformats.org/drawingml/2006/main">
            <a:off x="3333750" y="50863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88" b="0">
                <a:solidFill>
                  <a:srgbClr val="000000"/>
                </a:solidFill>
                <a:latin typeface="Google Sans Text"/>
                <a:ea typeface="Google Sans Text"/>
                <a:cs typeface="Google Sans Text"/>
              </a:defRPr>
            </a:pPr>
            <a:r>
              <a:rPr sz="1388" b="0">
                <a:solidFill>
                  <a:srgbClr val="000000"/>
                </a:solidFill>
                <a:latin typeface="Google Sans Text"/>
                <a:ea typeface="Google Sans Text"/>
                <a:cs typeface="Google Sans Text"/>
              </a:rPr>
              <a:t>Model Garden discovers; Studio prototypes; APIs/SDKs integrate; Google Skills enables labs.</a:t>
            </a:r>
          </a:p>
        </p:txBody>
      </p:sp>
    </p:spTree>
    <p:extLst>
      <p:ext uri="{BB962C8B-B14F-4D97-AF65-F5344CB8AC3E}">
        <p14:creationId xmlns:p14="http://schemas.microsoft.com/office/powerpoint/2010/main" val="174645609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D1F658-C029-4DAA-96C1-6B739BAE6459}"/>
              </a:ext>
            </a:extLst>
          </p:cNvPr>
          <p:cNvSpPr>
            <a:spLocks xmlns:a="http://schemas.openxmlformats.org/drawingml/2006/main" noGrp="1"/>
          </p:cNvSpPr>
          <p:nvPr/>
        </p:nvSpPr>
        <p:spPr>
          <a:xfrm xmlns:a="http://schemas.openxmlformats.org/drawingml/2006/main">
            <a:off x="533400" y="323850"/>
            <a:ext cx="11125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a:solidFill>
                  <a:srgbClr val="000000"/>
                </a:solidFill>
                <a:latin typeface="Google Sans"/>
                <a:ea typeface="Google Sans"/>
                <a:cs typeface="Google Sans"/>
              </a:defRPr>
            </a:pPr>
            <a:r>
              <a:rPr sz="2400" b="1">
                <a:solidFill>
                  <a:srgbClr val="000000"/>
                </a:solidFill>
                <a:latin typeface="Google Sans"/>
                <a:ea typeface="Google Sans"/>
                <a:cs typeface="Google Sans"/>
              </a:rPr>
              <a:t>Activity</a:t>
            </a:r>
          </a:p>
        </p:txBody>
      </p:sp>
      <p:sp>
        <p:nvSpPr>
          <p:cNvPr id="2" name="">
            <a:extLst xmlns:a="http://schemas.openxmlformats.org/drawingml/2006/main">
              <a:ext uri="{FF2B5EF4-FFF2-40B4-BE49-F238E27FC236}">
                <a16:creationId xmlns:a16="http://schemas.microsoft.com/office/drawing/2014/main" id="{CB74EF47-FC6D-422C-8E42-1E7E63DD0A0F}"/>
              </a:ext>
            </a:extLst>
          </p:cNvPr>
          <p:cNvSpPr>
            <a:spLocks xmlns:a="http://schemas.openxmlformats.org/drawingml/2006/main" noGrp="1"/>
          </p:cNvSpPr>
          <p:nvPr/>
        </p:nvSpPr>
        <p:spPr>
          <a:xfrm xmlns:a="http://schemas.openxmlformats.org/drawingml/2006/main">
            <a:off x="3905250" y="142875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1">
                <a:solidFill>
                  <a:srgbClr val="000000"/>
                </a:solidFill>
                <a:latin typeface="Google Sans"/>
                <a:ea typeface="Google Sans"/>
                <a:cs typeface="Google Sans"/>
              </a:defRPr>
            </a:pPr>
            <a:r>
              <a:rPr sz="2250" b="1">
                <a:solidFill>
                  <a:srgbClr val="000000"/>
                </a:solidFill>
                <a:latin typeface="Google Sans"/>
                <a:ea typeface="Google Sans"/>
                <a:cs typeface="Google Sans"/>
              </a:rPr>
              <a:t>Think · Pair · Share</a:t>
            </a:r>
          </a:p>
        </p:txBody>
      </p:sp>
      <p:sp>
        <p:nvSpPr>
          <p:cNvPr id="3" name="">
            <a:extLst xmlns:a="http://schemas.openxmlformats.org/drawingml/2006/main">
              <a:ext uri="{FF2B5EF4-FFF2-40B4-BE49-F238E27FC236}">
                <a16:creationId xmlns:a16="http://schemas.microsoft.com/office/drawing/2014/main" id="{139F9EB1-1586-46E3-8057-B2CEA29F60FC}"/>
              </a:ext>
            </a:extLst>
          </p:cNvPr>
          <p:cNvSpPr>
            <a:spLocks xmlns:a="http://schemas.openxmlformats.org/drawingml/2006/main" noGrp="1"/>
          </p:cNvSpPr>
          <p:nvPr/>
        </p:nvSpPr>
        <p:spPr>
          <a:xfrm xmlns:a="http://schemas.openxmlformats.org/drawingml/2006/main">
            <a:off x="1619250" y="2428875"/>
            <a:ext cx="8953500" cy="2095500"/>
          </a:xfrm>
          <a:prstGeom xmlns:a="http://schemas.openxmlformats.org/drawingml/2006/main" prst="roundRect">
            <a:avLst>
              <a:gd name="adj" fmla="val 3636"/>
            </a:avLst>
          </a:prstGeom>
          <a:solidFill xmlns:a="http://schemas.openxmlformats.org/drawingml/2006/main">
            <a:srgbClr val="F8F8F8"/>
          </a:solidFill>
          <a:ln xmlns:a="http://schemas.openxmlformats.org/drawingml/2006/main" w="9525">
            <a:solidFill>
              <a:srgbClr val="DADCE0"/>
            </a:solidFill>
            <a:prstDash val="solid"/>
          </a:ln>
        </p:spPr>
      </p:sp>
      <p:sp>
        <p:nvSpPr>
          <p:cNvPr id="4" name="">
            <a:extLst xmlns:a="http://schemas.openxmlformats.org/drawingml/2006/main">
              <a:ext uri="{FF2B5EF4-FFF2-40B4-BE49-F238E27FC236}">
                <a16:creationId xmlns:a16="http://schemas.microsoft.com/office/drawing/2014/main" id="{677CDF21-4843-4000-ADBE-CD36E694B1F1}"/>
              </a:ext>
            </a:extLst>
          </p:cNvPr>
          <p:cNvSpPr>
            <a:spLocks xmlns:a="http://schemas.openxmlformats.org/drawingml/2006/main" noGrp="1"/>
          </p:cNvSpPr>
          <p:nvPr/>
        </p:nvSpPr>
        <p:spPr>
          <a:xfrm xmlns:a="http://schemas.openxmlformats.org/drawingml/2006/main">
            <a:off x="2238375" y="2838450"/>
            <a:ext cx="7715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984"/>
          </a:bodyPr>
          <a:lstStyle xmlns:a="http://schemas.openxmlformats.org/drawingml/2006/main"/>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Choose one campus task that could benefit from an LLM.</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Define the input, expected output, success measure, and one risk.</a:t>
            </a:r>
          </a:p>
          <a:p xmlns:a="http://schemas.openxmlformats.org/drawingml/2006/main">
            <a:r>
              <a:t/>
            </a:r>
          </a:p>
          <a:p xmlns:a="http://schemas.openxmlformats.org/drawingml/2006/main">
            <a:pPr algn="ctr">
              <a:buNone/>
              <a:defRPr sz="1650" b="0">
                <a:solidFill>
                  <a:srgbClr val="000000"/>
                </a:solidFill>
                <a:latin typeface="Google Sans Text"/>
                <a:ea typeface="Google Sans Text"/>
                <a:cs typeface="Google Sans Text"/>
              </a:defRPr>
            </a:pPr>
            <a:r>
              <a:rPr sz="1650" b="0">
                <a:solidFill>
                  <a:srgbClr val="000000"/>
                </a:solidFill>
                <a:latin typeface="Google Sans Text"/>
                <a:ea typeface="Google Sans Text"/>
                <a:cs typeface="Google Sans Text"/>
              </a:rPr>
              <a:t>Decide whether you would begin with prompting, grounding, or tuning—and explain why.</a:t>
            </a:r>
          </a:p>
        </p:txBody>
      </p:sp>
      <p:sp>
        <p:nvSpPr>
          <p:cNvPr id="5" name="">
            <a:extLst xmlns:a="http://schemas.openxmlformats.org/drawingml/2006/main">
              <a:ext uri="{FF2B5EF4-FFF2-40B4-BE49-F238E27FC236}">
                <a16:creationId xmlns:a16="http://schemas.microsoft.com/office/drawing/2014/main" id="{1382FF8D-5620-4F7F-B8E6-3CD767A16758}"/>
              </a:ext>
            </a:extLst>
          </p:cNvPr>
          <p:cNvSpPr>
            <a:spLocks xmlns:a="http://schemas.openxmlformats.org/drawingml/2006/main" noGrp="1"/>
          </p:cNvSpPr>
          <p:nvPr/>
        </p:nvSpPr>
        <p:spPr>
          <a:xfrm xmlns:a="http://schemas.openxmlformats.org/drawingml/2006/main">
            <a:off x="2190750" y="528637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0">
                <a:solidFill>
                  <a:srgbClr val="5F6368"/>
                </a:solidFill>
                <a:latin typeface="Google Sans Text"/>
                <a:ea typeface="Google Sans Text"/>
                <a:cs typeface="Google Sans Text"/>
              </a:defRPr>
            </a:pPr>
            <a:r>
              <a:rPr sz="1350" b="0">
                <a:solidFill>
                  <a:srgbClr val="5F6368"/>
                </a:solidFill>
                <a:latin typeface="Google Sans Text"/>
                <a:ea typeface="Google Sans Text"/>
                <a:cs typeface="Google Sans Text"/>
              </a:rPr>
              <a:t>Use 3 minutes individually, 4 minutes in pairs, and 1 minute for two pairs to share.</a:t>
            </a:r>
          </a:p>
        </p:txBody>
      </p:sp>
    </p:spTree>
    <p:extLst>
      <p:ext uri="{BB962C8B-B14F-4D97-AF65-F5344CB8AC3E}">
        <p14:creationId xmlns:p14="http://schemas.microsoft.com/office/powerpoint/2010/main" val="122451871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E12ABF-BD1B-4F28-A8F7-5C06FBE72A35}"/>
              </a:ext>
            </a:extLst>
          </p:cNvPr>
          <p:cNvSpPr>
            <a:spLocks xmlns:a="http://schemas.openxmlformats.org/drawingml/2006/main" noGrp="1"/>
          </p:cNvSpPr>
          <p:nvPr/>
        </p:nvSpPr>
        <p:spPr>
          <a:xfrm xmlns:a="http://schemas.openxmlformats.org/drawingml/2006/main">
            <a:off x="838200" y="2343150"/>
            <a:ext cx="1476375" cy="1476375"/>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2" name="">
            <a:extLst xmlns:a="http://schemas.openxmlformats.org/drawingml/2006/main">
              <a:ext uri="{FF2B5EF4-FFF2-40B4-BE49-F238E27FC236}">
                <a16:creationId xmlns:a16="http://schemas.microsoft.com/office/drawing/2014/main" id="{71E0BD69-437A-4EA8-8983-D5A466FB5E01}"/>
              </a:ext>
            </a:extLst>
          </p:cNvPr>
          <p:cNvSpPr>
            <a:spLocks xmlns:a="http://schemas.openxmlformats.org/drawingml/2006/main" noGrp="1"/>
          </p:cNvSpPr>
          <p:nvPr/>
        </p:nvSpPr>
        <p:spPr>
          <a:xfrm xmlns:a="http://schemas.openxmlformats.org/drawingml/2006/main">
            <a:off x="838200" y="2571750"/>
            <a:ext cx="1476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4500" b="0">
                <a:solidFill>
                  <a:srgbClr val="FFFFFF"/>
                </a:solidFill>
                <a:latin typeface="Google Sans"/>
                <a:ea typeface="Google Sans"/>
                <a:cs typeface="Google Sans"/>
              </a:defRPr>
            </a:pPr>
            <a:r>
              <a:rPr sz="4500" b="0">
                <a:solidFill>
                  <a:srgbClr val="FFFFFF"/>
                </a:solidFill>
                <a:latin typeface="Google Sans"/>
                <a:ea typeface="Google Sans"/>
                <a:cs typeface="Google Sans"/>
              </a:rPr>
              <a:t>Q&amp;A</a:t>
            </a:r>
          </a:p>
        </p:txBody>
      </p:sp>
      <p:sp>
        <p:nvSpPr>
          <p:cNvPr id="3" name="">
            <a:extLst xmlns:a="http://schemas.openxmlformats.org/drawingml/2006/main">
              <a:ext uri="{FF2B5EF4-FFF2-40B4-BE49-F238E27FC236}">
                <a16:creationId xmlns:a16="http://schemas.microsoft.com/office/drawing/2014/main" id="{45B8AC87-1B5D-4FC5-B4D7-972A9C3BA95C}"/>
              </a:ext>
            </a:extLst>
          </p:cNvPr>
          <p:cNvSpPr>
            <a:spLocks xmlns:a="http://schemas.openxmlformats.org/drawingml/2006/main" noGrp="1"/>
          </p:cNvSpPr>
          <p:nvPr/>
        </p:nvSpPr>
        <p:spPr>
          <a:xfrm xmlns:a="http://schemas.openxmlformats.org/drawingml/2006/main">
            <a:off x="2457450" y="2857500"/>
            <a:ext cx="342900" cy="342900"/>
          </a:xfrm>
          <a:prstGeom xmlns:a="http://schemas.openxmlformats.org/drawingml/2006/main" prst="triangle">
            <a:avLst/>
          </a:prstGeom>
          <a:solidFill xmlns:a="http://schemas.openxmlformats.org/drawingml/2006/main">
            <a:srgbClr val="F0A608"/>
          </a:solidFill>
          <a:ln xmlns:a="http://schemas.openxmlformats.org/drawingml/2006/main" w="0">
            <a:solidFill>
              <a:srgbClr val="F0A608"/>
            </a:solidFill>
            <a:prstDash val="solid"/>
          </a:ln>
        </p:spPr>
      </p:sp>
      <p:sp>
        <p:nvSpPr>
          <p:cNvPr id="4" name="">
            <a:extLst xmlns:a="http://schemas.openxmlformats.org/drawingml/2006/main">
              <a:ext uri="{FF2B5EF4-FFF2-40B4-BE49-F238E27FC236}">
                <a16:creationId xmlns:a16="http://schemas.microsoft.com/office/drawing/2014/main" id="{BCA8D728-8238-45D1-B555-45B3FC9BA0DD}"/>
              </a:ext>
            </a:extLst>
          </p:cNvPr>
          <p:cNvSpPr>
            <a:spLocks xmlns:a="http://schemas.openxmlformats.org/drawingml/2006/main" noGrp="1"/>
          </p:cNvSpPr>
          <p:nvPr/>
        </p:nvSpPr>
        <p:spPr>
          <a:xfrm xmlns:a="http://schemas.openxmlformats.org/drawingml/2006/main">
            <a:off x="3429000" y="2571750"/>
            <a:ext cx="723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550" b="1">
                <a:solidFill>
                  <a:srgbClr val="000000"/>
                </a:solidFill>
                <a:latin typeface="Google Sans"/>
                <a:ea typeface="Google Sans"/>
                <a:cs typeface="Google Sans"/>
              </a:defRPr>
            </a:pPr>
            <a:r>
              <a:rPr sz="2550" b="1">
                <a:solidFill>
                  <a:srgbClr val="000000"/>
                </a:solidFill>
                <a:latin typeface="Google Sans"/>
                <a:ea typeface="Google Sans"/>
                <a:cs typeface="Google Sans"/>
              </a:rPr>
              <a:t>Knowledge check</a:t>
            </a:r>
          </a:p>
        </p:txBody>
      </p:sp>
      <p:sp>
        <p:nvSpPr>
          <p:cNvPr id="5" name="">
            <a:extLst xmlns:a="http://schemas.openxmlformats.org/drawingml/2006/main">
              <a:ext uri="{FF2B5EF4-FFF2-40B4-BE49-F238E27FC236}">
                <a16:creationId xmlns:a16="http://schemas.microsoft.com/office/drawing/2014/main" id="{93DBAA63-D877-4166-8AA4-817BA9819BCA}"/>
              </a:ext>
            </a:extLst>
          </p:cNvPr>
          <p:cNvSpPr>
            <a:spLocks xmlns:a="http://schemas.openxmlformats.org/drawingml/2006/main" noGrp="1"/>
          </p:cNvSpPr>
          <p:nvPr/>
        </p:nvSpPr>
        <p:spPr>
          <a:xfrm xmlns:a="http://schemas.openxmlformats.org/drawingml/2006/main">
            <a:off x="3429000" y="3238500"/>
            <a:ext cx="723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F6368"/>
                </a:solidFill>
                <a:latin typeface="Google Sans Text"/>
                <a:ea typeface="Google Sans Text"/>
                <a:cs typeface="Google Sans Text"/>
              </a:defRPr>
            </a:pPr>
            <a:r>
              <a:rPr sz="1500" b="0">
                <a:solidFill>
                  <a:srgbClr val="5F6368"/>
                </a:solidFill>
                <a:latin typeface="Google Sans Text"/>
                <a:ea typeface="Google Sans Text"/>
                <a:cs typeface="Google Sans Text"/>
              </a:rPr>
              <a:t>Three questions to confirm the key distinctions</a:t>
            </a:r>
          </a:p>
        </p:txBody>
      </p:sp>
    </p:spTree>
    <p:extLst>
      <p:ext uri="{BB962C8B-B14F-4D97-AF65-F5344CB8AC3E}">
        <p14:creationId xmlns:p14="http://schemas.microsoft.com/office/powerpoint/2010/main" val="212063122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E0195C-E4A9-4E35-AFF6-80776BC61E8A}"/>
              </a:ext>
            </a:extLst>
          </p:cNvPr>
          <p:cNvSpPr>
            <a:spLocks xmlns:a="http://schemas.openxmlformats.org/drawingml/2006/main" noGrp="1"/>
          </p:cNvSpPr>
          <p:nvPr/>
        </p:nvSpPr>
        <p:spPr>
          <a:xfrm xmlns:a="http://schemas.openxmlformats.org/drawingml/2006/main">
            <a:off x="533400" y="32385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Question #1: What happens during inference?</a:t>
            </a:r>
          </a:p>
        </p:txBody>
      </p:sp>
      <p:sp>
        <p:nvSpPr>
          <p:cNvPr id="2" name="">
            <a:extLst xmlns:a="http://schemas.openxmlformats.org/drawingml/2006/main">
              <a:ext uri="{FF2B5EF4-FFF2-40B4-BE49-F238E27FC236}">
                <a16:creationId xmlns:a16="http://schemas.microsoft.com/office/drawing/2014/main" id="{A6666548-8AD3-4D74-BCCE-533146005E02}"/>
              </a:ext>
            </a:extLst>
          </p:cNvPr>
          <p:cNvSpPr>
            <a:spLocks xmlns:a="http://schemas.openxmlformats.org/drawingml/2006/main" noGrp="1"/>
          </p:cNvSpPr>
          <p:nvPr/>
        </p:nvSpPr>
        <p:spPr>
          <a:xfrm xmlns:a="http://schemas.openxmlformats.org/drawingml/2006/main">
            <a:off x="685800" y="1619250"/>
            <a:ext cx="4953000" cy="1428750"/>
          </a:xfrm>
          <a:prstGeom xmlns:a="http://schemas.openxmlformats.org/drawingml/2006/main" prst="roundRect">
            <a:avLst>
              <a:gd name="adj" fmla="val 5333"/>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1659BE17-384A-4601-BAE9-833809B36ECA}"/>
              </a:ext>
            </a:extLst>
          </p:cNvPr>
          <p:cNvSpPr>
            <a:spLocks xmlns:a="http://schemas.openxmlformats.org/drawingml/2006/main" noGrp="1"/>
          </p:cNvSpPr>
          <p:nvPr/>
        </p:nvSpPr>
        <p:spPr>
          <a:xfrm xmlns:a="http://schemas.openxmlformats.org/drawingml/2006/main">
            <a:off x="9144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A. The training dataset is collected</a:t>
            </a:r>
          </a:p>
        </p:txBody>
      </p:sp>
      <p:sp>
        <p:nvSpPr>
          <p:cNvPr id="4" name="">
            <a:extLst xmlns:a="http://schemas.openxmlformats.org/drawingml/2006/main">
              <a:ext uri="{FF2B5EF4-FFF2-40B4-BE49-F238E27FC236}">
                <a16:creationId xmlns:a16="http://schemas.microsoft.com/office/drawing/2014/main" id="{857A6358-9DF8-4CAD-BFA6-FD521ABF7AFC}"/>
              </a:ext>
            </a:extLst>
          </p:cNvPr>
          <p:cNvSpPr>
            <a:spLocks xmlns:a="http://schemas.openxmlformats.org/drawingml/2006/main" noGrp="1"/>
          </p:cNvSpPr>
          <p:nvPr/>
        </p:nvSpPr>
        <p:spPr>
          <a:xfrm xmlns:a="http://schemas.openxmlformats.org/drawingml/2006/main">
            <a:off x="6248400" y="1619250"/>
            <a:ext cx="4953000" cy="1428750"/>
          </a:xfrm>
          <a:prstGeom xmlns:a="http://schemas.openxmlformats.org/drawingml/2006/main" prst="roundRect">
            <a:avLst>
              <a:gd name="adj" fmla="val 5333"/>
            </a:avLst>
          </a:prstGeom>
          <a:solidFill xmlns:a="http://schemas.openxmlformats.org/drawingml/2006/main">
            <a:srgbClr val="FDEFC3"/>
          </a:solidFill>
          <a:ln xmlns:a="http://schemas.openxmlformats.org/drawingml/2006/main" w="0">
            <a:solidFill>
              <a:srgbClr val="FDEFC3"/>
            </a:solidFill>
            <a:prstDash val="solid"/>
          </a:ln>
        </p:spPr>
      </p:sp>
      <p:sp>
        <p:nvSpPr>
          <p:cNvPr id="5" name="">
            <a:extLst xmlns:a="http://schemas.openxmlformats.org/drawingml/2006/main">
              <a:ext uri="{FF2B5EF4-FFF2-40B4-BE49-F238E27FC236}">
                <a16:creationId xmlns:a16="http://schemas.microsoft.com/office/drawing/2014/main" id="{012D10C1-22E5-471E-84C8-25ADF5D36AD1}"/>
              </a:ext>
            </a:extLst>
          </p:cNvPr>
          <p:cNvSpPr>
            <a:spLocks xmlns:a="http://schemas.openxmlformats.org/drawingml/2006/main" noGrp="1"/>
          </p:cNvSpPr>
          <p:nvPr/>
        </p:nvSpPr>
        <p:spPr>
          <a:xfrm xmlns:a="http://schemas.openxmlformats.org/drawingml/2006/main">
            <a:off x="64770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B. Model parameters are initialized</a:t>
            </a:r>
          </a:p>
        </p:txBody>
      </p:sp>
      <p:sp>
        <p:nvSpPr>
          <p:cNvPr id="6" name="">
            <a:extLst xmlns:a="http://schemas.openxmlformats.org/drawingml/2006/main">
              <a:ext uri="{FF2B5EF4-FFF2-40B4-BE49-F238E27FC236}">
                <a16:creationId xmlns:a16="http://schemas.microsoft.com/office/drawing/2014/main" id="{5525F82A-3F05-4723-87E1-D9A79BD19615}"/>
              </a:ext>
            </a:extLst>
          </p:cNvPr>
          <p:cNvSpPr>
            <a:spLocks xmlns:a="http://schemas.openxmlformats.org/drawingml/2006/main" noGrp="1"/>
          </p:cNvSpPr>
          <p:nvPr/>
        </p:nvSpPr>
        <p:spPr>
          <a:xfrm xmlns:a="http://schemas.openxmlformats.org/drawingml/2006/main">
            <a:off x="685800" y="3714750"/>
            <a:ext cx="4953000" cy="1428750"/>
          </a:xfrm>
          <a:prstGeom xmlns:a="http://schemas.openxmlformats.org/drawingml/2006/main" prst="roundRect">
            <a:avLst>
              <a:gd name="adj" fmla="val 5333"/>
            </a:avLst>
          </a:prstGeom>
          <a:solidFill xmlns:a="http://schemas.openxmlformats.org/drawingml/2006/main">
            <a:srgbClr val="F5C7C9"/>
          </a:solidFill>
          <a:ln xmlns:a="http://schemas.openxmlformats.org/drawingml/2006/main" w="0">
            <a:solidFill>
              <a:srgbClr val="F5C7C9"/>
            </a:solidFill>
            <a:prstDash val="solid"/>
          </a:ln>
        </p:spPr>
      </p:sp>
      <p:sp>
        <p:nvSpPr>
          <p:cNvPr id="7" name="">
            <a:extLst xmlns:a="http://schemas.openxmlformats.org/drawingml/2006/main">
              <a:ext uri="{FF2B5EF4-FFF2-40B4-BE49-F238E27FC236}">
                <a16:creationId xmlns:a16="http://schemas.microsoft.com/office/drawing/2014/main" id="{070E4E4C-004C-492F-B07B-B304286523E6}"/>
              </a:ext>
            </a:extLst>
          </p:cNvPr>
          <p:cNvSpPr>
            <a:spLocks xmlns:a="http://schemas.openxmlformats.org/drawingml/2006/main" noGrp="1"/>
          </p:cNvSpPr>
          <p:nvPr/>
        </p:nvSpPr>
        <p:spPr>
          <a:xfrm xmlns:a="http://schemas.openxmlformats.org/drawingml/2006/main">
            <a:off x="9144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C. A trained model generates an output for an input</a:t>
            </a:r>
          </a:p>
        </p:txBody>
      </p:sp>
      <p:sp>
        <p:nvSpPr>
          <p:cNvPr id="8" name="">
            <a:extLst xmlns:a="http://schemas.openxmlformats.org/drawingml/2006/main">
              <a:ext uri="{FF2B5EF4-FFF2-40B4-BE49-F238E27FC236}">
                <a16:creationId xmlns:a16="http://schemas.microsoft.com/office/drawing/2014/main" id="{7056A052-12BE-4AEA-A7BB-426ACC4A37CF}"/>
              </a:ext>
            </a:extLst>
          </p:cNvPr>
          <p:cNvSpPr>
            <a:spLocks xmlns:a="http://schemas.openxmlformats.org/drawingml/2006/main" noGrp="1"/>
          </p:cNvSpPr>
          <p:nvPr/>
        </p:nvSpPr>
        <p:spPr>
          <a:xfrm xmlns:a="http://schemas.openxmlformats.org/drawingml/2006/main">
            <a:off x="6248400" y="3714750"/>
            <a:ext cx="4953000" cy="1428750"/>
          </a:xfrm>
          <a:prstGeom xmlns:a="http://schemas.openxmlformats.org/drawingml/2006/main" prst="roundRect">
            <a:avLst>
              <a:gd name="adj" fmla="val 5333"/>
            </a:avLst>
          </a:prstGeom>
          <a:solidFill xmlns:a="http://schemas.openxmlformats.org/drawingml/2006/main">
            <a:srgbClr val="D0E1E5"/>
          </a:solidFill>
          <a:ln xmlns:a="http://schemas.openxmlformats.org/drawingml/2006/main" w="0">
            <a:solidFill>
              <a:srgbClr val="D0E1E5"/>
            </a:solidFill>
            <a:prstDash val="solid"/>
          </a:ln>
        </p:spPr>
      </p:sp>
      <p:sp>
        <p:nvSpPr>
          <p:cNvPr id="9" name="">
            <a:extLst xmlns:a="http://schemas.openxmlformats.org/drawingml/2006/main">
              <a:ext uri="{FF2B5EF4-FFF2-40B4-BE49-F238E27FC236}">
                <a16:creationId xmlns:a16="http://schemas.microsoft.com/office/drawing/2014/main" id="{97533BC1-07E4-4B5A-86D6-6EBD9C38FB41}"/>
              </a:ext>
            </a:extLst>
          </p:cNvPr>
          <p:cNvSpPr>
            <a:spLocks xmlns:a="http://schemas.openxmlformats.org/drawingml/2006/main" noGrp="1"/>
          </p:cNvSpPr>
          <p:nvPr/>
        </p:nvSpPr>
        <p:spPr>
          <a:xfrm xmlns:a="http://schemas.openxmlformats.org/drawingml/2006/main">
            <a:off x="64770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D. Every parameter is updated</a:t>
            </a:r>
          </a:p>
        </p:txBody>
      </p:sp>
    </p:spTree>
    <p:extLst>
      <p:ext uri="{BB962C8B-B14F-4D97-AF65-F5344CB8AC3E}">
        <p14:creationId xmlns:p14="http://schemas.microsoft.com/office/powerpoint/2010/main" val="64271465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6AFD7FA-9678-4E68-A1E4-EBD078AB9D4A}"/>
              </a:ext>
            </a:extLst>
          </p:cNvPr>
          <p:cNvSpPr>
            <a:spLocks xmlns:a="http://schemas.openxmlformats.org/drawingml/2006/main" noGrp="1"/>
          </p:cNvSpPr>
          <p:nvPr/>
        </p:nvSpPr>
        <p:spPr>
          <a:xfrm xmlns:a="http://schemas.openxmlformats.org/drawingml/2006/main">
            <a:off x="533400" y="400050"/>
            <a:ext cx="11125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Answer #1</a:t>
            </a:r>
          </a:p>
        </p:txBody>
      </p:sp>
      <p:sp>
        <p:nvSpPr>
          <p:cNvPr id="2" name="">
            <a:extLst xmlns:a="http://schemas.openxmlformats.org/drawingml/2006/main">
              <a:ext uri="{FF2B5EF4-FFF2-40B4-BE49-F238E27FC236}">
                <a16:creationId xmlns:a16="http://schemas.microsoft.com/office/drawing/2014/main" id="{DCF0C415-D32E-488B-A959-4F27FCC9DE96}"/>
              </a:ext>
            </a:extLst>
          </p:cNvPr>
          <p:cNvSpPr>
            <a:spLocks xmlns:a="http://schemas.openxmlformats.org/drawingml/2006/main" noGrp="1"/>
          </p:cNvSpPr>
          <p:nvPr/>
        </p:nvSpPr>
        <p:spPr>
          <a:xfrm xmlns:a="http://schemas.openxmlformats.org/drawingml/2006/main">
            <a:off x="0" y="1428750"/>
            <a:ext cx="12192000" cy="3143250"/>
          </a:xfrm>
          <a:prstGeom xmlns:a="http://schemas.openxmlformats.org/drawingml/2006/main" prst="rect">
            <a:avLst/>
          </a:prstGeom>
          <a:solidFill xmlns:a="http://schemas.openxmlformats.org/drawingml/2006/main">
            <a:srgbClr val="F8F8F8"/>
          </a:solidFill>
          <a:ln xmlns:a="http://schemas.openxmlformats.org/drawingml/2006/main" w="0">
            <a:solidFill>
              <a:srgbClr val="F8F8F8"/>
            </a:solidFill>
            <a:prstDash val="solid"/>
          </a:ln>
        </p:spPr>
      </p:sp>
      <p:sp>
        <p:nvSpPr>
          <p:cNvPr id="3" name="">
            <a:extLst xmlns:a="http://schemas.openxmlformats.org/drawingml/2006/main">
              <a:ext uri="{FF2B5EF4-FFF2-40B4-BE49-F238E27FC236}">
                <a16:creationId xmlns:a16="http://schemas.microsoft.com/office/drawing/2014/main" id="{D46BB0CA-F7DA-4FC2-A62F-227CAA6808D1}"/>
              </a:ext>
            </a:extLst>
          </p:cNvPr>
          <p:cNvSpPr>
            <a:spLocks xmlns:a="http://schemas.openxmlformats.org/drawingml/2006/main" noGrp="1"/>
          </p:cNvSpPr>
          <p:nvPr/>
        </p:nvSpPr>
        <p:spPr>
          <a:xfrm xmlns:a="http://schemas.openxmlformats.org/drawingml/2006/main">
            <a:off x="114300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000000"/>
                </a:solidFill>
                <a:latin typeface="Google Sans Medium"/>
                <a:ea typeface="Google Sans Medium"/>
                <a:cs typeface="Google Sans Medium"/>
              </a:defRPr>
            </a:pPr>
            <a:r>
              <a:rPr sz="1875" b="1">
                <a:solidFill>
                  <a:srgbClr val="000000"/>
                </a:solidFill>
                <a:latin typeface="Google Sans Medium"/>
                <a:ea typeface="Google Sans Medium"/>
                <a:cs typeface="Google Sans Medium"/>
              </a:rPr>
              <a:t>Correct answer: C. A trained model generates an output for an input</a:t>
            </a:r>
          </a:p>
        </p:txBody>
      </p:sp>
      <p:sp>
        <p:nvSpPr>
          <p:cNvPr id="4" name="">
            <a:extLst xmlns:a="http://schemas.openxmlformats.org/drawingml/2006/main">
              <a:ext uri="{FF2B5EF4-FFF2-40B4-BE49-F238E27FC236}">
                <a16:creationId xmlns:a16="http://schemas.microsoft.com/office/drawing/2014/main" id="{6A2964FB-64C2-4CB7-A494-1F0837A050A8}"/>
              </a:ext>
            </a:extLst>
          </p:cNvPr>
          <p:cNvSpPr>
            <a:spLocks xmlns:a="http://schemas.openxmlformats.org/drawingml/2006/main" noGrp="1"/>
          </p:cNvSpPr>
          <p:nvPr/>
        </p:nvSpPr>
        <p:spPr>
          <a:xfrm xmlns:a="http://schemas.openxmlformats.org/drawingml/2006/main">
            <a:off x="1809750" y="2952750"/>
            <a:ext cx="857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0">
                <a:solidFill>
                  <a:srgbClr val="000000"/>
                </a:solidFill>
                <a:latin typeface="Google Sans Text"/>
                <a:ea typeface="Google Sans Text"/>
                <a:cs typeface="Google Sans Text"/>
              </a:defRPr>
            </a:pPr>
            <a:r>
              <a:rPr sz="1575" b="0">
                <a:solidFill>
                  <a:srgbClr val="000000"/>
                </a:solidFill>
                <a:latin typeface="Google Sans Text"/>
                <a:ea typeface="Google Sans Text"/>
                <a:cs typeface="Google Sans Text"/>
              </a:rPr>
              <a:t>Training updates parameters. Inference uses the trained parameters to produce predictions or generated content.</a:t>
            </a:r>
          </a:p>
        </p:txBody>
      </p:sp>
    </p:spTree>
    <p:extLst>
      <p:ext uri="{BB962C8B-B14F-4D97-AF65-F5344CB8AC3E}">
        <p14:creationId xmlns:p14="http://schemas.microsoft.com/office/powerpoint/2010/main" val="183023498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56DDA0-701D-4F66-8F47-0288496374E7}"/>
              </a:ext>
            </a:extLst>
          </p:cNvPr>
          <p:cNvSpPr>
            <a:spLocks xmlns:a="http://schemas.openxmlformats.org/drawingml/2006/main" noGrp="1"/>
          </p:cNvSpPr>
          <p:nvPr/>
        </p:nvSpPr>
        <p:spPr>
          <a:xfrm xmlns:a="http://schemas.openxmlformats.org/drawingml/2006/main">
            <a:off x="533400" y="32385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Question #2: Which statement best describes prompt tuning?</a:t>
            </a:r>
          </a:p>
        </p:txBody>
      </p:sp>
      <p:sp>
        <p:nvSpPr>
          <p:cNvPr id="2" name="">
            <a:extLst xmlns:a="http://schemas.openxmlformats.org/drawingml/2006/main">
              <a:ext uri="{FF2B5EF4-FFF2-40B4-BE49-F238E27FC236}">
                <a16:creationId xmlns:a16="http://schemas.microsoft.com/office/drawing/2014/main" id="{354684D5-DDB9-423C-BA72-8B61D2FF6C3E}"/>
              </a:ext>
            </a:extLst>
          </p:cNvPr>
          <p:cNvSpPr>
            <a:spLocks xmlns:a="http://schemas.openxmlformats.org/drawingml/2006/main" noGrp="1"/>
          </p:cNvSpPr>
          <p:nvPr/>
        </p:nvSpPr>
        <p:spPr>
          <a:xfrm xmlns:a="http://schemas.openxmlformats.org/drawingml/2006/main">
            <a:off x="685800" y="1619250"/>
            <a:ext cx="4953000" cy="1428750"/>
          </a:xfrm>
          <a:prstGeom xmlns:a="http://schemas.openxmlformats.org/drawingml/2006/main" prst="roundRect">
            <a:avLst>
              <a:gd name="adj" fmla="val 5333"/>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CF85A675-6B5F-421B-AF86-FA24F6398A7B}"/>
              </a:ext>
            </a:extLst>
          </p:cNvPr>
          <p:cNvSpPr>
            <a:spLocks xmlns:a="http://schemas.openxmlformats.org/drawingml/2006/main" noGrp="1"/>
          </p:cNvSpPr>
          <p:nvPr/>
        </p:nvSpPr>
        <p:spPr>
          <a:xfrm xmlns:a="http://schemas.openxmlformats.org/drawingml/2006/main">
            <a:off x="9144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A. A human rewrites the prompt until it looks clearer</a:t>
            </a:r>
          </a:p>
        </p:txBody>
      </p:sp>
      <p:sp>
        <p:nvSpPr>
          <p:cNvPr id="4" name="">
            <a:extLst xmlns:a="http://schemas.openxmlformats.org/drawingml/2006/main">
              <a:ext uri="{FF2B5EF4-FFF2-40B4-BE49-F238E27FC236}">
                <a16:creationId xmlns:a16="http://schemas.microsoft.com/office/drawing/2014/main" id="{4D33B627-3B26-43E5-9589-5FF68A742624}"/>
              </a:ext>
            </a:extLst>
          </p:cNvPr>
          <p:cNvSpPr>
            <a:spLocks xmlns:a="http://schemas.openxmlformats.org/drawingml/2006/main" noGrp="1"/>
          </p:cNvSpPr>
          <p:nvPr/>
        </p:nvSpPr>
        <p:spPr>
          <a:xfrm xmlns:a="http://schemas.openxmlformats.org/drawingml/2006/main">
            <a:off x="6248400" y="1619250"/>
            <a:ext cx="4953000" cy="1428750"/>
          </a:xfrm>
          <a:prstGeom xmlns:a="http://schemas.openxmlformats.org/drawingml/2006/main" prst="roundRect">
            <a:avLst>
              <a:gd name="adj" fmla="val 5333"/>
            </a:avLst>
          </a:prstGeom>
          <a:solidFill xmlns:a="http://schemas.openxmlformats.org/drawingml/2006/main">
            <a:srgbClr val="FDEFC3"/>
          </a:solidFill>
          <a:ln xmlns:a="http://schemas.openxmlformats.org/drawingml/2006/main" w="0">
            <a:solidFill>
              <a:srgbClr val="FDEFC3"/>
            </a:solidFill>
            <a:prstDash val="solid"/>
          </a:ln>
        </p:spPr>
      </p:sp>
      <p:sp>
        <p:nvSpPr>
          <p:cNvPr id="5" name="">
            <a:extLst xmlns:a="http://schemas.openxmlformats.org/drawingml/2006/main">
              <a:ext uri="{FF2B5EF4-FFF2-40B4-BE49-F238E27FC236}">
                <a16:creationId xmlns:a16="http://schemas.microsoft.com/office/drawing/2014/main" id="{37291CDC-2706-4EED-91B9-1E185254D169}"/>
              </a:ext>
            </a:extLst>
          </p:cNvPr>
          <p:cNvSpPr>
            <a:spLocks xmlns:a="http://schemas.openxmlformats.org/drawingml/2006/main" noGrp="1"/>
          </p:cNvSpPr>
          <p:nvPr/>
        </p:nvSpPr>
        <p:spPr>
          <a:xfrm xmlns:a="http://schemas.openxmlformats.org/drawingml/2006/main">
            <a:off x="64770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B. The model searches the web before answering</a:t>
            </a:r>
          </a:p>
        </p:txBody>
      </p:sp>
      <p:sp>
        <p:nvSpPr>
          <p:cNvPr id="6" name="">
            <a:extLst xmlns:a="http://schemas.openxmlformats.org/drawingml/2006/main">
              <a:ext uri="{FF2B5EF4-FFF2-40B4-BE49-F238E27FC236}">
                <a16:creationId xmlns:a16="http://schemas.microsoft.com/office/drawing/2014/main" id="{A52F6840-F506-49E8-B5A8-4454476C36BF}"/>
              </a:ext>
            </a:extLst>
          </p:cNvPr>
          <p:cNvSpPr>
            <a:spLocks xmlns:a="http://schemas.openxmlformats.org/drawingml/2006/main" noGrp="1"/>
          </p:cNvSpPr>
          <p:nvPr/>
        </p:nvSpPr>
        <p:spPr>
          <a:xfrm xmlns:a="http://schemas.openxmlformats.org/drawingml/2006/main">
            <a:off x="685800" y="3714750"/>
            <a:ext cx="4953000" cy="1428750"/>
          </a:xfrm>
          <a:prstGeom xmlns:a="http://schemas.openxmlformats.org/drawingml/2006/main" prst="roundRect">
            <a:avLst>
              <a:gd name="adj" fmla="val 5333"/>
            </a:avLst>
          </a:prstGeom>
          <a:solidFill xmlns:a="http://schemas.openxmlformats.org/drawingml/2006/main">
            <a:srgbClr val="F5C7C9"/>
          </a:solidFill>
          <a:ln xmlns:a="http://schemas.openxmlformats.org/drawingml/2006/main" w="0">
            <a:solidFill>
              <a:srgbClr val="F5C7C9"/>
            </a:solidFill>
            <a:prstDash val="solid"/>
          </a:ln>
        </p:spPr>
      </p:sp>
      <p:sp>
        <p:nvSpPr>
          <p:cNvPr id="7" name="">
            <a:extLst xmlns:a="http://schemas.openxmlformats.org/drawingml/2006/main">
              <a:ext uri="{FF2B5EF4-FFF2-40B4-BE49-F238E27FC236}">
                <a16:creationId xmlns:a16="http://schemas.microsoft.com/office/drawing/2014/main" id="{624BA17F-CA95-4AEC-9656-2C65F9EF910F}"/>
              </a:ext>
            </a:extLst>
          </p:cNvPr>
          <p:cNvSpPr>
            <a:spLocks xmlns:a="http://schemas.openxmlformats.org/drawingml/2006/main" noGrp="1"/>
          </p:cNvSpPr>
          <p:nvPr/>
        </p:nvSpPr>
        <p:spPr>
          <a:xfrm xmlns:a="http://schemas.openxmlformats.org/drawingml/2006/main">
            <a:off x="9144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C. A small set of soft prompt vectors is learned while the base model remains frozen</a:t>
            </a:r>
          </a:p>
        </p:txBody>
      </p:sp>
      <p:sp>
        <p:nvSpPr>
          <p:cNvPr id="8" name="">
            <a:extLst xmlns:a="http://schemas.openxmlformats.org/drawingml/2006/main">
              <a:ext uri="{FF2B5EF4-FFF2-40B4-BE49-F238E27FC236}">
                <a16:creationId xmlns:a16="http://schemas.microsoft.com/office/drawing/2014/main" id="{D5618B21-4943-4902-ABBA-860CABC6BB1E}"/>
              </a:ext>
            </a:extLst>
          </p:cNvPr>
          <p:cNvSpPr>
            <a:spLocks xmlns:a="http://schemas.openxmlformats.org/drawingml/2006/main" noGrp="1"/>
          </p:cNvSpPr>
          <p:nvPr/>
        </p:nvSpPr>
        <p:spPr>
          <a:xfrm xmlns:a="http://schemas.openxmlformats.org/drawingml/2006/main">
            <a:off x="6248400" y="3714750"/>
            <a:ext cx="4953000" cy="1428750"/>
          </a:xfrm>
          <a:prstGeom xmlns:a="http://schemas.openxmlformats.org/drawingml/2006/main" prst="roundRect">
            <a:avLst>
              <a:gd name="adj" fmla="val 5333"/>
            </a:avLst>
          </a:prstGeom>
          <a:solidFill xmlns:a="http://schemas.openxmlformats.org/drawingml/2006/main">
            <a:srgbClr val="D0E1E5"/>
          </a:solidFill>
          <a:ln xmlns:a="http://schemas.openxmlformats.org/drawingml/2006/main" w="0">
            <a:solidFill>
              <a:srgbClr val="D0E1E5"/>
            </a:solidFill>
            <a:prstDash val="solid"/>
          </a:ln>
        </p:spPr>
      </p:sp>
      <p:sp>
        <p:nvSpPr>
          <p:cNvPr id="9" name="">
            <a:extLst xmlns:a="http://schemas.openxmlformats.org/drawingml/2006/main">
              <a:ext uri="{FF2B5EF4-FFF2-40B4-BE49-F238E27FC236}">
                <a16:creationId xmlns:a16="http://schemas.microsoft.com/office/drawing/2014/main" id="{95C0FB12-7516-4598-B39B-EF2528E72FB0}"/>
              </a:ext>
            </a:extLst>
          </p:cNvPr>
          <p:cNvSpPr>
            <a:spLocks xmlns:a="http://schemas.openxmlformats.org/drawingml/2006/main" noGrp="1"/>
          </p:cNvSpPr>
          <p:nvPr/>
        </p:nvSpPr>
        <p:spPr>
          <a:xfrm xmlns:a="http://schemas.openxmlformats.org/drawingml/2006/main">
            <a:off x="64770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D. Every model parameter is retrained from scratch</a:t>
            </a:r>
          </a:p>
        </p:txBody>
      </p:sp>
    </p:spTree>
    <p:extLst>
      <p:ext uri="{BB962C8B-B14F-4D97-AF65-F5344CB8AC3E}">
        <p14:creationId xmlns:p14="http://schemas.microsoft.com/office/powerpoint/2010/main" val="41165021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A8091F-6770-4B3E-BD74-13608E14B6D5}"/>
              </a:ext>
            </a:extLst>
          </p:cNvPr>
          <p:cNvSpPr>
            <a:spLocks xmlns:a="http://schemas.openxmlformats.org/drawingml/2006/main" noGrp="1"/>
          </p:cNvSpPr>
          <p:nvPr/>
        </p:nvSpPr>
        <p:spPr>
          <a:xfrm xmlns:a="http://schemas.openxmlformats.org/drawingml/2006/main">
            <a:off x="533400" y="400050"/>
            <a:ext cx="11125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Answer #2</a:t>
            </a:r>
          </a:p>
        </p:txBody>
      </p:sp>
      <p:sp>
        <p:nvSpPr>
          <p:cNvPr id="2" name="">
            <a:extLst xmlns:a="http://schemas.openxmlformats.org/drawingml/2006/main">
              <a:ext uri="{FF2B5EF4-FFF2-40B4-BE49-F238E27FC236}">
                <a16:creationId xmlns:a16="http://schemas.microsoft.com/office/drawing/2014/main" id="{8A1E5A99-1110-426B-AFD1-2953EB0B7885}"/>
              </a:ext>
            </a:extLst>
          </p:cNvPr>
          <p:cNvSpPr>
            <a:spLocks xmlns:a="http://schemas.openxmlformats.org/drawingml/2006/main" noGrp="1"/>
          </p:cNvSpPr>
          <p:nvPr/>
        </p:nvSpPr>
        <p:spPr>
          <a:xfrm xmlns:a="http://schemas.openxmlformats.org/drawingml/2006/main">
            <a:off x="0" y="1428750"/>
            <a:ext cx="12192000" cy="3143250"/>
          </a:xfrm>
          <a:prstGeom xmlns:a="http://schemas.openxmlformats.org/drawingml/2006/main" prst="rect">
            <a:avLst/>
          </a:prstGeom>
          <a:solidFill xmlns:a="http://schemas.openxmlformats.org/drawingml/2006/main">
            <a:srgbClr val="F8F8F8"/>
          </a:solidFill>
          <a:ln xmlns:a="http://schemas.openxmlformats.org/drawingml/2006/main" w="0">
            <a:solidFill>
              <a:srgbClr val="F8F8F8"/>
            </a:solidFill>
            <a:prstDash val="solid"/>
          </a:ln>
        </p:spPr>
      </p:sp>
      <p:sp>
        <p:nvSpPr>
          <p:cNvPr id="3" name="">
            <a:extLst xmlns:a="http://schemas.openxmlformats.org/drawingml/2006/main">
              <a:ext uri="{FF2B5EF4-FFF2-40B4-BE49-F238E27FC236}">
                <a16:creationId xmlns:a16="http://schemas.microsoft.com/office/drawing/2014/main" id="{ECF6751C-9215-44F8-9EE9-414E565C5274}"/>
              </a:ext>
            </a:extLst>
          </p:cNvPr>
          <p:cNvSpPr>
            <a:spLocks xmlns:a="http://schemas.openxmlformats.org/drawingml/2006/main" noGrp="1"/>
          </p:cNvSpPr>
          <p:nvPr/>
        </p:nvSpPr>
        <p:spPr>
          <a:xfrm xmlns:a="http://schemas.openxmlformats.org/drawingml/2006/main">
            <a:off x="114300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000000"/>
                </a:solidFill>
                <a:latin typeface="Google Sans Medium"/>
                <a:ea typeface="Google Sans Medium"/>
                <a:cs typeface="Google Sans Medium"/>
              </a:defRPr>
            </a:pPr>
            <a:r>
              <a:rPr sz="1875" b="1">
                <a:solidFill>
                  <a:srgbClr val="000000"/>
                </a:solidFill>
                <a:latin typeface="Google Sans Medium"/>
                <a:ea typeface="Google Sans Medium"/>
                <a:cs typeface="Google Sans Medium"/>
              </a:rPr>
              <a:t>Correct answer: C. Soft prompt vectors are learned while the base model remains frozen</a:t>
            </a:r>
          </a:p>
        </p:txBody>
      </p:sp>
      <p:sp>
        <p:nvSpPr>
          <p:cNvPr id="4" name="">
            <a:extLst xmlns:a="http://schemas.openxmlformats.org/drawingml/2006/main">
              <a:ext uri="{FF2B5EF4-FFF2-40B4-BE49-F238E27FC236}">
                <a16:creationId xmlns:a16="http://schemas.microsoft.com/office/drawing/2014/main" id="{DC357F08-A8EF-435E-B14E-549F37228F12}"/>
              </a:ext>
            </a:extLst>
          </p:cNvPr>
          <p:cNvSpPr>
            <a:spLocks xmlns:a="http://schemas.openxmlformats.org/drawingml/2006/main" noGrp="1"/>
          </p:cNvSpPr>
          <p:nvPr/>
        </p:nvSpPr>
        <p:spPr>
          <a:xfrm xmlns:a="http://schemas.openxmlformats.org/drawingml/2006/main">
            <a:off x="1809750" y="2952750"/>
            <a:ext cx="857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0">
                <a:solidFill>
                  <a:srgbClr val="000000"/>
                </a:solidFill>
                <a:latin typeface="Google Sans Text"/>
                <a:ea typeface="Google Sans Text"/>
                <a:cs typeface="Google Sans Text"/>
              </a:defRPr>
            </a:pPr>
            <a:r>
              <a:rPr sz="1575" b="0">
                <a:solidFill>
                  <a:srgbClr val="000000"/>
                </a:solidFill>
                <a:latin typeface="Google Sans Text"/>
                <a:ea typeface="Google Sans Text"/>
                <a:cs typeface="Google Sans Text"/>
              </a:rPr>
              <a:t>Prompt design edits human-readable text. Prompt tuning learns compact task-specific vectors and requires supported training infrastructure.</a:t>
            </a:r>
          </a:p>
        </p:txBody>
      </p:sp>
    </p:spTree>
    <p:extLst>
      <p:ext uri="{BB962C8B-B14F-4D97-AF65-F5344CB8AC3E}">
        <p14:creationId xmlns:p14="http://schemas.microsoft.com/office/powerpoint/2010/main" val="107312424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F26F980-2767-4991-B844-ADD74F1B8B02}"/>
              </a:ext>
            </a:extLst>
          </p:cNvPr>
          <p:cNvSpPr>
            <a:spLocks xmlns:a="http://schemas.openxmlformats.org/drawingml/2006/main" noGrp="1"/>
          </p:cNvSpPr>
          <p:nvPr/>
        </p:nvSpPr>
        <p:spPr>
          <a:xfrm xmlns:a="http://schemas.openxmlformats.org/drawingml/2006/main">
            <a:off x="533400" y="323850"/>
            <a:ext cx="11125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Google Sans"/>
                <a:ea typeface="Google Sans"/>
                <a:cs typeface="Google Sans"/>
              </a:defRPr>
            </a:pPr>
            <a:r>
              <a:rPr sz="2025" b="1">
                <a:solidFill>
                  <a:srgbClr val="000000"/>
                </a:solidFill>
                <a:latin typeface="Google Sans"/>
                <a:ea typeface="Google Sans"/>
                <a:cs typeface="Google Sans"/>
              </a:rPr>
              <a:t>Question #3: Which Google tool is primarily used to discover and compare models?</a:t>
            </a:r>
          </a:p>
        </p:txBody>
      </p:sp>
      <p:sp>
        <p:nvSpPr>
          <p:cNvPr id="2" name="">
            <a:extLst xmlns:a="http://schemas.openxmlformats.org/drawingml/2006/main">
              <a:ext uri="{FF2B5EF4-FFF2-40B4-BE49-F238E27FC236}">
                <a16:creationId xmlns:a16="http://schemas.microsoft.com/office/drawing/2014/main" id="{E7E49EDC-0689-411B-828F-060E0797E039}"/>
              </a:ext>
            </a:extLst>
          </p:cNvPr>
          <p:cNvSpPr>
            <a:spLocks xmlns:a="http://schemas.openxmlformats.org/drawingml/2006/main" noGrp="1"/>
          </p:cNvSpPr>
          <p:nvPr/>
        </p:nvSpPr>
        <p:spPr>
          <a:xfrm xmlns:a="http://schemas.openxmlformats.org/drawingml/2006/main">
            <a:off x="685800" y="1619250"/>
            <a:ext cx="4953000" cy="1428750"/>
          </a:xfrm>
          <a:prstGeom xmlns:a="http://schemas.openxmlformats.org/drawingml/2006/main" prst="roundRect">
            <a:avLst>
              <a:gd name="adj" fmla="val 5333"/>
            </a:avLst>
          </a:prstGeom>
          <a:solidFill xmlns:a="http://schemas.openxmlformats.org/drawingml/2006/main">
            <a:srgbClr val="C6DAFC"/>
          </a:solidFill>
          <a:ln xmlns:a="http://schemas.openxmlformats.org/drawingml/2006/main" w="0">
            <a:solidFill>
              <a:srgbClr val="C6DAFC"/>
            </a:solidFill>
            <a:prstDash val="solid"/>
          </a:ln>
        </p:spPr>
      </p:sp>
      <p:sp>
        <p:nvSpPr>
          <p:cNvPr id="3" name="">
            <a:extLst xmlns:a="http://schemas.openxmlformats.org/drawingml/2006/main">
              <a:ext uri="{FF2B5EF4-FFF2-40B4-BE49-F238E27FC236}">
                <a16:creationId xmlns:a16="http://schemas.microsoft.com/office/drawing/2014/main" id="{6BC5E5C9-7488-4C85-A5A8-6B5CCCC85AB1}"/>
              </a:ext>
            </a:extLst>
          </p:cNvPr>
          <p:cNvSpPr>
            <a:spLocks xmlns:a="http://schemas.openxmlformats.org/drawingml/2006/main" noGrp="1"/>
          </p:cNvSpPr>
          <p:nvPr/>
        </p:nvSpPr>
        <p:spPr>
          <a:xfrm xmlns:a="http://schemas.openxmlformats.org/drawingml/2006/main">
            <a:off x="9144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A. Model Garden</a:t>
            </a:r>
          </a:p>
        </p:txBody>
      </p:sp>
      <p:sp>
        <p:nvSpPr>
          <p:cNvPr id="4" name="">
            <a:extLst xmlns:a="http://schemas.openxmlformats.org/drawingml/2006/main">
              <a:ext uri="{FF2B5EF4-FFF2-40B4-BE49-F238E27FC236}">
                <a16:creationId xmlns:a16="http://schemas.microsoft.com/office/drawing/2014/main" id="{9577674C-EB7B-4976-8893-8DA498B02EF0}"/>
              </a:ext>
            </a:extLst>
          </p:cNvPr>
          <p:cNvSpPr>
            <a:spLocks xmlns:a="http://schemas.openxmlformats.org/drawingml/2006/main" noGrp="1"/>
          </p:cNvSpPr>
          <p:nvPr/>
        </p:nvSpPr>
        <p:spPr>
          <a:xfrm xmlns:a="http://schemas.openxmlformats.org/drawingml/2006/main">
            <a:off x="6248400" y="1619250"/>
            <a:ext cx="4953000" cy="1428750"/>
          </a:xfrm>
          <a:prstGeom xmlns:a="http://schemas.openxmlformats.org/drawingml/2006/main" prst="roundRect">
            <a:avLst>
              <a:gd name="adj" fmla="val 5333"/>
            </a:avLst>
          </a:prstGeom>
          <a:solidFill xmlns:a="http://schemas.openxmlformats.org/drawingml/2006/main">
            <a:srgbClr val="FDEFC3"/>
          </a:solidFill>
          <a:ln xmlns:a="http://schemas.openxmlformats.org/drawingml/2006/main" w="0">
            <a:solidFill>
              <a:srgbClr val="FDEFC3"/>
            </a:solidFill>
            <a:prstDash val="solid"/>
          </a:ln>
        </p:spPr>
      </p:sp>
      <p:sp>
        <p:nvSpPr>
          <p:cNvPr id="5" name="">
            <a:extLst xmlns:a="http://schemas.openxmlformats.org/drawingml/2006/main">
              <a:ext uri="{FF2B5EF4-FFF2-40B4-BE49-F238E27FC236}">
                <a16:creationId xmlns:a16="http://schemas.microsoft.com/office/drawing/2014/main" id="{D78E587A-1BB2-459E-B42E-6413CD54A739}"/>
              </a:ext>
            </a:extLst>
          </p:cNvPr>
          <p:cNvSpPr>
            <a:spLocks xmlns:a="http://schemas.openxmlformats.org/drawingml/2006/main" noGrp="1"/>
          </p:cNvSpPr>
          <p:nvPr/>
        </p:nvSpPr>
        <p:spPr>
          <a:xfrm xmlns:a="http://schemas.openxmlformats.org/drawingml/2006/main">
            <a:off x="6477000" y="18859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B. A spreadsheet</a:t>
            </a:r>
          </a:p>
        </p:txBody>
      </p:sp>
      <p:sp>
        <p:nvSpPr>
          <p:cNvPr id="6" name="">
            <a:extLst xmlns:a="http://schemas.openxmlformats.org/drawingml/2006/main">
              <a:ext uri="{FF2B5EF4-FFF2-40B4-BE49-F238E27FC236}">
                <a16:creationId xmlns:a16="http://schemas.microsoft.com/office/drawing/2014/main" id="{56A84587-B1F1-463A-9B0B-5D72AA538CB7}"/>
              </a:ext>
            </a:extLst>
          </p:cNvPr>
          <p:cNvSpPr>
            <a:spLocks xmlns:a="http://schemas.openxmlformats.org/drawingml/2006/main" noGrp="1"/>
          </p:cNvSpPr>
          <p:nvPr/>
        </p:nvSpPr>
        <p:spPr>
          <a:xfrm xmlns:a="http://schemas.openxmlformats.org/drawingml/2006/main">
            <a:off x="685800" y="3714750"/>
            <a:ext cx="4953000" cy="1428750"/>
          </a:xfrm>
          <a:prstGeom xmlns:a="http://schemas.openxmlformats.org/drawingml/2006/main" prst="roundRect">
            <a:avLst>
              <a:gd name="adj" fmla="val 5333"/>
            </a:avLst>
          </a:prstGeom>
          <a:solidFill xmlns:a="http://schemas.openxmlformats.org/drawingml/2006/main">
            <a:srgbClr val="F5C7C9"/>
          </a:solidFill>
          <a:ln xmlns:a="http://schemas.openxmlformats.org/drawingml/2006/main" w="0">
            <a:solidFill>
              <a:srgbClr val="F5C7C9"/>
            </a:solidFill>
            <a:prstDash val="solid"/>
          </a:ln>
        </p:spPr>
      </p:sp>
      <p:sp>
        <p:nvSpPr>
          <p:cNvPr id="7" name="">
            <a:extLst xmlns:a="http://schemas.openxmlformats.org/drawingml/2006/main">
              <a:ext uri="{FF2B5EF4-FFF2-40B4-BE49-F238E27FC236}">
                <a16:creationId xmlns:a16="http://schemas.microsoft.com/office/drawing/2014/main" id="{B6B74664-49FB-403F-8316-2805E7165B41}"/>
              </a:ext>
            </a:extLst>
          </p:cNvPr>
          <p:cNvSpPr>
            <a:spLocks xmlns:a="http://schemas.openxmlformats.org/drawingml/2006/main" noGrp="1"/>
          </p:cNvSpPr>
          <p:nvPr/>
        </p:nvSpPr>
        <p:spPr>
          <a:xfrm xmlns:a="http://schemas.openxmlformats.org/drawingml/2006/main">
            <a:off x="9144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C. A prompt temperature control</a:t>
            </a:r>
          </a:p>
        </p:txBody>
      </p:sp>
      <p:sp>
        <p:nvSpPr>
          <p:cNvPr id="8" name="">
            <a:extLst xmlns:a="http://schemas.openxmlformats.org/drawingml/2006/main">
              <a:ext uri="{FF2B5EF4-FFF2-40B4-BE49-F238E27FC236}">
                <a16:creationId xmlns:a16="http://schemas.microsoft.com/office/drawing/2014/main" id="{F0C5DE03-9F5D-424B-AB48-25125D257621}"/>
              </a:ext>
            </a:extLst>
          </p:cNvPr>
          <p:cNvSpPr>
            <a:spLocks xmlns:a="http://schemas.openxmlformats.org/drawingml/2006/main" noGrp="1"/>
          </p:cNvSpPr>
          <p:nvPr/>
        </p:nvSpPr>
        <p:spPr>
          <a:xfrm xmlns:a="http://schemas.openxmlformats.org/drawingml/2006/main">
            <a:off x="6248400" y="3714750"/>
            <a:ext cx="4953000" cy="1428750"/>
          </a:xfrm>
          <a:prstGeom xmlns:a="http://schemas.openxmlformats.org/drawingml/2006/main" prst="roundRect">
            <a:avLst>
              <a:gd name="adj" fmla="val 5333"/>
            </a:avLst>
          </a:prstGeom>
          <a:solidFill xmlns:a="http://schemas.openxmlformats.org/drawingml/2006/main">
            <a:srgbClr val="D0E1E5"/>
          </a:solidFill>
          <a:ln xmlns:a="http://schemas.openxmlformats.org/drawingml/2006/main" w="0">
            <a:solidFill>
              <a:srgbClr val="D0E1E5"/>
            </a:solidFill>
            <a:prstDash val="solid"/>
          </a:ln>
        </p:spPr>
      </p:sp>
      <p:sp>
        <p:nvSpPr>
          <p:cNvPr id="9" name="">
            <a:extLst xmlns:a="http://schemas.openxmlformats.org/drawingml/2006/main">
              <a:ext uri="{FF2B5EF4-FFF2-40B4-BE49-F238E27FC236}">
                <a16:creationId xmlns:a16="http://schemas.microsoft.com/office/drawing/2014/main" id="{D0B16B58-252B-4414-8326-416472EE1527}"/>
              </a:ext>
            </a:extLst>
          </p:cNvPr>
          <p:cNvSpPr>
            <a:spLocks xmlns:a="http://schemas.openxmlformats.org/drawingml/2006/main" noGrp="1"/>
          </p:cNvSpPr>
          <p:nvPr/>
        </p:nvSpPr>
        <p:spPr>
          <a:xfrm xmlns:a="http://schemas.openxmlformats.org/drawingml/2006/main">
            <a:off x="6477000" y="3981450"/>
            <a:ext cx="4495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500" b="1">
                <a:solidFill>
                  <a:srgbClr val="000000"/>
                </a:solidFill>
                <a:latin typeface="Google Sans Medium"/>
                <a:ea typeface="Google Sans Medium"/>
                <a:cs typeface="Google Sans Medium"/>
              </a:defRPr>
            </a:pPr>
            <a:r>
              <a:rPr sz="1500" b="1">
                <a:solidFill>
                  <a:srgbClr val="000000"/>
                </a:solidFill>
                <a:latin typeface="Google Sans Medium"/>
                <a:ea typeface="Google Sans Medium"/>
                <a:cs typeface="Google Sans Medium"/>
              </a:rPr>
              <a:t>D. A context window</a:t>
            </a:r>
          </a:p>
        </p:txBody>
      </p:sp>
    </p:spTree>
    <p:extLst>
      <p:ext uri="{BB962C8B-B14F-4D97-AF65-F5344CB8AC3E}">
        <p14:creationId xmlns:p14="http://schemas.microsoft.com/office/powerpoint/2010/main" val="146402377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1F88E6-53D4-4103-A451-851C83053681}"/>
              </a:ext>
            </a:extLst>
          </p:cNvPr>
          <p:cNvSpPr>
            <a:spLocks xmlns:a="http://schemas.openxmlformats.org/drawingml/2006/main" noGrp="1"/>
          </p:cNvSpPr>
          <p:nvPr/>
        </p:nvSpPr>
        <p:spPr>
          <a:xfrm xmlns:a="http://schemas.openxmlformats.org/drawingml/2006/main">
            <a:off x="533400" y="400050"/>
            <a:ext cx="11125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100" b="1">
                <a:solidFill>
                  <a:srgbClr val="000000"/>
                </a:solidFill>
                <a:latin typeface="Google Sans"/>
                <a:ea typeface="Google Sans"/>
                <a:cs typeface="Google Sans"/>
              </a:defRPr>
            </a:pPr>
            <a:r>
              <a:rPr sz="2100" b="1">
                <a:solidFill>
                  <a:srgbClr val="000000"/>
                </a:solidFill>
                <a:latin typeface="Google Sans"/>
                <a:ea typeface="Google Sans"/>
                <a:cs typeface="Google Sans"/>
              </a:rPr>
              <a:t>Answer #3</a:t>
            </a:r>
          </a:p>
        </p:txBody>
      </p:sp>
      <p:sp>
        <p:nvSpPr>
          <p:cNvPr id="2" name="">
            <a:extLst xmlns:a="http://schemas.openxmlformats.org/drawingml/2006/main">
              <a:ext uri="{FF2B5EF4-FFF2-40B4-BE49-F238E27FC236}">
                <a16:creationId xmlns:a16="http://schemas.microsoft.com/office/drawing/2014/main" id="{B5EAEBD8-7D5E-4B9B-AAC1-DCCC8508CEDD}"/>
              </a:ext>
            </a:extLst>
          </p:cNvPr>
          <p:cNvSpPr>
            <a:spLocks xmlns:a="http://schemas.openxmlformats.org/drawingml/2006/main" noGrp="1"/>
          </p:cNvSpPr>
          <p:nvPr/>
        </p:nvSpPr>
        <p:spPr>
          <a:xfrm xmlns:a="http://schemas.openxmlformats.org/drawingml/2006/main">
            <a:off x="0" y="1428750"/>
            <a:ext cx="12192000" cy="3143250"/>
          </a:xfrm>
          <a:prstGeom xmlns:a="http://schemas.openxmlformats.org/drawingml/2006/main" prst="rect">
            <a:avLst/>
          </a:prstGeom>
          <a:solidFill xmlns:a="http://schemas.openxmlformats.org/drawingml/2006/main">
            <a:srgbClr val="F8F8F8"/>
          </a:solidFill>
          <a:ln xmlns:a="http://schemas.openxmlformats.org/drawingml/2006/main" w="0">
            <a:solidFill>
              <a:srgbClr val="F8F8F8"/>
            </a:solidFill>
            <a:prstDash val="solid"/>
          </a:ln>
        </p:spPr>
      </p:sp>
      <p:sp>
        <p:nvSpPr>
          <p:cNvPr id="3" name="">
            <a:extLst xmlns:a="http://schemas.openxmlformats.org/drawingml/2006/main">
              <a:ext uri="{FF2B5EF4-FFF2-40B4-BE49-F238E27FC236}">
                <a16:creationId xmlns:a16="http://schemas.microsoft.com/office/drawing/2014/main" id="{CF9EE591-3967-414A-92F2-7ACB3529CF47}"/>
              </a:ext>
            </a:extLst>
          </p:cNvPr>
          <p:cNvSpPr>
            <a:spLocks xmlns:a="http://schemas.openxmlformats.org/drawingml/2006/main" noGrp="1"/>
          </p:cNvSpPr>
          <p:nvPr/>
        </p:nvSpPr>
        <p:spPr>
          <a:xfrm xmlns:a="http://schemas.openxmlformats.org/drawingml/2006/main">
            <a:off x="1143000" y="209550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75" b="1">
                <a:solidFill>
                  <a:srgbClr val="000000"/>
                </a:solidFill>
                <a:latin typeface="Google Sans Medium"/>
                <a:ea typeface="Google Sans Medium"/>
                <a:cs typeface="Google Sans Medium"/>
              </a:defRPr>
            </a:pPr>
            <a:r>
              <a:rPr sz="1875" b="1">
                <a:solidFill>
                  <a:srgbClr val="000000"/>
                </a:solidFill>
                <a:latin typeface="Google Sans Medium"/>
                <a:ea typeface="Google Sans Medium"/>
                <a:cs typeface="Google Sans Medium"/>
              </a:rPr>
              <a:t>Correct answer: A. Model Garden</a:t>
            </a:r>
          </a:p>
        </p:txBody>
      </p:sp>
      <p:sp>
        <p:nvSpPr>
          <p:cNvPr id="4" name="">
            <a:extLst xmlns:a="http://schemas.openxmlformats.org/drawingml/2006/main">
              <a:ext uri="{FF2B5EF4-FFF2-40B4-BE49-F238E27FC236}">
                <a16:creationId xmlns:a16="http://schemas.microsoft.com/office/drawing/2014/main" id="{1B0D0407-3B88-4B77-916F-FCCD2CBCC6B0}"/>
              </a:ext>
            </a:extLst>
          </p:cNvPr>
          <p:cNvSpPr>
            <a:spLocks xmlns:a="http://schemas.openxmlformats.org/drawingml/2006/main" noGrp="1"/>
          </p:cNvSpPr>
          <p:nvPr/>
        </p:nvSpPr>
        <p:spPr>
          <a:xfrm xmlns:a="http://schemas.openxmlformats.org/drawingml/2006/main">
            <a:off x="1809750" y="2952750"/>
            <a:ext cx="857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575" b="0">
                <a:solidFill>
                  <a:srgbClr val="000000"/>
                </a:solidFill>
                <a:latin typeface="Google Sans Text"/>
                <a:ea typeface="Google Sans Text"/>
                <a:cs typeface="Google Sans Text"/>
              </a:defRPr>
            </a:pPr>
            <a:r>
              <a:rPr sz="1575" b="0">
                <a:solidFill>
                  <a:srgbClr val="000000"/>
                </a:solidFill>
                <a:latin typeface="Google Sans Text"/>
                <a:ea typeface="Google Sans Text"/>
                <a:cs typeface="Google Sans Text"/>
              </a:rPr>
              <a:t>Studio tools help test prompts; Model Garden helps discover and compare Google, partner, and open models.</a:t>
            </a:r>
          </a:p>
        </p:txBody>
      </p:sp>
    </p:spTree>
    <p:extLst>
      <p:ext uri="{BB962C8B-B14F-4D97-AF65-F5344CB8AC3E}">
        <p14:creationId xmlns:p14="http://schemas.microsoft.com/office/powerpoint/2010/main" val="141167320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F92F46-988A-442B-BCC0-E18D51614764}"/>
              </a:ext>
            </a:extLst>
          </p:cNvPr>
          <p:cNvSpPr>
            <a:spLocks xmlns:a="http://schemas.openxmlformats.org/drawingml/2006/main" noGrp="1"/>
          </p:cNvSpPr>
          <p:nvPr/>
        </p:nvSpPr>
        <p:spPr>
          <a:xfrm xmlns:a="http://schemas.openxmlformats.org/drawingml/2006/main">
            <a:off x="533400" y="3238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000000"/>
                </a:solidFill>
                <a:latin typeface="Google Sans"/>
                <a:ea typeface="Google Sans"/>
                <a:cs typeface="Google Sans"/>
              </a:defRPr>
            </a:pPr>
            <a:r>
              <a:rPr sz="2175" b="1">
                <a:solidFill>
                  <a:srgbClr val="000000"/>
                </a:solidFill>
                <a:latin typeface="Google Sans"/>
                <a:ea typeface="Google Sans"/>
                <a:cs typeface="Google Sans"/>
              </a:rPr>
              <a:t>References: LLMs, Transformers, and prompting</a:t>
            </a:r>
          </a:p>
        </p:txBody>
      </p:sp>
      <p:sp>
        <p:nvSpPr>
          <p:cNvPr id="2" name="">
            <a:extLst xmlns:a="http://schemas.openxmlformats.org/drawingml/2006/main">
              <a:ext uri="{FF2B5EF4-FFF2-40B4-BE49-F238E27FC236}">
                <a16:creationId xmlns:a16="http://schemas.microsoft.com/office/drawing/2014/main" id="{3337C125-CB71-478D-90F4-9BFBBD3BB71A}"/>
              </a:ext>
            </a:extLst>
          </p:cNvPr>
          <p:cNvSpPr>
            <a:spLocks xmlns:a="http://schemas.openxmlformats.org/drawingml/2006/main" noGrp="1"/>
          </p:cNvSpPr>
          <p:nvPr/>
        </p:nvSpPr>
        <p:spPr>
          <a:xfrm xmlns:a="http://schemas.openxmlformats.org/drawingml/2006/main">
            <a:off x="819150" y="12001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Google Machine Learning Crash Course — Large language models</a:t>
            </a:r>
          </a:p>
        </p:txBody>
      </p:sp>
      <p:sp>
        <p:nvSpPr>
          <p:cNvPr id="3" name="">
            <a:extLst xmlns:a="http://schemas.openxmlformats.org/drawingml/2006/main">
              <a:ext uri="{FF2B5EF4-FFF2-40B4-BE49-F238E27FC236}">
                <a16:creationId xmlns:a16="http://schemas.microsoft.com/office/drawing/2014/main" id="{3A85120E-0615-4477-A72A-ED3433CF1C98}"/>
              </a:ext>
            </a:extLst>
          </p:cNvPr>
          <p:cNvSpPr>
            <a:spLocks xmlns:a="http://schemas.openxmlformats.org/drawingml/2006/main" noGrp="1"/>
          </p:cNvSpPr>
          <p:nvPr/>
        </p:nvSpPr>
        <p:spPr>
          <a:xfrm xmlns:a="http://schemas.openxmlformats.org/drawingml/2006/main">
            <a:off x="819150" y="15240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Beginner overview of LLMs, parameters, prompting, and inference.</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8992d299bd404eae"/>
              </a:rPr>
              <a:t>https://developers.google.com/machine-learning/crash-course/llm</a:t>
            </a:r>
          </a:p>
        </p:txBody>
      </p:sp>
      <p:sp>
        <p:nvSpPr>
          <p:cNvPr id="4" name="">
            <a:extLst xmlns:a="http://schemas.openxmlformats.org/drawingml/2006/main">
              <a:ext uri="{FF2B5EF4-FFF2-40B4-BE49-F238E27FC236}">
                <a16:creationId xmlns:a16="http://schemas.microsoft.com/office/drawing/2014/main" id="{42BFDD0A-A563-4A0E-BD89-B5017B292840}"/>
              </a:ext>
            </a:extLst>
          </p:cNvPr>
          <p:cNvSpPr>
            <a:spLocks xmlns:a="http://schemas.openxmlformats.org/drawingml/2006/main" noGrp="1"/>
          </p:cNvSpPr>
          <p:nvPr/>
        </p:nvSpPr>
        <p:spPr>
          <a:xfrm xmlns:a="http://schemas.openxmlformats.org/drawingml/2006/main">
            <a:off x="819150" y="22098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Google Machine Learning Crash Course — Transformers</a:t>
            </a:r>
          </a:p>
        </p:txBody>
      </p:sp>
      <p:sp>
        <p:nvSpPr>
          <p:cNvPr id="5" name="">
            <a:extLst xmlns:a="http://schemas.openxmlformats.org/drawingml/2006/main">
              <a:ext uri="{FF2B5EF4-FFF2-40B4-BE49-F238E27FC236}">
                <a16:creationId xmlns:a16="http://schemas.microsoft.com/office/drawing/2014/main" id="{6A860D74-FD6B-4FCC-A8B3-0C5A0FAB492B}"/>
              </a:ext>
            </a:extLst>
          </p:cNvPr>
          <p:cNvSpPr>
            <a:spLocks xmlns:a="http://schemas.openxmlformats.org/drawingml/2006/main" noGrp="1"/>
          </p:cNvSpPr>
          <p:nvPr/>
        </p:nvSpPr>
        <p:spPr>
          <a:xfrm xmlns:a="http://schemas.openxmlformats.org/drawingml/2006/main">
            <a:off x="819150" y="25336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Self-attention and the Transformer architecture.</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997f13b16f8a42f4"/>
              </a:rPr>
              <a:t>https://developers.google.com/machine-learning/crash-course/llm/transformers</a:t>
            </a:r>
          </a:p>
        </p:txBody>
      </p:sp>
      <p:sp>
        <p:nvSpPr>
          <p:cNvPr id="6" name="">
            <a:extLst xmlns:a="http://schemas.openxmlformats.org/drawingml/2006/main">
              <a:ext uri="{FF2B5EF4-FFF2-40B4-BE49-F238E27FC236}">
                <a16:creationId xmlns:a16="http://schemas.microsoft.com/office/drawing/2014/main" id="{2DA93DB1-97D4-4B07-921E-95CEF9682136}"/>
              </a:ext>
            </a:extLst>
          </p:cNvPr>
          <p:cNvSpPr>
            <a:spLocks xmlns:a="http://schemas.openxmlformats.org/drawingml/2006/main" noGrp="1"/>
          </p:cNvSpPr>
          <p:nvPr/>
        </p:nvSpPr>
        <p:spPr>
          <a:xfrm xmlns:a="http://schemas.openxmlformats.org/drawingml/2006/main">
            <a:off x="819150" y="3219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Attention Is All You Need</a:t>
            </a:r>
          </a:p>
        </p:txBody>
      </p:sp>
      <p:sp>
        <p:nvSpPr>
          <p:cNvPr id="7" name="">
            <a:extLst xmlns:a="http://schemas.openxmlformats.org/drawingml/2006/main">
              <a:ext uri="{FF2B5EF4-FFF2-40B4-BE49-F238E27FC236}">
                <a16:creationId xmlns:a16="http://schemas.microsoft.com/office/drawing/2014/main" id="{888B3351-8CA9-4339-A94C-D76184324CE7}"/>
              </a:ext>
            </a:extLst>
          </p:cNvPr>
          <p:cNvSpPr>
            <a:spLocks xmlns:a="http://schemas.openxmlformats.org/drawingml/2006/main" noGrp="1"/>
          </p:cNvSpPr>
          <p:nvPr/>
        </p:nvSpPr>
        <p:spPr>
          <a:xfrm xmlns:a="http://schemas.openxmlformats.org/drawingml/2006/main">
            <a:off x="819150" y="35433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Original Transformer research paper.</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f54aa7e4567c47cf"/>
              </a:rPr>
              <a:t>https://arxiv.org/abs/1706.03762</a:t>
            </a:r>
          </a:p>
        </p:txBody>
      </p:sp>
      <p:sp>
        <p:nvSpPr>
          <p:cNvPr id="8" name="">
            <a:extLst xmlns:a="http://schemas.openxmlformats.org/drawingml/2006/main">
              <a:ext uri="{FF2B5EF4-FFF2-40B4-BE49-F238E27FC236}">
                <a16:creationId xmlns:a16="http://schemas.microsoft.com/office/drawing/2014/main" id="{199D767E-630B-4C23-B141-7DBE9A2CDEA7}"/>
              </a:ext>
            </a:extLst>
          </p:cNvPr>
          <p:cNvSpPr>
            <a:spLocks xmlns:a="http://schemas.openxmlformats.org/drawingml/2006/main" noGrp="1"/>
          </p:cNvSpPr>
          <p:nvPr/>
        </p:nvSpPr>
        <p:spPr>
          <a:xfrm xmlns:a="http://schemas.openxmlformats.org/drawingml/2006/main">
            <a:off x="819150" y="42291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Introduction to prompting — Google Cloud</a:t>
            </a:r>
          </a:p>
        </p:txBody>
      </p:sp>
      <p:sp>
        <p:nvSpPr>
          <p:cNvPr id="9" name="">
            <a:extLst xmlns:a="http://schemas.openxmlformats.org/drawingml/2006/main">
              <a:ext uri="{FF2B5EF4-FFF2-40B4-BE49-F238E27FC236}">
                <a16:creationId xmlns:a16="http://schemas.microsoft.com/office/drawing/2014/main" id="{43020393-7908-472C-88B7-1A5E90B1EF4E}"/>
              </a:ext>
            </a:extLst>
          </p:cNvPr>
          <p:cNvSpPr>
            <a:spLocks xmlns:a="http://schemas.openxmlformats.org/drawingml/2006/main" noGrp="1"/>
          </p:cNvSpPr>
          <p:nvPr/>
        </p:nvSpPr>
        <p:spPr>
          <a:xfrm xmlns:a="http://schemas.openxmlformats.org/drawingml/2006/main">
            <a:off x="8191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Prompt components, prompt design, and prompt engineering.</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eeff46275deb439a"/>
              </a:rPr>
              <a:t>https://cloud.google.com/vertex-ai/generative-ai/docs/learn/prompts/introduction-prompt-design</a:t>
            </a:r>
          </a:p>
        </p:txBody>
      </p:sp>
      <p:sp>
        <p:nvSpPr>
          <p:cNvPr id="10" name="">
            <a:extLst xmlns:a="http://schemas.openxmlformats.org/drawingml/2006/main">
              <a:ext uri="{FF2B5EF4-FFF2-40B4-BE49-F238E27FC236}">
                <a16:creationId xmlns:a16="http://schemas.microsoft.com/office/drawing/2014/main" id="{B5E031B9-3D6A-48A1-BB53-A94465461A61}"/>
              </a:ext>
            </a:extLst>
          </p:cNvPr>
          <p:cNvSpPr>
            <a:spLocks xmlns:a="http://schemas.openxmlformats.org/drawingml/2006/main" noGrp="1"/>
          </p:cNvSpPr>
          <p:nvPr/>
        </p:nvSpPr>
        <p:spPr>
          <a:xfrm xmlns:a="http://schemas.openxmlformats.org/drawingml/2006/main">
            <a:off x="819150" y="52387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Overview of prompting strategies — Google Cloud</a:t>
            </a:r>
          </a:p>
        </p:txBody>
      </p:sp>
      <p:sp>
        <p:nvSpPr>
          <p:cNvPr id="11" name="">
            <a:extLst xmlns:a="http://schemas.openxmlformats.org/drawingml/2006/main">
              <a:ext uri="{FF2B5EF4-FFF2-40B4-BE49-F238E27FC236}">
                <a16:creationId xmlns:a16="http://schemas.microsoft.com/office/drawing/2014/main" id="{4F516FBE-4697-4CB4-B645-2C4280C0B542}"/>
              </a:ext>
            </a:extLst>
          </p:cNvPr>
          <p:cNvSpPr>
            <a:spLocks xmlns:a="http://schemas.openxmlformats.org/drawingml/2006/main" noGrp="1"/>
          </p:cNvSpPr>
          <p:nvPr/>
        </p:nvSpPr>
        <p:spPr>
          <a:xfrm xmlns:a="http://schemas.openxmlformats.org/drawingml/2006/main">
            <a:off x="819150" y="55626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Prompt structure, examples, iteration, and evaluation.</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c3780a741ff04869"/>
              </a:rPr>
              <a:t>https://cloud.google.com/vertex-ai/generative-ai/docs/learn/prompts/prompt-design-strategies</a:t>
            </a:r>
          </a:p>
        </p:txBody>
      </p:sp>
    </p:spTree>
    <p:extLst>
      <p:ext uri="{BB962C8B-B14F-4D97-AF65-F5344CB8AC3E}">
        <p14:creationId xmlns:p14="http://schemas.microsoft.com/office/powerpoint/2010/main" val="88670782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EE8A3D1-1C40-4BF4-9A3A-1D26D6EBD078}"/>
              </a:ext>
            </a:extLst>
          </p:cNvPr>
          <p:cNvSpPr>
            <a:spLocks xmlns:a="http://schemas.openxmlformats.org/drawingml/2006/main" noGrp="1"/>
          </p:cNvSpPr>
          <p:nvPr/>
        </p:nvSpPr>
        <p:spPr>
          <a:xfrm xmlns:a="http://schemas.openxmlformats.org/drawingml/2006/main">
            <a:off x="533400" y="32385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75" b="1">
                <a:solidFill>
                  <a:srgbClr val="000000"/>
                </a:solidFill>
                <a:latin typeface="Google Sans"/>
                <a:ea typeface="Google Sans"/>
                <a:cs typeface="Google Sans"/>
              </a:defRPr>
            </a:pPr>
            <a:r>
              <a:rPr sz="2175" b="1">
                <a:solidFill>
                  <a:srgbClr val="000000"/>
                </a:solidFill>
                <a:latin typeface="Google Sans"/>
                <a:ea typeface="Google Sans"/>
                <a:cs typeface="Google Sans"/>
              </a:rPr>
              <a:t>References: tuning, Google tools, and lab</a:t>
            </a:r>
          </a:p>
        </p:txBody>
      </p:sp>
      <p:sp>
        <p:nvSpPr>
          <p:cNvPr id="2" name="">
            <a:extLst xmlns:a="http://schemas.openxmlformats.org/drawingml/2006/main">
              <a:ext uri="{FF2B5EF4-FFF2-40B4-BE49-F238E27FC236}">
                <a16:creationId xmlns:a16="http://schemas.microsoft.com/office/drawing/2014/main" id="{51DBB92C-BFFD-43AE-B257-96F40FD9AB2C}"/>
              </a:ext>
            </a:extLst>
          </p:cNvPr>
          <p:cNvSpPr>
            <a:spLocks xmlns:a="http://schemas.openxmlformats.org/drawingml/2006/main" noGrp="1"/>
          </p:cNvSpPr>
          <p:nvPr/>
        </p:nvSpPr>
        <p:spPr>
          <a:xfrm xmlns:a="http://schemas.openxmlformats.org/drawingml/2006/main">
            <a:off x="819150" y="12001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Introduction to tuning — Google Cloud</a:t>
            </a:r>
          </a:p>
        </p:txBody>
      </p:sp>
      <p:sp>
        <p:nvSpPr>
          <p:cNvPr id="3" name="">
            <a:extLst xmlns:a="http://schemas.openxmlformats.org/drawingml/2006/main">
              <a:ext uri="{FF2B5EF4-FFF2-40B4-BE49-F238E27FC236}">
                <a16:creationId xmlns:a16="http://schemas.microsoft.com/office/drawing/2014/main" id="{E7636340-321F-4BB7-AB48-8654B4595BD0}"/>
              </a:ext>
            </a:extLst>
          </p:cNvPr>
          <p:cNvSpPr>
            <a:spLocks xmlns:a="http://schemas.openxmlformats.org/drawingml/2006/main" noGrp="1"/>
          </p:cNvSpPr>
          <p:nvPr/>
        </p:nvSpPr>
        <p:spPr>
          <a:xfrm xmlns:a="http://schemas.openxmlformats.org/drawingml/2006/main">
            <a:off x="819150" y="15240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Prompting versus tuning and currently supported tuning approaches.</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359d2d1146dd4ef2"/>
              </a:rPr>
              <a:t>https://docs.cloud.google.com/vertex-ai/generative-ai/docs/models/tune-models</a:t>
            </a:r>
          </a:p>
        </p:txBody>
      </p:sp>
      <p:sp>
        <p:nvSpPr>
          <p:cNvPr id="4" name="">
            <a:extLst xmlns:a="http://schemas.openxmlformats.org/drawingml/2006/main">
              <a:ext uri="{FF2B5EF4-FFF2-40B4-BE49-F238E27FC236}">
                <a16:creationId xmlns:a16="http://schemas.microsoft.com/office/drawing/2014/main" id="{BB0E7AA8-6537-4C08-B821-AC79D580D137}"/>
              </a:ext>
            </a:extLst>
          </p:cNvPr>
          <p:cNvSpPr>
            <a:spLocks xmlns:a="http://schemas.openxmlformats.org/drawingml/2006/main" noGrp="1"/>
          </p:cNvSpPr>
          <p:nvPr/>
        </p:nvSpPr>
        <p:spPr>
          <a:xfrm xmlns:a="http://schemas.openxmlformats.org/drawingml/2006/main">
            <a:off x="819150" y="22098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Generative AI on Vertex AI — Google Cloud</a:t>
            </a:r>
          </a:p>
        </p:txBody>
      </p:sp>
      <p:sp>
        <p:nvSpPr>
          <p:cNvPr id="5" name="">
            <a:extLst xmlns:a="http://schemas.openxmlformats.org/drawingml/2006/main">
              <a:ext uri="{FF2B5EF4-FFF2-40B4-BE49-F238E27FC236}">
                <a16:creationId xmlns:a16="http://schemas.microsoft.com/office/drawing/2014/main" id="{59779BBE-4754-4615-A70E-6A7CEC307D9A}"/>
              </a:ext>
            </a:extLst>
          </p:cNvPr>
          <p:cNvSpPr>
            <a:spLocks xmlns:a="http://schemas.openxmlformats.org/drawingml/2006/main" noGrp="1"/>
          </p:cNvSpPr>
          <p:nvPr/>
        </p:nvSpPr>
        <p:spPr>
          <a:xfrm xmlns:a="http://schemas.openxmlformats.org/drawingml/2006/main">
            <a:off x="819150" y="25336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Current platform overview and featured capabilities.</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461c8d27fe884f15"/>
              </a:rPr>
              <a:t>https://docs.cloud.google.com/vertex-ai/generative-ai/docs</a:t>
            </a:r>
          </a:p>
        </p:txBody>
      </p:sp>
      <p:sp>
        <p:nvSpPr>
          <p:cNvPr id="6" name="">
            <a:extLst xmlns:a="http://schemas.openxmlformats.org/drawingml/2006/main">
              <a:ext uri="{FF2B5EF4-FFF2-40B4-BE49-F238E27FC236}">
                <a16:creationId xmlns:a16="http://schemas.microsoft.com/office/drawing/2014/main" id="{7FEA8DF7-C5E9-4BC9-A327-1B2B98FCFEED}"/>
              </a:ext>
            </a:extLst>
          </p:cNvPr>
          <p:cNvSpPr>
            <a:spLocks xmlns:a="http://schemas.openxmlformats.org/drawingml/2006/main" noGrp="1"/>
          </p:cNvSpPr>
          <p:nvPr/>
        </p:nvSpPr>
        <p:spPr>
          <a:xfrm xmlns:a="http://schemas.openxmlformats.org/drawingml/2006/main">
            <a:off x="819150" y="3219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Model Garden — Google Cloud</a:t>
            </a:r>
          </a:p>
        </p:txBody>
      </p:sp>
      <p:sp>
        <p:nvSpPr>
          <p:cNvPr id="7" name="">
            <a:extLst xmlns:a="http://schemas.openxmlformats.org/drawingml/2006/main">
              <a:ext uri="{FF2B5EF4-FFF2-40B4-BE49-F238E27FC236}">
                <a16:creationId xmlns:a16="http://schemas.microsoft.com/office/drawing/2014/main" id="{9A3E0DF8-E4CE-47DE-80DC-EC34348560BE}"/>
              </a:ext>
            </a:extLst>
          </p:cNvPr>
          <p:cNvSpPr>
            <a:spLocks xmlns:a="http://schemas.openxmlformats.org/drawingml/2006/main" noGrp="1"/>
          </p:cNvSpPr>
          <p:nvPr/>
        </p:nvSpPr>
        <p:spPr>
          <a:xfrm xmlns:a="http://schemas.openxmlformats.org/drawingml/2006/main">
            <a:off x="819150" y="35433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Discover, evaluate, customize, and deploy supported models.</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44e0598786204dc9"/>
              </a:rPr>
              <a:t>https://docs.cloud.google.com/vertex-ai/generative-ai/docs/model-garden/explore-models</a:t>
            </a:r>
          </a:p>
        </p:txBody>
      </p:sp>
      <p:sp>
        <p:nvSpPr>
          <p:cNvPr id="8" name="">
            <a:extLst xmlns:a="http://schemas.openxmlformats.org/drawingml/2006/main">
              <a:ext uri="{FF2B5EF4-FFF2-40B4-BE49-F238E27FC236}">
                <a16:creationId xmlns:a16="http://schemas.microsoft.com/office/drawing/2014/main" id="{20E28C7D-FFC3-45FF-B438-ACCFEE6DD2C8}"/>
              </a:ext>
            </a:extLst>
          </p:cNvPr>
          <p:cNvSpPr>
            <a:spLocks xmlns:a="http://schemas.openxmlformats.org/drawingml/2006/main" noGrp="1"/>
          </p:cNvSpPr>
          <p:nvPr/>
        </p:nvSpPr>
        <p:spPr>
          <a:xfrm xmlns:a="http://schemas.openxmlformats.org/drawingml/2006/main">
            <a:off x="819150" y="42291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Google Gen AI SDK — Google AI for Developers</a:t>
            </a:r>
          </a:p>
        </p:txBody>
      </p:sp>
      <p:sp>
        <p:nvSpPr>
          <p:cNvPr id="9" name="">
            <a:extLst xmlns:a="http://schemas.openxmlformats.org/drawingml/2006/main">
              <a:ext uri="{FF2B5EF4-FFF2-40B4-BE49-F238E27FC236}">
                <a16:creationId xmlns:a16="http://schemas.microsoft.com/office/drawing/2014/main" id="{9909CFA1-8F5E-418F-B153-D5A9E049322F}"/>
              </a:ext>
            </a:extLst>
          </p:cNvPr>
          <p:cNvSpPr>
            <a:spLocks xmlns:a="http://schemas.openxmlformats.org/drawingml/2006/main" noGrp="1"/>
          </p:cNvSpPr>
          <p:nvPr/>
        </p:nvSpPr>
        <p:spPr>
          <a:xfrm xmlns:a="http://schemas.openxmlformats.org/drawingml/2006/main">
            <a:off x="819150" y="45529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Current developer libraries for Gemini access.</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987026bcde684f30"/>
              </a:rPr>
              <a:t>https://ai.google.dev/gemini-api/docs/libraries</a:t>
            </a:r>
          </a:p>
        </p:txBody>
      </p:sp>
      <p:sp>
        <p:nvSpPr>
          <p:cNvPr id="10" name="">
            <a:extLst xmlns:a="http://schemas.openxmlformats.org/drawingml/2006/main">
              <a:ext uri="{FF2B5EF4-FFF2-40B4-BE49-F238E27FC236}">
                <a16:creationId xmlns:a16="http://schemas.microsoft.com/office/drawing/2014/main" id="{DF99AB32-0151-4EA5-9F96-C0F935FE726C}"/>
              </a:ext>
            </a:extLst>
          </p:cNvPr>
          <p:cNvSpPr>
            <a:spLocks xmlns:a="http://schemas.openxmlformats.org/drawingml/2006/main" noGrp="1"/>
          </p:cNvSpPr>
          <p:nvPr/>
        </p:nvSpPr>
        <p:spPr>
          <a:xfrm xmlns:a="http://schemas.openxmlformats.org/drawingml/2006/main">
            <a:off x="819150" y="52387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Google Sans Medium"/>
                <a:ea typeface="Google Sans Medium"/>
                <a:cs typeface="Google Sans Medium"/>
              </a:defRPr>
            </a:pPr>
            <a:r>
              <a:rPr sz="1275" b="1">
                <a:solidFill>
                  <a:srgbClr val="000000"/>
                </a:solidFill>
                <a:latin typeface="Google Sans Medium"/>
                <a:ea typeface="Google Sans Medium"/>
                <a:cs typeface="Google Sans Medium"/>
              </a:rPr>
              <a:t>Google Skills lab GSP1151</a:t>
            </a:r>
          </a:p>
        </p:txBody>
      </p:sp>
      <p:sp>
        <p:nvSpPr>
          <p:cNvPr id="11" name="">
            <a:extLst xmlns:a="http://schemas.openxmlformats.org/drawingml/2006/main">
              <a:ext uri="{FF2B5EF4-FFF2-40B4-BE49-F238E27FC236}">
                <a16:creationId xmlns:a16="http://schemas.microsoft.com/office/drawing/2014/main" id="{5A0664FF-D5D0-4686-94D7-E9E1D1E29C83}"/>
              </a:ext>
            </a:extLst>
          </p:cNvPr>
          <p:cNvSpPr>
            <a:spLocks xmlns:a="http://schemas.openxmlformats.org/drawingml/2006/main" noGrp="1"/>
          </p:cNvSpPr>
          <p:nvPr/>
        </p:nvSpPr>
        <p:spPr>
          <a:xfrm xmlns:a="http://schemas.openxmlformats.org/drawingml/2006/main">
            <a:off x="819150" y="55626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rPr>
              <a:t>Design Prompts in Agent Platform; temporary credentials and guided tasks.</a:t>
            </a:r>
          </a:p>
          <a:p xmlns:a="http://schemas.openxmlformats.org/drawingml/2006/main">
            <a:pPr algn="l">
              <a:buNone/>
              <a:defRPr sz="1088" b="0">
                <a:solidFill>
                  <a:srgbClr val="000000"/>
                </a:solidFill>
                <a:latin typeface="Arial"/>
                <a:ea typeface="Arial"/>
                <a:cs typeface="Arial"/>
              </a:defRPr>
            </a:pPr>
            <a:r>
              <a:rPr sz="1088" b="0">
                <a:solidFill>
                  <a:srgbClr val="000000"/>
                </a:solidFill>
                <a:latin typeface="Arial"/>
                <a:ea typeface="Arial"/>
                <a:cs typeface="Arial"/>
                <a:hlinkClick xmlns:r="http://schemas.openxmlformats.org/officeDocument/2006/relationships" r:id="R76f6f41157fd49f2"/>
              </a:rPr>
              <a:t>https://www.skills.google/focuses/63251</a:t>
            </a:r>
          </a:p>
        </p:txBody>
      </p:sp>
    </p:spTree>
    <p:extLst>
      <p:ext uri="{BB962C8B-B14F-4D97-AF65-F5344CB8AC3E}">
        <p14:creationId xmlns:p14="http://schemas.microsoft.com/office/powerpoint/2010/main" val="880640424"/>
      </p:ext>
    </p:extLst>
  </p:cSld>
</p:sld>
</file>

<file path=ppt/theme/theme1.xml><?xml version="1.0" encoding="utf-8"?>
<a:theme xmlns:a="http://schemas.openxmlformats.org/drawingml/2006/main" name="GCP Template">
  <a:themeElements>
    <a:clrScheme name="GCP template">
      <a:dk1>
        <a:srgbClr val="000000"/>
      </a:dk1>
      <a:lt1>
        <a:srgbClr val="FFFFFF"/>
      </a:lt1>
      <a:dk2>
        <a:srgbClr val="080808"/>
      </a:dk2>
      <a:lt2>
        <a:srgbClr val="F8F8F8"/>
      </a:lt2>
      <a:accent1>
        <a:srgbClr val="4285F4"/>
      </a:accent1>
      <a:accent2>
        <a:srgbClr val="D02D2A"/>
      </a:accent2>
      <a:accent3>
        <a:srgbClr val="F0A608"/>
      </a:accent3>
      <a:accent4>
        <a:srgbClr val="0F9D58"/>
      </a:accent4>
      <a:accent5>
        <a:srgbClr val="254A89"/>
      </a:accent5>
      <a:accent6>
        <a:srgbClr val="D34836"/>
      </a:accent6>
      <a:hlink>
        <a:srgbClr val="4285F4"/>
      </a:hlink>
      <a:folHlink>
        <a:srgbClr val="254A8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CP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2026-08-27T04:58:08.3280000Z</dcterms:created>
  <dcterms:modified xsi:type="dcterms:W3CDTF">2026-08-27T04:58:08.3280000Z</dcterms:modified>
</coreProperties>
</file>